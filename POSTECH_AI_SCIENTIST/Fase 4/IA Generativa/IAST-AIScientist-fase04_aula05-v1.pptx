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772" r:id="rId2"/>
    <p:sldId id="773" r:id="rId3"/>
    <p:sldId id="774" r:id="rId4"/>
    <p:sldId id="775" r:id="rId5"/>
    <p:sldId id="776" r:id="rId6"/>
    <p:sldId id="777" r:id="rId7"/>
    <p:sldId id="778" r:id="rId8"/>
    <p:sldId id="779" r:id="rId9"/>
    <p:sldId id="780" r:id="rId10"/>
    <p:sldId id="781" r:id="rId11"/>
    <p:sldId id="782" r:id="rId12"/>
    <p:sldId id="783" r:id="rId13"/>
    <p:sldId id="784" r:id="rId14"/>
    <p:sldId id="1001" r:id="rId15"/>
    <p:sldId id="1002" r:id="rId16"/>
    <p:sldId id="1003" r:id="rId17"/>
    <p:sldId id="1004" r:id="rId18"/>
    <p:sldId id="1005" r:id="rId19"/>
    <p:sldId id="1006" r:id="rId20"/>
    <p:sldId id="1007" r:id="rId21"/>
    <p:sldId id="1008" r:id="rId22"/>
    <p:sldId id="1009" r:id="rId23"/>
    <p:sldId id="1010" r:id="rId24"/>
    <p:sldId id="1011" r:id="rId25"/>
    <p:sldId id="1012" r:id="rId26"/>
    <p:sldId id="1013" r:id="rId27"/>
    <p:sldId id="1014" r:id="rId28"/>
    <p:sldId id="1015" r:id="rId29"/>
    <p:sldId id="1016" r:id="rId30"/>
    <p:sldId id="1017" r:id="rId31"/>
    <p:sldId id="1018" r:id="rId32"/>
    <p:sldId id="1019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customXml" Target="../customXml/item1.xml"/><Relationship Id="rId40" Type="http://schemas.openxmlformats.org/officeDocument/2006/relationships/customXml" Target="../customXml/item2.xml"/><Relationship Id="rId41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1221E-5A2F-496B-AB2F-0D1D2F71E69D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B03B2-33B5-4C85-89C1-87752B9186B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159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9ECE1-6587-496B-B248-649FB96D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EE2F41-C1B9-4F9A-9969-08E055B53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8E5046-1F12-4F5A-93B7-5B82BAE4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B7E942-6EA7-483A-A267-5B505C8B2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5C86A5-F3C0-4BCC-8DE3-3EB415647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4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D145B-BC9B-4BC1-BC95-416F8FCF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081121-E8E8-481B-B970-EB2EF093D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AAC847-246F-4937-811C-9F400D12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67858C-0F67-4107-8B48-0101DECD7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F56298-E242-4875-83F8-0BD5F29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589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EBC3F-B731-447C-86C7-D8AA6A9E6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ADBF64-50EA-49C9-BB50-679DE7D60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FA358-0FB7-4B94-879C-6A50194B9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B41345-4F91-4EFE-90BD-5E66CD2A4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EB92F9-8F5F-4CE2-B8BC-5E065F109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4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2FA7-7816-4AD6-87AB-6777D08F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706A82-ADEE-4B7D-9B34-AA50939EE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4D730F-C4CA-4292-91CD-EDD11CF50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D48ACD-1A1B-4732-BC6D-BA8E89CD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532A61-F7FB-4DFB-9397-1E28D196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11DD3F-42AC-4878-8663-E43952D0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984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434A8-1A16-4DE8-BE05-39AA4F72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CF0FA11-6FA0-43DD-AB0F-5E874540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144323-B483-41CF-B124-7B790220A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090C84-46EF-4306-AC8C-6762E06BD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1314587-A3E9-440A-9599-FA750A7DA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0D55913-759D-4271-A081-E28B8245E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3C52D7-ABD7-4D0F-B893-A951C02D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1B7E252-5915-42AD-802A-948210B1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70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5A943-4154-45BB-89BC-D7259B7D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BECFA6-1BCD-442E-95A7-C0177EDA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A38AD5-A5FA-4A16-B70B-27D50CC1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EBA6F2B-CD46-499C-98B9-9A75D0981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747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A006174-D7D8-4DBF-B5D6-FB237D9F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1937C1A-B955-4FD5-AC63-F49541A5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75C90-A2BB-4A65-901E-5B0955A4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56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6A24A-AD29-4FB8-9E15-F919705E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3B837-65E8-4B42-8BA9-E1A3DCF18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EF24F6-A6E4-4A8E-889D-1E75A2E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6B8F9-36FB-48EF-9845-AECF1F6C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1A6E588-EEB7-4315-AE84-61165B72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339F43-49DF-4B10-9576-8D14A84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880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0A937-881E-4414-9F5D-370B0085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3CE69E-6E6E-49A0-919A-9B381236E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16E0285-2E2B-49AE-AB18-1AAC8F10B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B518D9-1041-4310-983A-B0C0EF318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5B941A-14BD-43F6-BE9B-F900338E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3D62DC-5C88-4F0B-B276-56B7C459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05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F3997-BFE8-4415-808B-3365F202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228CE38-1523-4C63-84B9-9DBD0B837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C95A13-8701-4348-9F51-377B56E0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BBC08-BC26-4F81-899A-16D9EDF7F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47749E-517F-44D9-9C0D-9300594C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40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CD9735-7EE3-442F-A56E-7291019CD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AE7DB0B-FEE8-4AED-A6B7-CC2AB308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5A4004-639A-4D85-90A4-58FD36E7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90181B-D0C3-4D0F-8D11-92B57F412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14CB82-63AA-402F-8D2C-52E8C71AE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518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16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Google Shape;17;p8"/>
          <p:cNvSpPr>
            <a:spLocks noGrp="1"/>
          </p:cNvSpPr>
          <p:nvPr>
            <p:ph type="pic" idx="3"/>
          </p:nvPr>
        </p:nvSpPr>
        <p:spPr>
          <a:xfrm>
            <a:off x="9908820" y="2865127"/>
            <a:ext cx="2283180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" name="Google Shape;18;p8"/>
          <p:cNvSpPr>
            <a:spLocks noGrp="1"/>
          </p:cNvSpPr>
          <p:nvPr>
            <p:ph type="pic" idx="4"/>
          </p:nvPr>
        </p:nvSpPr>
        <p:spPr>
          <a:xfrm>
            <a:off x="6768354" y="2865127"/>
            <a:ext cx="3622284" cy="27933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048763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908820" y="2865127"/>
            <a:ext cx="2283180" cy="2793396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68354" y="2865127"/>
            <a:ext cx="3622284" cy="2793396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9601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51220" y="1544320"/>
            <a:ext cx="2371090" cy="4111506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404860" y="1208941"/>
            <a:ext cx="2371090" cy="2800768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734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CEE999-1F8C-4788-8292-1E612B1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5F6EFE-038E-49FC-B690-D6BA04F4C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B997E1-C832-45DB-A06B-F1B850A4E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2C2A4-8F15-4E50-9E8F-279B4B62E212}" type="datetimeFigureOut">
              <a:rPr lang="pt-BR" smtClean="0"/>
              <a:t>08/07/2026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D368F6-D3BB-4BB9-B9E2-262588308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55B3-F9F4-4CB3-8984-3AE273AB2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36FA9-787B-4185-BFDF-876D397DF2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2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Imagem 3">
            <a:extLst>
              <a:ext uri="{FF2B5EF4-FFF2-40B4-BE49-F238E27FC236}">
                <a16:creationId xmlns:a16="http://schemas.microsoft.com/office/drawing/2014/main" id="{CF26E861-816A-5722-A627-FF594DC9BB8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4FA0EFF-BBA5-7670-5C4C-AF879D1D29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33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9D4D55-0308-C543-1D61-065285E2AA30}"/>
              </a:ext>
            </a:extLst>
          </p:cNvPr>
          <p:cNvSpPr txBox="1"/>
          <p:nvPr/>
        </p:nvSpPr>
        <p:spPr>
          <a:xfrm>
            <a:off x="425227" y="438287"/>
            <a:ext cx="9277573" cy="527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33" dirty="0">
                <a:solidFill>
                  <a:schemeClr val="bg1">
                    <a:lumMod val="75000"/>
                  </a:schemeClr>
                </a:solidFill>
                <a:latin typeface="GothamHTF-Book"/>
                <a:ea typeface="Open Sans"/>
                <a:cs typeface="Open Sans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5C41F4-469E-4104-999E-D2986C4584C2}"/>
              </a:ext>
            </a:extLst>
          </p:cNvPr>
          <p:cNvSpPr txBox="1"/>
          <p:nvPr/>
        </p:nvSpPr>
        <p:spPr>
          <a:xfrm>
            <a:off x="425228" y="2013228"/>
            <a:ext cx="9069754" cy="1485150"/>
          </a:xfrm>
          <a:prstGeom prst="rect">
            <a:avLst/>
          </a:prstGeom>
          <a:noFill/>
        </p:spPr>
        <p:txBody>
          <a:bodyPr wrap="square" lIns="76200" tIns="38100" rIns="76200" bIns="38100" rtlCol="0" anchor="t">
            <a:spAutoFit/>
          </a:bodyPr>
          <a:lstStyle/>
          <a:p>
            <a:r>
              <a:rPr lang="en-US" sz="2375" dirty="0">
                <a:solidFill>
                  <a:schemeClr val="bg1"/>
                </a:solidFill>
                <a:latin typeface="GothamHTF-Book"/>
              </a:rPr>
              <a:t>AULA 05</a:t>
            </a:r>
            <a:endParaRPr lang="en-US" sz="240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pt-BR" sz="24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pt-BR" sz="4376" dirty="0">
                <a:solidFill>
                  <a:schemeClr val="bg1">
                    <a:lumMod val="95000"/>
                  </a:schemeClr>
                </a:solidFill>
                <a:latin typeface="GothamHTF-Book"/>
              </a:rPr>
              <a:t>LLMS MULTIMODAIS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22F03DA-9662-41DE-94CB-97F721E07590}"/>
              </a:ext>
            </a:extLst>
          </p:cNvPr>
          <p:cNvGrpSpPr/>
          <p:nvPr/>
        </p:nvGrpSpPr>
        <p:grpSpPr>
          <a:xfrm>
            <a:off x="425227" y="5998480"/>
            <a:ext cx="2575150" cy="421231"/>
            <a:chOff x="1070565" y="5176310"/>
            <a:chExt cx="1455806" cy="42123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E556EC2-512F-4B55-A86E-C8EAF955F7B9}"/>
                </a:ext>
              </a:extLst>
            </p:cNvPr>
            <p:cNvSpPr/>
            <p:nvPr/>
          </p:nvSpPr>
          <p:spPr>
            <a:xfrm rot="5400000">
              <a:off x="1587852" y="4659023"/>
              <a:ext cx="421232" cy="1455806"/>
            </a:xfrm>
            <a:prstGeom prst="snip1Rect">
              <a:avLst>
                <a:gd name="adj" fmla="val 40787"/>
              </a:avLst>
            </a:prstGeom>
            <a:noFill/>
            <a:ln w="28575">
              <a:solidFill>
                <a:srgbClr val="D30F5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2700">
                <a:solidFill>
                  <a:schemeClr val="bg2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25A1245-7D7A-4ED9-8D34-71D7E16DE6F3}"/>
                </a:ext>
              </a:extLst>
            </p:cNvPr>
            <p:cNvSpPr txBox="1"/>
            <p:nvPr/>
          </p:nvSpPr>
          <p:spPr>
            <a:xfrm>
              <a:off x="1196555" y="5233037"/>
              <a:ext cx="1203826" cy="338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id-ID"/>
              </a:defPPr>
              <a:lvl1pPr algn="ctr">
                <a:defRPr sz="1400">
                  <a:latin typeface="Work Sans" panose="00000500000000000000" pitchFamily="2" charset="0"/>
                  <a:ea typeface="Open Sans" pitchFamily="2" charset="0"/>
                  <a:cs typeface="Open Sans" pitchFamily="2" charset="0"/>
                </a:defRPr>
              </a:lvl1pPr>
            </a:lstStyle>
            <a:p>
              <a:r>
                <a:rPr lang="en-US" sz="1600" dirty="0">
                  <a:solidFill>
                    <a:schemeClr val="bg1"/>
                  </a:solidFill>
                  <a:latin typeface="Roboto" pitchFamily="2" charset="0"/>
                  <a:ea typeface="Roboto" pitchFamily="2" charset="0"/>
                  <a:cs typeface="Roboto Light" panose="02000000000000000000" pitchFamily="2" charset="0"/>
                </a:rPr>
                <a:t>Prof. Flavio Padilha</a:t>
              </a:r>
            </a:p>
          </p:txBody>
        </p:sp>
      </p:grpSp>
      <p:sp>
        <p:nvSpPr>
          <p:cNvPr id="8" name="Freeform: Shape 34">
            <a:extLst>
              <a:ext uri="{FF2B5EF4-FFF2-40B4-BE49-F238E27FC236}">
                <a16:creationId xmlns:a16="http://schemas.microsoft.com/office/drawing/2014/main" id="{168852EC-ECA5-AC4A-B1B5-B8BC4F82D821}"/>
              </a:ext>
            </a:extLst>
          </p:cNvPr>
          <p:cNvSpPr/>
          <p:nvPr/>
        </p:nvSpPr>
        <p:spPr>
          <a:xfrm>
            <a:off x="8657986" y="-259043"/>
            <a:ext cx="7485942" cy="7376085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 flip="none" rotWithShape="1"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5400000" scaled="1"/>
            <a:tileRect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955353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2410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FUNDAMENTOS E ARQUITETURAS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01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Durante muito tempo, modelos de IA foram especializados: visão para imagens, NLP para texto e fala para áudio.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LLMs multimodais integram diferentes modalidades para interpretar documentos, telas, gráficos, diagramas e imagens de forma conjunta.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integração aproxima a IA da forma como humanos analisam informação técnica e corporativa.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8" y="441326"/>
            <a:ext cx="1189824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ABERTURA: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DA IA ESPECIALIZADA À IA MULTIMODAL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 três silos para um só modelo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103120"/>
            <a:ext cx="192024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VISÃO
só imagens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87168" y="2487168"/>
            <a:ext cx="512064" cy="43891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063240"/>
            <a:ext cx="192024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NLP
só texto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487168" y="3291840"/>
            <a:ext cx="512064" cy="15544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4023360"/>
            <a:ext cx="1920240" cy="7772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FALA
só áudio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487168" y="3657600"/>
            <a:ext cx="512064" cy="74980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8920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um modelo por
modalidade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2651760"/>
            <a:ext cx="2194560" cy="12801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LLM
MULTIMODAL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30368" y="329184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669280" y="2103120"/>
            <a:ext cx="1645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documentos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2880360"/>
            <a:ext cx="1645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telas e prints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657600"/>
            <a:ext cx="1645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gráficos e diagramas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434840"/>
            <a:ext cx="16459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212080"/>
            <a:ext cx="4297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tudo interpretado em conjunto — como um humano analisa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Definir multimodalidade no contexto de modelos fundacionais.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Explicar como embeddings textuais e visuais podem ser alinhados em um espaço comum.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Descrever arquiteturas com encoder de visão, LLM, projeção, adapters e cross-attention.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Relacionar VLMs, VQA, instruction tuning e Multimodal RAG.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Avaliar limitações práticas de custo, latência, grounding visual e serviços em nuvem.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8" y="441326"/>
            <a:ext cx="1189824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3600" dirty="0">
                <a:latin typeface="GothamHTF-Book" pitchFamily="2" charset="0"/>
              </a:rPr>
              <a:t>RESULTADOS DE </a:t>
            </a:r>
            <a:r>
              <a:rPr lang="pt-BR" sz="3600" dirty="0">
                <a:solidFill>
                  <a:srgbClr val="D30F59"/>
                </a:solidFill>
                <a:latin typeface="GothamHTF-Book" pitchFamily="2" charset="0"/>
              </a:rPr>
              <a:t>APRENDIZAGEM DA AULA</a:t>
            </a:r>
            <a:endParaRPr lang="en-US" sz="36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645920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Multimodalidade em modelos fundacionais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12140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487168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Embeddings de texto e imagem num espaço comum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2962656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328416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Arquiteturas: encoder de visão + projeção + LLM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03904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169664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VLMs, VQA, instruction tuning e Multimodal RAG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645152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5010912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0">
                <a:solidFill>
                  <a:srgbClr val="FFFFFF"/>
                </a:solidFill>
                <a:latin typeface="Calibri"/>
              </a:rPr>
              <a:t>Limites práticos: custo, latência, grounding e nuvem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trilha da aula — do conceito ao pipeline no notebook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Multimodalidade é a capacidade de processar e relacionar múltiplos tipos de dados, como texto, imagem, áudio, vídeo, tabelas e documentos.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modelos fundacionais, essa integração combina percepção especializada com linguagem natural, instruções e raciocínio.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objetivo não é apenas reconhecer objetos, mas relacionar elementos visuais e textuais para responder perguntas e executar tarefas.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 QUE É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MULTIMODALIDADE</a:t>
            </a:r>
            <a:r>
              <a:rPr lang="pt-BR" sz="4000" dirty="0">
                <a:latin typeface="GothamHTF-Book" pitchFamily="2" charset="0"/>
              </a:rPr>
              <a:t>?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1828800"/>
            <a:ext cx="14630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21408" y="2103120"/>
            <a:ext cx="786384" cy="10972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2560320"/>
            <a:ext cx="14630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imagem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21408" y="2834639"/>
            <a:ext cx="786384" cy="36576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0080" y="3291840"/>
            <a:ext cx="1463040" cy="54864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áudio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121408" y="3200400"/>
            <a:ext cx="786384" cy="36576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4023360"/>
            <a:ext cx="1463040" cy="5486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vídeo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2121408" y="3200400"/>
            <a:ext cx="786384" cy="10972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26080" y="2697480"/>
            <a:ext cx="2286000" cy="10058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MODELO
MULTIMODAL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230368" y="2651760"/>
            <a:ext cx="420624" cy="3200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30368" y="3429000"/>
            <a:ext cx="420624" cy="320039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69280" y="2377440"/>
            <a:ext cx="164592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responde
perguntas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474720"/>
            <a:ext cx="164592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executa
tarefas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29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percepção + linguagem + raciocínio no mesmo lugar — relacionar, não só reconhecer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Grande parte do conhecimento corporativo aparece em gráficos, fluxogramas, prints de tela, plantas, exames, formulários e PDFs digitalizados.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modelo puramente textual pode ignorar informações críticas presentes em figuras, tabelas e layout.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modelo multimodal permite que a resposta considere evidências textuais e visuais em conjunto.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POR QUE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LLMS MULTIMODAIS IMPORTAM</a:t>
            </a:r>
            <a:r>
              <a:rPr lang="pt-BR" sz="4000" dirty="0">
                <a:latin typeface="GothamHTF-Book" pitchFamily="2" charset="0"/>
              </a:rPr>
              <a:t>?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103120"/>
            <a:ext cx="1737360" cy="28346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7830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PDF corporativo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286000"/>
            <a:ext cx="141732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2926080"/>
            <a:ext cx="1417320" cy="4572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gráfico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566160"/>
            <a:ext cx="1417320" cy="4572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tabela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206240"/>
            <a:ext cx="1417320" cy="4572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print de tela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1720" y="2514600"/>
            <a:ext cx="914400" cy="9144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40280" y="21488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só o texto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2377440"/>
            <a:ext cx="1828800" cy="5943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 SÓ TEXTO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38928" y="2670048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77840" y="2286000"/>
            <a:ext cx="17373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AFAFAF"/>
                </a:solidFill>
                <a:latin typeface="Calibri"/>
              </a:rPr>
              <a:t>✗ ignora figuras,
tabelas e layout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31720" y="4114800"/>
            <a:ext cx="914400" cy="228600"/>
          </a:xfrm>
          <a:prstGeom prst="line">
            <a:avLst/>
          </a:prstGeom>
          <a:ln w="25400">
            <a:solidFill>
              <a:srgbClr val="70AD47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240280" y="448056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70AD47"/>
                </a:solidFill>
                <a:latin typeface="Calibri"/>
              </a:rPr>
              <a:t>texto + visual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069080"/>
            <a:ext cx="1828800" cy="5943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 MULTIMODAL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138928" y="4361688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577840" y="3977639"/>
            <a:ext cx="173736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✓ evidência textual
+ visual, juntas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grande parte do conhecimento corporativo está nas figuras — não só no texto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representação traduz um objeto complexo para um vetor numérico.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Texto pode ser convertido em embedding; imagem também pode ser convertida em embedding.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desafio multimodal é tornar esses embeddings comparáveis, aproximando conteúdos semanticamente relacionados no mesmo espaço vetorial.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Exemplo: a frase “um cachorro correndo na praia” deve ficar próxima de uma imagem correspondente.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REPRESENTAÇÕES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 CONJUNTAS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2103120" cy="14630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87451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espaço do texto</a:t>
            </a:r>
          </a:p>
        </p:txBody>
      </p:sp>
      <p:sp>
        <p:nvSpPr>
          <p:cNvPr id="20" name="Oval 19"/>
          <p:cNvSpPr/>
          <p:nvPr/>
        </p:nvSpPr>
        <p:spPr>
          <a:xfrm>
            <a:off x="1463040" y="2468880"/>
            <a:ext cx="182880" cy="182880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7249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"cachorro na praia"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31920"/>
            <a:ext cx="2103120" cy="14630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FAFAF"/>
                </a:solidFill>
                <a:latin typeface="Calibri"/>
              </a:rPr>
              <a:t>espaço da imagem</a:t>
            </a:r>
          </a:p>
        </p:txBody>
      </p:sp>
      <p:sp>
        <p:nvSpPr>
          <p:cNvPr id="24" name="Oval 23"/>
          <p:cNvSpPr/>
          <p:nvPr/>
        </p:nvSpPr>
        <p:spPr>
          <a:xfrm>
            <a:off x="1463040" y="4572000"/>
            <a:ext cx="182880" cy="182880"/>
          </a:xfrm>
          <a:prstGeom prst="ellipse">
            <a:avLst/>
          </a:prstGeom>
          <a:solidFill>
            <a:srgbClr val="F57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280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foto do cão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3212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separados:
não dá para comparar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2560320"/>
            <a:ext cx="731520" cy="73152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697480" y="4023360"/>
            <a:ext cx="731520" cy="64008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74720" y="2194560"/>
            <a:ext cx="3840480" cy="301752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22677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B9BD5"/>
                </a:solidFill>
                <a:latin typeface="Calibri"/>
              </a:rPr>
              <a:t>ESPAÇO COMPARTILHADO</a:t>
            </a:r>
          </a:p>
        </p:txBody>
      </p:sp>
      <p:sp>
        <p:nvSpPr>
          <p:cNvPr id="31" name="Oval 30"/>
          <p:cNvSpPr/>
          <p:nvPr/>
        </p:nvSpPr>
        <p:spPr>
          <a:xfrm>
            <a:off x="4297680" y="3108960"/>
            <a:ext cx="182880" cy="182880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Oval 31"/>
          <p:cNvSpPr/>
          <p:nvPr/>
        </p:nvSpPr>
        <p:spPr>
          <a:xfrm>
            <a:off x="4663440" y="3108960"/>
            <a:ext cx="182880" cy="182880"/>
          </a:xfrm>
          <a:prstGeom prst="ellipse">
            <a:avLst/>
          </a:prstGeom>
          <a:solidFill>
            <a:srgbClr val="F57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69080" y="2880360"/>
            <a:ext cx="1005840" cy="640080"/>
          </a:xfrm>
          <a:prstGeom prst="roundRect">
            <a:avLst/>
          </a:prstGeom>
          <a:noFill/>
          <a:ln w="15875">
            <a:solidFill>
              <a:srgbClr val="70AD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3566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70AD47"/>
                </a:solidFill>
                <a:latin typeface="Calibri"/>
              </a:rPr>
              <a:t>frase + foto: vizinhos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4206240"/>
            <a:ext cx="182880" cy="182880"/>
          </a:xfrm>
          <a:prstGeom prst="ellipse">
            <a:avLst/>
          </a:prstGeom>
          <a:solidFill>
            <a:srgbClr val="AFAF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44622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FAFAF"/>
                </a:solidFill>
                <a:latin typeface="Calibri"/>
              </a:rPr>
              <a:t>"planilha": longe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34924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perto = mesmo significado,
mesmo vindo de modalidades diferentes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CLIP alinha imagens e textos por meio de aprendizado contrastivo.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modelo recebe lotes com imagens e descrições; cada imagem tem uma legenda correta e várias legendas negativas.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treinamento maximiza a similaridade entre pares corretos e minimiza a similaridade entre pares incorretos.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mecanismo permite busca texto-imagem, classificação zero-shot e recuperação de evidências visuais por consulta textual.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CLIP E APRENDIZADO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CONTRASTIVO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Par certo aproxima, par errado afasta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240280"/>
            <a:ext cx="155448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foto:
cão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240280"/>
            <a:ext cx="155448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"um cão"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108960"/>
            <a:ext cx="155448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foto:
gato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108960"/>
            <a:ext cx="155448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"um gato"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977639"/>
            <a:ext cx="1554480" cy="6400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foto:
praia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977639"/>
            <a:ext cx="1554480" cy="6400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"uma praia"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87168" y="2560320"/>
            <a:ext cx="1426464" cy="0"/>
          </a:xfrm>
          <a:prstGeom prst="line">
            <a:avLst/>
          </a:prstGeom>
          <a:ln w="381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87168" y="2560320"/>
            <a:ext cx="1426464" cy="868680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487168" y="2560320"/>
            <a:ext cx="1426464" cy="1737359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487168" y="2560320"/>
            <a:ext cx="1426464" cy="868680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87168" y="3429000"/>
            <a:ext cx="1426464" cy="0"/>
          </a:xfrm>
          <a:prstGeom prst="line">
            <a:avLst/>
          </a:prstGeom>
          <a:ln w="381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87168" y="3429000"/>
            <a:ext cx="1426464" cy="868679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487168" y="2560320"/>
            <a:ext cx="1426464" cy="1737359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487168" y="3429000"/>
            <a:ext cx="1426464" cy="868679"/>
          </a:xfrm>
          <a:prstGeom prst="line">
            <a:avLst/>
          </a:prstGeom>
          <a:ln w="1143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487168" y="4297679"/>
            <a:ext cx="1426464" cy="0"/>
          </a:xfrm>
          <a:prstGeom prst="line">
            <a:avLst/>
          </a:prstGeom>
          <a:ln w="38100">
            <a:solidFill>
              <a:srgbClr val="70AD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0" y="233172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AD47"/>
                </a:solidFill>
                <a:latin typeface="Calibri"/>
              </a:rPr>
              <a:t>✓ correto:
similaridade sobe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3200400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FAFAF"/>
                </a:solidFill>
                <a:latin typeface="Calibri"/>
              </a:rPr>
              <a:t>✗ errado:
similaridade desce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983480"/>
            <a:ext cx="603504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milhões de lotes depois: busca texto→imagem e classificação zero-shot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cada imagem: uma legenda correta, várias negativas — no mesmo lote</a:t>
            </a:r>
          </a:p>
        </p:txBody>
      </p: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modelo não aprende apenas pixels ou palavras isoladas; ele aprende relações entre padrões visuais e padrões linguísticos.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ponte semântica sustenta tarefas como descrição de imagens, busca multimodal e recuperação em bases visuais.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 prática, isso permite consultar um acervo de imagens ou documentos usando linguagem natural.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 PONTE SEMÂNTICA ENTRE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VISÃO E LINGUAGEM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192024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PADRÕES
VISUAIS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017520"/>
            <a:ext cx="1920240" cy="91440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PADRÕES
LINGUÍSTICOS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2103120"/>
            <a:ext cx="2468880" cy="6400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PONTE SEMÂNTICA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1600200" y="2743200"/>
            <a:ext cx="1051560" cy="256032"/>
          </a:xfrm>
          <a:prstGeom prst="line">
            <a:avLst/>
          </a:prstGeom>
          <a:ln w="31750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4754880" y="2743200"/>
            <a:ext cx="1051560" cy="256032"/>
          </a:xfrm>
          <a:prstGeom prst="line">
            <a:avLst/>
          </a:prstGeom>
          <a:ln w="31750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68880" y="16916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AFAFAF"/>
                </a:solidFill>
                <a:latin typeface="Calibri"/>
              </a:rPr>
              <a:t>relações aprendidas, não pixels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480560"/>
            <a:ext cx="21031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descrição de imagens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4480560"/>
            <a:ext cx="21031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busca multimodal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480560"/>
            <a:ext cx="21031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consulta em ling. natural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na prática: perguntar em português a um acervo de imagens e documentos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arquitetura comum combina um encoder visual com um modelo de linguagem.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encoder visual transforma a imagem em vetores que representam patches, regiões, objetos ou características globais.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camada de projeção, adapter ou módulo intermediário ajusta esses vetores para o espaço de entrada do LLM.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LLM processa tokens visuais e textuais para gerar respostas em linguagem natural.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ENCODER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VISÃO + LLM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057400"/>
            <a:ext cx="118872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imagem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64208" y="237744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11680" y="1965960"/>
            <a:ext cx="1828800" cy="8229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ENCODER VISUAL
patches / regiões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58768" y="237744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06240" y="2011680"/>
            <a:ext cx="155448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projeção /
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7889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AFAFAF"/>
                </a:solidFill>
                <a:latin typeface="Calibri"/>
              </a:rPr>
              <a:t>ajusta ao espaço do LLM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779008" y="2377440"/>
            <a:ext cx="329184" cy="45720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0" y="2880360"/>
            <a:ext cx="1828800" cy="10972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
tokens visuais
+ texto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011680" y="4206240"/>
            <a:ext cx="1828800" cy="59436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 em texto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858768" y="3749039"/>
            <a:ext cx="1609344" cy="731521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400800" y="3995928"/>
            <a:ext cx="0" cy="43891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029200" y="4480560"/>
            <a:ext cx="228600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 em linguagem natural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440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imagem vira tokens — e entra no LLM lado a lado com a pergunta</a:t>
            </a:r>
          </a:p>
        </p:txBody>
      </p:sp>
    </p:spTree>
    <p:extLst>
      <p:ext uri="{BB962C8B-B14F-4D97-AF65-F5344CB8AC3E}">
        <p14:creationId xmlns:p14="http://schemas.microsoft.com/office/powerpoint/2010/main" val="683767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Treinar todos os componentes do zero é caro e exige grandes bases multimodais.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Estratégias modernas reutilizam encoders de visão e LLMs já treinados, ajustando apenas módulos de alinhamento.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BLIP-2 ilustra essa ideia ao conectar encoders de imagem e LLMs congelados por meio de um módulo intermediário leve.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abordagem reduz custo computacional e facilita adaptação a domínios específicos.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REUTILIZAÇÃO DE MODELOS </a:t>
            </a:r>
            <a:br>
              <a:rPr lang="pt-BR" sz="4000" dirty="0">
                <a:latin typeface="GothamHTF-Book" pitchFamily="2" charset="0"/>
              </a:rPr>
            </a:b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PRÉ-TREINADOS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926080"/>
            <a:ext cx="201168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ENCODER DE
IMAGEM 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congelado — já pronto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78608" y="338328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17520" y="2926080"/>
            <a:ext cx="173736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PONTE LEVE
só ela treina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88620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D30F59"/>
                </a:solidFill>
                <a:latin typeface="Calibri"/>
              </a:rPr>
              <a:t>módulo pequeno e barato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73168" y="338328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212080" y="2926080"/>
            <a:ext cx="201168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LLM 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congelado — já pronto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709160"/>
            <a:ext cx="576072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BLIP-2: reaproveita os gigantes prontos — treina só a ponte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406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menos custo de treino, adaptação mais fácil ao seu domínio</a:t>
            </a:r>
          </a:p>
        </p:txBody>
      </p:sp>
    </p:spTree>
    <p:extLst>
      <p:ext uri="{BB962C8B-B14F-4D97-AF65-F5344CB8AC3E}">
        <p14:creationId xmlns:p14="http://schemas.microsoft.com/office/powerpoint/2010/main" val="404294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fusão entre modalidades pode ocorrer por concatenação de tokens visuais e textuais ou por mecanismos de atenção cruzada.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Na cross-attention, os tokens textuais consultam vetores visuais para identificar regiões relevantes da imagem.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Adapters são módulos menores que aprendem a traduzir uma modalidade para outra sem atualizar todos os pesos do modelo.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Esses mecanismos ajudam a reduzir custo de treinamento e permitem atualizações incrementais.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CROSS-ATTENTION E ADAPTERS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 texto consulta as regiões da imagem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148840"/>
            <a:ext cx="128016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qual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770632"/>
            <a:ext cx="128016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cor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92424"/>
            <a:ext cx="128016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14216"/>
            <a:ext cx="1280160" cy="4572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carro?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214884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4920" y="214884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52160" y="214884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292608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74920" y="292608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292608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703320"/>
            <a:ext cx="777240" cy="777240"/>
          </a:xfrm>
          <a:prstGeom prst="rect">
            <a:avLst/>
          </a:prstGeom>
          <a:solidFill>
            <a:srgbClr val="F57E20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370332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3703320"/>
            <a:ext cx="777240" cy="777240"/>
          </a:xfrm>
          <a:prstGeom prst="rect">
            <a:avLst/>
          </a:prstGeom>
          <a:solidFill>
            <a:srgbClr val="0A1424"/>
          </a:solidFill>
          <a:ln w="952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80" y="45537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7E20"/>
                </a:solidFill>
                <a:latin typeface="Calibri"/>
              </a:rPr>
              <a:t>o carro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4920" y="45537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FAFAF"/>
                </a:solidFill>
                <a:latin typeface="Calibri"/>
              </a:rPr>
              <a:t>imagem em regiões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938528" y="2537460"/>
            <a:ext cx="2473452" cy="170535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938528" y="2537460"/>
            <a:ext cx="3250692" cy="170535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938528" y="2537460"/>
            <a:ext cx="4027932" cy="170535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938528" y="3314700"/>
            <a:ext cx="2473452" cy="92811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38528" y="3314700"/>
            <a:ext cx="3250692" cy="92811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1938528" y="3314700"/>
            <a:ext cx="4027932" cy="928116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938528" y="4091939"/>
            <a:ext cx="2473452" cy="150877"/>
          </a:xfrm>
          <a:prstGeom prst="line">
            <a:avLst/>
          </a:prstGeom>
          <a:ln w="38100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938528" y="4091939"/>
            <a:ext cx="3250692" cy="150877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938528" y="4091939"/>
            <a:ext cx="4027932" cy="150877"/>
          </a:xfrm>
          <a:prstGeom prst="line">
            <a:avLst/>
          </a:prstGeom>
          <a:ln w="10160">
            <a:solidFill>
              <a:srgbClr val="AFAF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40080" y="47548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cross-attention: "carro?" dá mais
peso à região onde o carro está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623560"/>
            <a:ext cx="64922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adapters: tradutores leves entre modalidades — sem retreinar o modelo inteiro</a:t>
            </a:r>
          </a:p>
        </p:txBody>
      </p:sp>
    </p:spTree>
    <p:extLst>
      <p:ext uri="{BB962C8B-B14F-4D97-AF65-F5344CB8AC3E}">
        <p14:creationId xmlns:p14="http://schemas.microsoft.com/office/powerpoint/2010/main" val="2367165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Vision-Language Models lidam com tarefas que combinam visão e linguagem.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Exemplos: image captioning, visual question answering, busca imagem-texto, descrição de gráficos, leitura de documentos e interpretação de telas.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VQA, o modelo recebe uma imagem e uma pergunta textual, produzindo uma resposta coerente com o conteúdo visual.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tipo de tarefa é central para aplicações com documentos, suporte técnico, educação, saúde e análise de mídia.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VLMS E VQA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103120"/>
            <a:ext cx="2103120" cy="6858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imagem:
um gráfico de barras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210312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pergunta:
"qual barra é maior?"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0048" y="2450592"/>
            <a:ext cx="694944" cy="429768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670048" y="3154680"/>
            <a:ext cx="694944" cy="3931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3280" y="2606040"/>
            <a:ext cx="1554480" cy="82296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VLM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956048" y="301752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394960" y="2697480"/>
            <a:ext cx="19202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resposta:
"a barra de 2024"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outras tarefas da mesma família: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6344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captioning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66344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busca imagem-texto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466344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leitura de documentos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663440"/>
            <a:ext cx="160020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interpretação de telas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40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teste do VQA: a resposta tem de ser coerente com o que está NA imagem</a:t>
            </a:r>
          </a:p>
        </p:txBody>
      </p:sp>
    </p:spTree>
    <p:extLst>
      <p:ext uri="{BB962C8B-B14F-4D97-AF65-F5344CB8AC3E}">
        <p14:creationId xmlns:p14="http://schemas.microsoft.com/office/powerpoint/2010/main" val="1743176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MULTIMODAL RAG E 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AVALIAÇÃO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02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1613149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instruction tuning multimodal ajusta o modelo para seguir instruções humanas envolvendo imagens e texto.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vez de apenas classificar ou recuperar, o modelo aprende a responder comandos, explicar elementos visuais e raciocinar sobre conteúdo multimodal.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LLaVA foi um marco ao conectar um encoder visual a um LLM e usar dados de instrução multimodal para construir um assistente visual-linguístico.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877027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INSTRUCTION TUNING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MULTIMODAL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encoder visual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44368" y="2103120"/>
            <a:ext cx="694944" cy="68580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2514600"/>
            <a:ext cx="23774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44368" y="2788920"/>
            <a:ext cx="69494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48640" y="3200400"/>
            <a:ext cx="237744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dados de instrução multimodal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2944368" y="2788920"/>
            <a:ext cx="694944" cy="68580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2331720"/>
            <a:ext cx="2286000" cy="10058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LLaVA
assistente
visual-linguístico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108960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AFAFAF"/>
                </a:solidFill>
                <a:latin typeface="Calibri"/>
              </a:rPr>
              <a:t>ANTES
classifica ou recupera:
→ "gato"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703320" y="4663440"/>
            <a:ext cx="36576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14800" y="4160520"/>
            <a:ext cx="3108960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COM INSTRUCTION TUNING
segue comandos, explica
e raciocina sobre a imagem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"explique este gráfico" deixa de ser tarefa impossível — vira instrução</a:t>
            </a:r>
          </a:p>
        </p:txBody>
      </p:sp>
    </p:spTree>
    <p:extLst>
      <p:ext uri="{BB962C8B-B14F-4D97-AF65-F5344CB8AC3E}">
        <p14:creationId xmlns:p14="http://schemas.microsoft.com/office/powerpoint/2010/main" val="390241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RAG textual, documentos são divididos em chunks, vetorizados, indexados e recuperados para fundamentar respostas.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Multimodal RAG, esse fluxo passa a incluir imagens, gráficos, tabelas, páginas escaneadas, metadados e layout.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recuperação pode retornar evidências textuais, visuais ou híbridas, dependendo da pergunta do usuário.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modelo gerador deve responder com base nas evidências recuperadas.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MULTIMODAL RAG: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EXPANSÃO DO RAG TEXTUAL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 mesmo fluxo do RAG textual — agora com olhos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40"/>
            <a:ext cx="1166774" cy="10058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PDF
texto + figuras
+ tabelas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42262" y="288036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880006" y="2377440"/>
            <a:ext cx="1166774" cy="10058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chunks
híbridos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65068" y="288036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02812" y="2377440"/>
            <a:ext cx="1166774" cy="10058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embeddings
+ índice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87875" y="288036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25619" y="2377440"/>
            <a:ext cx="1166774" cy="1005840"/>
          </a:xfrm>
          <a:prstGeom prst="roundRect">
            <a:avLst/>
          </a:prstGeom>
          <a:solidFill>
            <a:srgbClr val="5B9BD5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recupera
evidências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910681" y="2880360"/>
            <a:ext cx="219456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48425" y="2377440"/>
            <a:ext cx="1166774" cy="10058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resposta
fundamentada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114800"/>
            <a:ext cx="1737360" cy="54864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pergunta do usuário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4892040" y="3429000"/>
            <a:ext cx="0" cy="66751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93776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a evidência recuperada pode ser texto, imagem ou os dois — depende da pergunta</a:t>
            </a:r>
          </a:p>
        </p:txBody>
      </p:sp>
    </p:spTree>
    <p:extLst>
      <p:ext uri="{BB962C8B-B14F-4D97-AF65-F5344CB8AC3E}">
        <p14:creationId xmlns:p14="http://schemas.microsoft.com/office/powerpoint/2010/main" val="121451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sistemas acadêmicos e corporativos, não basta responder: é necessário indicar de onde veio a resposta.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Multimodal RAG, a evidência pode envolver página, figura, legenda, trecho textual, coordenada, ID de imagem e metadados.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rastreabilidade reduz risco de alucinação, facilita auditoria e permite validação pelo usuário.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Citações visuais são especialmente importantes em documentos técnicos, relatórios, manuais e exames.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EVIDÊNCIA MULTIMODAL E RASTREABILIDADE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3017520" cy="12801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RESPOSTA DO SISTEMA
+ citações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1920240"/>
            <a:ext cx="2377440" cy="128016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DOCUMENTO ORIGINAL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11880" y="2560320"/>
            <a:ext cx="118872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11880" y="2148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FAFAF"/>
                </a:solidFill>
                <a:latin typeface="Calibri"/>
              </a:rPr>
              <a:t>de onde veio?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290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a citação multimodal carrega: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2344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página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92807" y="3749039"/>
            <a:ext cx="12344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figura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36976" y="3749039"/>
            <a:ext cx="12344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legenda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81144" y="3749039"/>
            <a:ext cx="12344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coordenadas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25312" y="3749039"/>
            <a:ext cx="123444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ID da imagem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60"/>
            <a:ext cx="2057400" cy="548640"/>
          </a:xfrm>
          <a:prstGeom prst="roundRect">
            <a:avLst/>
          </a:prstGeom>
          <a:noFill/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menos alucinação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39" y="4709160"/>
            <a:ext cx="2057400" cy="548640"/>
          </a:xfrm>
          <a:prstGeom prst="roundRect">
            <a:avLst/>
          </a:prstGeom>
          <a:noFill/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auditoria possível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4709160"/>
            <a:ext cx="2057400" cy="548640"/>
          </a:xfrm>
          <a:prstGeom prst="roundRect">
            <a:avLst/>
          </a:prstGeom>
          <a:noFill/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usuário valida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em documentos técnicos, relatórios e exames, responder sem citar não basta</a:t>
            </a:r>
          </a:p>
        </p:txBody>
      </p:sp>
    </p:spTree>
    <p:extLst>
      <p:ext uri="{BB962C8B-B14F-4D97-AF65-F5344CB8AC3E}">
        <p14:creationId xmlns:p14="http://schemas.microsoft.com/office/powerpoint/2010/main" val="185245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chunking multimodal exige mais cuidado que o chunking textual.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Uma tabela não deve ser separada de seu título; uma figura não deve ser separada de sua legenda; um gráfico não deve ser indexado sem eixos.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OCR isolado pode extrair palavras, mas perder relações espaciais e significado visual.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divisão deve respeitar unidades semânticas visuais e textuais.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CHUNKING MULTIMODAL: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OCR, LAYOUT E SEMÂNTICA VISUAL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468880"/>
            <a:ext cx="3017520" cy="19202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743200"/>
            <a:ext cx="10972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título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566160"/>
            <a:ext cx="10972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tabela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063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D30F59"/>
                </a:solidFill>
                <a:latin typeface="Calibri"/>
              </a:rPr>
              <a:t>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D30F59"/>
                </a:solidFill>
                <a:latin typeface="Calibri"/>
              </a:rPr>
              <a:t>✗ separados: a tabela
perde o sentido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2468880"/>
            <a:ext cx="3017520" cy="1920240"/>
          </a:xfrm>
          <a:prstGeom prst="roundRect">
            <a:avLst/>
          </a:prstGeom>
          <a:noFill/>
          <a:ln w="15875">
            <a:solidFill>
              <a:srgbClr val="70AD4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2926080"/>
            <a:ext cx="2377440" cy="10058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título
+ tabela
(mesmo chunk)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526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0AD47"/>
                </a:solidFill>
                <a:latin typeface="Calibri"/>
              </a:rPr>
              <a:t>✓ juntos: unidade
semântica preservada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03520"/>
            <a:ext cx="667512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OCR sozinho extrai palavras — mas perde as relações espaciais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436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divida pelo significado visual, não pelo tamanho do texto</a:t>
            </a:r>
          </a:p>
        </p:txBody>
      </p:sp>
    </p:spTree>
    <p:extLst>
      <p:ext uri="{BB962C8B-B14F-4D97-AF65-F5344CB8AC3E}">
        <p14:creationId xmlns:p14="http://schemas.microsoft.com/office/powerpoint/2010/main" val="1884655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Um chunk enriquecido pode conter texto da página, legenda da figura, descrição visual gerada por VLM e OCR de regiões específicas.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Também deve carregar metadados como página, seção, tipo de elemento visual, coordenadas, fonte e ID do documento.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Essa representação melhora a recuperação e permite que a resposta cite evidências com precisão.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objetivo é preservar contexto e reduzir perda de informação visual.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CHUNKS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ENRIQUECIDOS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5544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Tudo viaja junto dentro do chunk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057400"/>
            <a:ext cx="3200400" cy="365760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1214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B9BD5"/>
                </a:solidFill>
                <a:latin typeface="Calibri"/>
              </a:rPr>
              <a:t>UM CHUNK ENRIQUECIDO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14600"/>
            <a:ext cx="265176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texto da página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136392"/>
            <a:ext cx="265176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legenda da figura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758184"/>
            <a:ext cx="2651760" cy="50292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descrição visual (VLM)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379976"/>
            <a:ext cx="2651760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OCR de regiões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01768"/>
            <a:ext cx="265176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metadados: página, coords, ID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3657600"/>
            <a:ext cx="73152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663440" y="3200400"/>
            <a:ext cx="2011680" cy="91440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ÍNDICE
DE BUSCA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0" y="4133087"/>
            <a:ext cx="0" cy="393193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63440" y="4572000"/>
            <a:ext cx="2194560" cy="86868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citação precisa:
página, figura, coords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mais contexto no chunk = melhor recuperação e menos informação visual perdida</a:t>
            </a:r>
          </a:p>
        </p:txBody>
      </p:sp>
    </p:spTree>
    <p:extLst>
      <p:ext uri="{BB962C8B-B14F-4D97-AF65-F5344CB8AC3E}">
        <p14:creationId xmlns:p14="http://schemas.microsoft.com/office/powerpoint/2010/main" val="121816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Avaliar modelos multimodais é mais complexo do que avaliar modelos textuais.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Além de exatidão, relevância e factualidade, é preciso verificar grounding visual.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Grounding visual significa que a resposta está ancorada em elementos visuais realmente presentes na entrada.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avaliação deve separar qualidade da recuperação e qualidade da geração.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AVALIAÇÃO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MULTIMODAL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0020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Meça em dois pontos — separados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06040"/>
            <a:ext cx="128016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consulta
+ docs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55648" y="292608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194560" y="2560320"/>
            <a:ext cx="1828800" cy="7315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RECUPERAÇÃO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41648" y="2926080"/>
            <a:ext cx="42062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480560" y="2560320"/>
            <a:ext cx="1828800" cy="7315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GERAÇÃO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27648" y="292608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675120" y="2606040"/>
            <a:ext cx="685800" cy="640080"/>
          </a:xfrm>
          <a:prstGeom prst="roundRect">
            <a:avLst/>
          </a:prstGeom>
          <a:noFill/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resposta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108960" y="3310128"/>
            <a:ext cx="0" cy="393192"/>
          </a:xfrm>
          <a:prstGeom prst="line">
            <a:avLst/>
          </a:prstGeom>
          <a:ln w="19050">
            <a:solidFill>
              <a:srgbClr val="5B9BD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965960" y="3749039"/>
            <a:ext cx="228600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medida 1:
achou a evidência certa?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394960" y="3310128"/>
            <a:ext cx="0" cy="393192"/>
          </a:xfrm>
          <a:prstGeom prst="line">
            <a:avLst/>
          </a:prstGeom>
          <a:ln w="19050">
            <a:solidFill>
              <a:srgbClr val="D30F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34840" y="3749039"/>
            <a:ext cx="2377440" cy="6858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medida 2: resposta ancorada
no visual? (grounding)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6583680" cy="54864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notas separadas mostram ONDE o erro nasceu: na busca ou na resposta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grounding visual: a resposta cita o que realmente está na entrada</a:t>
            </a:r>
          </a:p>
        </p:txBody>
      </p:sp>
    </p:spTree>
    <p:extLst>
      <p:ext uri="{BB962C8B-B14F-4D97-AF65-F5344CB8AC3E}">
        <p14:creationId xmlns:p14="http://schemas.microsoft.com/office/powerpoint/2010/main" val="1183599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DocVQA avalia pergunta e resposta sobre imagens de documentos.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MMMU avalia compreensão e raciocínio multimodal em questões de nível universitário, cobrindo várias áreas do conhecimento.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HallusionBench diagnostica alucinações linguísticas e ilusões visuais em modelos visão-linguagem.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Esses benchmarks mostram que modelos avançados ainda falham em relações visuais sutis, baixa qualidade de imagem e viés induzido por texto.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BENCHMARKS: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DOCVQA, MMMU E HALLUSIONBENCH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2377440"/>
            <a:ext cx="210312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DocVQA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210312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perguntas sobre
imagens de documentos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2377440"/>
            <a:ext cx="2103120" cy="54864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MMMU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2971800"/>
            <a:ext cx="210312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raciocínio multimodal
de nível universitário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377440"/>
            <a:ext cx="2103120" cy="54864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HallusionBench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2971800"/>
            <a:ext cx="2103120" cy="822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alucinações e
ilusões visuais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06908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 que eles revelam — modelos avançados ainda falham em: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34840"/>
            <a:ext cx="210312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relações visuais sutis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40" y="4434840"/>
            <a:ext cx="210312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imagens de baixa qualidade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434840"/>
            <a:ext cx="2103120" cy="6400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viés induzido pelo texto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492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benchmark bom não é nota de marketing: é mapa do que ainda quebra</a:t>
            </a:r>
          </a:p>
        </p:txBody>
      </p:sp>
    </p:spTree>
    <p:extLst>
      <p:ext uri="{BB962C8B-B14F-4D97-AF65-F5344CB8AC3E}">
        <p14:creationId xmlns:p14="http://schemas.microsoft.com/office/powerpoint/2010/main" val="1822363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Custo: imagens, PDFs e vídeos podem consumir mais recursos que texto puro.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Latência: pipelines com OCR, descrição visual, embeddings e geração tendem a ser mais lentos.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Qualidade visual: baixa resolução, oclusão, gráficos ambíguos e layouts complexos reduzem confiabilidade.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Auditoria: é preciso registrar evidências visuais, coordenadas, modelos usados e transformações aplicadas.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LIMITAÇÕES PRÁTICAS DE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LLMS MULTIMODAIS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57E20"/>
                </a:solidFill>
                <a:latin typeface="Calibri"/>
              </a:rPr>
              <a:t>CUSTO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imagem, PDF e vídeo consomem mais que texto puro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59" y="192024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5B9BD5"/>
                </a:solidFill>
                <a:latin typeface="Calibri"/>
              </a:rPr>
              <a:t>LATÊNCIA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OCR + descrição + embeddings + geração = mais lento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D30F59"/>
                </a:solidFill>
                <a:latin typeface="Calibri"/>
              </a:rPr>
              <a:t>QUALIDADE VISUAL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baixa resolução e layout complexo derrubam a confiança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59" y="338328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70AD47"/>
                </a:solidFill>
                <a:latin typeface="Calibri"/>
              </a:rPr>
              <a:t>AUDITORIA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registrar evidências, coordenadas e modelos usados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dimensione custo e latência ANTES de levar o pipeline a produção</a:t>
            </a:r>
          </a:p>
        </p:txBody>
      </p:sp>
    </p:spTree>
    <p:extLst>
      <p:ext uri="{BB962C8B-B14F-4D97-AF65-F5344CB8AC3E}">
        <p14:creationId xmlns:p14="http://schemas.microsoft.com/office/powerpoint/2010/main" val="1642170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358098" y="1908210"/>
            <a:ext cx="3505398" cy="418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IA GENERATIVA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358098" y="2688890"/>
            <a:ext cx="11833902" cy="17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2"/>
                </a:solidFill>
                <a:latin typeface="GothamHTF-Book" pitchFamily="2" charset="0"/>
              </a:rPr>
              <a:t>NUVEM, MERCADO E PRÁTICA GUIADA</a:t>
            </a:r>
            <a:br>
              <a:rPr lang="pt-BR" sz="4400" dirty="0">
                <a:solidFill>
                  <a:schemeClr val="bg2"/>
                </a:solidFill>
                <a:latin typeface="GothamHTF-Book" pitchFamily="2" charset="0"/>
              </a:rPr>
            </a:br>
            <a:r>
              <a:rPr lang="en-US" sz="1867" dirty="0">
                <a:solidFill>
                  <a:srgbClr val="D30F59"/>
                </a:solidFill>
                <a:latin typeface="GothamHTF-Book" pitchFamily="2" charset="0"/>
              </a:rPr>
              <a:t>PARTE 03</a:t>
            </a:r>
            <a:endParaRPr lang="en-ID" sz="1867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443443" y="6103049"/>
            <a:ext cx="4764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Prof. Flavio Padilha</a:t>
            </a: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270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</p:spTree>
    <p:extLst>
      <p:ext uri="{BB962C8B-B14F-4D97-AF65-F5344CB8AC3E}">
        <p14:creationId xmlns:p14="http://schemas.microsoft.com/office/powerpoint/2010/main" val="3631024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Em produção, muitas organizações preferem serviços gerenciados para acelerar o uso de modelos multimodais.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Esses serviços combinam modelos fundacionais, armazenamento, recuperação, segurança, observabilidade e escalabilidade sob demanda.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uso gerenciado reduz esforço operacional, mas não elimina decisões de arquitetura, governança, custo e avaliação.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it-IT" sz="4000" dirty="0">
                <a:latin typeface="GothamHTF-Book" pitchFamily="2" charset="0"/>
              </a:rPr>
              <a:t>SERVIÇOS GERENCIADOS EM </a:t>
            </a:r>
            <a:r>
              <a:rPr lang="it-IT" sz="4000" dirty="0">
                <a:solidFill>
                  <a:srgbClr val="D30F59"/>
                </a:solidFill>
                <a:latin typeface="GothamHTF-Book" pitchFamily="2" charset="0"/>
              </a:rPr>
              <a:t>NUVEM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3931920" cy="3108960"/>
          </a:xfrm>
          <a:prstGeom prst="roundRect">
            <a:avLst/>
          </a:prstGeom>
          <a:noFill/>
          <a:ln w="15875">
            <a:solidFill>
              <a:srgbClr val="5B9B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993392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5B9BD5"/>
                </a:solidFill>
                <a:latin typeface="Calibri"/>
              </a:rPr>
              <a:t>O SERVIÇO GERENCIADO ENTREGA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37744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modelos fundacionais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237744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armazenamento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5468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recuperação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15468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93192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observabilidade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931920"/>
            <a:ext cx="1691640" cy="54864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escala sob demanda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0" y="1920240"/>
            <a:ext cx="2377440" cy="31089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CONTINUA COM VOCÊ
arquitetura
governança
custo
avaliação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578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gerenciado acelera a operação — mas não decide a arquitetura por você</a:t>
            </a:r>
          </a:p>
        </p:txBody>
      </p:sp>
    </p:spTree>
    <p:extLst>
      <p:ext uri="{BB962C8B-B14F-4D97-AF65-F5344CB8AC3E}">
        <p14:creationId xmlns:p14="http://schemas.microsoft.com/office/powerpoint/2010/main" val="3665925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Azure, a estratégia multimodal pode combinar Azure AI Foundry, Azure OpenAI, Azure AI Search e serviços de análise documental.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Pipelines de busca multimodal podem enriquecer, indexar e recuperar imagens, textos e documentos.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padrão é útil para PDFs técnicos, formulários escaneados, apresentações, screenshots, gráficos e infográficos.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recuperação deve preservar metadados, relações entre elementos visuais e textuais e evidências citáveis.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AZURE AI FOUNDRY, AZURE OPENAI E AZURE AI SEARCH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1371600" cy="868680"/>
          </a:xfrm>
          <a:prstGeom prst="roundRect">
            <a:avLst/>
          </a:prstGeom>
          <a:noFill/>
          <a:ln w="15875">
            <a:solidFill>
              <a:srgbClr val="AFAF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PDFs, prints,
formulários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47088" y="3172968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148840" y="2743200"/>
            <a:ext cx="1554480" cy="86868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ANÁLISE
DOCUMENTAL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21608" y="3172968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023360" y="2743200"/>
            <a:ext cx="1554480" cy="86868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AZURE AI SEARCH
índice multimodal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96128" y="3172968"/>
            <a:ext cx="28346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897880" y="2743200"/>
            <a:ext cx="1463040" cy="86868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AZURE OPENAI
/ FOUNDRY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486400" y="3630168"/>
            <a:ext cx="1143000" cy="621792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554480" y="4297680"/>
            <a:ext cx="4480560" cy="5943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resposta com evidências citáveis + metadados preservados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 índice guarda as relações entre elementos visuais e textuais — não só o texto</a:t>
            </a:r>
          </a:p>
        </p:txBody>
      </p:sp>
    </p:spTree>
    <p:extLst>
      <p:ext uri="{BB962C8B-B14F-4D97-AF65-F5344CB8AC3E}">
        <p14:creationId xmlns:p14="http://schemas.microsoft.com/office/powerpoint/2010/main" val="3048446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No Google Cloud, o Vertex AI disponibiliza modelos Gemini para processamento de texto, imagem, vídeo e documentos.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capacidade de adicionar imagens e PDFs às requisições permite tarefas de compreensão visual e documental.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Esse padrão é útil em contratos, relatórios técnicos, exames, manuais, catálogos e documentos com layout complexo.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PDF deixa de ser tratado apenas como texto e passa a ser analisado também por seus elementos visuais e estruturais.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GOOGLE CLOUD VERTEX AI E GEMINI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2377440" cy="2377440"/>
          </a:xfrm>
          <a:prstGeom prst="roundRect">
            <a:avLst/>
          </a:prstGeom>
          <a:noFill/>
          <a:ln w="15875">
            <a:solidFill>
              <a:srgbClr val="AFAFA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99339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AFAFAF"/>
                </a:solidFill>
                <a:latin typeface="Calibri"/>
              </a:rPr>
              <a:t>UMA REQUISIÇÃO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331720"/>
            <a:ext cx="182880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prompt (texto)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2926080"/>
            <a:ext cx="1828800" cy="502920"/>
          </a:xfrm>
          <a:prstGeom prst="roundRect">
            <a:avLst/>
          </a:prstGeom>
          <a:solidFill>
            <a:srgbClr val="F57E20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520440"/>
            <a:ext cx="1828800" cy="502920"/>
          </a:xfrm>
          <a:prstGeom prst="roundRect">
            <a:avLst/>
          </a:prstGeom>
          <a:solidFill>
            <a:srgbClr val="70AD4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PDF inteiro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3108960"/>
            <a:ext cx="640080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57600" y="2651760"/>
            <a:ext cx="1737360" cy="914400"/>
          </a:xfrm>
          <a:prstGeom prst="roundRect">
            <a:avLst/>
          </a:prstGeom>
          <a:solidFill>
            <a:srgbClr val="D30F59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GEMINI
(Vertex AI)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13248" y="3108960"/>
            <a:ext cx="329184" cy="0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760720" y="2651760"/>
            <a:ext cx="1554480" cy="9144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compreensão
visual e
documental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onde esse padrão brilha: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92040"/>
            <a:ext cx="15544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contratos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4892040"/>
            <a:ext cx="15544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exames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31920" y="4892040"/>
            <a:ext cx="15544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manuais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0" y="4892040"/>
            <a:ext cx="1554480" cy="5029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catálogos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o PDF deixa de ser só texto: layout e figuras também entram na análise</a:t>
            </a:r>
          </a:p>
        </p:txBody>
      </p:sp>
    </p:spTree>
    <p:extLst>
      <p:ext uri="{BB962C8B-B14F-4D97-AF65-F5344CB8AC3E}">
        <p14:creationId xmlns:p14="http://schemas.microsoft.com/office/powerpoint/2010/main" val="1550297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920240"/>
            <a:ext cx="4206240" cy="452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Entrada: imagem ou PDF com texto e elementos visuais.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Etapa 1: envio para um modelo multimodal para gerar descrição estruturada.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Etapa 2: extração de texto, OCR e metadados relevantes.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Etapa 3: geração de embeddings e armazenamento em índice semântico.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Etapa 4: recuperação das evidências e geração da resposta com citações.</a:t>
            </a:r>
            <a:endParaRPr lang="pt-BR" sz="20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ARQUITETURA DIDÁTICA DO </a:t>
            </a:r>
            <a:br>
              <a:rPr lang="pt-BR" sz="4000" dirty="0">
                <a:latin typeface="GothamHTF-Book" pitchFamily="2" charset="0"/>
              </a:rPr>
            </a:b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HANDS-ON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234440" y="2286000"/>
            <a:ext cx="2011680" cy="502920"/>
          </a:xfrm>
          <a:prstGeom prst="roundRect">
            <a:avLst/>
          </a:prstGeom>
          <a:noFill/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imagem ou PDF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40280" y="2807208"/>
            <a:ext cx="0" cy="19202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1C35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3017520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descrição estruturada via modelo multimodal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3493008"/>
            <a:ext cx="0" cy="219455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48640" y="3730752"/>
            <a:ext cx="457200" cy="457200"/>
          </a:xfrm>
          <a:prstGeom prst="ellipse">
            <a:avLst/>
          </a:prstGeom>
          <a:solidFill>
            <a:srgbClr val="F57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" y="3730752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extração de texto, OCR e metadados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206240"/>
            <a:ext cx="0" cy="219456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48640" y="4443984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4443984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embeddings + armazenamento em índice semântico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" y="4919472"/>
            <a:ext cx="0" cy="219456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48640" y="515721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5157216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recuperação de evidências → resposta com citações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007608"/>
            <a:ext cx="6080760" cy="502920"/>
          </a:xfrm>
          <a:prstGeom prst="roundRect">
            <a:avLst/>
          </a:prstGeom>
          <a:solidFill>
            <a:srgbClr val="1C3561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é este fluxo que você monta no notebook do hands-on</a:t>
            </a:r>
          </a:p>
        </p:txBody>
      </p:sp>
    </p:spTree>
    <p:extLst>
      <p:ext uri="{BB962C8B-B14F-4D97-AF65-F5344CB8AC3E}">
        <p14:creationId xmlns:p14="http://schemas.microsoft.com/office/powerpoint/2010/main" val="2709806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Preservar a relação entre texto, figura, legenda, tabela e página.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Armazenar metadados suficientes para auditoria e citação.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Separar avaliação de recuperação e avaliação de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Testar casos difíceis: OCR imperfeito, baixa resolução, gráficos ambíguos e documentos escaneados.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133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Monitorar custo, latência, taxa de erro, qualidade das respostas e uso de evidências.</a:t>
            </a:r>
            <a:endParaRPr lang="pt-BR" sz="2133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BOAS PRÁTICAS PARA MULTIMODAL RAG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3209544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D30F59"/>
                </a:solidFill>
                <a:latin typeface="Calibri"/>
              </a:rPr>
              <a:t>Relações preservadas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texto ↔ figura ↔ legenda ↔ tabela ↔ página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5" y="1828800"/>
            <a:ext cx="3209544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Metadados para citar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sem eles não há auditoria nem citação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36391"/>
            <a:ext cx="3209544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F57E20"/>
                </a:solidFill>
                <a:latin typeface="Calibri"/>
              </a:rPr>
              <a:t>Avaliação em 2 pontos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recuperação e geração, com notas separadas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14215" y="3136391"/>
            <a:ext cx="3209544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70AD47"/>
                </a:solidFill>
                <a:latin typeface="Calibri"/>
              </a:rPr>
              <a:t>Teste os casos difíceis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OCR ruim, baixa resolução, gráficos ambíguos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43983"/>
            <a:ext cx="3209544" cy="105156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1C35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5B9BD5"/>
                </a:solidFill>
                <a:latin typeface="Calibri"/>
              </a:rPr>
              <a:t/>
            </a:r>
            <a:r>
              <a:rPr sz="1250" b="1">
                <a:solidFill>
                  <a:srgbClr val="5B9BD5"/>
                </a:solidFill>
                <a:latin typeface="Calibri"/>
              </a:rPr>
              <a:t>Monitore em produção</a:t>
            </a:r>
          </a:p>
          <a:p>
            <a:pPr algn="ctr"/>
            <a:r>
              <a:rPr sz="950">
                <a:solidFill>
                  <a:srgbClr val="AFAFAF"/>
                </a:solidFill>
                <a:latin typeface="Calibri"/>
              </a:rPr>
              <a:t>custo, latência, erro e uso de evidências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1">
                <a:solidFill>
                  <a:srgbClr val="AFAFAF"/>
                </a:solidFill>
                <a:latin typeface="Calibri"/>
              </a:rPr>
              <a:t>checklist do Multimodal RAG que sobrevive fora do notebook</a:t>
            </a:r>
          </a:p>
        </p:txBody>
      </p:sp>
    </p:spTree>
    <p:extLst>
      <p:ext uri="{BB962C8B-B14F-4D97-AF65-F5344CB8AC3E}">
        <p14:creationId xmlns:p14="http://schemas.microsoft.com/office/powerpoint/2010/main" val="33018645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LLMs multimodais ampliam o uso de IA generativa em documentos corporativos, suporte técnico, saúde, educação, operações e análise de mídia.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 tendência é integrar texto, imagem, tabelas, documentos e vídeo em fluxos únicos de recuperação e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O diferencial competitivo não está apenas no modelo, mas na qualidade do pipeline: extração, indexação, evidência, avaliação e governança.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Aplicações maduras precisarão equilibrar precisão, custo, latência, privacidade e rastreabilidade.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MERCADO, CASES E TENDÊNCIAS</a:t>
            </a:r>
            <a:endParaRPr lang="en-US" sz="4000" dirty="0">
              <a:solidFill>
                <a:srgbClr val="D30F59"/>
              </a:solidFill>
              <a:latin typeface="GothamHTF-Book" pitchFamily="2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192024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D30F59"/>
                </a:solidFill>
                <a:latin typeface="Calibri"/>
              </a:rPr>
              <a:t>Onde já aparece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documentos, suporte, saúde, educação, mídia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59" y="192024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5B9BD5"/>
                </a:solidFill>
                <a:latin typeface="Calibri"/>
              </a:rPr>
              <a:t>Tendência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texto + imagem + tabelas + vídeo num fluxo único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38328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F57E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F57E20"/>
                </a:solidFill>
                <a:latin typeface="Calibri"/>
              </a:rPr>
              <a:t>O diferencial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pipeline: extração, indexação, evidência, avaliação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59" y="3383280"/>
            <a:ext cx="3200400" cy="118872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70AD47"/>
                </a:solidFill>
                <a:latin typeface="Calibri"/>
              </a:rPr>
              <a:t>O equilíbrio</a:t>
            </a:r>
          </a:p>
          <a:p>
            <a:pPr algn="ctr"/>
            <a:r>
              <a:rPr sz="1000">
                <a:solidFill>
                  <a:srgbClr val="AFAFAF"/>
                </a:solidFill>
                <a:latin typeface="Calibri"/>
              </a:rPr>
              <a:t>precisão × custo × latência × privacidade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92040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o modelo vira commodity — o pipeline é o diferencial competitivo</a:t>
            </a:r>
          </a:p>
        </p:txBody>
      </p:sp>
    </p:spTree>
    <p:extLst>
      <p:ext uri="{BB962C8B-B14F-4D97-AF65-F5344CB8AC3E}">
        <p14:creationId xmlns:p14="http://schemas.microsoft.com/office/powerpoint/2010/main" val="4293892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7589520" y="1417320"/>
            <a:ext cx="420624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/>
          <a:lstStyle/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LLMs multimodais conectam texto, imagem e documentos por meio de representações conjuntas e aprendizado contrastivo.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arquiteturas com encoders visuais, cross-attention, adapters e instruction tuning sustentam tarefas multimodais.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construir a lógica de um Multimodal RAG com evidências textuais e visuais.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avaliar grounding visual, robustez, recuperação e geração.</a:t>
            </a:r>
          </a:p>
          <a:p>
            <a:pPr marL="342900" indent="-342900">
              <a:buFont typeface="Arial" panose="020B0604020202020204" pitchFamily="34" charset="0"/>
              <a:buChar char="•"/>
              <a:defRPr sz="1000"/>
            </a:pPr>
            <a:endParaRPr lang="pt-BR" sz="20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300"/>
            </a:pPr>
            <a:r>
              <a:rPr lang="pt-BR" sz="13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Como serviços gerenciados em nuvem podem acelerar protótipos e produção, mantendo a necessidade de governança.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O QUE VOCÊ VIU NESTA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1645920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Representações conjuntas + aprendizado contrastivo (CLIP)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8680" y="2121408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2487168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Encoder visual + projeção + LLM; cross-attention e adapters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80" y="2962656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3328416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3328416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VLMs, VQA e instruction tuning (LLaVA)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8680" y="3803904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40080" y="4169664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25880" y="4169664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Multimodal RAG: chunks ricos, evidências e citações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4645152"/>
            <a:ext cx="0" cy="329184"/>
          </a:xfrm>
          <a:prstGeom prst="line">
            <a:avLst/>
          </a:prstGeom>
          <a:ln w="25400">
            <a:solidFill>
              <a:srgbClr val="AFAFA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D30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25880" y="5010912"/>
            <a:ext cx="5394960" cy="457200"/>
          </a:xfrm>
          <a:prstGeom prst="roundRect">
            <a:avLst/>
          </a:prstGeom>
          <a:solidFill>
            <a:srgbClr val="0A1424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Avaliação com grounding + nuvem com governança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AFAFAF"/>
                </a:solidFill>
                <a:latin typeface="Calibri"/>
              </a:rPr>
              <a:t>da representação ao pipeline em produção — o arco completo da aula</a:t>
            </a:r>
          </a:p>
        </p:txBody>
      </p:sp>
    </p:spTree>
    <p:extLst>
      <p:ext uri="{BB962C8B-B14F-4D97-AF65-F5344CB8AC3E}">
        <p14:creationId xmlns:p14="http://schemas.microsoft.com/office/powerpoint/2010/main" val="1188903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10D2-D833-2CA7-10A1-6F6AE95EA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3088334" y="811879"/>
            <a:ext cx="6015332" cy="5927056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270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3359150" y="2286001"/>
            <a:ext cx="8390466" cy="413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b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RADFORD, Alec et al. Learning Transferable Visual Models From Natural Language Supervision. arXiv,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LI, J. et al. BLIP-2: Bootstrapping Language-Image Pre-training with Frozen Image Encoders and Large Language Models.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LIU, Haotian et al. Visual Instruction Tuning. Advances in Neural Information Processing Systems, 2023.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MATHEW, Minesh; KARATZAS, Dimosthenis; JAWAHAR, C. V. DocVQA: A Dataset for VQA on Document Images. IEEE/CVF WACV, 2021.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ALAYRAC, Jean-Baptiste et al. Flamingo: a Visual Language Model for Few-Shot Learning. NeurIPS, 2022.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 Light" panose="02000000000000000000" pitchFamily="2" charset="0"/>
                <a:sym typeface="Montserrat"/>
              </a:rPr>
              <a:t>YUE, Xiang et al. MMMU: A Massive Multi-discipline Multimodal Understanding and Reasoning Benchmark for Expert AGI. CVPR, 2024.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065589" y="441326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27590" y="4546601"/>
            <a:ext cx="254001" cy="1870075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27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421349" y="441326"/>
            <a:ext cx="1056920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pt-BR" sz="4000" dirty="0">
                <a:latin typeface="GothamHTF-Book" pitchFamily="2" charset="0"/>
              </a:rPr>
              <a:t>REFERÊNCIAS DA </a:t>
            </a:r>
            <a:r>
              <a:rPr lang="pt-BR" sz="4000" dirty="0">
                <a:solidFill>
                  <a:srgbClr val="D30F59"/>
                </a:solidFill>
                <a:latin typeface="GothamHTF-Book" pitchFamily="2" charset="0"/>
              </a:rPr>
              <a:t>AULA</a:t>
            </a:r>
            <a:endParaRPr lang="en-US" sz="4000" dirty="0">
              <a:latin typeface="GothamHTF-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0509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2700"/>
            </a:pP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6"/>
          <p:cNvSpPr/>
          <p:nvPr/>
        </p:nvSpPr>
        <p:spPr>
          <a:xfrm>
            <a:off x="2353030" y="-259043"/>
            <a:ext cx="7485942" cy="7376085"/>
          </a:xfrm>
          <a:custGeom>
            <a:avLst/>
            <a:gdLst/>
            <a:ahLst/>
            <a:cxnLst/>
            <a:rect l="l" t="t" r="r" b="b"/>
            <a:pathLst>
              <a:path w="3648669" h="3595124" extrusionOk="0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9A0D3B">
                  <a:alpha val="50588"/>
                </a:srgbClr>
              </a:gs>
              <a:gs pos="18000">
                <a:srgbClr val="9A0D3B">
                  <a:alpha val="50588"/>
                </a:srgbClr>
              </a:gs>
              <a:gs pos="78000">
                <a:srgbClr val="9A0D3B">
                  <a:alpha val="0"/>
                </a:srgbClr>
              </a:gs>
              <a:gs pos="100000">
                <a:srgbClr val="9A0D3B">
                  <a:alpha val="0"/>
                </a:srgbClr>
              </a:gs>
            </a:gsLst>
            <a:lin ang="8100000" scaled="0"/>
          </a:gra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Clr>
                <a:srgbClr val="000000"/>
              </a:buClr>
              <a:buSzPts val="4050"/>
            </a:pPr>
            <a:endParaRPr sz="2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2" name="Google Shape;1292;p6"/>
          <p:cNvSpPr/>
          <p:nvPr/>
        </p:nvSpPr>
        <p:spPr>
          <a:xfrm>
            <a:off x="297657" y="730917"/>
            <a:ext cx="80963" cy="80963"/>
          </a:xfrm>
          <a:prstGeom prst="rect">
            <a:avLst/>
          </a:prstGeom>
          <a:noFill/>
          <a:ln w="12700" cap="flat" cmpd="sng">
            <a:solidFill>
              <a:srgbClr val="F57E20">
                <a:alpha val="4000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Clr>
                <a:srgbClr val="000000"/>
              </a:buClr>
              <a:buSzPts val="4050"/>
            </a:pPr>
            <a:endParaRPr sz="27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93" name="Google Shape;1293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0150" y="2949830"/>
            <a:ext cx="5911702" cy="958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8740B4C0987B4D86879E800A26E446" ma:contentTypeVersion="16" ma:contentTypeDescription="Crie um novo documento." ma:contentTypeScope="" ma:versionID="dae3bc908e15ec8f9115713424d3a2bb">
  <xsd:schema xmlns:xsd="http://www.w3.org/2001/XMLSchema" xmlns:xs="http://www.w3.org/2001/XMLSchema" xmlns:p="http://schemas.microsoft.com/office/2006/metadata/properties" xmlns:ns2="2220af93-035a-443f-80b0-3b9b401ad9a6" xmlns:ns3="d48fd270-4a57-47e1-b674-c7d4969804ad" targetNamespace="http://schemas.microsoft.com/office/2006/metadata/properties" ma:root="true" ma:fieldsID="2432d4b2454c185ef2449b66e2f5b84c" ns2:_="" ns3:_="">
    <xsd:import namespace="2220af93-035a-443f-80b0-3b9b401ad9a6"/>
    <xsd:import namespace="d48fd270-4a57-47e1-b674-c7d4969804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20af93-035a-443f-80b0-3b9b401ad9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8fd270-4a57-47e1-b674-c7d4969804a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04c2c100-d553-4c8e-a0cc-71e94ec5782d}" ma:internalName="TaxCatchAll" ma:showField="CatchAllData" ma:web="d48fd270-4a57-47e1-b674-c7d4969804a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8fd270-4a57-47e1-b674-c7d4969804ad" xsi:nil="true"/>
    <lcf76f155ced4ddcb4097134ff3c332f xmlns="2220af93-035a-443f-80b0-3b9b401ad9a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3E59554-3F3C-4453-8E09-7503DDFC54C7}"/>
</file>

<file path=customXml/itemProps2.xml><?xml version="1.0" encoding="utf-8"?>
<ds:datastoreItem xmlns:ds="http://schemas.openxmlformats.org/officeDocument/2006/customXml" ds:itemID="{2AE75D18-F801-49B2-B1E6-959D7D649672}"/>
</file>

<file path=customXml/itemProps3.xml><?xml version="1.0" encoding="utf-8"?>
<ds:datastoreItem xmlns:ds="http://schemas.openxmlformats.org/officeDocument/2006/customXml" ds:itemID="{50F58760-8EAF-4747-B722-C824C41DB252}"/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2045</Words>
  <Application>Microsoft Office PowerPoint</Application>
  <PresentationFormat>Widescreen</PresentationFormat>
  <Paragraphs>230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Calibri Light</vt:lpstr>
      <vt:lpstr>GothamHTF-Book</vt:lpstr>
      <vt:lpstr>Open Sans</vt:lpstr>
      <vt:lpstr>Roboto</vt:lpstr>
      <vt:lpstr>Roboto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Elisa Batista</dc:creator>
  <cp:lastModifiedBy>Elisa Batista</cp:lastModifiedBy>
  <cp:revision>11</cp:revision>
  <dcterms:created xsi:type="dcterms:W3CDTF">2026-07-06T13:22:28Z</dcterms:created>
  <dcterms:modified xsi:type="dcterms:W3CDTF">2026-07-08T18:40:26Z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0x010100968740B4C0987B4D86879E800A26E446</vt:lpwstr>
  </property>
</Properties>
</file>