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772" r:id="rId2"/>
    <p:sldId id="773" r:id="rId3"/>
    <p:sldId id="774" r:id="rId4"/>
    <p:sldId id="775" r:id="rId5"/>
    <p:sldId id="776" r:id="rId6"/>
    <p:sldId id="777" r:id="rId7"/>
    <p:sldId id="778" r:id="rId8"/>
    <p:sldId id="779" r:id="rId9"/>
    <p:sldId id="780" r:id="rId10"/>
    <p:sldId id="781" r:id="rId11"/>
    <p:sldId id="782" r:id="rId12"/>
    <p:sldId id="783" r:id="rId13"/>
    <p:sldId id="784" r:id="rId14"/>
    <p:sldId id="785" r:id="rId15"/>
    <p:sldId id="786" r:id="rId16"/>
    <p:sldId id="787" r:id="rId17"/>
    <p:sldId id="788" r:id="rId18"/>
    <p:sldId id="789" r:id="rId19"/>
    <p:sldId id="790" r:id="rId20"/>
    <p:sldId id="791" r:id="rId21"/>
    <p:sldId id="792" r:id="rId22"/>
    <p:sldId id="793" r:id="rId23"/>
    <p:sldId id="794" r:id="rId24"/>
    <p:sldId id="795" r:id="rId25"/>
    <p:sldId id="796" r:id="rId26"/>
    <p:sldId id="797" r:id="rId27"/>
    <p:sldId id="798" r:id="rId28"/>
    <p:sldId id="799" r:id="rId29"/>
    <p:sldId id="800" r:id="rId30"/>
    <p:sldId id="801" r:id="rId31"/>
    <p:sldId id="802" r:id="rId32"/>
    <p:sldId id="803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customXml" Target="../customXml/item1.xml"/><Relationship Id="rId40" Type="http://schemas.openxmlformats.org/officeDocument/2006/relationships/customXml" Target="../customXml/item2.xml"/><Relationship Id="rId41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1221E-5A2F-496B-AB2F-0D1D2F71E6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B03B2-33B5-4C85-89C1-87752B9186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15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9ECE1-6587-496B-B248-649FB96D8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EE2F41-C1B9-4F9A-9969-08E055B53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8E5046-1F12-4F5A-93B7-5B82BAE4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B7E942-6EA7-483A-A267-5B505C8B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5C86A5-F3C0-4BCC-8DE3-3EB41564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43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D145B-BC9B-4BC1-BC95-416F8FCF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081121-E8E8-481B-B970-EB2EF093D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AAC847-246F-4937-811C-9F400D12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67858C-0F67-4107-8B48-0101DECD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F56298-E242-4875-83F8-0BD5F292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58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EBC3F-B731-447C-86C7-D8AA6A9E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ADBF64-50EA-49C9-BB50-679DE7D60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0FA358-0FB7-4B94-879C-6A50194B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B41345-4F91-4EFE-90BD-5E66CD2A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EB92F9-8F5F-4CE2-B8BC-5E065F10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4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52FA7-7816-4AD6-87AB-6777D08F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706A82-ADEE-4B7D-9B34-AA50939EE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4D730F-C4CA-4292-91CD-EDD11CF50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D48ACD-1A1B-4732-BC6D-BA8E89CD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532A61-F7FB-4DFB-9397-1E28D196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11DD3F-42AC-4878-8663-E43952D0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98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434A8-1A16-4DE8-BE05-39AA4F72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F0FA11-6FA0-43DD-AB0F-5E8745401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144323-B483-41CF-B124-7B790220A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090C84-46EF-4306-AC8C-6762E06BD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314587-A3E9-440A-9599-FA750A7DA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D55913-759D-4271-A081-E28B8245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3C52D7-ABD7-4D0F-B893-A951C02D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B7E252-5915-42AD-802A-948210B1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70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5A943-4154-45BB-89BC-D7259B7D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BECFA6-1BCD-442E-95A7-C0177EDA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A38AD5-A5FA-4A16-B70B-27D50CC1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BA6F2B-CD46-499C-98B9-9A75D098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747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006174-D7D8-4DBF-B5D6-FB237D9F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937C1A-B955-4FD5-AC63-F49541A5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775C90-A2BB-4A65-901E-5B0955A4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56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6A24A-AD29-4FB8-9E15-F919705E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A3B837-65E8-4B42-8BA9-E1A3DCF18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EF24F6-A6E4-4A8E-889D-1E75A2E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D6B8F9-36FB-48EF-9845-AECF1F6C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A6E588-EEB7-4315-AE84-61165B72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339F43-49DF-4B10-9576-8D14A84E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880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0A937-881E-4414-9F5D-370B0085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3CE69E-6E6E-49A0-919A-9B381236E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6E0285-2E2B-49AE-AB18-1AAC8F10B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B518D9-1041-4310-983A-B0C0EF31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5B941A-14BD-43F6-BE9B-F900338E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3D62DC-5C88-4F0B-B276-56B7C459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05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F3997-BFE8-4415-808B-3365F202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28CE38-1523-4C63-84B9-9DBD0B837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C95A13-8701-4348-9F51-377B56E0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BBC08-BC26-4F81-899A-16D9EDF7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47749E-517F-44D9-9C0D-9300594C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40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CD9735-7EE3-442F-A56E-7291019CD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E7DB0B-FEE8-4AED-A6B7-CC2AB308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5A4004-639A-4D85-90A4-58FD36E7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90181B-D0C3-4D0F-8D11-92B57F41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14CB82-63AA-402F-8D2C-52E8C71A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5188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08820" y="2865127"/>
            <a:ext cx="2283180" cy="2793396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8354" y="2865127"/>
            <a:ext cx="3622284" cy="2793396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160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Google Shape;17;p8"/>
          <p:cNvSpPr>
            <a:spLocks noGrp="1"/>
          </p:cNvSpPr>
          <p:nvPr>
            <p:ph type="pic" idx="3"/>
          </p:nvPr>
        </p:nvSpPr>
        <p:spPr>
          <a:xfrm>
            <a:off x="9908820" y="2865127"/>
            <a:ext cx="2283180" cy="27933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" name="Google Shape;18;p8"/>
          <p:cNvSpPr>
            <a:spLocks noGrp="1"/>
          </p:cNvSpPr>
          <p:nvPr>
            <p:ph type="pic" idx="4"/>
          </p:nvPr>
        </p:nvSpPr>
        <p:spPr>
          <a:xfrm>
            <a:off x="6768354" y="2865127"/>
            <a:ext cx="3622284" cy="27933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04876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08820" y="2865127"/>
            <a:ext cx="2283180" cy="2793396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8354" y="2865127"/>
            <a:ext cx="3622284" cy="2793396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9601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51220" y="1544320"/>
            <a:ext cx="2371090" cy="4111506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04860" y="1208941"/>
            <a:ext cx="2371090" cy="2800768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734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CEE999-1F8C-4788-8292-1E612B14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5F6EFE-038E-49FC-B690-D6BA04F4C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B997E1-C832-45DB-A06B-F1B850A4E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368F6-D3BB-4BB9-B9E2-262588308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E55B3-F9F4-4CB3-8984-3AE273AB2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3">
            <a:extLst>
              <a:ext uri="{FF2B5EF4-FFF2-40B4-BE49-F238E27FC236}">
                <a16:creationId xmlns:a16="http://schemas.microsoft.com/office/drawing/2014/main" id="{CF26E861-816A-5722-A627-FF594DC9BB8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FA0EFF-BBA5-7670-5C4C-AF879D1D29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3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9D4D55-0308-C543-1D61-065285E2AA30}"/>
              </a:ext>
            </a:extLst>
          </p:cNvPr>
          <p:cNvSpPr txBox="1"/>
          <p:nvPr/>
        </p:nvSpPr>
        <p:spPr>
          <a:xfrm>
            <a:off x="425227" y="438287"/>
            <a:ext cx="9277573" cy="527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33" dirty="0">
                <a:solidFill>
                  <a:schemeClr val="bg1">
                    <a:lumMod val="75000"/>
                  </a:schemeClr>
                </a:solidFill>
                <a:latin typeface="GothamHTF-Book"/>
                <a:ea typeface="Open Sans"/>
                <a:cs typeface="Open Sans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5C41F4-469E-4104-999E-D2986C4584C2}"/>
              </a:ext>
            </a:extLst>
          </p:cNvPr>
          <p:cNvSpPr txBox="1"/>
          <p:nvPr/>
        </p:nvSpPr>
        <p:spPr>
          <a:xfrm>
            <a:off x="425228" y="2013228"/>
            <a:ext cx="9069754" cy="1485150"/>
          </a:xfrm>
          <a:prstGeom prst="rect">
            <a:avLst/>
          </a:prstGeom>
          <a:noFill/>
        </p:spPr>
        <p:txBody>
          <a:bodyPr wrap="square" lIns="76200" tIns="38100" rIns="76200" bIns="38100" rtlCol="0" anchor="t">
            <a:spAutoFit/>
          </a:bodyPr>
          <a:lstStyle/>
          <a:p>
            <a:r>
              <a:rPr lang="en-US" sz="2375" dirty="0">
                <a:solidFill>
                  <a:schemeClr val="bg1"/>
                </a:solidFill>
                <a:latin typeface="GothamHTF-Book"/>
              </a:rPr>
              <a:t>AULA 04</a:t>
            </a:r>
            <a:endParaRPr lang="en-US" sz="240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pt-BR" sz="24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pt-BR" sz="4376" dirty="0">
                <a:solidFill>
                  <a:schemeClr val="bg1">
                    <a:lumMod val="95000"/>
                  </a:schemeClr>
                </a:solidFill>
                <a:latin typeface="GothamHTF-Book"/>
              </a:rPr>
              <a:t>AGENTES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2F03DA-9662-41DE-94CB-97F721E07590}"/>
              </a:ext>
            </a:extLst>
          </p:cNvPr>
          <p:cNvGrpSpPr/>
          <p:nvPr/>
        </p:nvGrpSpPr>
        <p:grpSpPr>
          <a:xfrm>
            <a:off x="425227" y="5998480"/>
            <a:ext cx="2575150" cy="421231"/>
            <a:chOff x="1070565" y="5176310"/>
            <a:chExt cx="1455806" cy="42123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E556EC2-512F-4B55-A86E-C8EAF955F7B9}"/>
                </a:ext>
              </a:extLst>
            </p:cNvPr>
            <p:cNvSpPr/>
            <p:nvPr/>
          </p:nvSpPr>
          <p:spPr>
            <a:xfrm rot="5400000">
              <a:off x="1587852" y="4659023"/>
              <a:ext cx="421232" cy="1455806"/>
            </a:xfrm>
            <a:prstGeom prst="snip1Rect">
              <a:avLst>
                <a:gd name="adj" fmla="val 40787"/>
              </a:avLst>
            </a:prstGeom>
            <a:noFill/>
            <a:ln w="28575">
              <a:solidFill>
                <a:srgbClr val="D30F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2700">
                <a:solidFill>
                  <a:schemeClr val="bg2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5A1245-7D7A-4ED9-8D34-71D7E16DE6F3}"/>
                </a:ext>
              </a:extLst>
            </p:cNvPr>
            <p:cNvSpPr txBox="1"/>
            <p:nvPr/>
          </p:nvSpPr>
          <p:spPr>
            <a:xfrm>
              <a:off x="1196555" y="5233037"/>
              <a:ext cx="1203826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ctr">
                <a:defRPr sz="1400">
                  <a:latin typeface="Work Sans" panose="00000500000000000000" pitchFamily="2" charset="0"/>
                  <a:ea typeface="Open Sans" pitchFamily="2" charset="0"/>
                  <a:cs typeface="Open Sans" pitchFamily="2" charset="0"/>
                </a:defRPr>
              </a:lvl1pPr>
            </a:lstStyle>
            <a:p>
              <a:r>
                <a:rPr lang="en-US" sz="16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Roboto Light" panose="02000000000000000000" pitchFamily="2" charset="0"/>
                </a:rPr>
                <a:t>Prof. Flavio Padilha</a:t>
              </a:r>
            </a:p>
          </p:txBody>
        </p:sp>
      </p:grpSp>
      <p:sp>
        <p:nvSpPr>
          <p:cNvPr id="8" name="Freeform: Shape 34">
            <a:extLst>
              <a:ext uri="{FF2B5EF4-FFF2-40B4-BE49-F238E27FC236}">
                <a16:creationId xmlns:a16="http://schemas.microsoft.com/office/drawing/2014/main" id="{168852EC-ECA5-AC4A-B1B5-B8BC4F82D821}"/>
              </a:ext>
            </a:extLst>
          </p:cNvPr>
          <p:cNvSpPr/>
          <p:nvPr/>
        </p:nvSpPr>
        <p:spPr>
          <a:xfrm>
            <a:off x="8657986" y="-259043"/>
            <a:ext cx="7485942" cy="7376085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 flip="none" rotWithShape="1"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5400000" scaled="1"/>
            <a:tileRect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3955353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2410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FUNDAMENTOS E REACT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01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Prof. 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Aplicações iniciais de IA generativa operavam como fluxos lineares: pergunta, contexto, resposta e encerramento.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Agentes ampliam esse modelo ao permitir que o sistema decida o próximo passo, selecione ferramentas e execute tarefas multi-etapa.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foco da aula é enxergar agentes como arquitetura de engenharia, não apenas como prompts mais sofisticados.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63166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ABERTURA: DA RESPOSTA ÚNICA À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EXECUÇÃO MULTI-ETAPA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9BD5"/>
                </a:solidFill>
                <a:latin typeface="Calibri"/>
              </a:rPr>
              <a:t>chat clássico: linha reta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68880"/>
            <a:ext cx="19507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pergunta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6208" y="272034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65120" y="2468880"/>
            <a:ext cx="195072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resposta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34128" y="272034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73040" y="2468880"/>
            <a:ext cx="19507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30F59"/>
                </a:solidFill>
                <a:latin typeface="Calibri"/>
              </a:rPr>
              <a:t>agente: loop até resolver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26280"/>
            <a:ext cx="1148486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pergunta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23974" y="4892040"/>
            <a:ext cx="21945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861718" y="4526280"/>
            <a:ext cx="1148486" cy="7315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decide o
próximo passo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28492" y="4892040"/>
            <a:ext cx="21945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266236" y="4526280"/>
            <a:ext cx="1148486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usa uma
ferramenta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33011" y="4892040"/>
            <a:ext cx="21945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670755" y="4526280"/>
            <a:ext cx="1148486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avalia o
resultado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837529" y="4892040"/>
            <a:ext cx="21945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075273" y="4526280"/>
            <a:ext cx="1148486" cy="73152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resposta
final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5244998" y="4224528"/>
            <a:ext cx="0" cy="283464"/>
          </a:xfrm>
          <a:prstGeom prst="line">
            <a:avLst/>
          </a:prstGeom>
          <a:ln w="19050">
            <a:solidFill>
              <a:srgbClr val="F57E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435961" y="4224528"/>
            <a:ext cx="2809037" cy="0"/>
          </a:xfrm>
          <a:prstGeom prst="line">
            <a:avLst/>
          </a:prstGeom>
          <a:ln w="19050">
            <a:solidFill>
              <a:srgbClr val="F57E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435961" y="4224528"/>
            <a:ext cx="0" cy="274320"/>
          </a:xfrm>
          <a:prstGeom prst="line">
            <a:avLst/>
          </a:prstGeom>
          <a:ln w="25400">
            <a:solidFill>
              <a:srgbClr val="F57E2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64561" y="3931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7E20"/>
                </a:solidFill>
                <a:latin typeface="Calibri"/>
              </a:rPr>
              <a:t>ainda não resolveu?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5778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sistema decide quantos passos precisa — e para quando o resultado está bom</a:t>
            </a:r>
          </a:p>
        </p:txBody>
      </p:sp>
    </p:spTree>
    <p:extLst>
      <p:ext uri="{BB962C8B-B14F-4D97-AF65-F5344CB8AC3E}">
        <p14:creationId xmlns:p14="http://schemas.microsoft.com/office/powerpoint/2010/main" val="390241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Diferenciar agentes, workflows e pipelines determinísticos.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Explicar o paradigma ReAct e o papel de observações, ações e raciocínio.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Projetar ferramentas com contratos, schemas, validação e classificação de risco.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Reconhecer padrões com planners, memória, multiagentes, protocolos e observabilidade.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RESULTADOS DE APRENDIZAGEM </a:t>
            </a:r>
            <a:br>
              <a:rPr lang="pt-BR" sz="4000" dirty="0">
                <a:latin typeface="GothamHTF-Book" pitchFamily="2" charset="0"/>
              </a:rPr>
            </a:br>
            <a:r>
              <a:rPr lang="pt-BR" sz="4000" dirty="0">
                <a:latin typeface="GothamHTF-Book" pitchFamily="2" charset="0"/>
              </a:rPr>
              <a:t>DA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AULA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2171700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2148840"/>
            <a:ext cx="557784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Diferenciar agentes, workflows e pipelines determinísticos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" y="2715768"/>
            <a:ext cx="0" cy="2377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3012948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2990088"/>
            <a:ext cx="557784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Explicar o ReAct: observações, ações e raciocínio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968" y="3557016"/>
            <a:ext cx="0" cy="2377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854196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3831335"/>
            <a:ext cx="557784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Projetar ferramentas com contratos, schemas e risco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6968" y="4398263"/>
            <a:ext cx="0" cy="2377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080" y="4809744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4672583"/>
            <a:ext cx="5577840" cy="7772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Reconhecer planners, memória, multiagentes,
protocolos e observabilidade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88151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trilha da aula — do conceito à arquitetura em produção</a:t>
            </a:r>
          </a:p>
        </p:txBody>
      </p:sp>
    </p:spTree>
    <p:extLst>
      <p:ext uri="{BB962C8B-B14F-4D97-AF65-F5344CB8AC3E}">
        <p14:creationId xmlns:p14="http://schemas.microsoft.com/office/powerpoint/2010/main" val="1218160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 agente observa um ambiente, mantém estado interno, escolhe uma ação e avalia o resultado para decidir o próximo passo.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LLMs, o ambiente pode ser uma conversa, API, base documental, banco SQL, ferramenta de busca, sistema de tickets ou outro agente.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decisão do agente emerge da combinação entre prompt, modelo, histórico, resultados de ferramentas, regras de negócio e memória.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O QUE É UM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AGENTE DE IA</a:t>
            </a:r>
            <a:r>
              <a:rPr lang="pt-BR" sz="4000" dirty="0">
                <a:latin typeface="GothamHTF-Book" pitchFamily="2" charset="0"/>
              </a:rPr>
              <a:t>?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06040" y="1645920"/>
            <a:ext cx="164592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observa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971800"/>
            <a:ext cx="1645920" cy="5943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4297680"/>
            <a:ext cx="164592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71800"/>
            <a:ext cx="1645920" cy="5943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avalia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43400" y="2194560"/>
            <a:ext cx="868680" cy="74980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343400" y="3584448"/>
            <a:ext cx="868680" cy="71323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645920" y="3584448"/>
            <a:ext cx="868680" cy="71323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645920" y="2194560"/>
            <a:ext cx="868680" cy="74980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88920" y="310896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estado
interno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5440680"/>
            <a:ext cx="402336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ambiente: conversa, API, SQL, busca,
tickets, outro agente…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29000" y="4864608"/>
            <a:ext cx="0" cy="5577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  <a:head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77840" y="562356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cada volta usa o
resultado da anterior</a:t>
            </a:r>
          </a:p>
        </p:txBody>
      </p:sp>
    </p:spTree>
    <p:extLst>
      <p:ext uri="{BB962C8B-B14F-4D97-AF65-F5344CB8AC3E}">
        <p14:creationId xmlns:p14="http://schemas.microsoft.com/office/powerpoint/2010/main" val="118359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Modelo de linguagem: interpreta objetivos, planeja respostas e seleciona ações.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Orquestrador: controla o loop, aplica limites, valida argumentos e registra execução.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Ferramentas: APIs, funções, bancos, RAG, e-mail, CRM, sistemas internos ou conectores.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Memória: histórico de sessão, estado temporário e, quando apropriado, memória persistente.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Guardrails: políticas para entrada, saída, uso de ferramentas, autorização e segurança</a:t>
            </a:r>
            <a:endParaRPr lang="pt-BR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COMPONENTES DE UM AGENTE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BASEADO EM LLM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514600" y="1600200"/>
            <a:ext cx="2286000" cy="566928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0" y="2185416"/>
            <a:ext cx="0" cy="310896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  <a:head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28800" y="2514600"/>
            <a:ext cx="3657600" cy="5943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ORQUESTRADOR — controla o loop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57600" y="3127248"/>
            <a:ext cx="0" cy="310896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  <a:head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828800" y="3456432"/>
            <a:ext cx="3657600" cy="7315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FERRAMENTAS
APIs · RAG · bancos · e-mail · CRM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26280"/>
            <a:ext cx="237744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MEMÓRIA
sessão + persistente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4526280"/>
            <a:ext cx="237744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GUARDRAILS
políticas e autorização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645920" y="3127248"/>
            <a:ext cx="1005840" cy="1380744"/>
          </a:xfrm>
          <a:prstGeom prst="line">
            <a:avLst/>
          </a:prstGeom>
          <a:ln w="15875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4663440" y="3127248"/>
            <a:ext cx="1005840" cy="1380744"/>
          </a:xfrm>
          <a:prstGeom prst="line">
            <a:avLst/>
          </a:prstGeom>
          <a:ln w="15875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54406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orquestrador liga tudo — e impõe os limites</a:t>
            </a:r>
          </a:p>
        </p:txBody>
      </p:sp>
    </p:spTree>
    <p:extLst>
      <p:ext uri="{BB962C8B-B14F-4D97-AF65-F5344CB8AC3E}">
        <p14:creationId xmlns:p14="http://schemas.microsoft.com/office/powerpoint/2010/main" val="2709806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Workflow: o controle está no código; as etapas são definidas previamente pelo desenvolvedor.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Agente: parte do controle é transferida ao modelo, que escolhe dinamicamente o próximo passo.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Workflows são preferíveis quando o caminho é previsível, regulado ou crítico.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Agentes são úteis quando o problema é aberto, ambíguo, multi-etapa ou difícil de codificar por completo.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AGENTES VERSUS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WORKFLOWS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9BD5"/>
                </a:solidFill>
                <a:latin typeface="Calibri"/>
              </a:rPr>
              <a:t>WORKFLOW — trilho fixo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65960"/>
            <a:ext cx="201168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etapa 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74519" y="2468880"/>
            <a:ext cx="0" cy="27432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" y="2743200"/>
            <a:ext cx="201168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etapa 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74519" y="3246120"/>
            <a:ext cx="0" cy="274319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8680" y="3520440"/>
            <a:ext cx="201168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etapa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434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o caminho está no código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11880" y="1645920"/>
            <a:ext cx="0" cy="301752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77639" y="1600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D30F59"/>
                </a:solidFill>
                <a:latin typeface="Calibri"/>
              </a:rPr>
              <a:t>AGENTE — escolha dinâmica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1965960"/>
            <a:ext cx="1737360" cy="5943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modelo
decide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69080" y="3200400"/>
            <a:ext cx="7315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34840" y="2578608"/>
            <a:ext cx="1051560" cy="603504"/>
          </a:xfrm>
          <a:prstGeom prst="line">
            <a:avLst/>
          </a:prstGeom>
          <a:ln w="127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20640" y="3200400"/>
            <a:ext cx="731520" cy="50292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0" y="2578608"/>
            <a:ext cx="0" cy="603504"/>
          </a:xfrm>
          <a:prstGeom prst="line">
            <a:avLst/>
          </a:prstGeom>
          <a:ln w="31750">
            <a:solidFill>
              <a:srgbClr val="70AD47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72200" y="3200400"/>
            <a:ext cx="7315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0" y="2578608"/>
            <a:ext cx="1051560" cy="603504"/>
          </a:xfrm>
          <a:prstGeom prst="line">
            <a:avLst/>
          </a:prstGeom>
          <a:ln w="127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977639" y="3931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escolhe o caminho a cada passo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029200"/>
            <a:ext cx="6400800" cy="5943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previsível, regulado ou crítico → workflow  ·  aberto, ambíguo, multi-etapa → agente</a:t>
            </a:r>
          </a:p>
        </p:txBody>
      </p:sp>
    </p:spTree>
    <p:extLst>
      <p:ext uri="{BB962C8B-B14F-4D97-AF65-F5344CB8AC3E}">
        <p14:creationId xmlns:p14="http://schemas.microsoft.com/office/powerpoint/2010/main" val="182236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flexibilidade aumenta a utilidade, mas reduz previsibilidade e testabilidade.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Riscos comuns: loops, chamadas repetidas, seleção incorreta de ferramentas, custos altos e uso de dados sensíveis.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autonomia precisa vir acompanhada de limites de iteração, permissões mínimas, logs, validação e revisão humana quando necessário.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RISCOS DA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AUTONOMIA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1691640"/>
            <a:ext cx="2103120" cy="10515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MAIS
AUTONOMIA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578608" y="1874519"/>
            <a:ext cx="420624" cy="91441"/>
          </a:xfrm>
          <a:prstGeom prst="line">
            <a:avLst/>
          </a:prstGeom>
          <a:ln w="25400">
            <a:solidFill>
              <a:srgbClr val="70AD47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017520" y="1645920"/>
            <a:ext cx="39319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mais utilidade: resolve tarefas abertas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78608" y="2468880"/>
            <a:ext cx="420624" cy="91440"/>
          </a:xfrm>
          <a:prstGeom prst="line">
            <a:avLst/>
          </a:prstGeom>
          <a:ln w="25400">
            <a:solidFill>
              <a:srgbClr val="F57E2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017520" y="2331720"/>
            <a:ext cx="39319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menos previsibilidade e testabilidade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63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7E20"/>
                </a:solidFill>
                <a:latin typeface="Calibri"/>
              </a:rPr>
              <a:t>riscos comuns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83280"/>
            <a:ext cx="12344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loops
sem fim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3383280"/>
            <a:ext cx="12344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chamadas
repetidas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3383280"/>
            <a:ext cx="12344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ferramenta
errada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383280"/>
            <a:ext cx="12344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custos
altos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383280"/>
            <a:ext cx="12344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dados
sensíveis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0" y="4114800"/>
            <a:ext cx="0" cy="25603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4389120"/>
            <a:ext cx="658368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contrapesos: limite de iteração · permissões mínimas · logs ·
validação · revisão humana quando necessário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949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autonomia sem limites não é recurso — é incidente esperando data</a:t>
            </a:r>
          </a:p>
        </p:txBody>
      </p:sp>
    </p:spTree>
    <p:extLst>
      <p:ext uri="{BB962C8B-B14F-4D97-AF65-F5344CB8AC3E}">
        <p14:creationId xmlns:p14="http://schemas.microsoft.com/office/powerpoint/2010/main" val="1642170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ReAct combina raciocínio e ação em ciclos: o agente interpreta o objetivo, decide uma ação, recebe uma observação e ajusta a estratégia.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raciocínio ajuda a manter plano, hipóteses e exceções; as ações permitem interagir com ferramentas externas.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Esse padrão é uma base conceitual para agentes modernos com tool calling.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O PARADIGMA REACT: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REASONING AND ACTING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234440" y="2286000"/>
            <a:ext cx="1554480" cy="6400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PENSA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3886200"/>
            <a:ext cx="1554480" cy="64008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86200"/>
            <a:ext cx="1417320" cy="6400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OBSERVA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60320" y="2944368"/>
            <a:ext cx="457200" cy="9235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892807" y="4206240"/>
            <a:ext cx="51206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88720" y="2944368"/>
            <a:ext cx="457200" cy="9235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2286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B9BD5"/>
                </a:solidFill>
                <a:latin typeface="Calibri"/>
              </a:rPr>
              <a:t>um episódio real do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2606040"/>
            <a:ext cx="3017520" cy="19202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Thought: preciso do saldo
Action: consultar_saldo('123')
Observation: R$ 4.520,00
Thought: agora posso responder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6636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raciocínio e ação se alternam até a resposta final — base dos agentes com tool calling</a:t>
            </a:r>
          </a:p>
        </p:txBody>
      </p:sp>
    </p:spTree>
    <p:extLst>
      <p:ext uri="{BB962C8B-B14F-4D97-AF65-F5344CB8AC3E}">
        <p14:creationId xmlns:p14="http://schemas.microsoft.com/office/powerpoint/2010/main" val="3301864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Objetivo: implementar um loop simples com pergunta do usuário, decisão do modelo, chamada de ferramenta e resposta final.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Começar com uma ferramenta somente leitura e sem impacto externo.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Registrar cada etapa: entrada, decisão, ferramenta escolhida, argumentos, retorno e resposta.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HANDS-ON DA PARTE 01: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AGENTE REACT MÍNIMO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16002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 primeiro agente: um loop, uma ferramenta, tudo logado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03120"/>
            <a:ext cx="1417320" cy="7772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pergunta
do usuário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92807" y="2491739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240280" y="2103120"/>
            <a:ext cx="1417320" cy="7772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modelo
decide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75887" y="2491739"/>
            <a:ext cx="32918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023360" y="2103120"/>
            <a:ext cx="1417320" cy="7772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ferramenta de
LEITURA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58968" y="2491739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806440" y="2103120"/>
            <a:ext cx="1417320" cy="7772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resposta
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175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somente leitura, sem impacto externo — o lugar certo de começar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40480" y="3429000"/>
            <a:ext cx="0" cy="25603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3703320"/>
            <a:ext cx="6766560" cy="5943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cada etapa registrada: entrada · decisão · ferramenta · argumentos · retorno · resposta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se não dá para reconstruir o caminho no log, o agente ainda não está pronto</a:t>
            </a:r>
          </a:p>
        </p:txBody>
      </p:sp>
    </p:spTree>
    <p:extLst>
      <p:ext uri="{BB962C8B-B14F-4D97-AF65-F5344CB8AC3E}">
        <p14:creationId xmlns:p14="http://schemas.microsoft.com/office/powerpoint/2010/main" val="1218160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7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FERRAMENTAS, PROTOCOLOS E 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PLANEJAMENTO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02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Prof. 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1613149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Tool calling é o mecanismo pelo qual o modelo solicita a execução de uma ferramenta externa.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modelo não executa diretamente o código; ele escolhe a ferramenta e fornece argumentos estruturados.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aplicação valida os argumentos, executa a ferramenta e devolve a observação ao agente.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TOOL CALLING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ESTRUTURADO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03120" y="20299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AFAFAF"/>
                </a:solidFill>
                <a:latin typeface="Calibri"/>
              </a:rPr>
              <a:t>a observação alimenta o próximo passo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88920"/>
            <a:ext cx="1451610" cy="9601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MODELO
pede ferramenta +
argumentos em JSON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7098" y="3268979"/>
            <a:ext cx="28346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228850" y="2788920"/>
            <a:ext cx="1451610" cy="9601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APLICAÇÃO
valida contra
o schema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98748" y="3268979"/>
            <a:ext cx="28346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000500" y="2788920"/>
            <a:ext cx="1451610" cy="9601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FERRAMENTA
executa — o modelo
NÃO executa código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70398" y="3268979"/>
            <a:ext cx="28346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772150" y="2788920"/>
            <a:ext cx="1451610" cy="96012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OBSERVAÇÃO
resultado volta
ao modelo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6497955" y="2377440"/>
            <a:ext cx="0" cy="393192"/>
          </a:xfrm>
          <a:prstGeom prst="line">
            <a:avLst/>
          </a:prstGeom>
          <a:ln w="15875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183005" y="2377440"/>
            <a:ext cx="5314950" cy="0"/>
          </a:xfrm>
          <a:prstGeom prst="line">
            <a:avLst/>
          </a:prstGeom>
          <a:ln w="15875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83005" y="2377440"/>
            <a:ext cx="0" cy="393192"/>
          </a:xfrm>
          <a:prstGeom prst="line">
            <a:avLst/>
          </a:prstGeom>
          <a:ln w="15875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371600" y="4343400"/>
            <a:ext cx="493776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decidir é do MODELO · executar é da APLICAÇÃO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essa separação é o que torna o agente auditável e seguro</a:t>
            </a:r>
          </a:p>
        </p:txBody>
      </p:sp>
    </p:spTree>
    <p:extLst>
      <p:ext uri="{BB962C8B-B14F-4D97-AF65-F5344CB8AC3E}">
        <p14:creationId xmlns:p14="http://schemas.microsoft.com/office/powerpoint/2010/main" val="683767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Uma ferramenta bem definida deve ter nome, descrição, schema de entrada, schema de saída e classificação de risco.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descrição deve deixar claro quando usar e quando não usar a ferramenta.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schema reduz fuga de formato e permite validação automática antes de executar ações.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classificação de risco informa se a operação é leitura, escrita, envio externo ou exige aprovação humana.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CONTRATOS DE FERRAMENTA: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FUNÇÕES, SCHEMAS E RISCO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011680"/>
            <a:ext cx="310896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get_saldo(cliente_id)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488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FAFAF"/>
                </a:solidFill>
                <a:latin typeface="Calibri"/>
              </a:rPr>
              <a:t>um contrato completo, campo a campo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43200"/>
            <a:ext cx="3108960" cy="7772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descrição: quando usar
(e quando NÃO usar)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2743200"/>
            <a:ext cx="3108960" cy="7772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entrada:
{cliente_id: string}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57600"/>
            <a:ext cx="3108960" cy="7772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saída:
{saldo: number}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657600"/>
            <a:ext cx="3108960" cy="7772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risco: LEITURA —
sem aprovação humana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7E20"/>
                </a:solidFill>
                <a:latin typeface="Calibri"/>
              </a:rPr>
              <a:t>escala de risco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141732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LEITURA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984248" y="530352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240280" y="5029200"/>
            <a:ext cx="141732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ESCRITA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75888" y="530352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931920" y="5029200"/>
            <a:ext cx="141732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ENVIO
EXTERNO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67528" y="530352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623560" y="5029200"/>
            <a:ext cx="141732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APROVAÇÃO
HUMANA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contrato completo = validação automática antes de executar</a:t>
            </a:r>
          </a:p>
        </p:txBody>
      </p:sp>
    </p:spTree>
    <p:extLst>
      <p:ext uri="{BB962C8B-B14F-4D97-AF65-F5344CB8AC3E}">
        <p14:creationId xmlns:p14="http://schemas.microsoft.com/office/powerpoint/2010/main" val="4042940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Aplicar princípio do menor privilégio: cada ferramenta deve acessar apenas o necessário.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Separar ferramentas de leitura e escrita e exigir confirmação para ações irreversíveis.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Validar entrada e saída, tratar exceções e impor limites de taxa, custo e iteração.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Registrar auditoria completa para rastrear o caminho de decisão.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SEGURANÇA NO USO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FERRAMENTAS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3131820" cy="12344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50" b="1">
                <a:solidFill>
                  <a:srgbClr val="70AD47"/>
                </a:solidFill>
                <a:latin typeface="Calibri"/>
              </a:rPr>
              <a:t>Menor privilégio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cada ferramenta acessa apenas o necessário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0500" y="1828800"/>
            <a:ext cx="3131820" cy="12344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50" b="1">
                <a:solidFill>
                  <a:srgbClr val="F57E20"/>
                </a:solidFill>
                <a:latin typeface="Calibri"/>
              </a:rPr>
              <a:t>Leitura ≠ escrita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confirmação para ações irreversíveis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83280"/>
            <a:ext cx="3131820" cy="12344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50" b="1">
                <a:solidFill>
                  <a:srgbClr val="5B9BD5"/>
                </a:solidFill>
                <a:latin typeface="Calibri"/>
              </a:rPr>
              <a:t>Validação e limites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entrada, saída, exceções, taxa, custo, iteração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00500" y="3383280"/>
            <a:ext cx="3131820" cy="12344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50" b="1">
                <a:solidFill>
                  <a:srgbClr val="D30F59"/>
                </a:solidFill>
                <a:latin typeface="Calibri"/>
              </a:rPr>
              <a:t>Auditoria completa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rastrear todo o caminho de decisão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defesa em camadas: o agente só faz o que precisa — e deixa rastro</a:t>
            </a:r>
          </a:p>
        </p:txBody>
      </p:sp>
    </p:spTree>
    <p:extLst>
      <p:ext uri="{BB962C8B-B14F-4D97-AF65-F5344CB8AC3E}">
        <p14:creationId xmlns:p14="http://schemas.microsoft.com/office/powerpoint/2010/main" val="2367165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Protocolos buscam padronizar como agentes acessam ferramentas, recursos e outros agentes.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MCP expõe capacidades por meio de primitivas como tools, resources e prompts, com schemas de entrada e saída.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A2A padroniza comunicação entre agentes desenvolvidos por organizações ou tecnologias diferentes.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AP2 propõe um padrão para transações financeiras realizadas por agentes com segurança e governança.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PROTOCOLOS: MCP, A2A E AP2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48640" y="2743200"/>
            <a:ext cx="1188720" cy="11887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1737360"/>
            <a:ext cx="118872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88366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FAFAF"/>
                </a:solidFill>
                <a:latin typeface="Calibri"/>
              </a:rPr>
              <a:t>ferramentas, recursos e prompts — com schemas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783080" y="2011679"/>
            <a:ext cx="1033272" cy="1325881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34640" y="3063240"/>
            <a:ext cx="118872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A2A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20954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FAFAF"/>
                </a:solidFill>
                <a:latin typeface="Calibri"/>
              </a:rPr>
              <a:t>outros agentes, de outras organizações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80" y="3337560"/>
            <a:ext cx="1033272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834640" y="4389120"/>
            <a:ext cx="118872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53542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FAFAF"/>
                </a:solidFill>
                <a:latin typeface="Calibri"/>
              </a:rPr>
              <a:t>transações financeiras com segurança e governança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80" y="3337560"/>
            <a:ext cx="1033272" cy="132588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349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como o USB-C: um plug padrão para cada tipo de conexão</a:t>
            </a:r>
          </a:p>
        </p:txBody>
      </p:sp>
    </p:spTree>
    <p:extLst>
      <p:ext uri="{BB962C8B-B14F-4D97-AF65-F5344CB8AC3E}">
        <p14:creationId xmlns:p14="http://schemas.microsoft.com/office/powerpoint/2010/main" val="1743176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Protocolos reduzem acoplamento e facilitam reutilização, versionamento e autorização.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Mesmo com protocolo comum, ainda são necessários autenticação, autorização, logs, políticas e revisão humana.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risco muda de “como conectar” para “quem pode chamar o quê, com quais dados e em quais condições”.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INTEROPERABILIDADE NÃO ELIMINA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GOVERNANÇA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331720"/>
            <a:ext cx="1828800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agente conectado
via protocolo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95728" y="2670048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34640" y="2103120"/>
            <a:ext cx="1645920" cy="114300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GOVERNANÇA
(o portão
continua)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98848" y="2670048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37760" y="2331720"/>
            <a:ext cx="1828800" cy="68580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chamada
executada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657600"/>
            <a:ext cx="566928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autenticação · autorização · logs · políticas · revisão humana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3264408"/>
            <a:ext cx="0" cy="374904"/>
          </a:xfrm>
          <a:prstGeom prst="line">
            <a:avLst/>
          </a:prstGeom>
          <a:ln w="15875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60" y="4526280"/>
            <a:ext cx="566928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o risco muda: quem pode chamar o quê,
com quais dados e em quais condições?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conectar ficou fácil; autorizar continua sendo trabalho seu</a:t>
            </a:r>
          </a:p>
        </p:txBody>
      </p:sp>
    </p:spTree>
    <p:extLst>
      <p:ext uri="{BB962C8B-B14F-4D97-AF65-F5344CB8AC3E}">
        <p14:creationId xmlns:p14="http://schemas.microsoft.com/office/powerpoint/2010/main" val="1214510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ReAct decide incrementalmente, mas tarefas complexas podem exigir separação entre planejamento e execução.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 planner cria subtarefas antes de chamar ferramentas.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É útil em análise documental longa, relatórios, investigação de incidentes e processos com múltiplas dependências.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Planos robustos devem ter etapas, dependências, critérios de sucesso e limites.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PLANNERS: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QUANDO O AGENTE PRECISA PENSAR ANTES DE AGIR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2286000"/>
            <a:ext cx="137160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47088" y="2560320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94560" y="2194560"/>
            <a:ext cx="1920240" cy="7315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PLANNER
cria o plano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33087" y="2560320"/>
            <a:ext cx="32918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80560" y="2286000"/>
            <a:ext cx="6400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38928" y="2560320"/>
            <a:ext cx="28346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40680" y="2286000"/>
            <a:ext cx="6400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9048" y="2560320"/>
            <a:ext cx="28346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0" y="2286000"/>
            <a:ext cx="6400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29718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subtarefas com dependências,
critérios de sucesso e limites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0" y="3520440"/>
            <a:ext cx="0" cy="39319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160520" y="3931920"/>
            <a:ext cx="2651760" cy="64008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executa com ferramentas,
seguindo o plano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320040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ReAct: decide a cada passo
Planner: pensa antes de agir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92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útil em análise documental longa, relatórios e investigação de incidentes</a:t>
            </a:r>
          </a:p>
        </p:txBody>
      </p:sp>
    </p:spTree>
    <p:extLst>
      <p:ext uri="{BB962C8B-B14F-4D97-AF65-F5344CB8AC3E}">
        <p14:creationId xmlns:p14="http://schemas.microsoft.com/office/powerpoint/2010/main" val="185245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Plan-and-Solve separa construção do plano e resolução da tarefa.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Tree of Thoughts explora múltiplos caminhos de raciocínio antes de escolher uma trajetória.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Essas técnicas reduzem respostas precipitadas, mas aumentam custo, latência e complexidade de monitoramento.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escolha depende do equilíbrio entre qualidade, custo e criticidade da tarefa.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88627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PLAN-AND-SOLVE E TREE OF THOUGHTS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9BD5"/>
                </a:solidFill>
                <a:latin typeface="Calibri"/>
              </a:rPr>
              <a:t>PLAN-AND-SOLVE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96596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1. constrói o plano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40" y="2514600"/>
            <a:ext cx="0" cy="32004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2834639"/>
            <a:ext cx="2377440" cy="548640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2. resolve a tarefa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20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duas fases separadas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11880" y="1645920"/>
            <a:ext cx="0" cy="237744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31920" y="16002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57E20"/>
                </a:solidFill>
                <a:latin typeface="Calibri"/>
              </a:rPr>
              <a:t>TREE OF THOUGHTS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1965960"/>
            <a:ext cx="1280160" cy="45720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problema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2788920"/>
            <a:ext cx="1005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caminho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480559" y="2441448"/>
            <a:ext cx="1051561" cy="329184"/>
          </a:xfrm>
          <a:prstGeom prst="line">
            <a:avLst/>
          </a:prstGeom>
          <a:ln w="127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29200" y="2788920"/>
            <a:ext cx="1005840" cy="45720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caminho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532120" y="2441448"/>
            <a:ext cx="0" cy="329184"/>
          </a:xfrm>
          <a:prstGeom prst="line">
            <a:avLst/>
          </a:prstGeom>
          <a:ln w="31750">
            <a:solidFill>
              <a:srgbClr val="70AD47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080760" y="2788920"/>
            <a:ext cx="1005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caminho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32120" y="2441448"/>
            <a:ext cx="1051560" cy="329184"/>
          </a:xfrm>
          <a:prstGeom prst="line">
            <a:avLst/>
          </a:prstGeom>
          <a:ln w="127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93192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explora vários, escolhe 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343400"/>
            <a:ext cx="640080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menos respostas precipitadas  ×  mais custo, latência e monitoramento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57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escolha é equilíbrio entre qualidade, custo e criticidade da tarefa</a:t>
            </a:r>
          </a:p>
        </p:txBody>
      </p:sp>
    </p:spTree>
    <p:extLst>
      <p:ext uri="{BB962C8B-B14F-4D97-AF65-F5344CB8AC3E}">
        <p14:creationId xmlns:p14="http://schemas.microsoft.com/office/powerpoint/2010/main" val="1884655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Adicionar schema de entrada para a ferramenta do agente.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Validar argumentos antes da execução.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Adicionar limite de iterações para evitar loops.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Registrar erro de ferramenta como observação para o agente decidir a próxima ação.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HANDS-ON DA PARTE 02: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FERRAMENTA COM SCHEMA E LIMITES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2148840"/>
            <a:ext cx="55778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schema de entrada para a ferramenta do agente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" y="2670048"/>
            <a:ext cx="0" cy="28346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2990088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2990088"/>
            <a:ext cx="55778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validação dos argumentos antes de executar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968" y="3511296"/>
            <a:ext cx="0" cy="28346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831336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3831336"/>
            <a:ext cx="55778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limite de iterações para evitar loops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6968" y="4352544"/>
            <a:ext cx="0" cy="28346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080" y="4672584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4672584"/>
            <a:ext cx="55778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erro de ferramenta vira observação — o agente 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59552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agente mínimo ganha contrato e limites — o caminho para produção</a:t>
            </a:r>
          </a:p>
        </p:txBody>
      </p:sp>
    </p:spTree>
    <p:extLst>
      <p:ext uri="{BB962C8B-B14F-4D97-AF65-F5344CB8AC3E}">
        <p14:creationId xmlns:p14="http://schemas.microsoft.com/office/powerpoint/2010/main" val="683767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7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MULTIAGENTES, MEMÓRIA, NUVEM E OBSERVABILIDADE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03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Prof. 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3631024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arquiteturas hierárquicas, um agente supervisor coordena agentes especializados.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supervisor recebe a tarefa principal, decompõe o problema e encaminha partes para colaboradores.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Esse padrão é útil quando subtarefas exigem ferramentas, contextos ou políticas diferentes.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it-IT" sz="4000" dirty="0">
                <a:latin typeface="GothamHTF-Book" pitchFamily="2" charset="0"/>
              </a:rPr>
              <a:t>AGENTES </a:t>
            </a:r>
            <a:r>
              <a:rPr lang="it-IT" sz="4000" dirty="0">
                <a:solidFill>
                  <a:srgbClr val="D30F59"/>
                </a:solidFill>
                <a:latin typeface="GothamHTF-Book" pitchFamily="2" charset="0"/>
              </a:rPr>
              <a:t>HIERÁRQUICOS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51760" y="1645920"/>
            <a:ext cx="2011680" cy="5943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SUPERVISOR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926080"/>
            <a:ext cx="1645920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agente
docs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645920" y="2258568"/>
            <a:ext cx="2011680" cy="64922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  <a:head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34640" y="2926080"/>
            <a:ext cx="1645920" cy="68580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agente
SQL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57600" y="2258568"/>
            <a:ext cx="0" cy="64922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  <a:head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846320" y="2926080"/>
            <a:ext cx="1645920" cy="68580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agente
relatório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2258568"/>
            <a:ext cx="2011680" cy="64922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  <a:head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3749039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cada um com suas ferramentas, contexto e permissões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57600" y="4114800"/>
            <a:ext cx="0" cy="25603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651760" y="4389120"/>
            <a:ext cx="201168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resposta integrada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1208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supervisor decompõe a tarefa e junta os resultados</a:t>
            </a:r>
          </a:p>
        </p:txBody>
      </p:sp>
    </p:spTree>
    <p:extLst>
      <p:ext uri="{BB962C8B-B14F-4D97-AF65-F5344CB8AC3E}">
        <p14:creationId xmlns:p14="http://schemas.microsoft.com/office/powerpoint/2010/main" val="3665925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Agentes colaboradores podem trabalhar em tarefas complexas e multi-etapa sob coordenação de um supervisor.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principal benefício é a separação de responsabilidades: cada agente possui instruções, ferramentas, memória e permissões próprias.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Pode haver paralelismo, mas também há risco de inconsistência, custo elevado e depuração mais difícil.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SISTEMAS MULTIAGENTE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COLABORATIVOS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70AD47"/>
                </a:solidFill>
                <a:latin typeface="Calibri"/>
              </a:rPr>
              <a:t>BENEFÍCIO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965960"/>
            <a:ext cx="30175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separação de responsabilidades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697480"/>
            <a:ext cx="301752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instruções, ferramentas,
memória e permissões próprias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11880"/>
            <a:ext cx="301752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paralelismo em tarefas
multi-etapa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94760" y="1645920"/>
            <a:ext cx="0" cy="283464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23360" y="1600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57E20"/>
                </a:solidFill>
                <a:latin typeface="Calibri"/>
              </a:rPr>
              <a:t>CUSTO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1965960"/>
            <a:ext cx="301752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risco de inconsistência
entre agentes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2880360"/>
            <a:ext cx="301752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custo elevado
(muitas chamadas)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3794760"/>
            <a:ext cx="30175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depuração mais difícil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09160"/>
            <a:ext cx="649224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vale a pena quando as subtarefas realmente exigem
ferramentas, contextos ou políticas diferentes</a:t>
            </a:r>
          </a:p>
        </p:txBody>
      </p:sp>
    </p:spTree>
    <p:extLst>
      <p:ext uri="{BB962C8B-B14F-4D97-AF65-F5344CB8AC3E}">
        <p14:creationId xmlns:p14="http://schemas.microsoft.com/office/powerpoint/2010/main" val="3048446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Memória de curto prazo: contexto da sessão atual, mensagens recentes, ações executadas e estado temporário.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Memória de longo prazo: informações persistidas entre sessões, preferências, decisões anteriores e histórico relevante.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Memória não deve ser “jogar tudo no prompt”; é preciso definir o que armazenar, por quanto tempo, com qual consentimento e como remover.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MEMÓRIA DE CURTO E LONGO PRAZO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783080"/>
            <a:ext cx="3108960" cy="548640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CURTO PRAZO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377440"/>
            <a:ext cx="3108960" cy="10972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sessão atual: mensagens
recentes, ações executadas,
estado temporário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66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dura só a conversa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1783080"/>
            <a:ext cx="310896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LONGO PRAZO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2377440"/>
            <a:ext cx="3108960" cy="10972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entre sessões: preferências,
decisões anteriores,
histórico relevante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566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persistida com critério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6400800" cy="5943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memória NÃO é “jogar tudo no prompt”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quê guardar · por quanto tempo · com qual consentimento · como remover</a:t>
            </a:r>
          </a:p>
        </p:txBody>
      </p:sp>
    </p:spTree>
    <p:extLst>
      <p:ext uri="{BB962C8B-B14F-4D97-AF65-F5344CB8AC3E}">
        <p14:creationId xmlns:p14="http://schemas.microsoft.com/office/powerpoint/2010/main" val="1550297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produção, ferramentas viram APIs autenticadas, microserviços, conectores MCP, funções serverless ou serviços em Kubernetes.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Camadas de referência: interface, orquestração agêntica, ferramentas, persistência e observabilidade.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nuvem fornece blocos gerenciados, mas não substitui decisões de segurança, permissões, retenção, avaliação e fallback.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1920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ARQUITETURA EM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NUVEM PARA AGENTES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1691640"/>
            <a:ext cx="5486400" cy="5943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INTERFACE — canais e usuários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423160"/>
            <a:ext cx="5486400" cy="5943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ORQUESTRAÇÃO AGÊNTICA — o loop do agente, gerenciado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154680"/>
            <a:ext cx="5486400" cy="59436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FERRAMENTAS — APIs autenticadas · conectores MCP · serverless · K8s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86200"/>
            <a:ext cx="5486400" cy="5943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PERSISTÊNCIA — memória e estado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617720"/>
            <a:ext cx="5486400" cy="59436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OBSERVABILIDADE — logs, métricas e traces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59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a nuvem dá blocos gerenciados — segurança, permissões,
retenção, avaliação e fallback continuam decisões suas</a:t>
            </a:r>
          </a:p>
        </p:txBody>
      </p:sp>
    </p:spTree>
    <p:extLst>
      <p:ext uri="{BB962C8B-B14F-4D97-AF65-F5344CB8AC3E}">
        <p14:creationId xmlns:p14="http://schemas.microsoft.com/office/powerpoint/2010/main" val="4293892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Monitorar agentes exige mais do que latência, taxa de erro e throughput.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É necessário acompanhar qual agente foi acionado, qual ferramenta foi chamada, quais argumentos foram enviados e qual observação retornou.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Logs registram eventos; métricas mostram comportamento agregado; traces reconstroem a execução completa.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OBSERVABILIDADE: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ENTENDER O CAMINHO DA DECISÃO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51760" y="2057400"/>
            <a:ext cx="201168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execução do agente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154680"/>
            <a:ext cx="17373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6732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eventos: o que
aconteceu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691640" y="2624328"/>
            <a:ext cx="1965960" cy="51206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788920" y="3154680"/>
            <a:ext cx="173736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MÉTRICAS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76732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agregado: como
se comporta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2624328"/>
            <a:ext cx="0" cy="51206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54880" y="3154680"/>
            <a:ext cx="173736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76732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o caminho todo,
passo a passo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57600" y="2624328"/>
            <a:ext cx="1965960" cy="51206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2960" y="4572000"/>
            <a:ext cx="566928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rastrear: qual agente · qual ferramenta · quais argumentos · qual retorno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9496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três lentes sobre a mesma execução — mais que latência e taxa de erro</a:t>
            </a:r>
          </a:p>
        </p:txBody>
      </p:sp>
    </p:spTree>
    <p:extLst>
      <p:ext uri="{BB962C8B-B14F-4D97-AF65-F5344CB8AC3E}">
        <p14:creationId xmlns:p14="http://schemas.microsoft.com/office/powerpoint/2010/main" val="4081027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avaliação verifica se o agente agiu de forma correta, segura, útil, eficiente e rastreável.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Avaliar apenas a resposta final pode esconder problemas no processo.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Rubrica mínima: qualidade da resposta, segurança, uso correto de ferramentas, completude, grounding, custo e rastreabilidade.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AVALIAÇÃO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AGENTES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11887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tarefa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03120" y="1828800"/>
            <a:ext cx="100584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passo 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64208" y="2075688"/>
            <a:ext cx="420623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37560" y="1828800"/>
            <a:ext cx="100584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passo 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98648" y="2075688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0" y="1828800"/>
            <a:ext cx="100584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passo 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33087" y="2075688"/>
            <a:ext cx="42062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59552" y="2075688"/>
            <a:ext cx="36576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43600" y="1828800"/>
            <a:ext cx="11887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resposta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65960" y="1600200"/>
            <a:ext cx="5303520" cy="960120"/>
          </a:xfrm>
          <a:prstGeom prst="roundRect">
            <a:avLst/>
          </a:prstGeom>
          <a:noFill/>
          <a:ln w="15875">
            <a:solidFill>
              <a:srgbClr val="D30F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7432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D30F59"/>
                </a:solidFill>
                <a:latin typeface="Calibri"/>
              </a:rPr>
              <a:t>avaliar SÓ a resposta final esconde problemas — avalie o processo inteiro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  <a:latin typeface="Calibri"/>
              </a:rPr>
              <a:t>rubrica mínima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611880"/>
            <a:ext cx="160020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qualidade da
resposta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3611880"/>
            <a:ext cx="160020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segurança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3611880"/>
            <a:ext cx="160020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uso correto de
ferramentas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79" y="3611880"/>
            <a:ext cx="160020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completude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25880" y="4297680"/>
            <a:ext cx="160020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grounding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63239" y="4297680"/>
            <a:ext cx="160020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custo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0600" y="4297680"/>
            <a:ext cx="160020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rastreabilidade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1206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correto, seguro, útil, eficiente e rastreável — nas ações, não só no texto</a:t>
            </a:r>
          </a:p>
        </p:txBody>
      </p:sp>
    </p:spTree>
    <p:extLst>
      <p:ext uri="{BB962C8B-B14F-4D97-AF65-F5344CB8AC3E}">
        <p14:creationId xmlns:p14="http://schemas.microsoft.com/office/powerpoint/2010/main" val="3426461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mercado de agentes avança em três frentes: automação corporativa, padronização de ferramentas e observabilidade.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Aplicações incluem atendimento, suporte interno, análise documental, engenharia de software, operações financeiras e automação de processos.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prontidão de APIs e a modernização de sistemas legados são pré-requisitos para capturar valor com agentes.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Empresas com alto débito técnico podem enfrentar custos de integração elevados.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MERCADO, CASES E TENDÊNCIAS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3131820" cy="12344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D30F59"/>
                </a:solidFill>
                <a:latin typeface="Calibri"/>
              </a:rPr>
              <a:t>Automação corporativa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atendimento, suporte, análise documental, engenharia, finanças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0500" y="1828800"/>
            <a:ext cx="3131820" cy="12344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5B9BD5"/>
                </a:solidFill>
                <a:latin typeface="Calibri"/>
              </a:rPr>
              <a:t>Padronização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protocolos e ferramentas interoperáveis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83280"/>
            <a:ext cx="3131820" cy="12344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F57E20"/>
                </a:solidFill>
                <a:latin typeface="Calibri"/>
              </a:rPr>
              <a:t>Observabilidade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a frente que amadurece junto com a produção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00500" y="3383280"/>
            <a:ext cx="3131820" cy="12344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70AD47"/>
                </a:solidFill>
                <a:latin typeface="Calibri"/>
              </a:rPr>
              <a:t>Pré-requisito: integração</a:t>
            </a:r>
          </a:p>
          <a:p>
            <a:pPr algn="ctr"/>
            <a:r>
              <a:rPr sz="1050">
                <a:solidFill>
                  <a:srgbClr val="AFAFAF"/>
                </a:solidFill>
                <a:latin typeface="Calibri"/>
              </a:rPr>
              <a:t>APIs prontas e legado modernizado — débito técnico encarece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valor aparece onde a integração já está pronta</a:t>
            </a:r>
          </a:p>
        </p:txBody>
      </p:sp>
    </p:spTree>
    <p:extLst>
      <p:ext uri="{BB962C8B-B14F-4D97-AF65-F5344CB8AC3E}">
        <p14:creationId xmlns:p14="http://schemas.microsoft.com/office/powerpoint/2010/main" val="1183599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Agentes são sistemas de decisão compostos por objetivo, estado, observação, ação, ferramentas e memória.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Workflows seguem caminho pré-definido; agentes escolhem dinamicamente o próximo passo.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ReAct, tool calling, planners, multiagentes, memória e protocolos ampliam capacidade, mas também aumentam riscos.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Produção exige contratos, guardrails, governança, observabilidade, avaliação e revisão humana quando necessário.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SÍNTESE: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O QUE VOCÊ VIU NESTA AULA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1801368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691640"/>
            <a:ext cx="557784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FFFFF"/>
                </a:solidFill>
                <a:latin typeface="Calibri"/>
              </a:rPr>
              <a:t>Agente = sistema de decisão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objetivo, estado, observação, ação, ferramentas, memória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2761488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2651760"/>
            <a:ext cx="557784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FFFFF"/>
                </a:solidFill>
                <a:latin typeface="Calibri"/>
              </a:rPr>
              <a:t>Workflow × agente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trilho fixo × próximo passo escolhido pelo modelo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721608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3611880"/>
            <a:ext cx="557784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FFFFF"/>
                </a:solidFill>
                <a:latin typeface="Calibri"/>
              </a:rPr>
              <a:t>Padrões ampliam poder — e risco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ReAct, tool calling, planners, multiagentes, memória, protocolos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681728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572000"/>
            <a:ext cx="557784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FFFFF"/>
                </a:solidFill>
                <a:latin typeface="Calibri"/>
              </a:rPr>
              <a:t>Produção exige controle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contratos, guardrails, observabilidade, avaliação, revisão humana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mapa da aula em quatro paradas</a:t>
            </a:r>
          </a:p>
        </p:txBody>
      </p:sp>
    </p:spTree>
    <p:extLst>
      <p:ext uri="{BB962C8B-B14F-4D97-AF65-F5344CB8AC3E}">
        <p14:creationId xmlns:p14="http://schemas.microsoft.com/office/powerpoint/2010/main" val="1188903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Projetar um agente para um cenário corporativo simples.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Definir objetivo, ferramentas, schemas, riscos, memória, limites de iteração e critérios de avaliação.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Entregar o desenho da arquitetura e justificar por que o problema exige agente, workflow ou abordagem híbrida.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ATIVIDADE FINAL DA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AULA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1851660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828800"/>
            <a:ext cx="557784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escolha um cenário corporativo simples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" y="2395728"/>
            <a:ext cx="0" cy="2377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2807208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2670048"/>
            <a:ext cx="5577840" cy="7772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defina: objetivo · ferramentas · schemas · riscos ·
memória · limites de iteração · avaliação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968" y="3465576"/>
            <a:ext cx="0" cy="2377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762756"/>
            <a:ext cx="502920" cy="50292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3739896"/>
            <a:ext cx="557784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desenhe a arquitetura e justifique a escolha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4718304"/>
            <a:ext cx="1737360" cy="5029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agente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718304"/>
            <a:ext cx="173736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4718304"/>
            <a:ext cx="1737360" cy="5029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híbrido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49824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entregável: o desenho + a justificativa — por que ESSA abordagem?</a:t>
            </a:r>
          </a:p>
        </p:txBody>
      </p:sp>
    </p:spTree>
    <p:extLst>
      <p:ext uri="{BB962C8B-B14F-4D97-AF65-F5344CB8AC3E}">
        <p14:creationId xmlns:p14="http://schemas.microsoft.com/office/powerpoint/2010/main" val="1822363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359150" y="2286001"/>
            <a:ext cx="8390466" cy="413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ANTHROPIC. Building effective agents. Anthropic Engineering, 2024.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YAO, Shunyu et al. ReAct: Synergizing Reasoning and Acting in Language Models. arXiv, 2022.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EHTESHAM, Abul et al. A Survey of Agent Interoperability Protocols: MCP, ACP, A2A and ANP. arXiv, 2025.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GOOGLE CLOUD. Announcing Agent Payments Protocol (AP2). Google Cloud Blog, 2025.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CABALLAR, Rina Diane; STRYKER, Cole. What is Agent2Agent protocol (A2A)? IBM Think, 2025.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MODEL CONTEXT PROTOCOL. What is the Model Context Protocol (MCP)? MCP Documentation, 2026.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REFERÊNCIAS DA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AULA</a:t>
            </a:r>
            <a:endParaRPr lang="en-US" sz="4000" dirty="0">
              <a:latin typeface="GothamHTF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050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359150" y="2286001"/>
            <a:ext cx="8390466" cy="413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OPENAI. Introducing Structured Outputs in the API. OpenAI, 2024.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OPENAI. Tracing — OpenAI Agents SDK. OpenAI Agents SDK Documentation, 2026.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LANGCHAIN. Persistence — LangGraph. LangGraph Documentation, 2026.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MICROSOFT. Monitor agents with the Agent Monitoring Dashboard. Microsoft Foundry Documentation, 2026.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ROWAN, Jim et al. The agentic reality check: Preparing for a silicon-based workforce. Deloitte Insights, 2025.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REFERÊNCIAS DA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AULA</a:t>
            </a:r>
            <a:endParaRPr lang="en-US" sz="4000" dirty="0">
              <a:latin typeface="GothamHTF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050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0"/>
          </a:gra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2700"/>
            </a:pP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6"/>
          <p:cNvSpPr/>
          <p:nvPr/>
        </p:nvSpPr>
        <p:spPr>
          <a:xfrm>
            <a:off x="2353030" y="-259043"/>
            <a:ext cx="7485942" cy="7376085"/>
          </a:xfrm>
          <a:custGeom>
            <a:avLst/>
            <a:gdLst/>
            <a:ahLst/>
            <a:cxnLst/>
            <a:rect l="l" t="t" r="r" b="b"/>
            <a:pathLst>
              <a:path w="3648669" h="3595124" extrusionOk="0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9A0D3B">
                  <a:alpha val="50588"/>
                </a:srgbClr>
              </a:gs>
              <a:gs pos="18000">
                <a:srgbClr val="9A0D3B">
                  <a:alpha val="50588"/>
                </a:srgbClr>
              </a:gs>
              <a:gs pos="78000">
                <a:srgbClr val="9A0D3B">
                  <a:alpha val="0"/>
                </a:srgbClr>
              </a:gs>
              <a:gs pos="100000">
                <a:srgbClr val="9A0D3B">
                  <a:alpha val="0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Clr>
                <a:srgbClr val="000000"/>
              </a:buClr>
              <a:buSzPts val="4050"/>
            </a:pPr>
            <a:endParaRPr sz="2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2" name="Google Shape;1292;p6"/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 w="12700" cap="flat" cmpd="sng">
            <a:solidFill>
              <a:srgbClr val="F57E20">
                <a:alpha val="4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4050"/>
            </a:pPr>
            <a:endParaRPr sz="27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93" name="Google Shape;1293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0150" y="2949830"/>
            <a:ext cx="5911702" cy="958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8740B4C0987B4D86879E800A26E446" ma:contentTypeVersion="16" ma:contentTypeDescription="Crie um novo documento." ma:contentTypeScope="" ma:versionID="dae3bc908e15ec8f9115713424d3a2bb">
  <xsd:schema xmlns:xsd="http://www.w3.org/2001/XMLSchema" xmlns:xs="http://www.w3.org/2001/XMLSchema" xmlns:p="http://schemas.microsoft.com/office/2006/metadata/properties" xmlns:ns2="2220af93-035a-443f-80b0-3b9b401ad9a6" xmlns:ns3="d48fd270-4a57-47e1-b674-c7d4969804ad" targetNamespace="http://schemas.microsoft.com/office/2006/metadata/properties" ma:root="true" ma:fieldsID="2432d4b2454c185ef2449b66e2f5b84c" ns2:_="" ns3:_="">
    <xsd:import namespace="2220af93-035a-443f-80b0-3b9b401ad9a6"/>
    <xsd:import namespace="d48fd270-4a57-47e1-b674-c7d4969804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20af93-035a-443f-80b0-3b9b401ad9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fd270-4a57-47e1-b674-c7d4969804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4c2c100-d553-4c8e-a0cc-71e94ec5782d}" ma:internalName="TaxCatchAll" ma:showField="CatchAllData" ma:web="d48fd270-4a57-47e1-b674-c7d4969804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8fd270-4a57-47e1-b674-c7d4969804ad" xsi:nil="true"/>
    <lcf76f155ced4ddcb4097134ff3c332f xmlns="2220af93-035a-443f-80b0-3b9b401ad9a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297CB51-7E98-4C9D-869D-200E87DDBA79}"/>
</file>

<file path=customXml/itemProps2.xml><?xml version="1.0" encoding="utf-8"?>
<ds:datastoreItem xmlns:ds="http://schemas.openxmlformats.org/officeDocument/2006/customXml" ds:itemID="{85BB815E-BF84-4876-AC3C-3ED410454784}"/>
</file>

<file path=customXml/itemProps3.xml><?xml version="1.0" encoding="utf-8"?>
<ds:datastoreItem xmlns:ds="http://schemas.openxmlformats.org/officeDocument/2006/customXml" ds:itemID="{290FC2D3-AAC8-4D39-A8B4-EC0D6A9BB761}"/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1821</Words>
  <Application>Microsoft Office PowerPoint</Application>
  <PresentationFormat>Widescreen</PresentationFormat>
  <Paragraphs>210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GothamHTF-Book</vt:lpstr>
      <vt:lpstr>Open Sans</vt:lpstr>
      <vt:lpstr>Roboto</vt:lpstr>
      <vt:lpstr>Roboto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Elisa Batista</dc:creator>
  <cp:lastModifiedBy>Elisa Batista</cp:lastModifiedBy>
  <cp:revision>8</cp:revision>
  <dcterms:created xsi:type="dcterms:W3CDTF">2026-07-06T13:22:28Z</dcterms:created>
  <dcterms:modified xsi:type="dcterms:W3CDTF">2026-07-08T16:50:43Z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0x010100968740B4C0987B4D86879E800A26E446</vt:lpwstr>
  </property>
</Properties>
</file>