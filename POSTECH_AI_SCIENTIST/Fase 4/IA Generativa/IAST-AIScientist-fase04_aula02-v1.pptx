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45"/>
  </p:notesMasterIdLst>
  <p:sldIdLst>
    <p:sldId id="747" r:id="rId5"/>
    <p:sldId id="572" r:id="rId6"/>
    <p:sldId id="569" r:id="rId7"/>
    <p:sldId id="771" r:id="rId8"/>
    <p:sldId id="772" r:id="rId9"/>
    <p:sldId id="773" r:id="rId10"/>
    <p:sldId id="774" r:id="rId11"/>
    <p:sldId id="775" r:id="rId12"/>
    <p:sldId id="776" r:id="rId13"/>
    <p:sldId id="754" r:id="rId14"/>
    <p:sldId id="777" r:id="rId15"/>
    <p:sldId id="778" r:id="rId16"/>
    <p:sldId id="779" r:id="rId17"/>
    <p:sldId id="780" r:id="rId18"/>
    <p:sldId id="781" r:id="rId19"/>
    <p:sldId id="782" r:id="rId20"/>
    <p:sldId id="783" r:id="rId21"/>
    <p:sldId id="784" r:id="rId22"/>
    <p:sldId id="755" r:id="rId23"/>
    <p:sldId id="785" r:id="rId24"/>
    <p:sldId id="786" r:id="rId25"/>
    <p:sldId id="787" r:id="rId26"/>
    <p:sldId id="788" r:id="rId27"/>
    <p:sldId id="789" r:id="rId28"/>
    <p:sldId id="790" r:id="rId29"/>
    <p:sldId id="791" r:id="rId30"/>
    <p:sldId id="792" r:id="rId31"/>
    <p:sldId id="793" r:id="rId32"/>
    <p:sldId id="795" r:id="rId34"/>
    <p:sldId id="796" r:id="rId35"/>
    <p:sldId id="797" r:id="rId36"/>
    <p:sldId id="798" r:id="rId37"/>
    <p:sldId id="799" r:id="rId38"/>
    <p:sldId id="800" r:id="rId39"/>
    <p:sldId id="801" r:id="rId40"/>
    <p:sldId id="802" r:id="rId41"/>
    <p:sldId id="803" r:id="rId42"/>
    <p:sldId id="805" r:id="rId43"/>
    <p:sldId id="284" r:id="rId4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30F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0A542E-81F3-44BC-C5EF-4048AF7262CB}" v="4" dt="2026-07-07T11:52:52.9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Relationship Id="rId50" Type="http://schemas.microsoft.com/office/2016/11/relationships/changesInfo" Target="changesInfos/changesInfo1.xml"/><Relationship Id="rId51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isa Batista" userId="S::elisa.batista@fiap.com.br::f3f29c83-8d99-41ef-bc18-b865486a2af5" providerId="AD" clId="Web-{600A542E-81F3-44BC-C5EF-4048AF7262CB}"/>
    <pc:docChg chg="modSld">
      <pc:chgData name="Elisa Batista" userId="S::elisa.batista@fiap.com.br::f3f29c83-8d99-41ef-bc18-b865486a2af5" providerId="AD" clId="Web-{600A542E-81F3-44BC-C5EF-4048AF7262CB}" dt="2026-07-07T11:52:52.924" v="1" actId="20577"/>
      <pc:docMkLst>
        <pc:docMk/>
      </pc:docMkLst>
      <pc:sldChg chg="modSp">
        <pc:chgData name="Elisa Batista" userId="S::elisa.batista@fiap.com.br::f3f29c83-8d99-41ef-bc18-b865486a2af5" providerId="AD" clId="Web-{600A542E-81F3-44BC-C5EF-4048AF7262CB}" dt="2026-07-07T11:52:52.924" v="1" actId="20577"/>
        <pc:sldMkLst>
          <pc:docMk/>
          <pc:sldMk cId="3955353094" sldId="747"/>
        </pc:sldMkLst>
        <pc:spChg chg="mod">
          <ac:chgData name="Elisa Batista" userId="S::elisa.batista@fiap.com.br::f3f29c83-8d99-41ef-bc18-b865486a2af5" providerId="AD" clId="Web-{600A542E-81F3-44BC-C5EF-4048AF7262CB}" dt="2026-07-07T11:52:52.924" v="1" actId="20577"/>
          <ac:spMkLst>
            <pc:docMk/>
            <pc:sldMk cId="3955353094" sldId="747"/>
            <ac:spMk id="23" creationId="{525C41F4-469E-4104-999E-D2986C4584C2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61221E-5A2F-496B-AB2F-0D1D2F71E69D}" type="datetimeFigureOut">
              <a:rPr lang="pt-BR" smtClean="0"/>
              <a:t>07/07/2026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2B03B2-33B5-4C85-89C1-87752B9186B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2159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" name="Google Shape;128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88" name="Google Shape;128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79ECE1-6587-496B-B248-649FB96D8D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1EE2F41-C1B9-4F9A-9969-08E055B539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78E5046-1F12-4F5A-93B7-5B82BAE48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2C2A4-8F15-4E50-9E8F-279B4B62E212}" type="datetimeFigureOut">
              <a:rPr lang="pt-BR" smtClean="0"/>
              <a:t>07/07/2026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5B7E942-6EA7-483A-A267-5B505C8B2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85C86A5-F3C0-4BCC-8DE3-3EB415647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36FA9-787B-4185-BFDF-876D397DF2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8436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AD145B-BC9B-4BC1-BC95-416F8FCF6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4081121-E8E8-481B-B970-EB2EF093D0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AAC847-246F-4937-811C-9F400D12E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2C2A4-8F15-4E50-9E8F-279B4B62E212}" type="datetimeFigureOut">
              <a:rPr lang="pt-BR" smtClean="0"/>
              <a:t>07/07/2026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F67858C-0F67-4107-8B48-0101DECD7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BF56298-E242-4875-83F8-0BD5F292F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36FA9-787B-4185-BFDF-876D397DF2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4589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1EBC3F-B731-447C-86C7-D8AA6A9E6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4ADBF64-50EA-49C9-BB50-679DE7D608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C0FA358-0FB7-4B94-879C-6A50194B9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2C2A4-8F15-4E50-9E8F-279B4B62E212}" type="datetimeFigureOut">
              <a:rPr lang="pt-BR" smtClean="0"/>
              <a:t>07/07/2026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AB41345-4F91-4EFE-90BD-5E66CD2A4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DEB92F9-8F5F-4CE2-B8BC-5E065F109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36FA9-787B-4185-BFDF-876D397DF2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449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752FA7-7816-4AD6-87AB-6777D08F4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706A82-ADEE-4B7D-9B34-AA50939EE4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34D730F-C4CA-4292-91CD-EDD11CF50A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8D48ACD-1A1B-4732-BC6D-BA8E89CDE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2C2A4-8F15-4E50-9E8F-279B4B62E212}" type="datetimeFigureOut">
              <a:rPr lang="pt-BR" smtClean="0"/>
              <a:t>07/07/2026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2532A61-F7FB-4DFB-9397-1E28D196C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D11DD3F-42AC-4878-8663-E43952D08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36FA9-787B-4185-BFDF-876D397DF2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1984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D434A8-1A16-4DE8-BE05-39AA4F72C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CF0FA11-6FA0-43DD-AB0F-5E87454011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F144323-B483-41CF-B124-7B790220A7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7090C84-46EF-4306-AC8C-6762E06BDD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1314587-A3E9-440A-9599-FA750A7DA2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0D55913-759D-4271-A081-E28B8245E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2C2A4-8F15-4E50-9E8F-279B4B62E212}" type="datetimeFigureOut">
              <a:rPr lang="pt-BR" smtClean="0"/>
              <a:t>07/07/2026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23C52D7-ABD7-4D0F-B893-A951C02D8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1B7E252-5915-42AD-802A-948210B1A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36FA9-787B-4185-BFDF-876D397DF2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7704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65A943-4154-45BB-89BC-D7259B7D8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BECFA6-1BCD-442E-95A7-C0177EDA0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2C2A4-8F15-4E50-9E8F-279B4B62E212}" type="datetimeFigureOut">
              <a:rPr lang="pt-BR" smtClean="0"/>
              <a:t>07/07/2026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9A38AD5-A5FA-4A16-B70B-27D50CC19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EBA6F2B-CD46-499C-98B9-9A75D0981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36FA9-787B-4185-BFDF-876D397DF2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7475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A006174-D7D8-4DBF-B5D6-FB237D9F7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2C2A4-8F15-4E50-9E8F-279B4B62E212}" type="datetimeFigureOut">
              <a:rPr lang="pt-BR" smtClean="0"/>
              <a:t>07/07/2026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1937C1A-B955-4FD5-AC63-F49541A5D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A775C90-A2BB-4A65-901E-5B0955A4E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36FA9-787B-4185-BFDF-876D397DF2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25696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56A24A-AD29-4FB8-9E15-F919705E2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FA3B837-65E8-4B42-8BA9-E1A3DCF183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6EF24F6-A6E4-4A8E-889D-1E75A2E97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DD6B8F9-36FB-48EF-9845-AECF1F6C4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2C2A4-8F15-4E50-9E8F-279B4B62E212}" type="datetimeFigureOut">
              <a:rPr lang="pt-BR" smtClean="0"/>
              <a:t>07/07/2026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1A6E588-EEB7-4315-AE84-61165B721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5339F43-49DF-4B10-9576-8D14A84E6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36FA9-787B-4185-BFDF-876D397DF2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78808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E0A937-881E-4414-9F5D-370B00856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B3CE69E-6E6E-49A0-919A-9B381236EF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16E0285-2E2B-49AE-AB18-1AAC8F10BF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4B518D9-1041-4310-983A-B0C0EF318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2C2A4-8F15-4E50-9E8F-279B4B62E212}" type="datetimeFigureOut">
              <a:rPr lang="pt-BR" smtClean="0"/>
              <a:t>07/07/2026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75B941A-14BD-43F6-BE9B-F900338E9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E3D62DC-5C88-4F0B-B276-56B7C459E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36FA9-787B-4185-BFDF-876D397DF2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8058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AF3997-BFE8-4415-808B-3365F2026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228CE38-1523-4C63-84B9-9DBD0B8377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FC95A13-8701-4348-9F51-377B56E06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2C2A4-8F15-4E50-9E8F-279B4B62E212}" type="datetimeFigureOut">
              <a:rPr lang="pt-BR" smtClean="0"/>
              <a:t>07/07/2026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9FBBC08-BC26-4F81-899A-16D9EDF7F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F47749E-517F-44D9-9C0D-9300594C6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36FA9-787B-4185-BFDF-876D397DF2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940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7CD9735-7EE3-442F-A56E-7291019CD0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AE7DB0B-FEE8-4AED-A6B7-CC2AB308E6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E5A4004-639A-4D85-90A4-58FD36E7F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2C2A4-8F15-4E50-9E8F-279B4B62E212}" type="datetimeFigureOut">
              <a:rPr lang="pt-BR" smtClean="0"/>
              <a:t>07/07/2026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E90181B-D0C3-4D0F-8D11-92B57F412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B14CB82-63AA-402F-8D2C-52E8C71AE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36FA9-787B-4185-BFDF-876D397DF2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51882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1F275329-C137-4654-AB01-9BEF2A4F99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pattFill prst="pct5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D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0DC88D9-648B-4CE8-8B27-980F44B5EB1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908820" y="2865127"/>
            <a:ext cx="2283180" cy="2793396"/>
          </a:xfrm>
          <a:custGeom>
            <a:avLst/>
            <a:gdLst>
              <a:gd name="connsiteX0" fmla="*/ 698349 w 2283180"/>
              <a:gd name="connsiteY0" fmla="*/ 0 h 2793396"/>
              <a:gd name="connsiteX1" fmla="*/ 2283180 w 2283180"/>
              <a:gd name="connsiteY1" fmla="*/ 0 h 2793396"/>
              <a:gd name="connsiteX2" fmla="*/ 2283180 w 2283180"/>
              <a:gd name="connsiteY2" fmla="*/ 2793396 h 2793396"/>
              <a:gd name="connsiteX3" fmla="*/ 0 w 2283180"/>
              <a:gd name="connsiteY3" fmla="*/ 2793396 h 2793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3180" h="2793396">
                <a:moveTo>
                  <a:pt x="698349" y="0"/>
                </a:moveTo>
                <a:lnTo>
                  <a:pt x="2283180" y="0"/>
                </a:lnTo>
                <a:lnTo>
                  <a:pt x="2283180" y="2793396"/>
                </a:lnTo>
                <a:lnTo>
                  <a:pt x="0" y="2793396"/>
                </a:lnTo>
                <a:close/>
              </a:path>
            </a:pathLst>
          </a:custGeom>
          <a:pattFill prst="pct5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D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ABC970B-89F4-46AC-AA98-F84A4B7DEAA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768354" y="2865127"/>
            <a:ext cx="3622284" cy="2793396"/>
          </a:xfrm>
          <a:custGeom>
            <a:avLst/>
            <a:gdLst>
              <a:gd name="connsiteX0" fmla="*/ 698349 w 3622284"/>
              <a:gd name="connsiteY0" fmla="*/ 0 h 2793396"/>
              <a:gd name="connsiteX1" fmla="*/ 3622284 w 3622284"/>
              <a:gd name="connsiteY1" fmla="*/ 0 h 2793396"/>
              <a:gd name="connsiteX2" fmla="*/ 2923935 w 3622284"/>
              <a:gd name="connsiteY2" fmla="*/ 2793396 h 2793396"/>
              <a:gd name="connsiteX3" fmla="*/ 0 w 3622284"/>
              <a:gd name="connsiteY3" fmla="*/ 2793396 h 2793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22284" h="2793396">
                <a:moveTo>
                  <a:pt x="698349" y="0"/>
                </a:moveTo>
                <a:lnTo>
                  <a:pt x="3622284" y="0"/>
                </a:lnTo>
                <a:lnTo>
                  <a:pt x="2923935" y="2793396"/>
                </a:lnTo>
                <a:lnTo>
                  <a:pt x="0" y="2793396"/>
                </a:lnTo>
                <a:close/>
              </a:path>
            </a:pathLst>
          </a:custGeom>
          <a:pattFill prst="pct5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216022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7" name="Google Shape;17;p8"/>
          <p:cNvSpPr>
            <a:spLocks noGrp="1"/>
          </p:cNvSpPr>
          <p:nvPr>
            <p:ph type="pic" idx="3"/>
          </p:nvPr>
        </p:nvSpPr>
        <p:spPr>
          <a:xfrm>
            <a:off x="9908820" y="2865127"/>
            <a:ext cx="2283180" cy="279339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8" name="Google Shape;18;p8"/>
          <p:cNvSpPr>
            <a:spLocks noGrp="1"/>
          </p:cNvSpPr>
          <p:nvPr>
            <p:ph type="pic" idx="4"/>
          </p:nvPr>
        </p:nvSpPr>
        <p:spPr>
          <a:xfrm>
            <a:off x="6768354" y="2865127"/>
            <a:ext cx="3622284" cy="279339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0048763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1F275329-C137-4654-AB01-9BEF2A4F99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pattFill prst="pct5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D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0DC88D9-648B-4CE8-8B27-980F44B5EB1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908820" y="2865127"/>
            <a:ext cx="2283180" cy="2793396"/>
          </a:xfrm>
          <a:custGeom>
            <a:avLst/>
            <a:gdLst>
              <a:gd name="connsiteX0" fmla="*/ 698349 w 2283180"/>
              <a:gd name="connsiteY0" fmla="*/ 0 h 2793396"/>
              <a:gd name="connsiteX1" fmla="*/ 2283180 w 2283180"/>
              <a:gd name="connsiteY1" fmla="*/ 0 h 2793396"/>
              <a:gd name="connsiteX2" fmla="*/ 2283180 w 2283180"/>
              <a:gd name="connsiteY2" fmla="*/ 2793396 h 2793396"/>
              <a:gd name="connsiteX3" fmla="*/ 0 w 2283180"/>
              <a:gd name="connsiteY3" fmla="*/ 2793396 h 2793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3180" h="2793396">
                <a:moveTo>
                  <a:pt x="698349" y="0"/>
                </a:moveTo>
                <a:lnTo>
                  <a:pt x="2283180" y="0"/>
                </a:lnTo>
                <a:lnTo>
                  <a:pt x="2283180" y="2793396"/>
                </a:lnTo>
                <a:lnTo>
                  <a:pt x="0" y="2793396"/>
                </a:lnTo>
                <a:close/>
              </a:path>
            </a:pathLst>
          </a:custGeom>
          <a:pattFill prst="pct5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D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ABC970B-89F4-46AC-AA98-F84A4B7DEAA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768354" y="2865127"/>
            <a:ext cx="3622284" cy="2793396"/>
          </a:xfrm>
          <a:custGeom>
            <a:avLst/>
            <a:gdLst>
              <a:gd name="connsiteX0" fmla="*/ 698349 w 3622284"/>
              <a:gd name="connsiteY0" fmla="*/ 0 h 2793396"/>
              <a:gd name="connsiteX1" fmla="*/ 3622284 w 3622284"/>
              <a:gd name="connsiteY1" fmla="*/ 0 h 2793396"/>
              <a:gd name="connsiteX2" fmla="*/ 2923935 w 3622284"/>
              <a:gd name="connsiteY2" fmla="*/ 2793396 h 2793396"/>
              <a:gd name="connsiteX3" fmla="*/ 0 w 3622284"/>
              <a:gd name="connsiteY3" fmla="*/ 2793396 h 2793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22284" h="2793396">
                <a:moveTo>
                  <a:pt x="698349" y="0"/>
                </a:moveTo>
                <a:lnTo>
                  <a:pt x="3622284" y="0"/>
                </a:lnTo>
                <a:lnTo>
                  <a:pt x="2923935" y="2793396"/>
                </a:lnTo>
                <a:lnTo>
                  <a:pt x="0" y="2793396"/>
                </a:lnTo>
                <a:close/>
              </a:path>
            </a:pathLst>
          </a:custGeom>
          <a:pattFill prst="pct5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596011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85A26F2-CB99-8D3F-CEF9-61A4C6B7D8C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951220" y="1544320"/>
            <a:ext cx="2371090" cy="4111506"/>
          </a:xfrm>
          <a:custGeom>
            <a:avLst/>
            <a:gdLst>
              <a:gd name="connsiteX0" fmla="*/ 0 w 2371090"/>
              <a:gd name="connsiteY0" fmla="*/ 0 h 4111506"/>
              <a:gd name="connsiteX1" fmla="*/ 2371090 w 2371090"/>
              <a:gd name="connsiteY1" fmla="*/ 0 h 4111506"/>
              <a:gd name="connsiteX2" fmla="*/ 2371090 w 2371090"/>
              <a:gd name="connsiteY2" fmla="*/ 4111506 h 4111506"/>
              <a:gd name="connsiteX3" fmla="*/ 927428 w 2371090"/>
              <a:gd name="connsiteY3" fmla="*/ 4111506 h 4111506"/>
              <a:gd name="connsiteX4" fmla="*/ 0 w 2371090"/>
              <a:gd name="connsiteY4" fmla="*/ 3184078 h 4111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71090" h="4111506">
                <a:moveTo>
                  <a:pt x="0" y="0"/>
                </a:moveTo>
                <a:lnTo>
                  <a:pt x="2371090" y="0"/>
                </a:lnTo>
                <a:lnTo>
                  <a:pt x="2371090" y="4111506"/>
                </a:lnTo>
                <a:lnTo>
                  <a:pt x="927428" y="4111506"/>
                </a:lnTo>
                <a:lnTo>
                  <a:pt x="0" y="318407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911627F-9C3A-8C6C-F7C6-CA1CC2650EE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404860" y="1208941"/>
            <a:ext cx="2371090" cy="2800768"/>
          </a:xfrm>
          <a:custGeom>
            <a:avLst/>
            <a:gdLst>
              <a:gd name="connsiteX0" fmla="*/ 0 w 2371090"/>
              <a:gd name="connsiteY0" fmla="*/ 0 h 2800768"/>
              <a:gd name="connsiteX1" fmla="*/ 1321740 w 2371090"/>
              <a:gd name="connsiteY1" fmla="*/ 0 h 2800768"/>
              <a:gd name="connsiteX2" fmla="*/ 2371090 w 2371090"/>
              <a:gd name="connsiteY2" fmla="*/ 1049350 h 2800768"/>
              <a:gd name="connsiteX3" fmla="*/ 2371090 w 2371090"/>
              <a:gd name="connsiteY3" fmla="*/ 2800768 h 2800768"/>
              <a:gd name="connsiteX4" fmla="*/ 0 w 2371090"/>
              <a:gd name="connsiteY4" fmla="*/ 2800768 h 280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71090" h="2800768">
                <a:moveTo>
                  <a:pt x="0" y="0"/>
                </a:moveTo>
                <a:lnTo>
                  <a:pt x="1321740" y="0"/>
                </a:lnTo>
                <a:lnTo>
                  <a:pt x="2371090" y="1049350"/>
                </a:lnTo>
                <a:lnTo>
                  <a:pt x="2371090" y="2800768"/>
                </a:lnTo>
                <a:lnTo>
                  <a:pt x="0" y="280076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873463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0CEE999-1F8C-4788-8292-1E612B145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95F6EFE-038E-49FC-B690-D6BA04F4C0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0B997E1-C832-45DB-A06B-F1B850A4E8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72C2A4-8F15-4E50-9E8F-279B4B62E212}" type="datetimeFigureOut">
              <a:rPr lang="pt-BR" smtClean="0"/>
              <a:t>07/07/2026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D368F6-D3BB-4BB9-B9E2-2625883081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19E55B3-F9F4-4CB3-8984-3AE273AB24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236FA9-787B-4185-BFDF-876D397DF2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12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.jpe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.jpe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Espaço Reservado para Imagem 3">
            <a:extLst>
              <a:ext uri="{FF2B5EF4-FFF2-40B4-BE49-F238E27FC236}">
                <a16:creationId xmlns:a16="http://schemas.microsoft.com/office/drawing/2014/main" id="{CF26E861-816A-5722-A627-FF594DC9BB8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4FA0EFF-BBA5-7670-5C4C-AF879D1D298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33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89D4D55-0308-C543-1D61-065285E2AA30}"/>
              </a:ext>
            </a:extLst>
          </p:cNvPr>
          <p:cNvSpPr txBox="1"/>
          <p:nvPr/>
        </p:nvSpPr>
        <p:spPr>
          <a:xfrm>
            <a:off x="425227" y="438287"/>
            <a:ext cx="9277573" cy="527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133" dirty="0">
                <a:solidFill>
                  <a:schemeClr val="bg1">
                    <a:lumMod val="75000"/>
                  </a:schemeClr>
                </a:solidFill>
                <a:latin typeface="GothamHTF-Book"/>
                <a:ea typeface="Open Sans"/>
                <a:cs typeface="Open Sans"/>
              </a:rPr>
              <a:t>IA GENERATIVA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25C41F4-469E-4104-999E-D2986C4584C2}"/>
              </a:ext>
            </a:extLst>
          </p:cNvPr>
          <p:cNvSpPr txBox="1"/>
          <p:nvPr/>
        </p:nvSpPr>
        <p:spPr>
          <a:xfrm>
            <a:off x="425227" y="2013228"/>
            <a:ext cx="13253828" cy="2042867"/>
          </a:xfrm>
          <a:prstGeom prst="rect">
            <a:avLst/>
          </a:prstGeom>
          <a:noFill/>
        </p:spPr>
        <p:txBody>
          <a:bodyPr wrap="square" lIns="76200" tIns="38100" rIns="76200" bIns="38100" rtlCol="0" anchor="t">
            <a:spAutoFit/>
          </a:bodyPr>
          <a:lstStyle/>
          <a:p>
            <a:r>
              <a:rPr lang="en-US" sz="2350">
                <a:solidFill>
                  <a:schemeClr val="bg1"/>
                </a:solidFill>
                <a:latin typeface="GothamHTF-Book"/>
              </a:rPr>
              <a:t>AULA 02</a:t>
            </a:r>
            <a:endParaRPr lang="en-US" sz="2400" dirty="0">
              <a:solidFill>
                <a:schemeClr val="bg1"/>
              </a:solidFill>
              <a:latin typeface="GothamHTF-Book" pitchFamily="2" charset="0"/>
            </a:endParaRPr>
          </a:p>
          <a:p>
            <a:endParaRPr lang="pt-BR" sz="2400" dirty="0">
              <a:solidFill>
                <a:schemeClr val="bg2"/>
              </a:solidFill>
              <a:latin typeface="GothamHTF-Book" pitchFamily="2" charset="0"/>
            </a:endParaRPr>
          </a:p>
          <a:p>
            <a:r>
              <a:rPr lang="pt-BR" sz="4000" dirty="0">
                <a:solidFill>
                  <a:schemeClr val="bg1">
                    <a:lumMod val="95000"/>
                  </a:schemeClr>
                </a:solidFill>
                <a:latin typeface="GothamHTF-Book"/>
              </a:rPr>
              <a:t>RAG </a:t>
            </a:r>
            <a:br>
              <a:rPr lang="pt-BR" sz="4000" dirty="0">
                <a:solidFill>
                  <a:schemeClr val="bg1">
                    <a:lumMod val="95000"/>
                  </a:schemeClr>
                </a:solidFill>
                <a:latin typeface="GothamHTF-Book"/>
              </a:rPr>
            </a:br>
            <a:r>
              <a:rPr lang="pt-BR" sz="4000" dirty="0">
                <a:solidFill>
                  <a:schemeClr val="bg1">
                    <a:lumMod val="95000"/>
                  </a:schemeClr>
                </a:solidFill>
                <a:latin typeface="GothamHTF-Book"/>
              </a:rPr>
              <a:t>(RETRIEVAL-AUGMENTED GENERATION)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22F03DA-9662-41DE-94CB-97F721E07590}"/>
              </a:ext>
            </a:extLst>
          </p:cNvPr>
          <p:cNvGrpSpPr/>
          <p:nvPr/>
        </p:nvGrpSpPr>
        <p:grpSpPr>
          <a:xfrm>
            <a:off x="425227" y="5998480"/>
            <a:ext cx="2575150" cy="421231"/>
            <a:chOff x="1070565" y="5176310"/>
            <a:chExt cx="1455806" cy="421232"/>
          </a:xfrm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0E556EC2-512F-4B55-A86E-C8EAF955F7B9}"/>
                </a:ext>
              </a:extLst>
            </p:cNvPr>
            <p:cNvSpPr/>
            <p:nvPr/>
          </p:nvSpPr>
          <p:spPr>
            <a:xfrm rot="5400000">
              <a:off x="1587852" y="4659023"/>
              <a:ext cx="421232" cy="1455806"/>
            </a:xfrm>
            <a:prstGeom prst="snip1Rect">
              <a:avLst>
                <a:gd name="adj" fmla="val 40787"/>
              </a:avLst>
            </a:prstGeom>
            <a:noFill/>
            <a:ln w="28575">
              <a:solidFill>
                <a:srgbClr val="D30F5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2700">
                <a:solidFill>
                  <a:schemeClr val="bg2"/>
                </a:solidFill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25A1245-7D7A-4ED9-8D34-71D7E16DE6F3}"/>
                </a:ext>
              </a:extLst>
            </p:cNvPr>
            <p:cNvSpPr txBox="1"/>
            <p:nvPr/>
          </p:nvSpPr>
          <p:spPr>
            <a:xfrm>
              <a:off x="1196555" y="5233037"/>
              <a:ext cx="1203826" cy="3385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id-ID"/>
              </a:defPPr>
              <a:lvl1pPr algn="ctr">
                <a:defRPr sz="1400">
                  <a:latin typeface="Work Sans" panose="00000500000000000000" pitchFamily="2" charset="0"/>
                  <a:ea typeface="Open Sans" pitchFamily="2" charset="0"/>
                  <a:cs typeface="Open Sans" pitchFamily="2" charset="0"/>
                </a:defRPr>
              </a:lvl1pPr>
            </a:lstStyle>
            <a:p>
              <a:r>
                <a:rPr lang="en-US" sz="1600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  <a:cs typeface="Roboto Light" panose="02000000000000000000" pitchFamily="2" charset="0"/>
                </a:rPr>
                <a:t>Flavio Padilha</a:t>
              </a:r>
            </a:p>
          </p:txBody>
        </p:sp>
      </p:grpSp>
      <p:sp>
        <p:nvSpPr>
          <p:cNvPr id="8" name="Freeform: Shape 34">
            <a:extLst>
              <a:ext uri="{FF2B5EF4-FFF2-40B4-BE49-F238E27FC236}">
                <a16:creationId xmlns:a16="http://schemas.microsoft.com/office/drawing/2014/main" id="{168852EC-ECA5-AC4A-B1B5-B8BC4F82D821}"/>
              </a:ext>
            </a:extLst>
          </p:cNvPr>
          <p:cNvSpPr/>
          <p:nvPr/>
        </p:nvSpPr>
        <p:spPr>
          <a:xfrm>
            <a:off x="8657986" y="-259043"/>
            <a:ext cx="7485942" cy="7376085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 flip="none" rotWithShape="1">
            <a:gsLst>
              <a:gs pos="78000">
                <a:srgbClr val="9A0D3B">
                  <a:alpha val="0"/>
                </a:srgbClr>
              </a:gs>
              <a:gs pos="18000">
                <a:srgbClr val="9A0D3B">
                  <a:alpha val="52000"/>
                </a:srgbClr>
              </a:gs>
            </a:gsLst>
            <a:lin ang="5400000" scaled="1"/>
            <a:tileRect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</p:spTree>
    <p:extLst>
      <p:ext uri="{BB962C8B-B14F-4D97-AF65-F5344CB8AC3E}">
        <p14:creationId xmlns:p14="http://schemas.microsoft.com/office/powerpoint/2010/main" val="39553530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C219B-3F91-B578-4084-318A7E102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Imagem 3">
            <a:extLst>
              <a:ext uri="{FF2B5EF4-FFF2-40B4-BE49-F238E27FC236}">
                <a16:creationId xmlns:a16="http://schemas.microsoft.com/office/drawing/2014/main" id="{0C8C86D1-D616-3BA6-F1E5-AE472332B5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BFB5D0B-2F02-D8CF-0C7D-B8139B9C2935}"/>
              </a:ext>
            </a:extLst>
          </p:cNvPr>
          <p:cNvSpPr txBox="1"/>
          <p:nvPr/>
        </p:nvSpPr>
        <p:spPr>
          <a:xfrm>
            <a:off x="358098" y="1908210"/>
            <a:ext cx="3505398" cy="418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GothamHTF-Book" pitchFamily="2" charset="0"/>
                <a:ea typeface="Open Sans" pitchFamily="2" charset="0"/>
                <a:cs typeface="Open Sans" pitchFamily="2" charset="0"/>
              </a:rPr>
              <a:t>IA GENERATIVA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1393904-2F84-3C8E-54C6-3DA558657CC3}"/>
              </a:ext>
            </a:extLst>
          </p:cNvPr>
          <p:cNvSpPr txBox="1"/>
          <p:nvPr/>
        </p:nvSpPr>
        <p:spPr>
          <a:xfrm>
            <a:off x="358098" y="2688890"/>
            <a:ext cx="11833902" cy="10567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chemeClr val="bg2"/>
                </a:solidFill>
                <a:latin typeface="GothamHTF-Book" pitchFamily="2" charset="0"/>
              </a:rPr>
              <a:t>FUNDAMENTOS DO RAG</a:t>
            </a:r>
            <a:br>
              <a:rPr lang="pt-BR" sz="4400" dirty="0">
                <a:solidFill>
                  <a:schemeClr val="bg2"/>
                </a:solidFill>
                <a:latin typeface="GothamHTF-Book" pitchFamily="2" charset="0"/>
              </a:rPr>
            </a:br>
            <a:r>
              <a:rPr lang="en-US" sz="1867" dirty="0">
                <a:solidFill>
                  <a:srgbClr val="D30F59"/>
                </a:solidFill>
                <a:latin typeface="GothamHTF-Book" pitchFamily="2" charset="0"/>
              </a:rPr>
              <a:t>PARTE 01</a:t>
            </a:r>
            <a:endParaRPr lang="en-ID" sz="1867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8F6B217-2711-3129-CD28-3F91116BE7A7}"/>
              </a:ext>
            </a:extLst>
          </p:cNvPr>
          <p:cNvSpPr txBox="1"/>
          <p:nvPr/>
        </p:nvSpPr>
        <p:spPr>
          <a:xfrm>
            <a:off x="443443" y="6103049"/>
            <a:ext cx="47649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050">
                <a:solidFill>
                  <a:srgbClr val="59595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sz="1200" dirty="0">
                <a:solidFill>
                  <a:schemeClr val="bg2">
                    <a:lumMod val="7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Flavio Padilha</a:t>
            </a:r>
          </a:p>
        </p:txBody>
      </p:sp>
      <p:sp>
        <p:nvSpPr>
          <p:cNvPr id="13" name="Rectangle 38">
            <a:extLst>
              <a:ext uri="{FF2B5EF4-FFF2-40B4-BE49-F238E27FC236}">
                <a16:creationId xmlns:a16="http://schemas.microsoft.com/office/drawing/2014/main" id="{A86994D4-9787-A598-F3A5-2AEE26EADBB6}"/>
              </a:ext>
            </a:extLst>
          </p:cNvPr>
          <p:cNvSpPr/>
          <p:nvPr/>
        </p:nvSpPr>
        <p:spPr>
          <a:xfrm>
            <a:off x="297657" y="730917"/>
            <a:ext cx="80963" cy="80963"/>
          </a:xfrm>
          <a:prstGeom prst="rect">
            <a:avLst/>
          </a:prstGeom>
          <a:noFill/>
          <a:ln>
            <a:solidFill>
              <a:srgbClr val="F57E20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2700"/>
          </a:p>
        </p:txBody>
      </p:sp>
      <p:sp>
        <p:nvSpPr>
          <p:cNvPr id="7" name="Freeform: Shape 40">
            <a:extLst>
              <a:ext uri="{FF2B5EF4-FFF2-40B4-BE49-F238E27FC236}">
                <a16:creationId xmlns:a16="http://schemas.microsoft.com/office/drawing/2014/main" id="{FDDD547B-0E4E-1F7D-B7D5-2EB66D23F23E}"/>
              </a:ext>
            </a:extLst>
          </p:cNvPr>
          <p:cNvSpPr/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8" name="Freeform: Shape 41">
            <a:extLst>
              <a:ext uri="{FF2B5EF4-FFF2-40B4-BE49-F238E27FC236}">
                <a16:creationId xmlns:a16="http://schemas.microsoft.com/office/drawing/2014/main" id="{F066CE9D-A32F-F8C2-5B5D-310914A82A01}"/>
              </a:ext>
            </a:extLst>
          </p:cNvPr>
          <p:cNvSpPr/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</p:spTree>
    <p:extLst>
      <p:ext uri="{BB962C8B-B14F-4D97-AF65-F5344CB8AC3E}">
        <p14:creationId xmlns:p14="http://schemas.microsoft.com/office/powerpoint/2010/main" val="2002973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Apresentar o objetivo da aula: compreender como um LLM pode responder usando evidências externas, atualizadas e verificáveis.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Conectar o tema a problemas reais: alucinação, dados privados, documentos corporativos e necessidade de rastreabilidade.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Explicar que RAG não é apenas um prompt: é uma arquitetura com ingestão, índice, busca, geração e avaliação. </a:t>
            </a:r>
            <a:br>
              <a:rPr lang="pt-BR" sz="2133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</a:br>
            <a:br>
              <a:rPr lang="pt-BR" sz="2133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</a:br>
            <a:r>
              <a:rPr lang="pt-BR" sz="1300" dirty="0">
                <a:solidFill>
                  <a:srgbClr val="D30F59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Fontes e referências: LEWIS et al. (2020); Microsoft </a:t>
            </a:r>
            <a:r>
              <a:rPr lang="pt-BR" sz="1300" dirty="0" err="1">
                <a:solidFill>
                  <a:srgbClr val="D30F59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Learn</a:t>
            </a:r>
            <a:r>
              <a:rPr lang="pt-BR" sz="1300" dirty="0">
                <a:solidFill>
                  <a:srgbClr val="D30F59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(2026). 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8770276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ABERTURA DA AULA 02 </a:t>
            </a:r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- RAG </a:t>
            </a:r>
            <a:endParaRPr lang="en-US" sz="4000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2331720" y="3520440"/>
            <a:ext cx="2103120" cy="914400"/>
          </a:xfrm>
          <a:prstGeom prst="roundRect">
            <a:avLst/>
          </a:prstGeom>
          <a:solidFill>
            <a:srgbClr val="D30F59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RAG
busca + geração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148840"/>
            <a:ext cx="2377440" cy="54864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Alucinação</a:t>
            </a:r>
          </a:p>
        </p:txBody>
      </p:sp>
      <p:cxnSp>
        <p:nvCxnSpPr>
          <p:cNvPr id="20" name="Connector 19"/>
          <p:cNvCxnSpPr/>
          <p:nvPr/>
        </p:nvCxnSpPr>
        <p:spPr>
          <a:xfrm flipH="1" flipV="1">
            <a:off x="1645920" y="2715768"/>
            <a:ext cx="1737360" cy="804672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480560" y="2148840"/>
            <a:ext cx="2377440" cy="54864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Dados recentes e privados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3383280" y="2715768"/>
            <a:ext cx="2286000" cy="804672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57200" y="5486400"/>
            <a:ext cx="2377440" cy="54864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Documentos corporativos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1645920" y="4434840"/>
            <a:ext cx="1737360" cy="1033272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480560" y="5486400"/>
            <a:ext cx="2377440" cy="54864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Rastreabilidade e auditoria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383280" y="4434840"/>
            <a:ext cx="2286000" cy="1033272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57200" y="617220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  <a:latin typeface="Calibri"/>
              </a:rPr>
              <a:t>não é só um prompt: é arquitetura — ingestão, índice, busca, geração e avaliação</a:t>
            </a:r>
          </a:p>
        </p:txBody>
      </p:sp>
    </p:spTree>
    <p:extLst>
      <p:ext uri="{BB962C8B-B14F-4D97-AF65-F5344CB8AC3E}">
        <p14:creationId xmlns:p14="http://schemas.microsoft.com/office/powerpoint/2010/main" val="39024129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920240"/>
            <a:ext cx="4206240" cy="452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LLMs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geram texto com alta fluência, mas o conhecimento interno depende dos dados e da data de treinamento.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Quando a pergunta exige dados recentes, privados ou muito específicos, o modelo pode produzir uma resposta plausível e incorreta.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Em ambientes corporativos, esse risco afeta confiabilidade, auditoria, segurança e tomada de decisão. </a:t>
            </a:r>
            <a:br>
              <a:rPr lang="pt-BR" sz="2133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</a:br>
            <a:br>
              <a:rPr lang="pt-BR" sz="2133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</a:br>
            <a:r>
              <a:rPr lang="pt-BR" sz="1300" dirty="0">
                <a:solidFill>
                  <a:srgbClr val="D30F59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Fontes e referências: Aula 02 RAG; LEWIS et al. (2020). 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8770276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O PROBLEMA</a:t>
            </a:r>
            <a:r>
              <a:rPr lang="pt-BR" sz="4000" dirty="0">
                <a:latin typeface="GothamHTF-Book" pitchFamily="2" charset="0"/>
              </a:rPr>
              <a:t>: CONHECIMENTO CONGELADO E ALUCINAÇÃO </a:t>
            </a:r>
            <a:endParaRPr lang="en-US" sz="4000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8640" y="205740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O que acontece sem RAG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017520"/>
            <a:ext cx="1737360" cy="914400"/>
          </a:xfrm>
          <a:prstGeom prst="roundRect">
            <a:avLst/>
          </a:prstGeom>
          <a:noFill/>
          <a:ln w="1587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pergunta:
"e a norma de 2026?"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212848" y="3474720"/>
            <a:ext cx="374904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606040" y="2926079"/>
            <a:ext cx="2103120" cy="109728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LLM  🔒
treino encerrado
em 2023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06040" y="251460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F57E20"/>
                </a:solidFill>
                <a:latin typeface="Calibri"/>
              </a:rPr>
              <a:t>não viu NADA depois do treino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27448" y="3474720"/>
            <a:ext cx="374904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20640" y="3017520"/>
            <a:ext cx="2103120" cy="914400"/>
          </a:xfrm>
          <a:prstGeom prst="roundRect">
            <a:avLst/>
          </a:prstGeom>
          <a:solidFill>
            <a:srgbClr val="D30F59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resposta plausível…
e ERRADA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43484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  <a:latin typeface="Calibri"/>
              </a:rPr>
              <a:t>fluente por fora, desatualizado por dentro = alucinação</a:t>
            </a:r>
          </a:p>
        </p:txBody>
      </p:sp>
    </p:spTree>
    <p:extLst>
      <p:ext uri="{BB962C8B-B14F-4D97-AF65-F5344CB8AC3E}">
        <p14:creationId xmlns:p14="http://schemas.microsoft.com/office/powerpoint/2010/main" val="7466523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Retrieval-Augmented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Generation combina recuperação de informações com geração de texto.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Antes de responder, o sistema busca trechos relevantes em uma base externa e entrega esses trechos como contexto ao LLM.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 resposta passa a ser fundamentada em evidências, permitindo citações, validação humana e atualização da base sem retreinar o modelo. </a:t>
            </a:r>
            <a:br>
              <a:rPr lang="pt-BR" sz="2133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</a:br>
            <a:br>
              <a:rPr lang="pt-BR" sz="2133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</a:br>
            <a:r>
              <a:rPr lang="pt-BR" sz="1300" dirty="0">
                <a:solidFill>
                  <a:srgbClr val="D30F59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Fontes e referências: LEWIS et al. (2020); Azure AI Search docs. 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8770276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IDEIA CENTRAL DO </a:t>
            </a:r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RAG </a:t>
            </a:r>
            <a:endParaRPr lang="en-US" sz="4000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8640" y="160020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RAG em 5 passos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468880"/>
            <a:ext cx="1152144" cy="96012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pergunta
do usuário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627632" y="2948940"/>
            <a:ext cx="237744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883664" y="2468880"/>
            <a:ext cx="1152144" cy="96012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busca na
base externa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054096" y="2948940"/>
            <a:ext cx="237744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310128" y="2468880"/>
            <a:ext cx="1152144" cy="960120"/>
          </a:xfrm>
          <a:prstGeom prst="roundRect">
            <a:avLst/>
          </a:prstGeom>
          <a:solidFill>
            <a:srgbClr val="F57E20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trechos
relevantes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480559" y="2948940"/>
            <a:ext cx="237745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736592" y="2468880"/>
            <a:ext cx="1152144" cy="960120"/>
          </a:xfrm>
          <a:prstGeom prst="roundRect">
            <a:avLst/>
          </a:prstGeom>
          <a:solidFill>
            <a:srgbClr val="D30F59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LLM lê pergunta
+ trechos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907023" y="2948940"/>
            <a:ext cx="237745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163056" y="2468880"/>
            <a:ext cx="1152144" cy="960120"/>
          </a:xfrm>
          <a:prstGeom prst="roundRect">
            <a:avLst/>
          </a:prstGeom>
          <a:solidFill>
            <a:srgbClr val="70AD47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resposta com
fontes citadas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361188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5B9BD5"/>
                </a:solidFill>
                <a:latin typeface="Calibri"/>
              </a:rPr>
              <a:t>recuperação (retrieval)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361188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D30F59"/>
                </a:solidFill>
                <a:latin typeface="Calibri"/>
              </a:rPr>
              <a:t>geração (generation)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88720" y="4297680"/>
            <a:ext cx="5029200" cy="54864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novidade na base? só reindexar — sem retreinar o modelo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507492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  <a:latin typeface="Calibri"/>
              </a:rPr>
              <a:t>evidências viram contexto; contexto vira resposta verificável</a:t>
            </a:r>
          </a:p>
        </p:txBody>
      </p:sp>
    </p:spTree>
    <p:extLst>
      <p:ext uri="{BB962C8B-B14F-4D97-AF65-F5344CB8AC3E}">
        <p14:creationId xmlns:p14="http://schemas.microsoft.com/office/powerpoint/2010/main" val="25122266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920240"/>
            <a:ext cx="4206240" cy="452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Memória paramétrica: conhecimento comprimido nos pesos do modelo durante o treinamento.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Memória não paramétrica: conhecimento externo consultado em tempo de execução, como documentos, bases de dados e índices vetoriais.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O RAG combina as duas: o LLM usa sua capacidade linguística, mas fundamenta a resposta em documentos recuperados. </a:t>
            </a:r>
            <a:br>
              <a:rPr lang="pt-BR" sz="2133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</a:br>
            <a:br>
              <a:rPr lang="pt-BR" sz="2133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</a:br>
            <a:r>
              <a:rPr lang="pt-BR" sz="1300" dirty="0">
                <a:solidFill>
                  <a:srgbClr val="D30F59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Fontes e referências: LEWIS et al. (2020); Zhao et al. (2026). 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8770276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MEMÓRIA </a:t>
            </a:r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PARAMÉTRICA</a:t>
            </a:r>
            <a:r>
              <a:rPr lang="pt-BR" sz="4000" dirty="0">
                <a:latin typeface="GothamHTF-Book" pitchFamily="2" charset="0"/>
              </a:rPr>
              <a:t> VS. MEMÓRIA </a:t>
            </a:r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NÃO PARAMÉTRICA </a:t>
            </a:r>
            <a:endParaRPr lang="en-US" sz="4000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48640" y="2194560"/>
            <a:ext cx="3108960" cy="128016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MEMÓRIA PARAMÉTRICA
nos pesos do modelo,
aprendida no treino — fixa 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5204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5B9BD5"/>
                </a:solidFill>
                <a:latin typeface="Calibri"/>
              </a:rPr>
              <a:t>muda só com retreino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75887" y="2651760"/>
            <a:ext cx="32918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23360" y="2194560"/>
            <a:ext cx="3108960" cy="1280160"/>
          </a:xfrm>
          <a:prstGeom prst="roundRect">
            <a:avLst/>
          </a:prstGeom>
          <a:solidFill>
            <a:srgbClr val="F57E20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MEMÓRIA NÃO PARAMÉTRICA
docs, bases e índices,
consultada na hora — atualizável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60" y="35204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F57E20"/>
                </a:solidFill>
                <a:latin typeface="Calibri"/>
              </a:rPr>
              <a:t>muda com reindexação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103120" y="3840480"/>
            <a:ext cx="1097280" cy="59436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4480560" y="3840480"/>
            <a:ext cx="1097280" cy="59436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2468880" y="4480560"/>
            <a:ext cx="2743200" cy="640080"/>
          </a:xfrm>
          <a:prstGeom prst="roundRect">
            <a:avLst/>
          </a:prstGeom>
          <a:solidFill>
            <a:srgbClr val="D30F59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RAG combina as duas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44068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  <a:latin typeface="Calibri"/>
              </a:rPr>
              <a:t>fluência do modelo + evidências dos documentos</a:t>
            </a:r>
          </a:p>
        </p:txBody>
      </p:sp>
    </p:spTree>
    <p:extLst>
      <p:ext uri="{BB962C8B-B14F-4D97-AF65-F5344CB8AC3E}">
        <p14:creationId xmlns:p14="http://schemas.microsoft.com/office/powerpoint/2010/main" val="19467579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Quando a solução precisa responder sobre documentos internos, normas, contratos, manuais, políticas ou bases técnicas.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Quando as informações mudam com frequência e precisam ser atualizadas por reindexação, não por fine-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tuning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Quando é necessário explicar de onde veio a resposta por meio de fontes, trechos e metadados. </a:t>
            </a:r>
            <a:br>
              <a:rPr lang="pt-BR" sz="2133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</a:br>
            <a:br>
              <a:rPr lang="pt-BR" sz="2133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</a:br>
            <a:r>
              <a:rPr lang="pt-BR" sz="1300" dirty="0">
                <a:solidFill>
                  <a:srgbClr val="D30F59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Fontes e referências: Microsoft </a:t>
            </a:r>
            <a:r>
              <a:rPr lang="pt-BR" sz="1300" dirty="0" err="1">
                <a:solidFill>
                  <a:srgbClr val="D30F59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Learn</a:t>
            </a:r>
            <a:r>
              <a:rPr lang="pt-BR" sz="1300" dirty="0">
                <a:solidFill>
                  <a:srgbClr val="D30F59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; AWS </a:t>
            </a:r>
            <a:r>
              <a:rPr lang="pt-BR" sz="1300" dirty="0" err="1">
                <a:solidFill>
                  <a:srgbClr val="D30F59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Bedrock</a:t>
            </a:r>
            <a:r>
              <a:rPr lang="pt-BR" sz="1300" dirty="0">
                <a:solidFill>
                  <a:srgbClr val="D30F59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</a:t>
            </a:r>
            <a:r>
              <a:rPr lang="pt-BR" sz="1300" dirty="0" err="1">
                <a:solidFill>
                  <a:srgbClr val="D30F59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Knowledge</a:t>
            </a:r>
            <a:r>
              <a:rPr lang="pt-BR" sz="1300" dirty="0">
                <a:solidFill>
                  <a:srgbClr val="D30F59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Bases docs. 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8770276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QUANDO USAR </a:t>
            </a:r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RAG </a:t>
            </a:r>
            <a:endParaRPr lang="en-US" sz="4000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8640" y="160020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Três sinais de que RAG é a arquitetura certa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286000"/>
            <a:ext cx="2011680" cy="155448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  <a:r>
              <a:rPr sz="1250" b="1">
                <a:solidFill>
                  <a:srgbClr val="5B9BD5"/>
                </a:solidFill>
                <a:latin typeface="Calibri"/>
              </a:rPr>
              <a:t>Conhecimento interno</a:t>
            </a:r>
          </a:p>
          <a:p>
            <a:pPr algn="ctr"/>
            <a:r>
              <a:rPr sz="1000">
                <a:solidFill>
                  <a:srgbClr val="AFAFAF"/>
                </a:solidFill>
                <a:latin typeface="Calibri"/>
              </a:rPr>
              <a:t>normas, contratos, manuais,
políticas e bases técnicas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34640" y="2286000"/>
            <a:ext cx="2011680" cy="155448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F57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  <a:r>
              <a:rPr sz="1250" b="1">
                <a:solidFill>
                  <a:srgbClr val="F57E20"/>
                </a:solidFill>
                <a:latin typeface="Calibri"/>
              </a:rPr>
              <a:t>Informação que muda</a:t>
            </a:r>
          </a:p>
          <a:p>
            <a:pPr algn="ctr"/>
            <a:r>
              <a:rPr sz="1000">
                <a:solidFill>
                  <a:srgbClr val="AFAFAF"/>
                </a:solidFill>
                <a:latin typeface="Calibri"/>
              </a:rPr>
              <a:t>atualiza por reindexação,
não por fine-tuning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20640" y="2286000"/>
            <a:ext cx="2011680" cy="155448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  <a:r>
              <a:rPr sz="1250" b="1">
                <a:solidFill>
                  <a:srgbClr val="70AD47"/>
                </a:solidFill>
                <a:latin typeface="Calibri"/>
              </a:rPr>
              <a:t>Resposta auditável</a:t>
            </a:r>
          </a:p>
          <a:p>
            <a:pPr algn="ctr"/>
            <a:r>
              <a:rPr sz="1000">
                <a:solidFill>
                  <a:srgbClr val="AFAFAF"/>
                </a:solidFill>
                <a:latin typeface="Calibri"/>
              </a:rPr>
              <a:t>explicar a origem: fontes,
trechos e metadados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20624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  <a:latin typeface="Calibri"/>
              </a:rPr>
              <a:t>se dois dos três aparecem no seu caso, RAG entra no desenho</a:t>
            </a:r>
          </a:p>
        </p:txBody>
      </p:sp>
    </p:spTree>
    <p:extLst>
      <p:ext uri="{BB962C8B-B14F-4D97-AF65-F5344CB8AC3E}">
        <p14:creationId xmlns:p14="http://schemas.microsoft.com/office/powerpoint/2010/main" val="11438642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Benefícios: reduz alucinações, melhora atualização do conhecimento, permite citações e facilita governança.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Limites: se a recuperação falha, a geração também falha; se o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chunk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está ruim, a resposta pode ficar incompleta.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RAG não elimina avaliação: é necessário medir qualidade da busca, fidelidade da resposta, custo e latência. </a:t>
            </a:r>
            <a:br>
              <a:rPr lang="pt-BR" sz="2133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</a:br>
            <a:br>
              <a:rPr lang="pt-BR" sz="2133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</a:br>
            <a:r>
              <a:rPr lang="pt-BR" sz="1300" dirty="0">
                <a:solidFill>
                  <a:srgbClr val="D30F59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Fontes e referências: Aula 02 RAG; RAGAS docs. 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8770276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BENEFÍCIOS E LIMITES DO </a:t>
            </a:r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RAG </a:t>
            </a:r>
            <a:endParaRPr lang="en-US" sz="4000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48640" y="1828800"/>
            <a:ext cx="3108960" cy="502920"/>
          </a:xfrm>
          <a:prstGeom prst="roundRect">
            <a:avLst/>
          </a:prstGeom>
          <a:solidFill>
            <a:srgbClr val="70AD47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BENEFÍCIOS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377440"/>
            <a:ext cx="3108960" cy="173736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menos alucinação
atualiza sem retreinar
citações e validação humana
governança facilitada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31920" y="1828800"/>
            <a:ext cx="3108960" cy="502920"/>
          </a:xfrm>
          <a:prstGeom prst="roundRect">
            <a:avLst/>
          </a:prstGeom>
          <a:solidFill>
            <a:srgbClr val="D30F59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LIMITES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31920" y="2377440"/>
            <a:ext cx="3108960" cy="173736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D30F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busca falhou → geração falha
chunk ruim → resposta incompleta
contexto custa tokens e latência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526280"/>
            <a:ext cx="6492240" cy="594360"/>
          </a:xfrm>
          <a:prstGeom prst="roundRect">
            <a:avLst/>
          </a:prstGeom>
          <a:noFill/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RAG não elimina avaliação: medir busca, fidelidade, custo e latência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349240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  <a:latin typeface="Calibri"/>
              </a:rPr>
              <a:t>a corrente é tão forte quanto o elo da recuperação</a:t>
            </a:r>
          </a:p>
        </p:txBody>
      </p:sp>
    </p:spTree>
    <p:extLst>
      <p:ext uri="{BB962C8B-B14F-4D97-AF65-F5344CB8AC3E}">
        <p14:creationId xmlns:p14="http://schemas.microsoft.com/office/powerpoint/2010/main" val="32236079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Entender os fundamentos conceituais do RAG.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Descrever o pipeline completo: ingestão,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chunking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,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embeddings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, indexação, recuperação e geração.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Comparar recuperação lexical, vetorial e híbrida.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Aplicar critérios de avaliação e discutir implantação em cloud com governança e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observabilidade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. </a:t>
            </a:r>
          </a:p>
          <a:p>
            <a:pPr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</a:t>
            </a:r>
            <a:br>
              <a:rPr lang="pt-BR" sz="2133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</a:b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    </a:t>
            </a:r>
            <a:r>
              <a:rPr lang="pt-BR" sz="1300" dirty="0">
                <a:solidFill>
                  <a:srgbClr val="D30F59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Fontes e referências: Aula 02 RAG. 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8770276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OBJETIVOS DE </a:t>
            </a:r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APRENDIZAGEM </a:t>
            </a:r>
            <a:endParaRPr lang="en-US" sz="4000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640080" y="1828800"/>
            <a:ext cx="457200" cy="457200"/>
          </a:xfrm>
          <a:prstGeom prst="ellipse">
            <a:avLst/>
          </a:prstGeom>
          <a:solidFill>
            <a:srgbClr val="D30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25880" y="1828800"/>
            <a:ext cx="5760720" cy="4572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50" b="0">
                <a:solidFill>
                  <a:srgbClr val="FFFFFF"/>
                </a:solidFill>
                <a:latin typeface="Calibri"/>
              </a:rPr>
              <a:t>Fundamentos do RAG e as duas memórias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68680" y="2304288"/>
            <a:ext cx="0" cy="374904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640080" y="2715768"/>
            <a:ext cx="457200" cy="457200"/>
          </a:xfrm>
          <a:prstGeom prst="ellipse">
            <a:avLst/>
          </a:prstGeom>
          <a:solidFill>
            <a:srgbClr val="D30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25880" y="2715768"/>
            <a:ext cx="5760720" cy="4572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50" b="0">
                <a:solidFill>
                  <a:srgbClr val="FFFFFF"/>
                </a:solidFill>
                <a:latin typeface="Calibri"/>
              </a:rPr>
              <a:t>Pipeline: ingestão → chunking → embeddings → indexação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68680" y="3191256"/>
            <a:ext cx="0" cy="374904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640080" y="3602735"/>
            <a:ext cx="457200" cy="457200"/>
          </a:xfrm>
          <a:prstGeom prst="ellipse">
            <a:avLst/>
          </a:prstGeom>
          <a:solidFill>
            <a:srgbClr val="D30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25880" y="3602735"/>
            <a:ext cx="5760720" cy="4572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50" b="0">
                <a:solidFill>
                  <a:srgbClr val="FFFFFF"/>
                </a:solidFill>
                <a:latin typeface="Calibri"/>
              </a:rPr>
              <a:t>Recuperação lexical × vetorial × híbrida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8680" y="4078223"/>
            <a:ext cx="0" cy="374904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640080" y="4489703"/>
            <a:ext cx="457200" cy="457200"/>
          </a:xfrm>
          <a:prstGeom prst="ellipse">
            <a:avLst/>
          </a:prstGeom>
          <a:solidFill>
            <a:srgbClr val="D30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25880" y="4489703"/>
            <a:ext cx="5760720" cy="4572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50" b="0">
                <a:solidFill>
                  <a:srgbClr val="FFFFFF"/>
                </a:solidFill>
                <a:latin typeface="Calibri"/>
              </a:rPr>
              <a:t>Avaliação, cloud, governança e observabilidade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468111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  <a:latin typeface="Calibri"/>
              </a:rPr>
              <a:t>a trilha da aula — do conceito ao RAG em produção</a:t>
            </a:r>
          </a:p>
        </p:txBody>
      </p:sp>
    </p:spTree>
    <p:extLst>
      <p:ext uri="{BB962C8B-B14F-4D97-AF65-F5344CB8AC3E}">
        <p14:creationId xmlns:p14="http://schemas.microsoft.com/office/powerpoint/2010/main" val="26848565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C219B-3F91-B578-4084-318A7E102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Imagem 3">
            <a:extLst>
              <a:ext uri="{FF2B5EF4-FFF2-40B4-BE49-F238E27FC236}">
                <a16:creationId xmlns:a16="http://schemas.microsoft.com/office/drawing/2014/main" id="{0C8C86D1-D616-3BA6-F1E5-AE472332B5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BFB5D0B-2F02-D8CF-0C7D-B8139B9C2935}"/>
              </a:ext>
            </a:extLst>
          </p:cNvPr>
          <p:cNvSpPr txBox="1"/>
          <p:nvPr/>
        </p:nvSpPr>
        <p:spPr>
          <a:xfrm>
            <a:off x="358098" y="1908210"/>
            <a:ext cx="3505398" cy="418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GothamHTF-Book" pitchFamily="2" charset="0"/>
                <a:ea typeface="Open Sans" pitchFamily="2" charset="0"/>
                <a:cs typeface="Open Sans" pitchFamily="2" charset="0"/>
              </a:rPr>
              <a:t>IA GENERATIVA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1393904-2F84-3C8E-54C6-3DA558657CC3}"/>
              </a:ext>
            </a:extLst>
          </p:cNvPr>
          <p:cNvSpPr txBox="1"/>
          <p:nvPr/>
        </p:nvSpPr>
        <p:spPr>
          <a:xfrm>
            <a:off x="358098" y="2688890"/>
            <a:ext cx="11833902" cy="1733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chemeClr val="bg1"/>
                </a:solidFill>
                <a:latin typeface="GothamHTF-Book" pitchFamily="2" charset="0"/>
              </a:rPr>
              <a:t>PIPELINE RAG</a:t>
            </a:r>
            <a:r>
              <a:rPr lang="pt-BR" sz="4400" dirty="0">
                <a:solidFill>
                  <a:schemeClr val="bg2"/>
                </a:solidFill>
                <a:latin typeface="GothamHTF-Book" pitchFamily="2" charset="0"/>
              </a:rPr>
              <a:t>: INGESTÃO, CHUNKING, EMBEDDINGS E INDEXAÇÃO </a:t>
            </a:r>
            <a:br>
              <a:rPr lang="pt-BR" sz="4400" dirty="0">
                <a:solidFill>
                  <a:schemeClr val="bg2"/>
                </a:solidFill>
                <a:latin typeface="GothamHTF-Book" pitchFamily="2" charset="0"/>
              </a:rPr>
            </a:br>
            <a:r>
              <a:rPr lang="en-US" sz="1867" dirty="0">
                <a:solidFill>
                  <a:srgbClr val="D30F59"/>
                </a:solidFill>
                <a:latin typeface="GothamHTF-Book" pitchFamily="2" charset="0"/>
              </a:rPr>
              <a:t>PARTE 02</a:t>
            </a:r>
            <a:endParaRPr lang="en-ID" sz="1867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8F6B217-2711-3129-CD28-3F91116BE7A7}"/>
              </a:ext>
            </a:extLst>
          </p:cNvPr>
          <p:cNvSpPr txBox="1"/>
          <p:nvPr/>
        </p:nvSpPr>
        <p:spPr>
          <a:xfrm>
            <a:off x="443443" y="6103049"/>
            <a:ext cx="47649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050">
                <a:solidFill>
                  <a:srgbClr val="59595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sz="1200" dirty="0">
                <a:solidFill>
                  <a:schemeClr val="bg2">
                    <a:lumMod val="7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Flavio Padilha</a:t>
            </a:r>
          </a:p>
        </p:txBody>
      </p:sp>
      <p:sp>
        <p:nvSpPr>
          <p:cNvPr id="13" name="Rectangle 38">
            <a:extLst>
              <a:ext uri="{FF2B5EF4-FFF2-40B4-BE49-F238E27FC236}">
                <a16:creationId xmlns:a16="http://schemas.microsoft.com/office/drawing/2014/main" id="{A86994D4-9787-A598-F3A5-2AEE26EADBB6}"/>
              </a:ext>
            </a:extLst>
          </p:cNvPr>
          <p:cNvSpPr/>
          <p:nvPr/>
        </p:nvSpPr>
        <p:spPr>
          <a:xfrm>
            <a:off x="297657" y="730917"/>
            <a:ext cx="80963" cy="80963"/>
          </a:xfrm>
          <a:prstGeom prst="rect">
            <a:avLst/>
          </a:prstGeom>
          <a:noFill/>
          <a:ln>
            <a:solidFill>
              <a:srgbClr val="F57E20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2700"/>
          </a:p>
        </p:txBody>
      </p:sp>
      <p:sp>
        <p:nvSpPr>
          <p:cNvPr id="7" name="Freeform: Shape 40">
            <a:extLst>
              <a:ext uri="{FF2B5EF4-FFF2-40B4-BE49-F238E27FC236}">
                <a16:creationId xmlns:a16="http://schemas.microsoft.com/office/drawing/2014/main" id="{FDDD547B-0E4E-1F7D-B7D5-2EB66D23F23E}"/>
              </a:ext>
            </a:extLst>
          </p:cNvPr>
          <p:cNvSpPr/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8" name="Freeform: Shape 41">
            <a:extLst>
              <a:ext uri="{FF2B5EF4-FFF2-40B4-BE49-F238E27FC236}">
                <a16:creationId xmlns:a16="http://schemas.microsoft.com/office/drawing/2014/main" id="{F066CE9D-A32F-F8C2-5B5D-310914A82A01}"/>
              </a:ext>
            </a:extLst>
          </p:cNvPr>
          <p:cNvSpPr/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</p:spTree>
    <p:extLst>
      <p:ext uri="{BB962C8B-B14F-4D97-AF65-F5344CB8AC3E}">
        <p14:creationId xmlns:p14="http://schemas.microsoft.com/office/powerpoint/2010/main" val="16131495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O pipeline começa com documentos brutos e termina com respostas fundamentadas em evidências.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As etapas principais são: ingestão, tratamento,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chunking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,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embeddings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, indexação, recuperação,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re-ranking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e geração.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Cada etapa influencia diretamente precisão, custo, latência e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auditabilidade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da solução.  </a:t>
            </a:r>
            <a:br>
              <a:rPr lang="pt-BR" sz="2133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</a:br>
            <a:br>
              <a:rPr lang="pt-BR" sz="2133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</a:br>
            <a:r>
              <a:rPr lang="pt-BR" sz="1300" dirty="0">
                <a:solidFill>
                  <a:srgbClr val="D30F59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Fontes e referências: Aula 02 RAG; Azure AI Search docs. 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8770276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VISÃO GERAL DO </a:t>
            </a:r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PIPELINE RAG </a:t>
            </a:r>
            <a:endParaRPr lang="en-US" sz="4000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8640" y="155448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8 etapas — 5 preparam a base, 3 respondem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194560"/>
            <a:ext cx="1152144" cy="68580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1
ingestão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627632" y="2537460"/>
            <a:ext cx="237744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883664" y="2194560"/>
            <a:ext cx="1152144" cy="68580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2
tratamento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054096" y="2537460"/>
            <a:ext cx="237744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310128" y="2194560"/>
            <a:ext cx="1152144" cy="68580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3
chunking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480559" y="2537460"/>
            <a:ext cx="237745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736592" y="2194560"/>
            <a:ext cx="1152144" cy="68580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4
embeddings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907023" y="2537460"/>
            <a:ext cx="237745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163056" y="2194560"/>
            <a:ext cx="1152144" cy="68580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5
indexação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297180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5B9BD5"/>
                </a:solidFill>
                <a:latin typeface="Calibri"/>
              </a:rPr>
              <a:t>OFFLINE — prepara a base (roda antes, e a cada atualização)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2377440" y="2907792"/>
            <a:ext cx="4206240" cy="100584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463040" y="3931920"/>
            <a:ext cx="1310640" cy="685800"/>
          </a:xfrm>
          <a:prstGeom prst="roundRect">
            <a:avLst/>
          </a:prstGeom>
          <a:solidFill>
            <a:srgbClr val="D30F59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6
recuperação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791968" y="4274820"/>
            <a:ext cx="237744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3048000" y="3931920"/>
            <a:ext cx="1310640" cy="685800"/>
          </a:xfrm>
          <a:prstGeom prst="roundRect">
            <a:avLst/>
          </a:prstGeom>
          <a:solidFill>
            <a:srgbClr val="D30F59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7
re-ranking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376928" y="4274820"/>
            <a:ext cx="237744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632960" y="3931920"/>
            <a:ext cx="1310640" cy="685800"/>
          </a:xfrm>
          <a:prstGeom prst="roundRect">
            <a:avLst/>
          </a:prstGeom>
          <a:solidFill>
            <a:srgbClr val="D30F59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8
geração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63040" y="470916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D30F59"/>
                </a:solidFill>
                <a:latin typeface="Calibri"/>
              </a:rPr>
              <a:t>ONLINE — roda a cada pergunta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25780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  <a:latin typeface="Calibri"/>
              </a:rPr>
              <a:t>cada etapa mexe em precisão, custo, latência e auditabilidade</a:t>
            </a:r>
          </a:p>
        </p:txBody>
      </p:sp>
    </p:spTree>
    <p:extLst>
      <p:ext uri="{BB962C8B-B14F-4D97-AF65-F5344CB8AC3E}">
        <p14:creationId xmlns:p14="http://schemas.microsoft.com/office/powerpoint/2010/main" val="34926753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 ingestão seleciona os arquivos que farão parte da base de conhecimento.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Formatos comuns incluem PDF, HTML, DOC, DOCX, planilhas, imagens e páginas web.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O objetivo é converter tudo para uma representação textual manipulável, preservando metadados úteis. </a:t>
            </a:r>
            <a:br>
              <a:rPr lang="pt-BR" sz="2133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</a:br>
            <a:br>
              <a:rPr lang="pt-BR" sz="2133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</a:br>
            <a:r>
              <a:rPr lang="pt-BR" sz="1300" dirty="0">
                <a:solidFill>
                  <a:srgbClr val="D30F59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Fontes e referências: Aula 02 RAG; AWS </a:t>
            </a:r>
            <a:r>
              <a:rPr lang="pt-BR" sz="1300" dirty="0" err="1">
                <a:solidFill>
                  <a:srgbClr val="D30F59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Bedrock</a:t>
            </a:r>
            <a:r>
              <a:rPr lang="pt-BR" sz="1300" dirty="0">
                <a:solidFill>
                  <a:srgbClr val="D30F59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</a:t>
            </a:r>
            <a:r>
              <a:rPr lang="pt-BR" sz="1300" dirty="0" err="1">
                <a:solidFill>
                  <a:srgbClr val="D30F59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Knowledge</a:t>
            </a:r>
            <a:r>
              <a:rPr lang="pt-BR" sz="1300" dirty="0">
                <a:solidFill>
                  <a:srgbClr val="D30F59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Bases docs. 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8770276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 INGESTÃO DE </a:t>
            </a:r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DOCUMENTOS</a:t>
            </a:r>
            <a:endParaRPr lang="en-US" sz="4000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8640" y="160020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Tudo converge para texto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286000"/>
            <a:ext cx="1371600" cy="4572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PDF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057400" y="2286000"/>
            <a:ext cx="1371600" cy="4572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HTML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2907792"/>
            <a:ext cx="1371600" cy="4572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DOC / DOCX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057400" y="2907792"/>
            <a:ext cx="1371600" cy="4572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planilhas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529584"/>
            <a:ext cx="1371600" cy="4572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imagens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057400" y="3529584"/>
            <a:ext cx="1371600" cy="4572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páginas web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520440" y="2514600"/>
            <a:ext cx="640080" cy="64008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520440" y="3136392"/>
            <a:ext cx="640080" cy="18288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520440" y="3154680"/>
            <a:ext cx="640080" cy="603504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4251960" y="2606040"/>
            <a:ext cx="2834640" cy="1097280"/>
          </a:xfrm>
          <a:prstGeom prst="roundRect">
            <a:avLst/>
          </a:prstGeom>
          <a:solidFill>
            <a:srgbClr val="F57E20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representação textual
+ metadados preservados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526280"/>
            <a:ext cx="6492240" cy="548640"/>
          </a:xfrm>
          <a:prstGeom prst="roundRect">
            <a:avLst/>
          </a:prstGeom>
          <a:noFill/>
          <a:ln w="15875">
            <a:solidFill>
              <a:srgbClr val="D30F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entra lixo, sai lixo — a qualidade da base começa na ingestão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303520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  <a:latin typeface="Calibri"/>
              </a:rPr>
              <a:t>é esse texto que o resto do pipeline processa</a:t>
            </a:r>
          </a:p>
        </p:txBody>
      </p:sp>
    </p:spTree>
    <p:extLst>
      <p:ext uri="{BB962C8B-B14F-4D97-AF65-F5344CB8AC3E}">
        <p14:creationId xmlns:p14="http://schemas.microsoft.com/office/powerpoint/2010/main" val="32637020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Parsing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extrai texto estruturado de documentos digitais.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OCR converte imagens ou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PDFs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escaneados em texto pesquisável.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Metadados como título, seção, data, autor, origem e nível de acesso ajudam na filtragem e na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explicabilidade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. </a:t>
            </a:r>
            <a:br>
              <a:rPr lang="pt-BR" sz="2133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</a:br>
            <a:br>
              <a:rPr lang="pt-BR" sz="2133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</a:br>
            <a:r>
              <a:rPr lang="pt-BR" sz="1300" dirty="0">
                <a:solidFill>
                  <a:srgbClr val="D30F59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Fontes e referências: Aula 02 RAG; </a:t>
            </a:r>
            <a:r>
              <a:rPr lang="pt-BR" sz="1300" dirty="0" err="1">
                <a:solidFill>
                  <a:srgbClr val="D30F59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Mishra</a:t>
            </a:r>
            <a:r>
              <a:rPr lang="pt-BR" sz="1300" dirty="0">
                <a:solidFill>
                  <a:srgbClr val="D30F59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et al. (2025); </a:t>
            </a:r>
            <a:r>
              <a:rPr lang="pt-BR" sz="1300" dirty="0" err="1">
                <a:solidFill>
                  <a:srgbClr val="D30F59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Yousuf</a:t>
            </a:r>
            <a:r>
              <a:rPr lang="pt-BR" sz="1300" dirty="0">
                <a:solidFill>
                  <a:srgbClr val="D30F59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et al. (2025). 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2673214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3600" dirty="0">
                <a:latin typeface="GothamHTF-Book" pitchFamily="2" charset="0"/>
              </a:rPr>
              <a:t>TRATAMENTO: PARSING, OCR E </a:t>
            </a:r>
            <a:r>
              <a:rPr lang="pt-BR" sz="3600" dirty="0">
                <a:solidFill>
                  <a:srgbClr val="D30F59"/>
                </a:solidFill>
                <a:latin typeface="GothamHTF-Book" pitchFamily="2" charset="0"/>
              </a:rPr>
              <a:t>METADADOS</a:t>
            </a:r>
            <a:r>
              <a:rPr lang="pt-BR" sz="3600" dirty="0">
                <a:latin typeface="GothamHTF-Book" pitchFamily="2" charset="0"/>
              </a:rPr>
              <a:t> </a:t>
            </a:r>
            <a:endParaRPr lang="en-US" sz="3600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48640" y="1828800"/>
            <a:ext cx="1737360" cy="548640"/>
          </a:xfrm>
          <a:prstGeom prst="roundRect">
            <a:avLst/>
          </a:prstGeom>
          <a:noFill/>
          <a:ln w="1587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PDF digital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304288" y="2103120"/>
            <a:ext cx="374904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697480" y="1828800"/>
            <a:ext cx="1554480" cy="54864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PARSING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270248" y="2103120"/>
            <a:ext cx="374904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663440" y="1828800"/>
            <a:ext cx="2194560" cy="548640"/>
          </a:xfrm>
          <a:prstGeom prst="roundRect">
            <a:avLst/>
          </a:prstGeom>
          <a:solidFill>
            <a:srgbClr val="70AD47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texto estruturado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2697480"/>
            <a:ext cx="1737360" cy="548640"/>
          </a:xfrm>
          <a:prstGeom prst="roundRect">
            <a:avLst/>
          </a:prstGeom>
          <a:noFill/>
          <a:ln w="1587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imagem /
PDF escaneado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304288" y="2971800"/>
            <a:ext cx="374904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2697480" y="2697480"/>
            <a:ext cx="1554480" cy="548640"/>
          </a:xfrm>
          <a:prstGeom prst="roundRect">
            <a:avLst/>
          </a:prstGeom>
          <a:solidFill>
            <a:srgbClr val="F57E20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OCR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270248" y="2971800"/>
            <a:ext cx="374904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4663440" y="2697480"/>
            <a:ext cx="2194560" cy="548640"/>
          </a:xfrm>
          <a:prstGeom prst="roundRect">
            <a:avLst/>
          </a:prstGeom>
          <a:solidFill>
            <a:srgbClr val="70AD47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texto pesquisável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794760"/>
            <a:ext cx="6309360" cy="1051560"/>
          </a:xfrm>
          <a:prstGeom prst="roundRect">
            <a:avLst/>
          </a:prstGeom>
          <a:noFill/>
          <a:ln w="15875">
            <a:solidFill>
              <a:srgbClr val="5B9BD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391363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5B9BD5"/>
                </a:solidFill>
                <a:latin typeface="Calibri"/>
              </a:rPr>
              <a:t>metadados viajam junto: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4251960"/>
            <a:ext cx="994867" cy="384048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título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854403" y="4251960"/>
            <a:ext cx="923544" cy="384048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seção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905963" y="4251960"/>
            <a:ext cx="852220" cy="384048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data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886200" y="4251960"/>
            <a:ext cx="923544" cy="384048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autor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937760" y="4251960"/>
            <a:ext cx="994867" cy="384048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origem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060643" y="4251960"/>
            <a:ext cx="1636776" cy="384048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nível de acesso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120640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  <a:latin typeface="Calibri"/>
              </a:rPr>
              <a:t>são os metadados que alimentam filtros e explicabilidade lá na frente</a:t>
            </a:r>
          </a:p>
        </p:txBody>
      </p:sp>
    </p:spTree>
    <p:extLst>
      <p:ext uri="{BB962C8B-B14F-4D97-AF65-F5344CB8AC3E}">
        <p14:creationId xmlns:p14="http://schemas.microsoft.com/office/powerpoint/2010/main" val="7891661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Documentos longos raramente cabem inteiros na janela de contexto do LLM.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Dividir em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chunks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permite recuperar apenas os trechos relevantes para cada pergunta.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Chunks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muito longos diluem o sinal;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chunks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muito curtos podem perder contexto essencial. </a:t>
            </a:r>
            <a:br>
              <a:rPr lang="pt-BR" sz="2133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</a:br>
            <a:br>
              <a:rPr lang="pt-BR" sz="2133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</a:br>
            <a:r>
              <a:rPr lang="pt-BR" sz="1300" dirty="0">
                <a:solidFill>
                  <a:srgbClr val="D30F59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Fontes e referências: </a:t>
            </a:r>
            <a:r>
              <a:rPr lang="pt-BR" sz="1300" dirty="0" err="1">
                <a:solidFill>
                  <a:srgbClr val="D30F59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LangChain</a:t>
            </a:r>
            <a:r>
              <a:rPr lang="pt-BR" sz="1300" dirty="0">
                <a:solidFill>
                  <a:srgbClr val="D30F59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</a:t>
            </a:r>
            <a:r>
              <a:rPr lang="pt-BR" sz="1300" dirty="0" err="1">
                <a:solidFill>
                  <a:srgbClr val="D30F59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Text</a:t>
            </a:r>
            <a:r>
              <a:rPr lang="pt-BR" sz="1300" dirty="0">
                <a:solidFill>
                  <a:srgbClr val="D30F59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</a:t>
            </a:r>
            <a:r>
              <a:rPr lang="pt-BR" sz="1300" dirty="0" err="1">
                <a:solidFill>
                  <a:srgbClr val="D30F59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Splitters</a:t>
            </a:r>
            <a:r>
              <a:rPr lang="pt-BR" sz="1300" dirty="0">
                <a:solidFill>
                  <a:srgbClr val="D30F59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; Aula 02 RAG. 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2673214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3600" dirty="0">
                <a:latin typeface="GothamHTF-Book" pitchFamily="2" charset="0"/>
              </a:rPr>
              <a:t>CHUNKING: POR QUE DIVIDIR </a:t>
            </a:r>
            <a:r>
              <a:rPr lang="pt-BR" sz="3600" dirty="0">
                <a:solidFill>
                  <a:srgbClr val="D30F59"/>
                </a:solidFill>
                <a:latin typeface="GothamHTF-Book" pitchFamily="2" charset="0"/>
              </a:rPr>
              <a:t>DOCUMENTOS</a:t>
            </a:r>
            <a:r>
              <a:rPr lang="pt-BR" sz="3600" dirty="0">
                <a:latin typeface="GothamHTF-Book" pitchFamily="2" charset="0"/>
              </a:rPr>
              <a:t>? </a:t>
            </a:r>
            <a:endParaRPr lang="en-US" sz="3600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8640" y="155448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Um documento vira chunks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057400"/>
            <a:ext cx="6309360" cy="502920"/>
          </a:xfrm>
          <a:prstGeom prst="roundRect">
            <a:avLst/>
          </a:prstGeom>
          <a:noFill/>
          <a:ln w="1587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documento longo (não cabe na janela de contexto)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703320" y="2578608"/>
            <a:ext cx="0" cy="393192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48640" y="3063240"/>
            <a:ext cx="2377440" cy="54864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chunk 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468880" y="3749039"/>
            <a:ext cx="2377440" cy="548640"/>
          </a:xfrm>
          <a:prstGeom prst="roundRect">
            <a:avLst/>
          </a:prstGeom>
          <a:solidFill>
            <a:srgbClr val="F57E20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chunk 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4434840"/>
            <a:ext cx="2377440" cy="54864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chunk 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468880" y="3063240"/>
            <a:ext cx="457200" cy="548640"/>
          </a:xfrm>
          <a:prstGeom prst="roundRect">
            <a:avLst/>
          </a:prstGeom>
          <a:noFill/>
          <a:ln w="15875">
            <a:solidFill>
              <a:srgbClr val="D30F5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3749039"/>
            <a:ext cx="457200" cy="548640"/>
          </a:xfrm>
          <a:prstGeom prst="roundRect">
            <a:avLst/>
          </a:prstGeom>
          <a:noFill/>
          <a:ln w="15875">
            <a:solidFill>
              <a:srgbClr val="D30F5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35808" y="32004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D30F59"/>
                </a:solidFill>
                <a:latin typeface="Calibri"/>
              </a:rPr>
              <a:t>overlap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257800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  <a:latin typeface="Calibri"/>
              </a:rPr>
              <a:t>vizinhos repetem um pedaço (overlap) para não perder o contexto na fronteira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715000"/>
            <a:ext cx="6309360" cy="502920"/>
          </a:xfrm>
          <a:prstGeom prst="roundRect">
            <a:avLst/>
          </a:prstGeom>
          <a:noFill/>
          <a:ln w="15875">
            <a:solidFill>
              <a:srgbClr val="D30F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longo demais dilui o sinal  ·  curto demais perde contexto</a:t>
            </a:r>
          </a:p>
        </p:txBody>
      </p:sp>
    </p:spTree>
    <p:extLst>
      <p:ext uri="{BB962C8B-B14F-4D97-AF65-F5344CB8AC3E}">
        <p14:creationId xmlns:p14="http://schemas.microsoft.com/office/powerpoint/2010/main" val="10606907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Fixed-size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chunking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: divide por quantidade de caracteres ou tokens, geralmente com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overlap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Recursive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chunking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: tenta respeitar parágrafos, sentenças e palavras antes de cortar de forma arbitrária.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Semantic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chunking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: usa similaridade semântica entre sentenças para encontrar fronteiras naturais de tema. </a:t>
            </a:r>
            <a:br>
              <a:rPr lang="pt-BR" sz="2133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</a:br>
            <a:br>
              <a:rPr lang="pt-BR" sz="2133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</a:br>
            <a:r>
              <a:rPr lang="pt-BR" sz="1300" dirty="0">
                <a:solidFill>
                  <a:srgbClr val="D30F59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Fontes e referências: </a:t>
            </a:r>
            <a:r>
              <a:rPr lang="pt-BR" sz="1300" dirty="0" err="1">
                <a:solidFill>
                  <a:srgbClr val="D30F59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LangChain</a:t>
            </a:r>
            <a:r>
              <a:rPr lang="pt-BR" sz="1300" dirty="0">
                <a:solidFill>
                  <a:srgbClr val="D30F59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; </a:t>
            </a:r>
            <a:r>
              <a:rPr lang="pt-BR" sz="1300" dirty="0" err="1">
                <a:solidFill>
                  <a:srgbClr val="D30F59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Allamraju</a:t>
            </a:r>
            <a:r>
              <a:rPr lang="pt-BR" sz="1300" dirty="0">
                <a:solidFill>
                  <a:srgbClr val="D30F59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et al. (2025); </a:t>
            </a:r>
            <a:r>
              <a:rPr lang="pt-BR" sz="1300" dirty="0" err="1">
                <a:solidFill>
                  <a:srgbClr val="D30F59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Anand</a:t>
            </a:r>
            <a:r>
              <a:rPr lang="pt-BR" sz="1300" dirty="0">
                <a:solidFill>
                  <a:srgbClr val="D30F59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(2026). 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2673214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3600" dirty="0">
                <a:latin typeface="GothamHTF-Book" pitchFamily="2" charset="0"/>
              </a:rPr>
              <a:t>ESTRATÉGIAS DE </a:t>
            </a:r>
            <a:r>
              <a:rPr lang="pt-BR" sz="3600" dirty="0">
                <a:solidFill>
                  <a:srgbClr val="D30F59"/>
                </a:solidFill>
                <a:latin typeface="GothamHTF-Book" pitchFamily="2" charset="0"/>
              </a:rPr>
              <a:t>CHUNKING</a:t>
            </a:r>
            <a:r>
              <a:rPr lang="pt-BR" sz="3600" dirty="0">
                <a:latin typeface="GothamHTF-Book" pitchFamily="2" charset="0"/>
              </a:rPr>
              <a:t> </a:t>
            </a:r>
            <a:endParaRPr lang="en-US" sz="3600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8640" y="155448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Três jeitos de cortar o mesmo texto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148840"/>
            <a:ext cx="1645920" cy="54864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Fixed-size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23160" y="2212848"/>
            <a:ext cx="868680" cy="420624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01568" y="2212848"/>
            <a:ext cx="868680" cy="420624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79975" y="2212848"/>
            <a:ext cx="868680" cy="420624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40680" y="219456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AFAFAF"/>
                </a:solidFill>
                <a:latin typeface="Calibri"/>
              </a:rPr>
              <a:t>corta a cada N tokens, com overlap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154680"/>
            <a:ext cx="1645920" cy="548640"/>
          </a:xfrm>
          <a:prstGeom prst="roundRect">
            <a:avLst/>
          </a:prstGeom>
          <a:solidFill>
            <a:srgbClr val="5B9BD5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Recursive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423160" y="3218688"/>
            <a:ext cx="1234440" cy="420624"/>
          </a:xfrm>
          <a:prstGeom prst="roundRect">
            <a:avLst/>
          </a:prstGeom>
          <a:solidFill>
            <a:srgbClr val="5B9BD5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767328" y="3218688"/>
            <a:ext cx="594360" cy="420624"/>
          </a:xfrm>
          <a:prstGeom prst="roundRect">
            <a:avLst/>
          </a:prstGeom>
          <a:solidFill>
            <a:srgbClr val="5B9BD5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71416" y="3218688"/>
            <a:ext cx="868680" cy="420624"/>
          </a:xfrm>
          <a:prstGeom prst="roundRect">
            <a:avLst/>
          </a:prstGeom>
          <a:solidFill>
            <a:srgbClr val="5B9BD5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40680" y="320040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AFAFAF"/>
                </a:solidFill>
                <a:latin typeface="Calibri"/>
              </a:rPr>
              <a:t>respeita parágrafos e sentenças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160520"/>
            <a:ext cx="1645920" cy="548640"/>
          </a:xfrm>
          <a:prstGeom prst="roundRect">
            <a:avLst/>
          </a:prstGeom>
          <a:solidFill>
            <a:srgbClr val="70AD47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Semantic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423160" y="4224528"/>
            <a:ext cx="960120" cy="420624"/>
          </a:xfrm>
          <a:prstGeom prst="roundRect">
            <a:avLst/>
          </a:prstGeom>
          <a:solidFill>
            <a:srgbClr val="70AD47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93008" y="4224528"/>
            <a:ext cx="777240" cy="420624"/>
          </a:xfrm>
          <a:prstGeom prst="roundRect">
            <a:avLst/>
          </a:prstGeom>
          <a:solidFill>
            <a:srgbClr val="70AD47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79976" y="4224528"/>
            <a:ext cx="1005840" cy="420624"/>
          </a:xfrm>
          <a:prstGeom prst="roundRect">
            <a:avLst/>
          </a:prstGeom>
          <a:solidFill>
            <a:srgbClr val="F57E20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40680" y="420624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AFAFAF"/>
                </a:solidFill>
                <a:latin typeface="Calibri"/>
              </a:rPr>
              <a:t>corta onde o TEMA muda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12064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  <a:latin typeface="Calibri"/>
              </a:rPr>
              <a:t>do mais simples e barato ao mais caro e preciso</a:t>
            </a:r>
          </a:p>
        </p:txBody>
      </p:sp>
    </p:spTree>
    <p:extLst>
      <p:ext uri="{BB962C8B-B14F-4D97-AF65-F5344CB8AC3E}">
        <p14:creationId xmlns:p14="http://schemas.microsoft.com/office/powerpoint/2010/main" val="13950675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Modelos de IA operam sobre representações numéricas;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embeddings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transformam texto em vetores.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Textos semanticamente parecidos ficam matematicamente próximos no espaço vetorial.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 escolha do modelo e da dimensionalidade afeta precisão, custo de armazenamento e velocidade de busca. </a:t>
            </a:r>
            <a:br>
              <a:rPr lang="pt-BR" sz="2133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</a:br>
            <a:br>
              <a:rPr lang="pt-BR" sz="2133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</a:br>
            <a:r>
              <a:rPr lang="pt-BR" sz="1300" dirty="0">
                <a:solidFill>
                  <a:srgbClr val="D30F59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Fontes e referências: Aula 02 RAG; LEWIS et al. (2020). 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2673214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3600" dirty="0">
                <a:solidFill>
                  <a:srgbClr val="D30F59"/>
                </a:solidFill>
                <a:latin typeface="GothamHTF-Book" pitchFamily="2" charset="0"/>
              </a:rPr>
              <a:t>EMBEDDINGS</a:t>
            </a:r>
            <a:r>
              <a:rPr lang="pt-BR" sz="3600" dirty="0">
                <a:latin typeface="GothamHTF-Book" pitchFamily="2" charset="0"/>
              </a:rPr>
              <a:t>: TEXTO COMO VETOR </a:t>
            </a:r>
            <a:endParaRPr lang="en-US" sz="3600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8640" y="155448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Texto vira ponto no 'mapa'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057400"/>
            <a:ext cx="4663440" cy="3657600"/>
          </a:xfrm>
          <a:prstGeom prst="roundRect">
            <a:avLst/>
          </a:prstGeom>
          <a:noFill/>
          <a:ln w="15875">
            <a:solidFill>
              <a:srgbClr val="AFAFA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0" name="Oval 19"/>
          <p:cNvSpPr/>
          <p:nvPr/>
        </p:nvSpPr>
        <p:spPr>
          <a:xfrm>
            <a:off x="1371600" y="2606040"/>
            <a:ext cx="182880" cy="182880"/>
          </a:xfrm>
          <a:prstGeom prst="ellipse">
            <a:avLst/>
          </a:prstGeom>
          <a:solidFill>
            <a:srgbClr val="D30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282549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contrato</a:t>
            </a:r>
          </a:p>
        </p:txBody>
      </p:sp>
      <p:sp>
        <p:nvSpPr>
          <p:cNvPr id="22" name="Oval 21"/>
          <p:cNvSpPr/>
          <p:nvPr/>
        </p:nvSpPr>
        <p:spPr>
          <a:xfrm>
            <a:off x="2468880" y="2880360"/>
            <a:ext cx="182880" cy="182880"/>
          </a:xfrm>
          <a:prstGeom prst="ellipse">
            <a:avLst/>
          </a:prstGeom>
          <a:solidFill>
            <a:srgbClr val="D30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3099815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acordo</a:t>
            </a:r>
          </a:p>
        </p:txBody>
      </p:sp>
      <p:sp>
        <p:nvSpPr>
          <p:cNvPr id="24" name="Oval 23"/>
          <p:cNvSpPr/>
          <p:nvPr/>
        </p:nvSpPr>
        <p:spPr>
          <a:xfrm>
            <a:off x="1234440" y="4434840"/>
            <a:ext cx="182880" cy="182880"/>
          </a:xfrm>
          <a:prstGeom prst="ellipse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65429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fatura</a:t>
            </a:r>
          </a:p>
        </p:txBody>
      </p:sp>
      <p:sp>
        <p:nvSpPr>
          <p:cNvPr id="26" name="Oval 25"/>
          <p:cNvSpPr/>
          <p:nvPr/>
        </p:nvSpPr>
        <p:spPr>
          <a:xfrm>
            <a:off x="2331720" y="4709160"/>
            <a:ext cx="182880" cy="182880"/>
          </a:xfrm>
          <a:prstGeom prst="ellipse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91639" y="492861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boleto</a:t>
            </a:r>
          </a:p>
        </p:txBody>
      </p:sp>
      <p:sp>
        <p:nvSpPr>
          <p:cNvPr id="28" name="Oval 27"/>
          <p:cNvSpPr/>
          <p:nvPr/>
        </p:nvSpPr>
        <p:spPr>
          <a:xfrm>
            <a:off x="4160520" y="3611880"/>
            <a:ext cx="182880" cy="182880"/>
          </a:xfrm>
          <a:prstGeom prst="ellipse">
            <a:avLst/>
          </a:prstGeom>
          <a:solidFill>
            <a:srgbClr val="AFA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39" y="383133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futebol</a:t>
            </a:r>
          </a:p>
        </p:txBody>
      </p:sp>
      <p:sp>
        <p:nvSpPr>
          <p:cNvPr id="30" name="Oval 29"/>
          <p:cNvSpPr/>
          <p:nvPr/>
        </p:nvSpPr>
        <p:spPr>
          <a:xfrm>
            <a:off x="1097280" y="2377440"/>
            <a:ext cx="1965960" cy="1051560"/>
          </a:xfrm>
          <a:prstGeom prst="ellipse">
            <a:avLst/>
          </a:prstGeom>
          <a:noFill/>
          <a:ln w="15875">
            <a:solidFill>
              <a:srgbClr val="D30F5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1" name="Oval 30"/>
          <p:cNvSpPr/>
          <p:nvPr/>
        </p:nvSpPr>
        <p:spPr>
          <a:xfrm>
            <a:off x="960120" y="4206240"/>
            <a:ext cx="1965960" cy="1051560"/>
          </a:xfrm>
          <a:prstGeom prst="ellipse">
            <a:avLst/>
          </a:prstGeom>
          <a:noFill/>
          <a:ln w="15875">
            <a:solidFill>
              <a:srgbClr val="5B9BD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40680" y="2468880"/>
            <a:ext cx="1874519" cy="9144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"contrato"
→ [0.12, −0.87, …]</a:t>
            </a:r>
          </a:p>
        </p:txBody>
      </p:sp>
      <p:cxnSp>
        <p:nvCxnSpPr>
          <p:cNvPr id="33" name="Connector 32"/>
          <p:cNvCxnSpPr/>
          <p:nvPr/>
        </p:nvCxnSpPr>
        <p:spPr>
          <a:xfrm flipH="1" flipV="1">
            <a:off x="3657600" y="2880360"/>
            <a:ext cx="1755648" cy="4572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5440680" y="3749039"/>
            <a:ext cx="1874519" cy="9144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F57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dimensão do vetor:
precisão × custo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89788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  <a:latin typeface="Calibri"/>
              </a:rPr>
              <a:t>sentido parecido = vetores próximos no espaço</a:t>
            </a:r>
          </a:p>
        </p:txBody>
      </p:sp>
    </p:spTree>
    <p:extLst>
      <p:ext uri="{BB962C8B-B14F-4D97-AF65-F5344CB8AC3E}">
        <p14:creationId xmlns:p14="http://schemas.microsoft.com/office/powerpoint/2010/main" val="13947226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Depois dos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embeddings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, os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chunks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são enviados para um índice que permite busca rápida e escalável.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Cada item indexado deve conter texto, vetor, identificador, metadados e referência à fonte original.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Tecnologias comuns: FAISS, Azure AI Search,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OpenSearch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,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Elasticsearch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,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Pinecone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,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Milvus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,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Qdrant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,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Weaviate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,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pgvector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e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MongoDB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Atlas Vector Search. </a:t>
            </a:r>
            <a:br>
              <a:rPr lang="pt-BR" sz="2133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</a:br>
            <a:br>
              <a:rPr lang="pt-BR" sz="2133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</a:br>
            <a:r>
              <a:rPr lang="pt-BR" sz="1300" dirty="0">
                <a:solidFill>
                  <a:srgbClr val="D30F59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Fontes e referências: Aula 02 RAG; Azure AI Search </a:t>
            </a:r>
            <a:r>
              <a:rPr lang="pt-BR" sz="1300" dirty="0" err="1">
                <a:solidFill>
                  <a:srgbClr val="D30F59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docs</a:t>
            </a:r>
            <a:r>
              <a:rPr lang="pt-BR" sz="1300" dirty="0">
                <a:solidFill>
                  <a:srgbClr val="D30F59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; AWS </a:t>
            </a:r>
            <a:r>
              <a:rPr lang="pt-BR" sz="1300" dirty="0" err="1">
                <a:solidFill>
                  <a:srgbClr val="D30F59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Bedrock</a:t>
            </a:r>
            <a:r>
              <a:rPr lang="pt-BR" sz="1300" dirty="0">
                <a:solidFill>
                  <a:srgbClr val="D30F59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docs. 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2673214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3600" dirty="0">
                <a:latin typeface="GothamHTF-Book" pitchFamily="2" charset="0"/>
              </a:rPr>
              <a:t>INDEXAÇÃO E ARMAZENAMENTO </a:t>
            </a:r>
            <a:r>
              <a:rPr lang="pt-BR" sz="3600" dirty="0">
                <a:solidFill>
                  <a:srgbClr val="D30F59"/>
                </a:solidFill>
                <a:latin typeface="GothamHTF-Book" pitchFamily="2" charset="0"/>
              </a:rPr>
              <a:t>VETORIAL</a:t>
            </a:r>
            <a:r>
              <a:rPr lang="pt-BR" sz="3600" dirty="0">
                <a:latin typeface="GothamHTF-Book" pitchFamily="2" charset="0"/>
              </a:rPr>
              <a:t> </a:t>
            </a:r>
            <a:endParaRPr lang="en-US" sz="3600" dirty="0">
              <a:latin typeface="GothamHTF-Book" pitchFamily="2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8640" y="155448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Do chunk ao índice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286000"/>
            <a:ext cx="1828800" cy="73152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chunks
de texto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395728" y="2651760"/>
            <a:ext cx="374904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788920" y="2286000"/>
            <a:ext cx="1828800" cy="731520"/>
          </a:xfrm>
          <a:prstGeom prst="roundRect">
            <a:avLst/>
          </a:prstGeom>
          <a:solidFill>
            <a:srgbClr val="F57E20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vetores
[0.12, −0.87, …]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636008" y="2651760"/>
            <a:ext cx="374904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029200" y="2286000"/>
            <a:ext cx="1828800" cy="731520"/>
          </a:xfrm>
          <a:prstGeom prst="roundRect">
            <a:avLst/>
          </a:prstGeom>
          <a:solidFill>
            <a:srgbClr val="D30F59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índice
vetorial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4206240" y="3035808"/>
            <a:ext cx="1737360" cy="576072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005840" y="3657600"/>
            <a:ext cx="5394960" cy="914400"/>
          </a:xfrm>
          <a:prstGeom prst="roundRect">
            <a:avLst/>
          </a:prstGeom>
          <a:noFill/>
          <a:ln w="15875">
            <a:solidFill>
              <a:srgbClr val="5B9BD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3749039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5B9BD5"/>
                </a:solidFill>
                <a:latin typeface="Calibri"/>
              </a:rPr>
              <a:t>cada item indexado guarda: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88720" y="4069080"/>
            <a:ext cx="891540" cy="384048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1C35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texto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226564" y="4069080"/>
            <a:ext cx="891540" cy="384048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F57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vetor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64408" y="4069080"/>
            <a:ext cx="658368" cy="384048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1C35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id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069080" y="4069080"/>
            <a:ext cx="1202436" cy="384048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1C35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metadados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17820" y="4069080"/>
            <a:ext cx="891540" cy="384048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fonte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8463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  <a:latin typeface="Calibri"/>
              </a:rPr>
              <a:t>a fonte viaja junto — é ela que permite citar depois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34924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AFAFAF"/>
                </a:solidFill>
                <a:latin typeface="Calibri"/>
              </a:rPr>
              <a:t>FAISS · Azure AI Search · OpenSearch · Pinecone · Qdrant · pgvector …</a:t>
            </a:r>
          </a:p>
        </p:txBody>
      </p:sp>
    </p:spTree>
    <p:extLst>
      <p:ext uri="{BB962C8B-B14F-4D97-AF65-F5344CB8AC3E}">
        <p14:creationId xmlns:p14="http://schemas.microsoft.com/office/powerpoint/2010/main" val="29386462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Quando a pergunta chega, ela também é transformada em consulta textual e/ou vetorial.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O mecanismo de busca retorna os trechos candidatos mais relevantes.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Esses trechos são organizados em um prompt com instruções para o LLM responder com base no contexto. </a:t>
            </a:r>
            <a:br>
              <a:rPr lang="pt-BR" sz="2133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</a:br>
            <a:br>
              <a:rPr lang="pt-BR" sz="2133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</a:br>
            <a:r>
              <a:rPr lang="pt-BR" sz="1300" dirty="0">
                <a:solidFill>
                  <a:srgbClr val="D30F59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Fontes e referências: Aula 02 RAG; Microsoft </a:t>
            </a:r>
            <a:r>
              <a:rPr lang="pt-BR" sz="1300" dirty="0" err="1">
                <a:solidFill>
                  <a:srgbClr val="D30F59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Learn</a:t>
            </a:r>
            <a:r>
              <a:rPr lang="pt-BR" sz="1300" dirty="0">
                <a:solidFill>
                  <a:srgbClr val="D30F59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. 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2673214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3600" dirty="0">
                <a:latin typeface="GothamHTF-Book" pitchFamily="2" charset="0"/>
              </a:rPr>
              <a:t>DO ÍNDICE À PERGUNTA DO </a:t>
            </a:r>
            <a:r>
              <a:rPr lang="pt-BR" sz="3600" dirty="0">
                <a:solidFill>
                  <a:srgbClr val="D30F59"/>
                </a:solidFill>
                <a:latin typeface="GothamHTF-Book" pitchFamily="2" charset="0"/>
              </a:rPr>
              <a:t>USUÁRIO </a:t>
            </a:r>
            <a:endParaRPr lang="en-US" sz="3600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8640" y="160020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Quando a pergunta chega…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377440"/>
            <a:ext cx="1508760" cy="9144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pergunta
do usuário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984248" y="2834640"/>
            <a:ext cx="237743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240280" y="2377440"/>
            <a:ext cx="1508760" cy="91440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vira consulta textual
e/ou vetorial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767327" y="2834640"/>
            <a:ext cx="237745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023360" y="2377440"/>
            <a:ext cx="1508760" cy="914400"/>
          </a:xfrm>
          <a:prstGeom prst="roundRect">
            <a:avLst/>
          </a:prstGeom>
          <a:solidFill>
            <a:srgbClr val="F57E20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busca retorna
candidatos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550408" y="2834640"/>
            <a:ext cx="237744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806440" y="2377440"/>
            <a:ext cx="1508760" cy="914400"/>
          </a:xfrm>
          <a:prstGeom prst="roundRect">
            <a:avLst/>
          </a:prstGeom>
          <a:solidFill>
            <a:srgbClr val="D30F59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prompt: instruções
+ trechos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4846320" y="3310128"/>
            <a:ext cx="1188720" cy="603504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2743200" y="3977639"/>
            <a:ext cx="2651760" cy="640080"/>
          </a:xfrm>
          <a:prstGeom prst="roundRect">
            <a:avLst/>
          </a:prstGeom>
          <a:solidFill>
            <a:srgbClr val="70AD47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LLM responde
com base no contexto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93776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  <a:latin typeface="Calibri"/>
              </a:rPr>
              <a:t>o índice preparado offline entra em ação a cada pergunta</a:t>
            </a:r>
          </a:p>
        </p:txBody>
      </p:sp>
    </p:spTree>
    <p:extLst>
      <p:ext uri="{BB962C8B-B14F-4D97-AF65-F5344CB8AC3E}">
        <p14:creationId xmlns:p14="http://schemas.microsoft.com/office/powerpoint/2010/main" val="21956703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C219B-3F91-B578-4084-318A7E102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Imagem 3">
            <a:extLst>
              <a:ext uri="{FF2B5EF4-FFF2-40B4-BE49-F238E27FC236}">
                <a16:creationId xmlns:a16="http://schemas.microsoft.com/office/drawing/2014/main" id="{0C8C86D1-D616-3BA6-F1E5-AE472332B5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BFB5D0B-2F02-D8CF-0C7D-B8139B9C2935}"/>
              </a:ext>
            </a:extLst>
          </p:cNvPr>
          <p:cNvSpPr txBox="1"/>
          <p:nvPr/>
        </p:nvSpPr>
        <p:spPr>
          <a:xfrm>
            <a:off x="358098" y="1908210"/>
            <a:ext cx="3505398" cy="418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GothamHTF-Book" pitchFamily="2" charset="0"/>
                <a:ea typeface="Open Sans" pitchFamily="2" charset="0"/>
                <a:cs typeface="Open Sans" pitchFamily="2" charset="0"/>
              </a:rPr>
              <a:t>IA GENERATIVA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1393904-2F84-3C8E-54C6-3DA558657CC3}"/>
              </a:ext>
            </a:extLst>
          </p:cNvPr>
          <p:cNvSpPr txBox="1"/>
          <p:nvPr/>
        </p:nvSpPr>
        <p:spPr>
          <a:xfrm>
            <a:off x="358098" y="2688890"/>
            <a:ext cx="11833902" cy="1733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chemeClr val="bg2"/>
                </a:solidFill>
                <a:latin typeface="GothamHTF-Book" pitchFamily="2" charset="0"/>
              </a:rPr>
              <a:t>RECUPERAÇÃO, GERAÇÃO, </a:t>
            </a:r>
            <a:br>
              <a:rPr lang="pt-BR" sz="4400" dirty="0">
                <a:solidFill>
                  <a:schemeClr val="bg2"/>
                </a:solidFill>
                <a:latin typeface="GothamHTF-Book" pitchFamily="2" charset="0"/>
              </a:rPr>
            </a:br>
            <a:r>
              <a:rPr lang="pt-BR" sz="4400" dirty="0">
                <a:solidFill>
                  <a:schemeClr val="bg2"/>
                </a:solidFill>
                <a:latin typeface="GothamHTF-Book" pitchFamily="2" charset="0"/>
              </a:rPr>
              <a:t>RE-RANKING E AVALIAÇÃO </a:t>
            </a:r>
            <a:br>
              <a:rPr lang="pt-BR" sz="4400" dirty="0">
                <a:solidFill>
                  <a:schemeClr val="bg2"/>
                </a:solidFill>
                <a:latin typeface="GothamHTF-Book" pitchFamily="2" charset="0"/>
              </a:rPr>
            </a:br>
            <a:r>
              <a:rPr lang="en-US" sz="1867" dirty="0">
                <a:solidFill>
                  <a:srgbClr val="D30F59"/>
                </a:solidFill>
                <a:latin typeface="GothamHTF-Book" pitchFamily="2" charset="0"/>
              </a:rPr>
              <a:t>PARTE 03</a:t>
            </a:r>
            <a:endParaRPr lang="en-ID" sz="1867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8F6B217-2711-3129-CD28-3F91116BE7A7}"/>
              </a:ext>
            </a:extLst>
          </p:cNvPr>
          <p:cNvSpPr txBox="1"/>
          <p:nvPr/>
        </p:nvSpPr>
        <p:spPr>
          <a:xfrm>
            <a:off x="443443" y="6103049"/>
            <a:ext cx="47649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050">
                <a:solidFill>
                  <a:srgbClr val="59595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sz="1200" dirty="0">
                <a:solidFill>
                  <a:schemeClr val="bg2">
                    <a:lumMod val="7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Flavio Padilha</a:t>
            </a:r>
          </a:p>
        </p:txBody>
      </p:sp>
      <p:sp>
        <p:nvSpPr>
          <p:cNvPr id="13" name="Rectangle 38">
            <a:extLst>
              <a:ext uri="{FF2B5EF4-FFF2-40B4-BE49-F238E27FC236}">
                <a16:creationId xmlns:a16="http://schemas.microsoft.com/office/drawing/2014/main" id="{A86994D4-9787-A598-F3A5-2AEE26EADBB6}"/>
              </a:ext>
            </a:extLst>
          </p:cNvPr>
          <p:cNvSpPr/>
          <p:nvPr/>
        </p:nvSpPr>
        <p:spPr>
          <a:xfrm>
            <a:off x="297657" y="730917"/>
            <a:ext cx="80963" cy="80963"/>
          </a:xfrm>
          <a:prstGeom prst="rect">
            <a:avLst/>
          </a:prstGeom>
          <a:noFill/>
          <a:ln>
            <a:solidFill>
              <a:srgbClr val="F57E20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2700"/>
          </a:p>
        </p:txBody>
      </p:sp>
      <p:sp>
        <p:nvSpPr>
          <p:cNvPr id="7" name="Freeform: Shape 40">
            <a:extLst>
              <a:ext uri="{FF2B5EF4-FFF2-40B4-BE49-F238E27FC236}">
                <a16:creationId xmlns:a16="http://schemas.microsoft.com/office/drawing/2014/main" id="{FDDD547B-0E4E-1F7D-B7D5-2EB66D23F23E}"/>
              </a:ext>
            </a:extLst>
          </p:cNvPr>
          <p:cNvSpPr/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8" name="Freeform: Shape 41">
            <a:extLst>
              <a:ext uri="{FF2B5EF4-FFF2-40B4-BE49-F238E27FC236}">
                <a16:creationId xmlns:a16="http://schemas.microsoft.com/office/drawing/2014/main" id="{F066CE9D-A32F-F8C2-5B5D-310914A82A01}"/>
              </a:ext>
            </a:extLst>
          </p:cNvPr>
          <p:cNvSpPr/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</p:spTree>
    <p:extLst>
      <p:ext uri="{BB962C8B-B14F-4D97-AF65-F5344CB8AC3E}">
        <p14:creationId xmlns:p14="http://schemas.microsoft.com/office/powerpoint/2010/main" val="36310243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 recuperação lexical busca correspondências de palavras-chave entre a pergunta e os documentos.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É forte quando a consulta contém códigos, siglas, nomes próprios, termos jurídicos ou expressões normativas.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BM25 é uma técnica clássica que considera frequência do termo, raridade da palavra e tamanho do documento. </a:t>
            </a:r>
            <a:br>
              <a:rPr lang="pt-BR" sz="2133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</a:br>
            <a:br>
              <a:rPr lang="pt-BR" sz="2133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</a:br>
            <a:r>
              <a:rPr lang="pt-BR" sz="1300" dirty="0">
                <a:solidFill>
                  <a:srgbClr val="D30F59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Fontes e referências: Aula 02 RAG; Robertson; Zaragoza (2009). 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2673214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3600" dirty="0">
                <a:solidFill>
                  <a:srgbClr val="D30F59"/>
                </a:solidFill>
                <a:latin typeface="GothamHTF-Book" pitchFamily="2" charset="0"/>
              </a:rPr>
              <a:t>RECUPERAÇÃO LEXICAL</a:t>
            </a:r>
            <a:r>
              <a:rPr lang="pt-BR" sz="3600" dirty="0">
                <a:latin typeface="GothamHTF-Book" pitchFamily="2" charset="0"/>
              </a:rPr>
              <a:t>: QUANDO PALAVRAS IMPORTAM </a:t>
            </a:r>
            <a:endParaRPr lang="en-US" sz="3600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8640" y="155448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Casamento exato de palavras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103120"/>
            <a:ext cx="3017520" cy="640080"/>
          </a:xfrm>
          <a:prstGeom prst="roundRect">
            <a:avLst/>
          </a:prstGeom>
          <a:noFill/>
          <a:ln w="1587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pergunta:
"multa do art. 45 da NR-12"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584448" y="2423160"/>
            <a:ext cx="420624" cy="0"/>
          </a:xfrm>
          <a:prstGeom prst="line">
            <a:avLst/>
          </a:prstGeom>
          <a:ln w="25400">
            <a:solidFill>
              <a:srgbClr val="D30F59"/>
            </a:solidFill>
            <a:tailEnd type="arrow" w="med" len="med"/>
            <a:head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023360" y="2103120"/>
            <a:ext cx="3017520" cy="64008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chunk: "…a multa prevista
no art. 45 da NR-12…"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283464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D30F59"/>
                </a:solidFill>
                <a:latin typeface="Calibri"/>
              </a:rPr>
              <a:t>termos idênticos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3375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B9BD5"/>
                </a:solidFill>
                <a:latin typeface="Calibri"/>
              </a:rPr>
              <a:t>BM25 pontua por: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703320"/>
            <a:ext cx="1981199" cy="100584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  <a:r>
              <a:rPr sz="1100" b="1">
                <a:solidFill>
                  <a:srgbClr val="5B9BD5"/>
                </a:solidFill>
                <a:latin typeface="Calibri"/>
              </a:rPr>
              <a:t>frequência do termo</a:t>
            </a:r>
          </a:p>
          <a:p>
            <a:pPr algn="ctr"/>
            <a:r>
              <a:rPr sz="1000">
                <a:solidFill>
                  <a:srgbClr val="AFAFAF"/>
                </a:solidFill>
                <a:latin typeface="Calibri"/>
              </a:rPr>
              <a:t>quantas vezes aparece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04160" y="3703320"/>
            <a:ext cx="1981199" cy="100584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F57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  <a:r>
              <a:rPr sz="1100" b="1">
                <a:solidFill>
                  <a:srgbClr val="F57E20"/>
                </a:solidFill>
                <a:latin typeface="Calibri"/>
              </a:rPr>
              <a:t>raridade (IDF)</a:t>
            </a:r>
          </a:p>
          <a:p>
            <a:pPr algn="ctr"/>
            <a:r>
              <a:rPr sz="1000">
                <a:solidFill>
                  <a:srgbClr val="AFAFAF"/>
                </a:solidFill>
                <a:latin typeface="Calibri"/>
              </a:rPr>
              <a:t>termo raro vale mais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59679" y="3703320"/>
            <a:ext cx="1981199" cy="100584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  <a:r>
              <a:rPr sz="1100" b="1">
                <a:solidFill>
                  <a:srgbClr val="70AD47"/>
                </a:solidFill>
                <a:latin typeface="Calibri"/>
              </a:rPr>
              <a:t>tamanho do doc</a:t>
            </a:r>
          </a:p>
          <a:p>
            <a:pPr algn="ctr"/>
            <a:r>
              <a:rPr sz="1000">
                <a:solidFill>
                  <a:srgbClr val="AFAFAF"/>
                </a:solidFill>
                <a:latin typeface="Calibri"/>
              </a:rPr>
              <a:t>normaliza docs longos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983480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  <a:latin typeface="Calibri"/>
              </a:rPr>
              <a:t>imbatível para códigos, siglas e termos jurídicos — literal, sem interpretação</a:t>
            </a:r>
          </a:p>
        </p:txBody>
      </p:sp>
    </p:spTree>
    <p:extLst>
      <p:ext uri="{BB962C8B-B14F-4D97-AF65-F5344CB8AC3E}">
        <p14:creationId xmlns:p14="http://schemas.microsoft.com/office/powerpoint/2010/main" val="4279523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920240"/>
            <a:ext cx="4206240" cy="452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 recuperação vetorial busca proximidade semântica, mesmo quando as palavras da pergunta não aparecem literalmente no documento.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 pergunta é convertida em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embedding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e comparada com os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embeddings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dos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chunks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 similaridade de cosseno ou produto escalar costuma ser usada para estimar proximidade entre vetores. </a:t>
            </a:r>
            <a:br>
              <a:rPr lang="pt-BR" sz="2133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</a:br>
            <a:br>
              <a:rPr lang="pt-BR" sz="2133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</a:br>
            <a:r>
              <a:rPr lang="pt-BR" sz="1300" dirty="0">
                <a:solidFill>
                  <a:srgbClr val="D30F59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Fontes e referências: Aula 02 RAG; LEWIS et al. (2020). 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2673214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3600" dirty="0">
                <a:solidFill>
                  <a:srgbClr val="D30F59"/>
                </a:solidFill>
                <a:latin typeface="GothamHTF-Book" pitchFamily="2" charset="0"/>
              </a:rPr>
              <a:t>RECUPERAÇÃO VETORIAL</a:t>
            </a:r>
            <a:r>
              <a:rPr lang="pt-BR" sz="3600" dirty="0">
                <a:latin typeface="GothamHTF-Book" pitchFamily="2" charset="0"/>
              </a:rPr>
              <a:t>: </a:t>
            </a:r>
            <a:br>
              <a:rPr lang="pt-BR" sz="3600" dirty="0">
                <a:latin typeface="GothamHTF-Book" pitchFamily="2" charset="0"/>
              </a:rPr>
            </a:br>
            <a:r>
              <a:rPr lang="pt-BR" sz="3600" dirty="0">
                <a:latin typeface="GothamHTF-Book" pitchFamily="2" charset="0"/>
              </a:rPr>
              <a:t>QUANDO SIGNIFICADO IMPORTA </a:t>
            </a:r>
            <a:endParaRPr lang="en-US" sz="3600" dirty="0">
              <a:latin typeface="GothamHTF-Book" pitchFamily="2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48640" y="2057400"/>
            <a:ext cx="4572000" cy="3474720"/>
          </a:xfrm>
          <a:prstGeom prst="roundRect">
            <a:avLst/>
          </a:prstGeom>
          <a:noFill/>
          <a:ln w="15875">
            <a:solidFill>
              <a:srgbClr val="AFAFA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9" name="Oval 18"/>
          <p:cNvSpPr/>
          <p:nvPr/>
        </p:nvSpPr>
        <p:spPr>
          <a:xfrm>
            <a:off x="1234440" y="2560320"/>
            <a:ext cx="164592" cy="164592"/>
          </a:xfrm>
          <a:prstGeom prst="ellipse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0" name="Oval 19"/>
          <p:cNvSpPr/>
          <p:nvPr/>
        </p:nvSpPr>
        <p:spPr>
          <a:xfrm>
            <a:off x="2286000" y="2834640"/>
            <a:ext cx="164592" cy="164592"/>
          </a:xfrm>
          <a:prstGeom prst="ellipse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1" name="Oval 20"/>
          <p:cNvSpPr/>
          <p:nvPr/>
        </p:nvSpPr>
        <p:spPr>
          <a:xfrm>
            <a:off x="1691640" y="3429000"/>
            <a:ext cx="164592" cy="164592"/>
          </a:xfrm>
          <a:prstGeom prst="ellipse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2" name="Oval 21"/>
          <p:cNvSpPr/>
          <p:nvPr/>
        </p:nvSpPr>
        <p:spPr>
          <a:xfrm>
            <a:off x="4114800" y="2514600"/>
            <a:ext cx="164592" cy="164592"/>
          </a:xfrm>
          <a:prstGeom prst="ellipse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3" name="Oval 22"/>
          <p:cNvSpPr/>
          <p:nvPr/>
        </p:nvSpPr>
        <p:spPr>
          <a:xfrm>
            <a:off x="4297680" y="4709160"/>
            <a:ext cx="164592" cy="164592"/>
          </a:xfrm>
          <a:prstGeom prst="ellipse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4" name="Oval 23"/>
          <p:cNvSpPr/>
          <p:nvPr/>
        </p:nvSpPr>
        <p:spPr>
          <a:xfrm>
            <a:off x="1143000" y="4754880"/>
            <a:ext cx="164592" cy="164592"/>
          </a:xfrm>
          <a:prstGeom prst="ellipse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5" name="Oval 24"/>
          <p:cNvSpPr/>
          <p:nvPr/>
        </p:nvSpPr>
        <p:spPr>
          <a:xfrm>
            <a:off x="3291840" y="4114800"/>
            <a:ext cx="164592" cy="164592"/>
          </a:xfrm>
          <a:prstGeom prst="ellipse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6" name="Oval 25"/>
          <p:cNvSpPr/>
          <p:nvPr/>
        </p:nvSpPr>
        <p:spPr>
          <a:xfrm>
            <a:off x="1965960" y="3063240"/>
            <a:ext cx="256032" cy="256032"/>
          </a:xfrm>
          <a:prstGeom prst="ellipse">
            <a:avLst/>
          </a:prstGeom>
          <a:solidFill>
            <a:srgbClr val="D30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?</a:t>
            </a:r>
          </a:p>
        </p:txBody>
      </p:sp>
      <p:sp>
        <p:nvSpPr>
          <p:cNvPr id="27" name="Oval 26"/>
          <p:cNvSpPr/>
          <p:nvPr/>
        </p:nvSpPr>
        <p:spPr>
          <a:xfrm>
            <a:off x="1005840" y="2331720"/>
            <a:ext cx="2148840" cy="1508760"/>
          </a:xfrm>
          <a:prstGeom prst="ellipse">
            <a:avLst/>
          </a:prstGeom>
          <a:noFill/>
          <a:ln w="15875">
            <a:solidFill>
              <a:srgbClr val="D30F5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57784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AFAFAF"/>
                </a:solidFill>
                <a:latin typeface="Calibri"/>
              </a:rPr>
              <a:t>● chunks    ● pergunta    ⬭ vizinhos = top-k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349240" y="2377440"/>
            <a:ext cx="1965960" cy="96012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D30F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pergunta "rescisão"
acha "cancelamento"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49240" y="3657600"/>
            <a:ext cx="1965960" cy="96012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similaridade: cosseno
ou produto escalar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98932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  <a:latin typeface="Calibri"/>
              </a:rPr>
              <a:t>a pergunta vira ponto no mesmo mapa; os vizinhos são os trechos relevantes</a:t>
            </a:r>
          </a:p>
        </p:txBody>
      </p:sp>
    </p:spTree>
    <p:extLst>
      <p:ext uri="{BB962C8B-B14F-4D97-AF65-F5344CB8AC3E}">
        <p14:creationId xmlns:p14="http://schemas.microsoft.com/office/powerpoint/2010/main" val="245543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Em bases pequenas, é possível comparar a consulta com todos os vetores.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Em bases grandes, a busca exata fica cara e técnicas ANN reduzem o espaço de busca.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HNSW organiza vetores em um grafo hierárquico com atalhos, acelerando a localização dos vizinhos próximos. </a:t>
            </a:r>
            <a:br>
              <a:rPr lang="pt-BR" sz="2133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</a:br>
            <a:br>
              <a:rPr lang="pt-BR" sz="2133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</a:br>
            <a:r>
              <a:rPr lang="pt-BR" sz="1300" dirty="0">
                <a:solidFill>
                  <a:srgbClr val="D30F59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Fontes e referências: Aula 02 RAG; </a:t>
            </a:r>
            <a:r>
              <a:rPr lang="pt-BR" sz="1300" dirty="0" err="1">
                <a:solidFill>
                  <a:srgbClr val="D30F59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Malkov</a:t>
            </a:r>
            <a:r>
              <a:rPr lang="pt-BR" sz="1300" dirty="0">
                <a:solidFill>
                  <a:srgbClr val="D30F59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; </a:t>
            </a:r>
            <a:r>
              <a:rPr lang="pt-BR" sz="1300" dirty="0" err="1">
                <a:solidFill>
                  <a:srgbClr val="D30F59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Yashunin</a:t>
            </a:r>
            <a:r>
              <a:rPr lang="pt-BR" sz="1300" dirty="0">
                <a:solidFill>
                  <a:srgbClr val="D30F59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(2018). 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2673214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3600" dirty="0">
                <a:latin typeface="GothamHTF-Book" pitchFamily="2" charset="0"/>
              </a:rPr>
              <a:t>BUSCA APROXIMADA E </a:t>
            </a:r>
            <a:r>
              <a:rPr lang="pt-BR" sz="3600" dirty="0">
                <a:solidFill>
                  <a:srgbClr val="D30F59"/>
                </a:solidFill>
                <a:latin typeface="GothamHTF-Book" pitchFamily="2" charset="0"/>
              </a:rPr>
              <a:t>HNSW</a:t>
            </a:r>
            <a:r>
              <a:rPr lang="pt-BR" sz="3600" dirty="0">
                <a:latin typeface="GothamHTF-Book" pitchFamily="2" charset="0"/>
              </a:rPr>
              <a:t> </a:t>
            </a:r>
            <a:endParaRPr lang="en-US" sz="3600" dirty="0">
              <a:latin typeface="GothamHTF-Book" pitchFamily="2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8640" y="155448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HNSW: andares com atalhos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59536" y="2414016"/>
            <a:ext cx="2286000" cy="0"/>
          </a:xfrm>
          <a:prstGeom prst="line">
            <a:avLst/>
          </a:prstGeom>
          <a:ln w="12700">
            <a:solidFill>
              <a:srgbClr val="AFAFA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145536" y="2414016"/>
            <a:ext cx="2286000" cy="0"/>
          </a:xfrm>
          <a:prstGeom prst="line">
            <a:avLst/>
          </a:prstGeom>
          <a:ln w="12700">
            <a:solidFill>
              <a:srgbClr val="AFAFA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31520" y="2286000"/>
            <a:ext cx="256032" cy="256032"/>
          </a:xfrm>
          <a:prstGeom prst="ellipse">
            <a:avLst/>
          </a:prstGeom>
          <a:solidFill>
            <a:srgbClr val="1C35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2" name="Oval 21"/>
          <p:cNvSpPr/>
          <p:nvPr/>
        </p:nvSpPr>
        <p:spPr>
          <a:xfrm>
            <a:off x="3017520" y="2286000"/>
            <a:ext cx="256032" cy="256032"/>
          </a:xfrm>
          <a:prstGeom prst="ellipse">
            <a:avLst/>
          </a:prstGeom>
          <a:solidFill>
            <a:srgbClr val="1C35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3" name="Oval 22"/>
          <p:cNvSpPr/>
          <p:nvPr/>
        </p:nvSpPr>
        <p:spPr>
          <a:xfrm>
            <a:off x="5303520" y="2286000"/>
            <a:ext cx="256032" cy="256032"/>
          </a:xfrm>
          <a:prstGeom prst="ellipse">
            <a:avLst/>
          </a:prstGeom>
          <a:solidFill>
            <a:srgbClr val="1C35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2304288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AFAFAF"/>
                </a:solidFill>
                <a:latin typeface="Calibri"/>
              </a:rPr>
              <a:t>topo: poucos nós, saltos longos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59536" y="3648456"/>
            <a:ext cx="1143000" cy="0"/>
          </a:xfrm>
          <a:prstGeom prst="line">
            <a:avLst/>
          </a:prstGeom>
          <a:ln w="12700">
            <a:solidFill>
              <a:srgbClr val="AFAFA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002536" y="3648456"/>
            <a:ext cx="1143000" cy="0"/>
          </a:xfrm>
          <a:prstGeom prst="line">
            <a:avLst/>
          </a:prstGeom>
          <a:ln w="12700">
            <a:solidFill>
              <a:srgbClr val="AFAFA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145536" y="3648456"/>
            <a:ext cx="1143000" cy="0"/>
          </a:xfrm>
          <a:prstGeom prst="line">
            <a:avLst/>
          </a:prstGeom>
          <a:ln w="12700">
            <a:solidFill>
              <a:srgbClr val="AFAFA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288536" y="3648456"/>
            <a:ext cx="1143000" cy="0"/>
          </a:xfrm>
          <a:prstGeom prst="line">
            <a:avLst/>
          </a:prstGeom>
          <a:ln w="12700">
            <a:solidFill>
              <a:srgbClr val="AFAFA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731520" y="3520440"/>
            <a:ext cx="256032" cy="256032"/>
          </a:xfrm>
          <a:prstGeom prst="ellipse">
            <a:avLst/>
          </a:prstGeom>
          <a:solidFill>
            <a:srgbClr val="1C35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0" name="Oval 29"/>
          <p:cNvSpPr/>
          <p:nvPr/>
        </p:nvSpPr>
        <p:spPr>
          <a:xfrm>
            <a:off x="1874519" y="3520440"/>
            <a:ext cx="256032" cy="256032"/>
          </a:xfrm>
          <a:prstGeom prst="ellipse">
            <a:avLst/>
          </a:prstGeom>
          <a:solidFill>
            <a:srgbClr val="1C35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1" name="Oval 30"/>
          <p:cNvSpPr/>
          <p:nvPr/>
        </p:nvSpPr>
        <p:spPr>
          <a:xfrm>
            <a:off x="3017520" y="3520440"/>
            <a:ext cx="256032" cy="256032"/>
          </a:xfrm>
          <a:prstGeom prst="ellipse">
            <a:avLst/>
          </a:prstGeom>
          <a:solidFill>
            <a:srgbClr val="1C35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2" name="Oval 31"/>
          <p:cNvSpPr/>
          <p:nvPr/>
        </p:nvSpPr>
        <p:spPr>
          <a:xfrm>
            <a:off x="4160520" y="3520440"/>
            <a:ext cx="256032" cy="256032"/>
          </a:xfrm>
          <a:prstGeom prst="ellipse">
            <a:avLst/>
          </a:prstGeom>
          <a:solidFill>
            <a:srgbClr val="1C35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3" name="Oval 32"/>
          <p:cNvSpPr/>
          <p:nvPr/>
        </p:nvSpPr>
        <p:spPr>
          <a:xfrm>
            <a:off x="5303520" y="3520440"/>
            <a:ext cx="256032" cy="256032"/>
          </a:xfrm>
          <a:prstGeom prst="ellipse">
            <a:avLst/>
          </a:prstGeom>
          <a:solidFill>
            <a:srgbClr val="1C35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3538728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AFAFAF"/>
                </a:solidFill>
                <a:latin typeface="Calibri"/>
              </a:rPr>
              <a:t>meio: mais nós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59536" y="4882896"/>
            <a:ext cx="653142" cy="0"/>
          </a:xfrm>
          <a:prstGeom prst="line">
            <a:avLst/>
          </a:prstGeom>
          <a:ln w="12700">
            <a:solidFill>
              <a:srgbClr val="AFAFA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512678" y="4882896"/>
            <a:ext cx="653143" cy="0"/>
          </a:xfrm>
          <a:prstGeom prst="line">
            <a:avLst/>
          </a:prstGeom>
          <a:ln w="12700">
            <a:solidFill>
              <a:srgbClr val="AFAFA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165821" y="4882896"/>
            <a:ext cx="653143" cy="0"/>
          </a:xfrm>
          <a:prstGeom prst="line">
            <a:avLst/>
          </a:prstGeom>
          <a:ln w="12700">
            <a:solidFill>
              <a:srgbClr val="AFAFA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818964" y="4882896"/>
            <a:ext cx="653143" cy="0"/>
          </a:xfrm>
          <a:prstGeom prst="line">
            <a:avLst/>
          </a:prstGeom>
          <a:ln w="12700">
            <a:solidFill>
              <a:srgbClr val="AFAFA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472107" y="4882896"/>
            <a:ext cx="653143" cy="0"/>
          </a:xfrm>
          <a:prstGeom prst="line">
            <a:avLst/>
          </a:prstGeom>
          <a:ln w="12700">
            <a:solidFill>
              <a:srgbClr val="AFAFA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125250" y="4882896"/>
            <a:ext cx="653143" cy="0"/>
          </a:xfrm>
          <a:prstGeom prst="line">
            <a:avLst/>
          </a:prstGeom>
          <a:ln w="12700">
            <a:solidFill>
              <a:srgbClr val="AFAFA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778393" y="4882896"/>
            <a:ext cx="653143" cy="0"/>
          </a:xfrm>
          <a:prstGeom prst="line">
            <a:avLst/>
          </a:prstGeom>
          <a:ln w="12700">
            <a:solidFill>
              <a:srgbClr val="AFAFA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731520" y="4754880"/>
            <a:ext cx="256032" cy="256032"/>
          </a:xfrm>
          <a:prstGeom prst="ellipse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3" name="Oval 42"/>
          <p:cNvSpPr/>
          <p:nvPr/>
        </p:nvSpPr>
        <p:spPr>
          <a:xfrm>
            <a:off x="1384662" y="4754880"/>
            <a:ext cx="256032" cy="256032"/>
          </a:xfrm>
          <a:prstGeom prst="ellipse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4" name="Oval 43"/>
          <p:cNvSpPr/>
          <p:nvPr/>
        </p:nvSpPr>
        <p:spPr>
          <a:xfrm>
            <a:off x="2037805" y="4754880"/>
            <a:ext cx="256032" cy="256032"/>
          </a:xfrm>
          <a:prstGeom prst="ellipse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5" name="Oval 44"/>
          <p:cNvSpPr/>
          <p:nvPr/>
        </p:nvSpPr>
        <p:spPr>
          <a:xfrm>
            <a:off x="2690948" y="4754880"/>
            <a:ext cx="256032" cy="256032"/>
          </a:xfrm>
          <a:prstGeom prst="ellipse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6" name="Oval 45"/>
          <p:cNvSpPr/>
          <p:nvPr/>
        </p:nvSpPr>
        <p:spPr>
          <a:xfrm>
            <a:off x="3344091" y="4754880"/>
            <a:ext cx="256032" cy="256032"/>
          </a:xfrm>
          <a:prstGeom prst="ellipse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7" name="Oval 46"/>
          <p:cNvSpPr/>
          <p:nvPr/>
        </p:nvSpPr>
        <p:spPr>
          <a:xfrm>
            <a:off x="3997234" y="4754880"/>
            <a:ext cx="256032" cy="256032"/>
          </a:xfrm>
          <a:prstGeom prst="ellipse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8" name="Oval 47"/>
          <p:cNvSpPr/>
          <p:nvPr/>
        </p:nvSpPr>
        <p:spPr>
          <a:xfrm>
            <a:off x="4650377" y="4754880"/>
            <a:ext cx="256032" cy="256032"/>
          </a:xfrm>
          <a:prstGeom prst="ellipse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9" name="Oval 48"/>
          <p:cNvSpPr/>
          <p:nvPr/>
        </p:nvSpPr>
        <p:spPr>
          <a:xfrm>
            <a:off x="5303520" y="4754880"/>
            <a:ext cx="256032" cy="256032"/>
          </a:xfrm>
          <a:prstGeom prst="ellipse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0" y="4773168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AFAFAF"/>
                </a:solidFill>
                <a:latin typeface="Calibri"/>
              </a:rPr>
              <a:t>base: todos os vetores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859536" y="2414016"/>
            <a:ext cx="2286000" cy="0"/>
          </a:xfrm>
          <a:prstGeom prst="line">
            <a:avLst/>
          </a:prstGeom>
          <a:ln w="31750">
            <a:solidFill>
              <a:srgbClr val="D30F59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3145536" y="2414016"/>
            <a:ext cx="0" cy="1234440"/>
          </a:xfrm>
          <a:prstGeom prst="line">
            <a:avLst/>
          </a:prstGeom>
          <a:ln w="31750">
            <a:solidFill>
              <a:srgbClr val="D30F59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3145536" y="3648456"/>
            <a:ext cx="1143000" cy="0"/>
          </a:xfrm>
          <a:prstGeom prst="line">
            <a:avLst/>
          </a:prstGeom>
          <a:ln w="31750">
            <a:solidFill>
              <a:srgbClr val="D30F59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4125250" y="3648456"/>
            <a:ext cx="163286" cy="1234440"/>
          </a:xfrm>
          <a:prstGeom prst="line">
            <a:avLst/>
          </a:prstGeom>
          <a:ln w="31750">
            <a:solidFill>
              <a:srgbClr val="D30F59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3933226" y="4690872"/>
            <a:ext cx="384048" cy="384048"/>
          </a:xfrm>
          <a:prstGeom prst="ellipse">
            <a:avLst/>
          </a:prstGeom>
          <a:noFill/>
          <a:ln w="15875">
            <a:solidFill>
              <a:srgbClr val="D30F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514600" y="20116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D30F59"/>
                </a:solidFill>
                <a:latin typeface="Calibri"/>
              </a:rPr>
              <a:t>salto longo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557784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  <a:latin typeface="Calibri"/>
              </a:rPr>
              <a:t>salta longe nos andares de cima, refina perto do alvo na base — busca aproximada (ANN)</a:t>
            </a:r>
          </a:p>
        </p:txBody>
      </p:sp>
    </p:spTree>
    <p:extLst>
      <p:ext uri="{BB962C8B-B14F-4D97-AF65-F5344CB8AC3E}">
        <p14:creationId xmlns:p14="http://schemas.microsoft.com/office/powerpoint/2010/main" val="16554792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Na prática, a melhor estratégia costuma combinar busca lexical e vetorial.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 busca lexical preserva precisão para termos exatos; a busca vetorial amplia cobertura semântica.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 fusão de rankings pode usar métodos como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Reciprocal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Rank Fusion (RRF), que combina posições de diferentes listas. </a:t>
            </a:r>
            <a:br>
              <a:rPr lang="pt-BR" sz="2133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</a:br>
            <a:br>
              <a:rPr lang="pt-BR" sz="2133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</a:br>
            <a:r>
              <a:rPr lang="pt-BR" sz="1300" dirty="0">
                <a:solidFill>
                  <a:srgbClr val="D30F59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Fontes e referências: Aula 02 RAG; Azure AI Search docs. 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2673214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3600" dirty="0">
                <a:latin typeface="GothamHTF-Book" pitchFamily="2" charset="0"/>
              </a:rPr>
              <a:t>RECUPERAÇÃO </a:t>
            </a:r>
            <a:r>
              <a:rPr lang="pt-BR" sz="3600" dirty="0">
                <a:solidFill>
                  <a:srgbClr val="D30F59"/>
                </a:solidFill>
                <a:latin typeface="GothamHTF-Book" pitchFamily="2" charset="0"/>
              </a:rPr>
              <a:t>HÍBRIDA</a:t>
            </a:r>
            <a:r>
              <a:rPr lang="pt-BR" sz="3600" dirty="0">
                <a:latin typeface="GothamHTF-Book" pitchFamily="2" charset="0"/>
              </a:rPr>
              <a:t> </a:t>
            </a:r>
            <a:endParaRPr lang="en-US" sz="3600" dirty="0">
              <a:latin typeface="GothamHTF-Book" pitchFamily="2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8640" y="155448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Dois rankings, uma lista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7280" y="2103120"/>
            <a:ext cx="2103120" cy="77724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BM25
palavras exatas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292608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5B9BD5"/>
                </a:solidFill>
                <a:latin typeface="Calibri"/>
              </a:rPr>
              <a:t>1º doc A · 2º doc C · 3º doc 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0" y="2103120"/>
            <a:ext cx="2103120" cy="777240"/>
          </a:xfrm>
          <a:prstGeom prst="roundRect">
            <a:avLst/>
          </a:prstGeom>
          <a:solidFill>
            <a:srgbClr val="F57E20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vetorial
significado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292608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F57E20"/>
                </a:solidFill>
                <a:latin typeface="Calibri"/>
              </a:rPr>
              <a:t>1º doc C · 2º doc D · 3º doc A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148840" y="3246120"/>
            <a:ext cx="1097280" cy="64008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4069080" y="3246120"/>
            <a:ext cx="1097280" cy="64008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2651760" y="3931920"/>
            <a:ext cx="2011680" cy="640080"/>
          </a:xfrm>
          <a:prstGeom prst="roundRect">
            <a:avLst/>
          </a:prstGeom>
          <a:solidFill>
            <a:srgbClr val="D30F59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RRF funde
os rankings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657600" y="4590288"/>
            <a:ext cx="0" cy="329184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2834640" y="4937760"/>
            <a:ext cx="1645920" cy="548640"/>
          </a:xfrm>
          <a:prstGeom prst="roundRect">
            <a:avLst/>
          </a:prstGeom>
          <a:solidFill>
            <a:srgbClr val="70AD47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top-k final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76072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  <a:latin typeface="Calibri"/>
              </a:rPr>
              <a:t>precisão nos termos exatos + cobertura semântica — o melhor dos dois mundos</a:t>
            </a:r>
          </a:p>
        </p:txBody>
      </p:sp>
    </p:spTree>
    <p:extLst>
      <p:ext uri="{BB962C8B-B14F-4D97-AF65-F5344CB8AC3E}">
        <p14:creationId xmlns:p14="http://schemas.microsoft.com/office/powerpoint/2010/main" val="17448842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O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re-ranking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reorganiza os candidatos recuperados para colocar os trechos mais úteis no topo.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Filtros por metadados reduzem o espaço de busca antes da recuperação, por exemplo por área, data, idioma, tipo de documento ou permissão de acesso.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Essa camada melhora precisão, custo e segurança, especialmente em ambientes corporativos. </a:t>
            </a:r>
            <a:br>
              <a:rPr lang="pt-BR" sz="2133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</a:br>
            <a:br>
              <a:rPr lang="pt-BR" sz="2133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</a:br>
            <a:r>
              <a:rPr lang="pt-BR" sz="1300" dirty="0">
                <a:solidFill>
                  <a:srgbClr val="D30F59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Fontes e referências: Aula 02 RAG; </a:t>
            </a:r>
            <a:r>
              <a:rPr lang="pt-BR" sz="1300" dirty="0" err="1">
                <a:solidFill>
                  <a:srgbClr val="D30F59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Mishra</a:t>
            </a:r>
            <a:r>
              <a:rPr lang="pt-BR" sz="1300" dirty="0">
                <a:solidFill>
                  <a:srgbClr val="D30F59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et al. (2025); </a:t>
            </a:r>
            <a:r>
              <a:rPr lang="pt-BR" sz="1300" dirty="0" err="1">
                <a:solidFill>
                  <a:srgbClr val="D30F59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Yousuf</a:t>
            </a:r>
            <a:r>
              <a:rPr lang="pt-BR" sz="1300" dirty="0">
                <a:solidFill>
                  <a:srgbClr val="D30F59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et al. (2025). 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2673214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3600" dirty="0">
                <a:solidFill>
                  <a:srgbClr val="D30F59"/>
                </a:solidFill>
                <a:latin typeface="GothamHTF-Book" pitchFamily="2" charset="0"/>
              </a:rPr>
              <a:t>RE-RANKING</a:t>
            </a:r>
            <a:r>
              <a:rPr lang="pt-BR" sz="3600" dirty="0">
                <a:latin typeface="GothamHTF-Book" pitchFamily="2" charset="0"/>
              </a:rPr>
              <a:t> E FILTROS POR METADADOS </a:t>
            </a:r>
            <a:endParaRPr lang="en-US" sz="3600" dirty="0">
              <a:latin typeface="GothamHTF-Book" pitchFamily="2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8640" y="155448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Um funil até os melhores trechos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2148840"/>
            <a:ext cx="6126480" cy="54864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candidatos recuperados (ex.: 50 trechos)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703320" y="2715768"/>
            <a:ext cx="0" cy="329184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371600" y="3063240"/>
            <a:ext cx="4663440" cy="548640"/>
          </a:xfrm>
          <a:prstGeom prst="roundRect">
            <a:avLst/>
          </a:prstGeom>
          <a:solidFill>
            <a:srgbClr val="F57E20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filtros por metadados — área · data · idioma · permissão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3154680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AFAFAF"/>
                </a:solidFill>
                <a:latin typeface="Calibri"/>
              </a:rPr>
              <a:t>menos e
mais seguros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703320" y="3630168"/>
            <a:ext cx="0" cy="329184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2103120" y="3977639"/>
            <a:ext cx="3200400" cy="548640"/>
          </a:xfrm>
          <a:prstGeom prst="roundRect">
            <a:avLst/>
          </a:prstGeom>
          <a:solidFill>
            <a:srgbClr val="D30F59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re-ranking reordena por utilidade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703320" y="4544568"/>
            <a:ext cx="0" cy="329184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2743200" y="4892040"/>
            <a:ext cx="1920240" cy="548640"/>
          </a:xfrm>
          <a:prstGeom prst="roundRect">
            <a:avLst/>
          </a:prstGeom>
          <a:solidFill>
            <a:srgbClr val="70AD47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os melhores
no topo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71500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  <a:latin typeface="Calibri"/>
              </a:rPr>
              <a:t>menos candidatos, melhor ordenados — precisão, custo e segurança</a:t>
            </a:r>
          </a:p>
        </p:txBody>
      </p:sp>
    </p:spTree>
    <p:extLst>
      <p:ext uri="{BB962C8B-B14F-4D97-AF65-F5344CB8AC3E}">
        <p14:creationId xmlns:p14="http://schemas.microsoft.com/office/powerpoint/2010/main" val="41843058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O LLM recebe os trechos recuperados como contexto de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grounding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O prompt deve orientar o modelo a responder apenas com base no contexto fornecido.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Boas práticas: recusar quando o contexto for insuficiente, citar fontes, evitar extrapolações e separar resposta de evidências. </a:t>
            </a:r>
            <a:br>
              <a:rPr lang="pt-BR" sz="2133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</a:br>
            <a:br>
              <a:rPr lang="pt-BR" sz="2133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</a:br>
            <a:r>
              <a:rPr lang="pt-BR" sz="1300" dirty="0">
                <a:solidFill>
                  <a:srgbClr val="D30F59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Fontes e referências: Aula 02 RAG; AWS </a:t>
            </a:r>
            <a:r>
              <a:rPr lang="pt-BR" sz="1300" dirty="0" err="1">
                <a:solidFill>
                  <a:srgbClr val="D30F59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Bedrock</a:t>
            </a:r>
            <a:r>
              <a:rPr lang="pt-BR" sz="1300" dirty="0">
                <a:solidFill>
                  <a:srgbClr val="D30F59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</a:t>
            </a:r>
            <a:r>
              <a:rPr lang="pt-BR" sz="1300" dirty="0" err="1">
                <a:solidFill>
                  <a:srgbClr val="D30F59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docs</a:t>
            </a:r>
            <a:r>
              <a:rPr lang="pt-BR" sz="1300" dirty="0">
                <a:solidFill>
                  <a:srgbClr val="D30F59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; Azure AI Search docs. 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2673214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3600" dirty="0">
                <a:latin typeface="GothamHTF-Book" pitchFamily="2" charset="0"/>
              </a:rPr>
              <a:t>GERAÇÃO COM </a:t>
            </a:r>
            <a:r>
              <a:rPr lang="pt-BR" sz="3600" dirty="0">
                <a:solidFill>
                  <a:srgbClr val="D30F59"/>
                </a:solidFill>
                <a:latin typeface="GothamHTF-Book" pitchFamily="2" charset="0"/>
              </a:rPr>
              <a:t>GROUNDING E CITAÇÕES </a:t>
            </a:r>
            <a:endParaRPr lang="en-US" sz="3600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8640" y="155448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Anatomia da geração com grounding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103120"/>
            <a:ext cx="3291840" cy="3291840"/>
          </a:xfrm>
          <a:prstGeom prst="roundRect">
            <a:avLst/>
          </a:prstGeom>
          <a:noFill/>
          <a:ln w="15875">
            <a:solidFill>
              <a:srgbClr val="5B9BD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221284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5B9BD5"/>
                </a:solidFill>
                <a:latin typeface="Calibri"/>
              </a:rPr>
              <a:t>PROMPT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2560320"/>
            <a:ext cx="2926080" cy="86868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instruções: responda SÓ com o
contexto; cite; recuse se faltar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520440"/>
            <a:ext cx="2926080" cy="1005840"/>
          </a:xfrm>
          <a:prstGeom prst="roundRect">
            <a:avLst/>
          </a:prstGeom>
          <a:solidFill>
            <a:srgbClr val="F57E20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contexto:
trecho 1 (fonte A)
trecho 2 (fonte B)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617720"/>
            <a:ext cx="2926080" cy="54864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pergunta do usuário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886200" y="3749039"/>
            <a:ext cx="457200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389120" y="3337560"/>
            <a:ext cx="1188720" cy="822960"/>
          </a:xfrm>
          <a:prstGeom prst="roundRect">
            <a:avLst/>
          </a:prstGeom>
          <a:solidFill>
            <a:srgbClr val="D30F59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LLM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623560" y="3749039"/>
            <a:ext cx="365760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035040" y="3108960"/>
            <a:ext cx="1325880" cy="1280160"/>
          </a:xfrm>
          <a:prstGeom prst="roundRect">
            <a:avLst/>
          </a:prstGeom>
          <a:solidFill>
            <a:srgbClr val="70AD47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resposta
+ citações
[A] [B]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62356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  <a:latin typeface="Calibri"/>
              </a:rPr>
              <a:t>separar resposta de evidências — e recusar quando o contexto não basta</a:t>
            </a:r>
          </a:p>
        </p:txBody>
      </p:sp>
    </p:spTree>
    <p:extLst>
      <p:ext uri="{BB962C8B-B14F-4D97-AF65-F5344CB8AC3E}">
        <p14:creationId xmlns:p14="http://schemas.microsoft.com/office/powerpoint/2010/main" val="38712856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Recall@k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mede quantos itens relevantes aparecem entre os primeiros k resultados recuperados.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Se a evidência correta não é recuperada, mesmo um ótimo LLM tende a responder mal.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 métrica ajuda a ajustar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chunking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,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embeddings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, filtros, busca híbrida e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top_k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. </a:t>
            </a:r>
            <a:br>
              <a:rPr lang="pt-BR" sz="2133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</a:br>
            <a:br>
              <a:rPr lang="pt-BR" sz="2133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</a:br>
            <a:r>
              <a:rPr lang="pt-BR" sz="1300" dirty="0">
                <a:solidFill>
                  <a:srgbClr val="D30F59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Fontes e referências: Aula 02 RAG; RAGAS docs. 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2673214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3600" dirty="0">
                <a:latin typeface="GothamHTF-Book" pitchFamily="2" charset="0"/>
              </a:rPr>
              <a:t>AVALIAÇÃO DA RECUPERAÇÃO: </a:t>
            </a:r>
            <a:r>
              <a:rPr lang="pt-BR" sz="3600" dirty="0">
                <a:solidFill>
                  <a:srgbClr val="D30F59"/>
                </a:solidFill>
                <a:latin typeface="GothamHTF-Book" pitchFamily="2" charset="0"/>
              </a:rPr>
              <a:t>RECALL@K </a:t>
            </a:r>
            <a:endParaRPr lang="en-US" sz="3600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8640" y="155448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Recall@5 na prática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2148840"/>
            <a:ext cx="2560320" cy="457200"/>
          </a:xfrm>
          <a:prstGeom prst="round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1º  ✓ relevante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2715768"/>
            <a:ext cx="2560320" cy="4572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2º  irrelevante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3282696"/>
            <a:ext cx="2560320" cy="457200"/>
          </a:xfrm>
          <a:prstGeom prst="round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3º  ✓ relevante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3849624"/>
            <a:ext cx="2560320" cy="4572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4º  irrelevante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416552"/>
            <a:ext cx="2560320" cy="457200"/>
          </a:xfrm>
          <a:prstGeom prst="round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5º  ✓ relevante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566160" y="2148840"/>
            <a:ext cx="0" cy="2724912"/>
          </a:xfrm>
          <a:prstGeom prst="line">
            <a:avLst/>
          </a:prstGeom>
          <a:ln w="19050">
            <a:solidFill>
              <a:srgbClr val="AFAFA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639312" y="32004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AFAFAF"/>
                </a:solidFill>
                <a:latin typeface="Calibri"/>
              </a:rPr>
              <a:t>k = 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3400" y="2377440"/>
            <a:ext cx="2926080" cy="86868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D30F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a base tem 4 trechos relevantes;
3 entraram no top-5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806440" y="3264408"/>
            <a:ext cx="0" cy="329184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4343400" y="3611880"/>
            <a:ext cx="2926080" cy="640080"/>
          </a:xfrm>
          <a:prstGeom prst="roundRect">
            <a:avLst/>
          </a:prstGeom>
          <a:solidFill>
            <a:srgbClr val="D30F59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Recall@5 = 3/4 = 0,75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1206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  <a:latin typeface="Calibri"/>
              </a:rPr>
              <a:t>se a evidência não entra no top-k, o LLM nem chega a vê-la</a:t>
            </a:r>
          </a:p>
        </p:txBody>
      </p:sp>
    </p:spTree>
    <p:extLst>
      <p:ext uri="{BB962C8B-B14F-4D97-AF65-F5344CB8AC3E}">
        <p14:creationId xmlns:p14="http://schemas.microsoft.com/office/powerpoint/2010/main" val="6093641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920240"/>
            <a:ext cx="4206240" cy="452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Faithfulness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ou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groundedness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mede se a resposta está sustentada pelos trechos recuperados.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Answer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relevancy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mede se a resposta atende de fato à pergunta do usuário.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Uma resposta pode ser fiel e ainda assim incompleta; por isso é importante combinar métricas e inspeção humana. </a:t>
            </a:r>
            <a:br>
              <a:rPr lang="pt-BR" sz="2133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</a:br>
            <a:br>
              <a:rPr lang="pt-BR" sz="2133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</a:br>
            <a:r>
              <a:rPr lang="pt-BR" sz="1300" dirty="0">
                <a:solidFill>
                  <a:srgbClr val="D30F59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Fontes e referências: Aula 02 RAG; RAGAS; ARES. 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2673214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3600" dirty="0">
                <a:latin typeface="GothamHTF-Book" pitchFamily="2" charset="0"/>
              </a:rPr>
              <a:t>AVALIAÇÃO DA GERAÇÃO:</a:t>
            </a:r>
            <a:br>
              <a:rPr lang="pt-BR" sz="3600" dirty="0">
                <a:latin typeface="GothamHTF-Book" pitchFamily="2" charset="0"/>
              </a:rPr>
            </a:br>
            <a:r>
              <a:rPr lang="pt-BR" sz="3600" dirty="0">
                <a:solidFill>
                  <a:srgbClr val="D30F59"/>
                </a:solidFill>
                <a:latin typeface="GothamHTF-Book" pitchFamily="2" charset="0"/>
              </a:rPr>
              <a:t>FAITHFULNESS E RELEVÂNCIA </a:t>
            </a:r>
            <a:endParaRPr lang="en-US" sz="3600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48640" y="2148840"/>
            <a:ext cx="3108960" cy="502920"/>
          </a:xfrm>
          <a:prstGeom prst="roundRect">
            <a:avLst/>
          </a:prstGeom>
          <a:solidFill>
            <a:srgbClr val="D30F59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FAITHFULNESS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697480"/>
            <a:ext cx="3108960" cy="86868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D30F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a resposta está sustentada
nos trechos recuperados?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31920" y="2148840"/>
            <a:ext cx="3108960" cy="502920"/>
          </a:xfrm>
          <a:prstGeom prst="roundRect">
            <a:avLst/>
          </a:prstGeom>
          <a:solidFill>
            <a:srgbClr val="F57E20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ANSWER RELEVANCY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31920" y="2697480"/>
            <a:ext cx="3108960" cy="86868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F57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a resposta atende de fato
à pergunta do usuário?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0" y="4160520"/>
            <a:ext cx="1828800" cy="54864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RESPOSTA</a:t>
            </a:r>
          </a:p>
        </p:txBody>
      </p:sp>
      <p:cxnSp>
        <p:nvCxnSpPr>
          <p:cNvPr id="23" name="Connector 22"/>
          <p:cNvCxnSpPr/>
          <p:nvPr/>
        </p:nvCxnSpPr>
        <p:spPr>
          <a:xfrm flipH="1" flipV="1">
            <a:off x="2103120" y="3611880"/>
            <a:ext cx="1005840" cy="502920"/>
          </a:xfrm>
          <a:prstGeom prst="line">
            <a:avLst/>
          </a:prstGeom>
          <a:ln w="25400">
            <a:solidFill>
              <a:srgbClr val="D30F59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4206240" y="3611880"/>
            <a:ext cx="1005840" cy="502920"/>
          </a:xfrm>
          <a:prstGeom prst="line">
            <a:avLst/>
          </a:prstGeom>
          <a:ln w="25400">
            <a:solidFill>
              <a:srgbClr val="F57E20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94360" y="41148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D30F59"/>
                </a:solidFill>
                <a:latin typeface="Calibri"/>
              </a:rPr>
              <a:t>olha para
os trechos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9240" y="41148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F57E20"/>
                </a:solidFill>
                <a:latin typeface="Calibri"/>
              </a:rPr>
              <a:t>olha para
a pergunta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5840" y="5074920"/>
            <a:ext cx="5303520" cy="548640"/>
          </a:xfrm>
          <a:prstGeom prst="roundRect">
            <a:avLst/>
          </a:prstGeom>
          <a:noFill/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fiel ✓ e relevante ✓ — e ainda pode ser incompleta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85216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  <a:latin typeface="Calibri"/>
              </a:rPr>
              <a:t>combine métricas automáticas (RAGAS, ARES) com inspeção humana</a:t>
            </a:r>
          </a:p>
        </p:txBody>
      </p:sp>
    </p:spTree>
    <p:extLst>
      <p:ext uri="{BB962C8B-B14F-4D97-AF65-F5344CB8AC3E}">
        <p14:creationId xmlns:p14="http://schemas.microsoft.com/office/powerpoint/2010/main" val="38040971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Além de métricas de qualidade, é preciso monitorar latência, custo por requisição, consumo de tokens, erros e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drift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de consultas.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Tracing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ajuda a visualizar cada etapa: pergunta, consulta ao índice,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chunks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recuperados, prompt final e resposta.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Ferramentas como RAGAS,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LangSmith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, Galileo e avaliadores LLM-as-a-Judge apoiam depuração e melhoria contínua. </a:t>
            </a:r>
            <a:br>
              <a:rPr lang="pt-BR" sz="2133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</a:br>
            <a:br>
              <a:rPr lang="pt-BR" sz="2133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</a:br>
            <a:r>
              <a:rPr lang="pt-BR" sz="1300" dirty="0">
                <a:solidFill>
                  <a:srgbClr val="D30F59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Fontes e referências: Aula 02 RAG; </a:t>
            </a:r>
            <a:r>
              <a:rPr lang="pt-BR" sz="1300" dirty="0" err="1">
                <a:solidFill>
                  <a:srgbClr val="D30F59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LangSmith</a:t>
            </a:r>
            <a:r>
              <a:rPr lang="pt-BR" sz="1300" dirty="0">
                <a:solidFill>
                  <a:srgbClr val="D30F59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; RAGAS; Galileo. 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2673214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3600" dirty="0">
                <a:latin typeface="GothamHTF-Book" pitchFamily="2" charset="0"/>
              </a:rPr>
              <a:t>OBSERVABILIDADE DO </a:t>
            </a:r>
            <a:r>
              <a:rPr lang="pt-BR" sz="3600" dirty="0">
                <a:solidFill>
                  <a:srgbClr val="D30F59"/>
                </a:solidFill>
                <a:latin typeface="GothamHTF-Book" pitchFamily="2" charset="0"/>
              </a:rPr>
              <a:t>RAG</a:t>
            </a:r>
            <a:r>
              <a:rPr lang="pt-BR" sz="3600" dirty="0">
                <a:latin typeface="GothamHTF-Book" pitchFamily="2" charset="0"/>
              </a:rPr>
              <a:t> </a:t>
            </a:r>
            <a:endParaRPr lang="en-US" sz="3600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8640" y="155448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Tracing: enxergar cada etapa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194560"/>
            <a:ext cx="1152144" cy="68580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pergunta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627632" y="2537460"/>
            <a:ext cx="237744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883664" y="2194560"/>
            <a:ext cx="1152144" cy="68580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consulta
ao índice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054096" y="2537460"/>
            <a:ext cx="237744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310128" y="2194560"/>
            <a:ext cx="1152144" cy="68580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chunks
recuperados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480559" y="2537460"/>
            <a:ext cx="237745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736592" y="2194560"/>
            <a:ext cx="1152144" cy="68580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prompt
final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907023" y="2537460"/>
            <a:ext cx="237745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163056" y="2194560"/>
            <a:ext cx="1152144" cy="685800"/>
          </a:xfrm>
          <a:prstGeom prst="roundRect">
            <a:avLst/>
          </a:prstGeom>
          <a:solidFill>
            <a:srgbClr val="70AD47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resposta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429000"/>
            <a:ext cx="6309360" cy="594360"/>
          </a:xfrm>
          <a:prstGeom prst="roundRect">
            <a:avLst/>
          </a:prstGeom>
          <a:noFill/>
          <a:ln w="15875">
            <a:solidFill>
              <a:srgbClr val="F57E2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57E20"/>
                </a:solidFill>
                <a:latin typeface="Calibri"/>
              </a:rPr>
              <a:t>monitorar: latência · custo/requisição · tokens · erros · drift de consultas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343400"/>
            <a:ext cx="6309360" cy="54864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ferramentas: RAGAS · LangSmith · Galileo · LLM-as-a-Judge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16636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  <a:latin typeface="Calibri"/>
              </a:rPr>
              <a:t>sem observabilidade, o RAG vira caixa-preta em produção</a:t>
            </a:r>
          </a:p>
        </p:txBody>
      </p:sp>
    </p:spTree>
    <p:extLst>
      <p:ext uri="{BB962C8B-B14F-4D97-AF65-F5344CB8AC3E}">
        <p14:creationId xmlns:p14="http://schemas.microsoft.com/office/powerpoint/2010/main" val="13581397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C219B-3F91-B578-4084-318A7E102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Imagem 3">
            <a:extLst>
              <a:ext uri="{FF2B5EF4-FFF2-40B4-BE49-F238E27FC236}">
                <a16:creationId xmlns:a16="http://schemas.microsoft.com/office/drawing/2014/main" id="{0C8C86D1-D616-3BA6-F1E5-AE472332B5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BFB5D0B-2F02-D8CF-0C7D-B8139B9C2935}"/>
              </a:ext>
            </a:extLst>
          </p:cNvPr>
          <p:cNvSpPr txBox="1"/>
          <p:nvPr/>
        </p:nvSpPr>
        <p:spPr>
          <a:xfrm>
            <a:off x="358098" y="1908210"/>
            <a:ext cx="3505398" cy="418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GothamHTF-Book" pitchFamily="2" charset="0"/>
                <a:ea typeface="Open Sans" pitchFamily="2" charset="0"/>
                <a:cs typeface="Open Sans" pitchFamily="2" charset="0"/>
              </a:rPr>
              <a:t>IA GENERATIVA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1393904-2F84-3C8E-54C6-3DA558657CC3}"/>
              </a:ext>
            </a:extLst>
          </p:cNvPr>
          <p:cNvSpPr txBox="1"/>
          <p:nvPr/>
        </p:nvSpPr>
        <p:spPr>
          <a:xfrm>
            <a:off x="358097" y="2688890"/>
            <a:ext cx="12842997" cy="1487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chemeClr val="bg2"/>
                </a:solidFill>
                <a:latin typeface="GothamHTF-Book" pitchFamily="2" charset="0"/>
              </a:rPr>
              <a:t>RAG EM PRODUÇÃO: CLOUD, GOVERNANÇA, MERCADO E TENDÊNCIAS </a:t>
            </a:r>
            <a:br>
              <a:rPr lang="pt-BR" sz="4400" dirty="0">
                <a:solidFill>
                  <a:schemeClr val="bg2"/>
                </a:solidFill>
                <a:latin typeface="GothamHTF-Book" pitchFamily="2" charset="0"/>
              </a:rPr>
            </a:br>
            <a:r>
              <a:rPr lang="en-US" sz="1867" dirty="0">
                <a:solidFill>
                  <a:srgbClr val="D30F59"/>
                </a:solidFill>
                <a:latin typeface="GothamHTF-Book" pitchFamily="2" charset="0"/>
              </a:rPr>
              <a:t>PARTE 04</a:t>
            </a:r>
            <a:endParaRPr lang="en-ID" sz="1867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8F6B217-2711-3129-CD28-3F91116BE7A7}"/>
              </a:ext>
            </a:extLst>
          </p:cNvPr>
          <p:cNvSpPr txBox="1"/>
          <p:nvPr/>
        </p:nvSpPr>
        <p:spPr>
          <a:xfrm>
            <a:off x="443443" y="6103049"/>
            <a:ext cx="47649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050">
                <a:solidFill>
                  <a:srgbClr val="59595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sz="1200" dirty="0">
                <a:solidFill>
                  <a:schemeClr val="bg2">
                    <a:lumMod val="7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Flavio Padilha</a:t>
            </a:r>
          </a:p>
        </p:txBody>
      </p:sp>
      <p:sp>
        <p:nvSpPr>
          <p:cNvPr id="13" name="Rectangle 38">
            <a:extLst>
              <a:ext uri="{FF2B5EF4-FFF2-40B4-BE49-F238E27FC236}">
                <a16:creationId xmlns:a16="http://schemas.microsoft.com/office/drawing/2014/main" id="{A86994D4-9787-A598-F3A5-2AEE26EADBB6}"/>
              </a:ext>
            </a:extLst>
          </p:cNvPr>
          <p:cNvSpPr/>
          <p:nvPr/>
        </p:nvSpPr>
        <p:spPr>
          <a:xfrm>
            <a:off x="297657" y="730917"/>
            <a:ext cx="80963" cy="80963"/>
          </a:xfrm>
          <a:prstGeom prst="rect">
            <a:avLst/>
          </a:prstGeom>
          <a:noFill/>
          <a:ln>
            <a:solidFill>
              <a:srgbClr val="F57E20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2700"/>
          </a:p>
        </p:txBody>
      </p:sp>
      <p:sp>
        <p:nvSpPr>
          <p:cNvPr id="7" name="Freeform: Shape 40">
            <a:extLst>
              <a:ext uri="{FF2B5EF4-FFF2-40B4-BE49-F238E27FC236}">
                <a16:creationId xmlns:a16="http://schemas.microsoft.com/office/drawing/2014/main" id="{FDDD547B-0E4E-1F7D-B7D5-2EB66D23F23E}"/>
              </a:ext>
            </a:extLst>
          </p:cNvPr>
          <p:cNvSpPr/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8" name="Freeform: Shape 41">
            <a:extLst>
              <a:ext uri="{FF2B5EF4-FFF2-40B4-BE49-F238E27FC236}">
                <a16:creationId xmlns:a16="http://schemas.microsoft.com/office/drawing/2014/main" id="{F066CE9D-A32F-F8C2-5B5D-310914A82A01}"/>
              </a:ext>
            </a:extLst>
          </p:cNvPr>
          <p:cNvSpPr/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</p:spTree>
    <p:extLst>
      <p:ext uri="{BB962C8B-B14F-4D97-AF65-F5344CB8AC3E}">
        <p14:creationId xmlns:p14="http://schemas.microsoft.com/office/powerpoint/2010/main" val="14486123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Em produção, o RAG precisa separar ingestão, armazenamento, indexação, recuperação, geração e monitoramento.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Também precisa atender requisitos de segurança, controle de acesso, criptografia, rastreabilidade e governança de dados.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Serviços gerenciados reduzem esforço operacional, mas não eliminam desenho de arquitetura e avaliação. </a:t>
            </a:r>
            <a:br>
              <a:rPr lang="pt-BR" sz="2133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</a:br>
            <a:br>
              <a:rPr lang="pt-BR" sz="2133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</a:br>
            <a:r>
              <a:rPr lang="pt-BR" sz="1300" dirty="0">
                <a:solidFill>
                  <a:srgbClr val="D30F59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Fontes e referências: Aula 02 RAG; Microsoft </a:t>
            </a:r>
            <a:r>
              <a:rPr lang="pt-BR" sz="1300" dirty="0" err="1">
                <a:solidFill>
                  <a:srgbClr val="D30F59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Learn</a:t>
            </a:r>
            <a:r>
              <a:rPr lang="pt-BR" sz="1300" dirty="0">
                <a:solidFill>
                  <a:srgbClr val="D30F59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; AWS; Google Cloud. 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2673214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3600" dirty="0">
                <a:latin typeface="GothamHTF-Book" pitchFamily="2" charset="0"/>
              </a:rPr>
              <a:t>RAG GERENCIÁVEL EM </a:t>
            </a:r>
            <a:r>
              <a:rPr lang="pt-BR" sz="3600" dirty="0">
                <a:solidFill>
                  <a:srgbClr val="D30F59"/>
                </a:solidFill>
                <a:latin typeface="GothamHTF-Book" pitchFamily="2" charset="0"/>
              </a:rPr>
              <a:t>NUVEM</a:t>
            </a:r>
            <a:r>
              <a:rPr lang="pt-BR" sz="3600" dirty="0">
                <a:latin typeface="GothamHTF-Book" pitchFamily="2" charset="0"/>
              </a:rPr>
              <a:t> </a:t>
            </a:r>
            <a:endParaRPr lang="en-US" sz="3600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8640" y="155448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Responsabilidades separadas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286000"/>
            <a:ext cx="1078992" cy="73152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ingestão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645919" y="2651760"/>
            <a:ext cx="237744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901952" y="2286000"/>
            <a:ext cx="1078992" cy="73152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armazena-
mento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999232" y="2651760"/>
            <a:ext cx="237743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255264" y="2286000"/>
            <a:ext cx="1078992" cy="73152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indexação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352544" y="2651760"/>
            <a:ext cx="237744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608575" y="2286000"/>
            <a:ext cx="1078992" cy="731520"/>
          </a:xfrm>
          <a:prstGeom prst="roundRect">
            <a:avLst/>
          </a:prstGeom>
          <a:solidFill>
            <a:srgbClr val="D30F59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recuperação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705855" y="2651760"/>
            <a:ext cx="237744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961888" y="2286000"/>
            <a:ext cx="1078992" cy="731520"/>
          </a:xfrm>
          <a:prstGeom prst="roundRect">
            <a:avLst/>
          </a:prstGeom>
          <a:solidFill>
            <a:srgbClr val="D30F59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geração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429000"/>
            <a:ext cx="6492240" cy="594360"/>
          </a:xfrm>
          <a:prstGeom prst="roundRect">
            <a:avLst/>
          </a:prstGeom>
          <a:noFill/>
          <a:ln w="15875">
            <a:solidFill>
              <a:srgbClr val="F57E2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57E20"/>
                </a:solidFill>
                <a:latin typeface="Calibri"/>
              </a:rPr>
              <a:t>segurança · controle de acesso · criptografia · rastreabilidade · monitoramento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069080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F57E20"/>
                </a:solidFill>
                <a:latin typeface="Calibri"/>
              </a:rPr>
              <a:t>a faixa de governança envolve todos os blocos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572000"/>
            <a:ext cx="6492240" cy="59436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gerenciado reduz operação — não elimina desenho de arquitetura nem avaliação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394960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  <a:latin typeface="Calibri"/>
              </a:rPr>
              <a:t>separar para escalar, medir e auditar</a:t>
            </a:r>
          </a:p>
        </p:txBody>
      </p:sp>
    </p:spTree>
    <p:extLst>
      <p:ext uri="{BB962C8B-B14F-4D97-AF65-F5344CB8AC3E}">
        <p14:creationId xmlns:p14="http://schemas.microsoft.com/office/powerpoint/2010/main" val="15523625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Amazon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Bedrock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Knowledge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Bases permite conectar modelos fundacionais a bases próprias para RAG.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IAM, KMS,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Guardrails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e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CloudWatch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apoiam controle de acesso, criptografia, segurança e monitoramento.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 solução pode ser integrada a fontes corporativas, bancos vetoriais e fluxos de avaliação. </a:t>
            </a:r>
            <a:br>
              <a:rPr lang="pt-BR" sz="2133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</a:br>
            <a:br>
              <a:rPr lang="pt-BR" sz="2133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</a:br>
            <a:r>
              <a:rPr lang="pt-BR" sz="1300" dirty="0">
                <a:solidFill>
                  <a:srgbClr val="D30F59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Fontes e referências: AWS </a:t>
            </a:r>
            <a:r>
              <a:rPr lang="pt-BR" sz="1300" dirty="0" err="1">
                <a:solidFill>
                  <a:srgbClr val="D30F59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Bedrock</a:t>
            </a:r>
            <a:r>
              <a:rPr lang="pt-BR" sz="1300" dirty="0">
                <a:solidFill>
                  <a:srgbClr val="D30F59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</a:t>
            </a:r>
            <a:r>
              <a:rPr lang="pt-BR" sz="1300" dirty="0" err="1">
                <a:solidFill>
                  <a:srgbClr val="D30F59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Knowledge</a:t>
            </a:r>
            <a:r>
              <a:rPr lang="pt-BR" sz="1300" dirty="0">
                <a:solidFill>
                  <a:srgbClr val="D30F59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Bases docs. 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2673214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3600" dirty="0">
                <a:latin typeface="GothamHTF-Book" pitchFamily="2" charset="0"/>
              </a:rPr>
              <a:t>ARQUITETURA NA </a:t>
            </a:r>
            <a:r>
              <a:rPr lang="pt-BR" sz="3600" dirty="0">
                <a:solidFill>
                  <a:srgbClr val="D30F59"/>
                </a:solidFill>
                <a:latin typeface="GothamHTF-Book" pitchFamily="2" charset="0"/>
              </a:rPr>
              <a:t>AWS </a:t>
            </a:r>
            <a:endParaRPr lang="en-US" sz="3600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48640" y="2468880"/>
            <a:ext cx="1691640" cy="868680"/>
          </a:xfrm>
          <a:prstGeom prst="roundRect">
            <a:avLst/>
          </a:prstGeom>
          <a:noFill/>
          <a:ln w="1587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fontes
corporativas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258568" y="2898648"/>
            <a:ext cx="374904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651760" y="2331720"/>
            <a:ext cx="2240280" cy="114300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Bedrock
Knowledge Bases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352044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5B9BD5"/>
                </a:solidFill>
                <a:latin typeface="Calibri"/>
              </a:rPr>
              <a:t>ingestão + índice + busca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910328" y="2898648"/>
            <a:ext cx="374904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303520" y="2468880"/>
            <a:ext cx="1920240" cy="868680"/>
          </a:xfrm>
          <a:prstGeom prst="roundRect">
            <a:avLst/>
          </a:prstGeom>
          <a:solidFill>
            <a:srgbClr val="D30F59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modelo fundacional
(geração)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263640" y="3355848"/>
            <a:ext cx="0" cy="557784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029200" y="3931920"/>
            <a:ext cx="2194560" cy="548640"/>
          </a:xfrm>
          <a:prstGeom prst="roundRect">
            <a:avLst/>
          </a:prstGeom>
          <a:solidFill>
            <a:srgbClr val="70AD47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resposta com citações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800600"/>
            <a:ext cx="6675120" cy="566928"/>
          </a:xfrm>
          <a:prstGeom prst="roundRect">
            <a:avLst/>
          </a:prstGeom>
          <a:noFill/>
          <a:ln w="15875">
            <a:solidFill>
              <a:srgbClr val="F57E2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57E20"/>
                </a:solidFill>
                <a:latin typeface="Calibri"/>
              </a:rPr>
              <a:t>IAM · KMS · Guardrails · CloudWatch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577840"/>
            <a:ext cx="6675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  <a:latin typeface="Calibri"/>
              </a:rPr>
              <a:t>segurança e monitoramento envolvem o fluxo inteiro</a:t>
            </a:r>
          </a:p>
        </p:txBody>
      </p:sp>
    </p:spTree>
    <p:extLst>
      <p:ext uri="{BB962C8B-B14F-4D97-AF65-F5344CB8AC3E}">
        <p14:creationId xmlns:p14="http://schemas.microsoft.com/office/powerpoint/2010/main" val="3077176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Azure AI Search suporta busca textual, vetorial e híbrida para fundamentar respostas de aplicações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GenAI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 plataforma pode se integrar a Azure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OpenAI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,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Foundry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, Key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Vault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, Azure Monitor e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Application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Insights.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O desenho corporativo deve incluir filtros de permissão, metadados, logs e validação das citações. </a:t>
            </a:r>
            <a:br>
              <a:rPr lang="pt-BR" sz="2133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</a:br>
            <a:br>
              <a:rPr lang="pt-BR" sz="2133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</a:br>
            <a:r>
              <a:rPr lang="pt-BR" sz="1300" dirty="0">
                <a:solidFill>
                  <a:srgbClr val="D30F59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Fontes e referências: Microsoft </a:t>
            </a:r>
            <a:r>
              <a:rPr lang="pt-BR" sz="1300" dirty="0" err="1">
                <a:solidFill>
                  <a:srgbClr val="D30F59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Learn</a:t>
            </a:r>
            <a:r>
              <a:rPr lang="pt-BR" sz="1300" dirty="0">
                <a:solidFill>
                  <a:srgbClr val="D30F59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: RAG e IA generativa no Azure AI Search. 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2673214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3600" dirty="0">
                <a:latin typeface="GothamHTF-Book" pitchFamily="2" charset="0"/>
              </a:rPr>
              <a:t>ARQUITETURA NO </a:t>
            </a:r>
            <a:r>
              <a:rPr lang="pt-BR" sz="3600" dirty="0">
                <a:solidFill>
                  <a:srgbClr val="D30F59"/>
                </a:solidFill>
                <a:latin typeface="GothamHTF-Book" pitchFamily="2" charset="0"/>
              </a:rPr>
              <a:t>AZURE</a:t>
            </a:r>
            <a:r>
              <a:rPr lang="pt-BR" sz="3600" dirty="0">
                <a:latin typeface="GothamHTF-Book" pitchFamily="2" charset="0"/>
              </a:rPr>
              <a:t> </a:t>
            </a:r>
            <a:endParaRPr lang="en-US" sz="3600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48640" y="2468880"/>
            <a:ext cx="1691640" cy="868680"/>
          </a:xfrm>
          <a:prstGeom prst="roundRect">
            <a:avLst/>
          </a:prstGeom>
          <a:noFill/>
          <a:ln w="1587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fontes
corporativas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258568" y="2898648"/>
            <a:ext cx="374904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651760" y="2331720"/>
            <a:ext cx="2240280" cy="114300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Azure AI Search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352044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5B9BD5"/>
                </a:solidFill>
                <a:latin typeface="Calibri"/>
              </a:rPr>
              <a:t>busca textual + vetorial + híbrida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910328" y="2898648"/>
            <a:ext cx="374904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303520" y="2468880"/>
            <a:ext cx="1920240" cy="868680"/>
          </a:xfrm>
          <a:prstGeom prst="roundRect">
            <a:avLst/>
          </a:prstGeom>
          <a:solidFill>
            <a:srgbClr val="D30F59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Azure OpenAI /
Foundry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263640" y="3355848"/>
            <a:ext cx="0" cy="557784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029200" y="3931920"/>
            <a:ext cx="2194560" cy="548640"/>
          </a:xfrm>
          <a:prstGeom prst="roundRect">
            <a:avLst/>
          </a:prstGeom>
          <a:solidFill>
            <a:srgbClr val="70AD47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resposta com citações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800600"/>
            <a:ext cx="6675120" cy="566928"/>
          </a:xfrm>
          <a:prstGeom prst="roundRect">
            <a:avLst/>
          </a:prstGeom>
          <a:noFill/>
          <a:ln w="15875">
            <a:solidFill>
              <a:srgbClr val="F57E2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57E20"/>
                </a:solidFill>
                <a:latin typeface="Calibri"/>
              </a:rPr>
              <a:t>Key Vault · Azure Monitor · App Insights · filtros de permissão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577840"/>
            <a:ext cx="6675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  <a:latin typeface="Calibri"/>
              </a:rPr>
              <a:t>desenho corporativo: logs, permissões e validação das citações</a:t>
            </a:r>
          </a:p>
        </p:txBody>
      </p:sp>
    </p:spTree>
    <p:extLst>
      <p:ext uri="{BB962C8B-B14F-4D97-AF65-F5344CB8AC3E}">
        <p14:creationId xmlns:p14="http://schemas.microsoft.com/office/powerpoint/2010/main" val="2739281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Vertex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AI RAG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Engine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facilita a construção de aplicações de LLM aumentadas por contexto.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Vertex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AI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Text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Embeddings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e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Vertex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AI Vector Search apoiam vetorização, armazenamento e recuperação.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IAM, CMEK, VPC Service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Controls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, dashboards e Cloud Trace apoiam segurança e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observabilidade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. </a:t>
            </a:r>
            <a:br>
              <a:rPr lang="pt-BR" sz="2133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</a:br>
            <a:br>
              <a:rPr lang="pt-BR" sz="2133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</a:br>
            <a:r>
              <a:rPr lang="pt-BR" sz="1300" dirty="0">
                <a:solidFill>
                  <a:srgbClr val="D30F59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Fontes e referências: Google Cloud </a:t>
            </a:r>
            <a:r>
              <a:rPr lang="pt-BR" sz="1300" dirty="0" err="1">
                <a:solidFill>
                  <a:srgbClr val="D30F59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Vertex</a:t>
            </a:r>
            <a:r>
              <a:rPr lang="pt-BR" sz="1300" dirty="0">
                <a:solidFill>
                  <a:srgbClr val="D30F59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AI RAG </a:t>
            </a:r>
            <a:r>
              <a:rPr lang="pt-BR" sz="1300" dirty="0" err="1">
                <a:solidFill>
                  <a:srgbClr val="D30F59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Engine</a:t>
            </a:r>
            <a:r>
              <a:rPr lang="pt-BR" sz="1300" dirty="0">
                <a:solidFill>
                  <a:srgbClr val="D30F59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docs. 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2673214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3600" dirty="0">
                <a:latin typeface="GothamHTF-Book" pitchFamily="2" charset="0"/>
              </a:rPr>
              <a:t>ARQUITETURA NO </a:t>
            </a:r>
            <a:r>
              <a:rPr lang="pt-BR" sz="3600" dirty="0">
                <a:solidFill>
                  <a:srgbClr val="D30F59"/>
                </a:solidFill>
                <a:latin typeface="GothamHTF-Book" pitchFamily="2" charset="0"/>
              </a:rPr>
              <a:t>GOOGLE CLOUD </a:t>
            </a:r>
            <a:endParaRPr lang="en-US" sz="3600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48640" y="2468880"/>
            <a:ext cx="1691640" cy="868680"/>
          </a:xfrm>
          <a:prstGeom prst="roundRect">
            <a:avLst/>
          </a:prstGeom>
          <a:noFill/>
          <a:ln w="1587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fontes
corporativas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258568" y="2898648"/>
            <a:ext cx="374904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651760" y="2331720"/>
            <a:ext cx="2240280" cy="114300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Vertex AI
RAG 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352044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5B9BD5"/>
                </a:solidFill>
                <a:latin typeface="Calibri"/>
              </a:rPr>
              <a:t>Text Embeddings + Vector Search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910328" y="2898648"/>
            <a:ext cx="374904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303520" y="2468880"/>
            <a:ext cx="1920240" cy="868680"/>
          </a:xfrm>
          <a:prstGeom prst="roundRect">
            <a:avLst/>
          </a:prstGeom>
          <a:solidFill>
            <a:srgbClr val="D30F59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LLM no Vertex
(geração)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263640" y="3355848"/>
            <a:ext cx="0" cy="557784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029200" y="3931920"/>
            <a:ext cx="2194560" cy="548640"/>
          </a:xfrm>
          <a:prstGeom prst="roundRect">
            <a:avLst/>
          </a:prstGeom>
          <a:solidFill>
            <a:srgbClr val="70AD47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resposta com citações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800600"/>
            <a:ext cx="6675120" cy="566928"/>
          </a:xfrm>
          <a:prstGeom prst="roundRect">
            <a:avLst/>
          </a:prstGeom>
          <a:noFill/>
          <a:ln w="15875">
            <a:solidFill>
              <a:srgbClr val="F57E2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57E20"/>
                </a:solidFill>
                <a:latin typeface="Calibri"/>
              </a:rPr>
              <a:t>IAM · CMEK · VPC Service Controls · Cloud Trace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577840"/>
            <a:ext cx="6675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  <a:latin typeface="Calibri"/>
              </a:rPr>
              <a:t>o mesmo padrão dos outros clouds, com as peças do Google</a:t>
            </a:r>
          </a:p>
        </p:txBody>
      </p:sp>
    </p:spTree>
    <p:extLst>
      <p:ext uri="{BB962C8B-B14F-4D97-AF65-F5344CB8AC3E}">
        <p14:creationId xmlns:p14="http://schemas.microsoft.com/office/powerpoint/2010/main" val="40491750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O RAG se tornou uma camada estrutural de produtos corporativos de IA generativa.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 disputa competitiva está menos no modelo isolado e mais na qualidade da recuperação sobre dados privados e confiáveis.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Tendências: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agentic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RAG, recuperação multimodal, avaliação contínua, governança de dados e integração com fluxos corporativos. </a:t>
            </a:r>
            <a:br>
              <a:rPr lang="pt-BR" sz="2133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</a:br>
            <a:br>
              <a:rPr lang="pt-BR" sz="2133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</a:br>
            <a:r>
              <a:rPr lang="pt-BR" sz="1300" dirty="0">
                <a:solidFill>
                  <a:srgbClr val="D30F59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Fontes e referências: Aula 02 RAG; Microsoft </a:t>
            </a:r>
            <a:r>
              <a:rPr lang="pt-BR" sz="1300" dirty="0" err="1">
                <a:solidFill>
                  <a:srgbClr val="D30F59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Learn</a:t>
            </a:r>
            <a:r>
              <a:rPr lang="pt-BR" sz="1300" dirty="0">
                <a:solidFill>
                  <a:srgbClr val="D30F59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; AWS; Google Cloud. 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2673214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3600" dirty="0">
                <a:latin typeface="GothamHTF-Book" pitchFamily="2" charset="0"/>
              </a:rPr>
              <a:t>MERCADO, CASES E </a:t>
            </a:r>
            <a:r>
              <a:rPr lang="pt-BR" sz="3600" dirty="0">
                <a:solidFill>
                  <a:srgbClr val="D30F59"/>
                </a:solidFill>
                <a:latin typeface="GothamHTF-Book" pitchFamily="2" charset="0"/>
              </a:rPr>
              <a:t>TENDÊNCIAS </a:t>
            </a:r>
            <a:endParaRPr lang="en-US" sz="3600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48640" y="1828800"/>
            <a:ext cx="3154680" cy="11430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D30F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  <a:r>
              <a:rPr sz="1250" b="1">
                <a:solidFill>
                  <a:srgbClr val="D30F59"/>
                </a:solidFill>
                <a:latin typeface="Calibri"/>
              </a:rPr>
              <a:t>RAG virou camada estrutural</a:t>
            </a:r>
          </a:p>
          <a:p>
            <a:pPr algn="ctr"/>
            <a:r>
              <a:rPr sz="1000">
                <a:solidFill>
                  <a:srgbClr val="AFAFAF"/>
                </a:solidFill>
                <a:latin typeface="Calibri"/>
              </a:rPr>
              <a:t>base dos produtos corporativos de GenAI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77639" y="1828800"/>
            <a:ext cx="3154680" cy="11430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  <a:r>
              <a:rPr sz="1250" b="1">
                <a:solidFill>
                  <a:srgbClr val="5B9BD5"/>
                </a:solidFill>
                <a:latin typeface="Calibri"/>
              </a:rPr>
              <a:t>A disputa mudou</a:t>
            </a:r>
          </a:p>
          <a:p>
            <a:pPr algn="ctr"/>
            <a:r>
              <a:rPr sz="1000">
                <a:solidFill>
                  <a:srgbClr val="AFAFAF"/>
                </a:solidFill>
                <a:latin typeface="Calibri"/>
              </a:rPr>
              <a:t>vale mais recuperar bem os SEUS dados
que o modelo isolado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246120"/>
            <a:ext cx="3154680" cy="11430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F57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  <a:r>
              <a:rPr sz="1250" b="1">
                <a:solidFill>
                  <a:srgbClr val="F57E20"/>
                </a:solidFill>
                <a:latin typeface="Calibri"/>
              </a:rPr>
              <a:t>Tendências</a:t>
            </a:r>
          </a:p>
          <a:p>
            <a:pPr algn="ctr"/>
            <a:r>
              <a:rPr sz="1000">
                <a:solidFill>
                  <a:srgbClr val="AFAFAF"/>
                </a:solidFill>
                <a:latin typeface="Calibri"/>
              </a:rPr>
              <a:t>agentic RAG · recuperação multimodal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77639" y="3246120"/>
            <a:ext cx="3154680" cy="11430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  <a:r>
              <a:rPr sz="1250" b="1">
                <a:solidFill>
                  <a:srgbClr val="70AD47"/>
                </a:solidFill>
                <a:latin typeface="Calibri"/>
              </a:rPr>
              <a:t>Operação contínua</a:t>
            </a:r>
          </a:p>
          <a:p>
            <a:pPr algn="ctr"/>
            <a:r>
              <a:rPr sz="1000">
                <a:solidFill>
                  <a:srgbClr val="AFAFAF"/>
                </a:solidFill>
                <a:latin typeface="Calibri"/>
              </a:rPr>
              <a:t>avaliação, governança e integração
aos fluxos corporativos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75488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  <a:latin typeface="Calibri"/>
              </a:rPr>
              <a:t>o diferencial competitivo é o seu dado — bem recuperado</a:t>
            </a:r>
          </a:p>
        </p:txBody>
      </p:sp>
    </p:spTree>
    <p:extLst>
      <p:ext uri="{BB962C8B-B14F-4D97-AF65-F5344CB8AC3E}">
        <p14:creationId xmlns:p14="http://schemas.microsoft.com/office/powerpoint/2010/main" val="15936166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Selecionar uma base documental pequena e preparar os arquivos para ingestão.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Criar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chunks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, gerar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embeddings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e indexar o conteúdo com metadados.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Executar recuperação híbrida, aplicar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re-ranking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e gerar respostas com citações.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Registrar métricas simples: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top_k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, trechos recuperados, resposta, fontes, latência e custo estimado. </a:t>
            </a:r>
            <a:br>
              <a:rPr lang="pt-BR" sz="2133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</a:br>
            <a:br>
              <a:rPr lang="pt-BR" sz="2133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</a:br>
            <a:r>
              <a:rPr lang="pt-BR" sz="1300" dirty="0">
                <a:solidFill>
                  <a:srgbClr val="D30F59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Fontes e referências: Aula 02 RAG. 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2673214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3600" dirty="0">
                <a:latin typeface="GothamHTF-Book" pitchFamily="2" charset="0"/>
              </a:rPr>
              <a:t>HANDS-ON: PIPELINE </a:t>
            </a:r>
            <a:r>
              <a:rPr lang="pt-BR" sz="3600" dirty="0">
                <a:solidFill>
                  <a:srgbClr val="D30F59"/>
                </a:solidFill>
                <a:latin typeface="GothamHTF-Book" pitchFamily="2" charset="0"/>
              </a:rPr>
              <a:t>RAG COMPLETO </a:t>
            </a:r>
            <a:endParaRPr lang="en-US" sz="3600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731520" y="1828800"/>
            <a:ext cx="457200" cy="457200"/>
          </a:xfrm>
          <a:prstGeom prst="ellipse">
            <a:avLst/>
          </a:prstGeom>
          <a:solidFill>
            <a:srgbClr val="D30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17320" y="1828800"/>
            <a:ext cx="5577840" cy="4572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preparar a base documental para ingestão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" y="2578608"/>
            <a:ext cx="457200" cy="457200"/>
          </a:xfrm>
          <a:prstGeom prst="ellipse">
            <a:avLst/>
          </a:prstGeom>
          <a:solidFill>
            <a:srgbClr val="D30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17320" y="2578608"/>
            <a:ext cx="5577840" cy="4572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chunks + embeddings + indexação com metadados</a:t>
            </a:r>
          </a:p>
        </p:txBody>
      </p:sp>
      <p:sp>
        <p:nvSpPr>
          <p:cNvPr id="22" name="Oval 21"/>
          <p:cNvSpPr/>
          <p:nvPr/>
        </p:nvSpPr>
        <p:spPr>
          <a:xfrm>
            <a:off x="731520" y="3328415"/>
            <a:ext cx="457200" cy="457200"/>
          </a:xfrm>
          <a:prstGeom prst="ellipse">
            <a:avLst/>
          </a:prstGeom>
          <a:solidFill>
            <a:srgbClr val="D30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417320" y="3328415"/>
            <a:ext cx="5577840" cy="4572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busca híbrida + re-ranking + resposta com citações</a:t>
            </a:r>
          </a:p>
        </p:txBody>
      </p:sp>
      <p:sp>
        <p:nvSpPr>
          <p:cNvPr id="24" name="Oval 23"/>
          <p:cNvSpPr/>
          <p:nvPr/>
        </p:nvSpPr>
        <p:spPr>
          <a:xfrm>
            <a:off x="731520" y="4078224"/>
            <a:ext cx="457200" cy="457200"/>
          </a:xfrm>
          <a:prstGeom prst="ellipse">
            <a:avLst/>
          </a:prstGeom>
          <a:solidFill>
            <a:srgbClr val="D30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17320" y="4078224"/>
            <a:ext cx="5577840" cy="4572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registrar métricas: top_k, fontes, latência, custo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965192"/>
            <a:ext cx="6263640" cy="54864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notebook: aula02_handson.ipynb — o pipeline RAG completo, de ponta a ponta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742432"/>
            <a:ext cx="6263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  <a:latin typeface="Calibri"/>
              </a:rPr>
              <a:t>cada etapa da teoria vira uma célula executável</a:t>
            </a:r>
          </a:p>
        </p:txBody>
      </p:sp>
    </p:spTree>
    <p:extLst>
      <p:ext uri="{BB962C8B-B14F-4D97-AF65-F5344CB8AC3E}">
        <p14:creationId xmlns:p14="http://schemas.microsoft.com/office/powerpoint/2010/main" val="258341565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RAG combina memória paramétrica do LLM com memória não paramétrica em bases externas.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O pipeline passa por ingestão, tratamento,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chunking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,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embeddings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, indexação, recuperação e geração.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Busca lexical, vetorial e híbrida têm papéis complementares em aplicações corporativas. 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Avaliação, </a:t>
            </a: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observabilidade</a:t>
            </a: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, segurança e governança são indispensáveis para levar RAG à produção. </a:t>
            </a:r>
            <a:br>
              <a:rPr lang="pt-BR" sz="2133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</a:br>
            <a:br>
              <a:rPr lang="pt-BR" sz="2133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</a:br>
            <a:r>
              <a:rPr lang="pt-BR" sz="1300" dirty="0">
                <a:solidFill>
                  <a:srgbClr val="D30F59"/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Fontes e referências: Aula 02 RAG. 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2673214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3600" dirty="0">
                <a:latin typeface="GothamHTF-Book" pitchFamily="2" charset="0"/>
              </a:rPr>
              <a:t>O QUE VOCÊ VIU </a:t>
            </a:r>
            <a:r>
              <a:rPr lang="pt-BR" sz="3600" dirty="0">
                <a:solidFill>
                  <a:srgbClr val="D30F59"/>
                </a:solidFill>
                <a:latin typeface="GothamHTF-Book" pitchFamily="2" charset="0"/>
              </a:rPr>
              <a:t>NESTA AULA </a:t>
            </a:r>
            <a:endParaRPr lang="en-US" sz="3600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640080" y="1828800"/>
            <a:ext cx="457200" cy="457200"/>
          </a:xfrm>
          <a:prstGeom prst="ellipse">
            <a:avLst/>
          </a:prstGeom>
          <a:solidFill>
            <a:srgbClr val="D30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25880" y="1828800"/>
            <a:ext cx="5852160" cy="4572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duas memórias: paramétrica (pesos) + não paramétrica (docs)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68680" y="2304288"/>
            <a:ext cx="0" cy="374904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640080" y="2715768"/>
            <a:ext cx="457200" cy="457200"/>
          </a:xfrm>
          <a:prstGeom prst="ellipse">
            <a:avLst/>
          </a:prstGeom>
          <a:solidFill>
            <a:srgbClr val="D30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25880" y="2715768"/>
            <a:ext cx="5852160" cy="4572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pipeline: ingestão → tratamento → chunking → embeddings → índice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68680" y="3191256"/>
            <a:ext cx="0" cy="374904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640080" y="3602735"/>
            <a:ext cx="457200" cy="457200"/>
          </a:xfrm>
          <a:prstGeom prst="ellipse">
            <a:avLst/>
          </a:prstGeom>
          <a:solidFill>
            <a:srgbClr val="D30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25880" y="3602735"/>
            <a:ext cx="5852160" cy="4572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buscas complementares: lexical, vetorial e híbrida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8680" y="4078223"/>
            <a:ext cx="0" cy="374904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640080" y="4489703"/>
            <a:ext cx="457200" cy="457200"/>
          </a:xfrm>
          <a:prstGeom prst="ellipse">
            <a:avLst/>
          </a:prstGeom>
          <a:solidFill>
            <a:srgbClr val="D30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25880" y="4489703"/>
            <a:ext cx="5852160" cy="4572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produção: avaliação, observabilidade, segurança e governança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468111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  <a:latin typeface="Calibri"/>
              </a:rPr>
              <a:t>do conceito ao sistema auditável em produção</a:t>
            </a:r>
          </a:p>
        </p:txBody>
      </p:sp>
    </p:spTree>
    <p:extLst>
      <p:ext uri="{BB962C8B-B14F-4D97-AF65-F5344CB8AC3E}">
        <p14:creationId xmlns:p14="http://schemas.microsoft.com/office/powerpoint/2010/main" val="999045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3359150" y="2286001"/>
            <a:ext cx="8390466" cy="413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b" anchorCtr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LEWIS, P. et al. 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Retrieval-Augmented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Generation for 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Knowledge-Intensive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NLP 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Tasks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. 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Advances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in Neural 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Information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Processing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Systems, 2020. Disponível em: https://arxiv.org/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abs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/2005.11401.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14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GAO, Y. et al. 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Retrieval-Augmented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Generation for 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Large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Language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Models: A 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Survey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. 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arXiv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, 2023. Disponível em: https://arxiv.org/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abs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/2312.10997.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14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MICROSOFT. 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Retrieval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Augmented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Generation (RAG) in Azure AI Search. Microsoft 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Learn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, 2026. Disponível em: https://learn.microsoft.com/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azure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/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search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/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retrieval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-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augmented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-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generation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-overview.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14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AMAZON WEB SERVICES. 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Retrieve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data 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and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generate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AI responses 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with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Knowledge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Bases for 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Amazon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Bedrock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. AWS 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Documentation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. Disponível em: https://docs.aws.amazon.com/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bedrock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/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latest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/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userguide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/knowledge-base.html.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14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GOOGLE CLOUD. 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Vertex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AI RAG 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Engine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overview. Google Cloud 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Documentation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. Disponível em: https://cloud.google.com/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vertex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-ai/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generative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-ai/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docs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/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rag-engine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/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rag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-overview.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14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LANGCHAIN. 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Text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Splitters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. 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LangChain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Documentation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. Disponível em: https://python.langchain.com/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docs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/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concepts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/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text_splitters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/. </a:t>
            </a:r>
            <a:endParaRPr lang="pt-BR" sz="1400" dirty="0">
              <a:solidFill>
                <a:srgbClr val="D30F59"/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2673214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3600" dirty="0">
                <a:latin typeface="GothamHTF-Book" pitchFamily="2" charset="0"/>
              </a:rPr>
              <a:t>REFERÊNCIAS</a:t>
            </a:r>
            <a:endParaRPr lang="en-US" sz="3600" dirty="0">
              <a:solidFill>
                <a:srgbClr val="D30F59"/>
              </a:solidFill>
              <a:latin typeface="GothamHTF-Book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246340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3359150" y="2286001"/>
            <a:ext cx="8390466" cy="413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b" anchorCtr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MALKOV, Y.; YASHUNIN, D. 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Efficient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and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robust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approximate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nearest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neighbor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search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using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Hierarchical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Navigable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Small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World 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graphs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. IEEE TPAMI, 2018.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14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ROBERTSON, S.; ZARAGOZA, H. The 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Probabilistic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Relevance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Framework: BM25 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and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Beyond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. 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Foundations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and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Trends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in 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Information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Retrieval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, 2009.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14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ES, S. et al. RAGAS: 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Automated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Evaluation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of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Retrieval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Augmented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Generation. 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arXiv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, 2023. Disponível em: https://arxiv.org/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abs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/2309.15217.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14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SAAD-FALCON, J. et al. ARES: 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An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Automated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Evaluation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Framework for 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Retrieval-Augmented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Generation Systems. 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arXiv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, 2024. Disponível em: https://arxiv.org/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abs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/2311.09476.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14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MISHRA, P. P. et al. A 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Systematic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Framework for Enterprise 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Knowledge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Retrieval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: 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Leveraging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LLM-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Generated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Metadata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to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Enhance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RAG Systems. 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arXiv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, 2025.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14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YOUSUF, R. B. et al. 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Utilizing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Metadata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for 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Better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Retrieval-Augmented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Generation. 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arXiv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, 2025.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14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ALLAMRAJU, A. et al. 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Breaking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It Down: Domain-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Aware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Semantic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Segmentation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for 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Retrieval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Augmented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Generation. 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arXiv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, 2025.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14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ANAND, M. 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Semantic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Chunking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: A 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Developer’s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Guide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to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</a:t>
            </a:r>
            <a:r>
              <a:rPr lang="pt-BR" sz="14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Smarter</a:t>
            </a:r>
            <a:r>
              <a:rPr lang="pt-BR" sz="14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 RAG Data. You.com, 2026. </a:t>
            </a:r>
            <a:endParaRPr lang="pt-BR" sz="1400" dirty="0">
              <a:solidFill>
                <a:srgbClr val="D30F59"/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2673214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3600" dirty="0">
                <a:latin typeface="GothamHTF-Book" pitchFamily="2" charset="0"/>
              </a:rPr>
              <a:t>REFERÊNCIAS</a:t>
            </a:r>
            <a:endParaRPr lang="en-US" sz="3600" dirty="0">
              <a:solidFill>
                <a:srgbClr val="D30F59"/>
              </a:solidFill>
              <a:latin typeface="GothamHTF-Book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126600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Google Shape;1290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527"/>
              </a:gs>
              <a:gs pos="37000">
                <a:srgbClr val="000000"/>
              </a:gs>
              <a:gs pos="100000">
                <a:srgbClr val="000000"/>
              </a:gs>
            </a:gsLst>
            <a:lin ang="5400000" scaled="0"/>
          </a:gra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Clr>
                <a:srgbClr val="000000"/>
              </a:buClr>
              <a:buSzPts val="2700"/>
            </a:pPr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1" name="Google Shape;1291;p6"/>
          <p:cNvSpPr/>
          <p:nvPr/>
        </p:nvSpPr>
        <p:spPr>
          <a:xfrm>
            <a:off x="2353030" y="-259043"/>
            <a:ext cx="7485942" cy="7376085"/>
          </a:xfrm>
          <a:custGeom>
            <a:avLst/>
            <a:gdLst/>
            <a:ahLst/>
            <a:cxnLst/>
            <a:rect l="l" t="t" r="r" b="b"/>
            <a:pathLst>
              <a:path w="3648669" h="3595124" extrusionOk="0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9A0D3B">
                  <a:alpha val="50588"/>
                </a:srgbClr>
              </a:gs>
              <a:gs pos="18000">
                <a:srgbClr val="9A0D3B">
                  <a:alpha val="50588"/>
                </a:srgbClr>
              </a:gs>
              <a:gs pos="78000">
                <a:srgbClr val="9A0D3B">
                  <a:alpha val="0"/>
                </a:srgbClr>
              </a:gs>
              <a:gs pos="100000">
                <a:srgbClr val="9A0D3B">
                  <a:alpha val="0"/>
                </a:srgbClr>
              </a:gs>
            </a:gsLst>
            <a:lin ang="8100000" scaled="0"/>
          </a:gra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>
              <a:buClr>
                <a:srgbClr val="000000"/>
              </a:buClr>
              <a:buSzPts val="4050"/>
            </a:pPr>
            <a:endParaRPr sz="27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92" name="Google Shape;1292;p6"/>
          <p:cNvSpPr/>
          <p:nvPr/>
        </p:nvSpPr>
        <p:spPr>
          <a:xfrm>
            <a:off x="297657" y="730917"/>
            <a:ext cx="80963" cy="80963"/>
          </a:xfrm>
          <a:prstGeom prst="rect">
            <a:avLst/>
          </a:prstGeom>
          <a:noFill/>
          <a:ln w="12700" cap="flat" cmpd="sng">
            <a:solidFill>
              <a:srgbClr val="F57E20">
                <a:alpha val="40000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Clr>
                <a:srgbClr val="000000"/>
              </a:buClr>
              <a:buSzPts val="4050"/>
            </a:pPr>
            <a:endParaRPr sz="27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293" name="Google Shape;1293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40150" y="2949830"/>
            <a:ext cx="5911702" cy="9583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68740B4C0987B4D86879E800A26E446" ma:contentTypeVersion="16" ma:contentTypeDescription="Crie um novo documento." ma:contentTypeScope="" ma:versionID="dae3bc908e15ec8f9115713424d3a2bb">
  <xsd:schema xmlns:xsd="http://www.w3.org/2001/XMLSchema" xmlns:xs="http://www.w3.org/2001/XMLSchema" xmlns:p="http://schemas.microsoft.com/office/2006/metadata/properties" xmlns:ns2="2220af93-035a-443f-80b0-3b9b401ad9a6" xmlns:ns3="d48fd270-4a57-47e1-b674-c7d4969804ad" targetNamespace="http://schemas.microsoft.com/office/2006/metadata/properties" ma:root="true" ma:fieldsID="2432d4b2454c185ef2449b66e2f5b84c" ns2:_="" ns3:_="">
    <xsd:import namespace="2220af93-035a-443f-80b0-3b9b401ad9a6"/>
    <xsd:import namespace="d48fd270-4a57-47e1-b674-c7d4969804a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ObjectDetectorVersion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20af93-035a-443f-80b0-3b9b401ad9a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e2398b20-2c76-408b-9565-673d41e5947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8fd270-4a57-47e1-b674-c7d4969804ad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04c2c100-d553-4c8e-a0cc-71e94ec5782d}" ma:internalName="TaxCatchAll" ma:showField="CatchAllData" ma:web="d48fd270-4a57-47e1-b674-c7d4969804a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48fd270-4a57-47e1-b674-c7d4969804ad" xsi:nil="true"/>
    <lcf76f155ced4ddcb4097134ff3c332f xmlns="2220af93-035a-443f-80b0-3b9b401ad9a6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E5A9B0F-AC15-4894-9D7A-CA887C10239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220af93-035a-443f-80b0-3b9b401ad9a6"/>
    <ds:schemaRef ds:uri="d48fd270-4a57-47e1-b674-c7d4969804a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1516C5A-D68A-49FB-AD3F-888B561E90DD}">
  <ds:schemaRefs>
    <ds:schemaRef ds:uri="http://schemas.microsoft.com/office/2006/metadata/properties"/>
    <ds:schemaRef ds:uri="http://schemas.microsoft.com/office/infopath/2007/PartnerControls"/>
    <ds:schemaRef ds:uri="d48fd270-4a57-47e1-b674-c7d4969804ad"/>
    <ds:schemaRef ds:uri="2220af93-035a-443f-80b0-3b9b401ad9a6"/>
  </ds:schemaRefs>
</ds:datastoreItem>
</file>

<file path=customXml/itemProps3.xml><?xml version="1.0" encoding="utf-8"?>
<ds:datastoreItem xmlns:ds="http://schemas.openxmlformats.org/officeDocument/2006/customXml" ds:itemID="{4F836560-54F8-48A8-8412-C74C596C22F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415</TotalTime>
  <Words>2835</Words>
  <Application>Microsoft Office PowerPoint</Application>
  <PresentationFormat>Widescreen</PresentationFormat>
  <Paragraphs>244</Paragraphs>
  <Slides>40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40</vt:i4>
      </vt:variant>
    </vt:vector>
  </HeadingPairs>
  <TitlesOfParts>
    <vt:vector size="41" baseType="lpstr"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Elisa Batista</dc:creator>
  <cp:lastModifiedBy>Elisa Batista</cp:lastModifiedBy>
  <cp:revision>17</cp:revision>
  <dcterms:created xsi:type="dcterms:W3CDTF">2026-07-06T13:22:28Z</dcterms:created>
  <dcterms:modified xsi:type="dcterms:W3CDTF">2026-07-07T11:53:00Z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0x010100968740B4C0987B4D86879E800A26E446</vt:lpwstr>
  </property>
  <property fmtid="{D5CDD505-2E9C-101B-9397-08002B2CF9AE}" pid="3" name="MediaServiceImageTags">
    <vt:lpwstr/>
  </property>
</Properties>
</file>