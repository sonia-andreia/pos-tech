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772" r:id="rId2"/>
    <p:sldId id="773" r:id="rId3"/>
    <p:sldId id="774" r:id="rId4"/>
    <p:sldId id="775" r:id="rId5"/>
    <p:sldId id="776" r:id="rId6"/>
    <p:sldId id="777" r:id="rId7"/>
    <p:sldId id="778" r:id="rId8"/>
    <p:sldId id="779" r:id="rId9"/>
    <p:sldId id="780" r:id="rId10"/>
    <p:sldId id="781" r:id="rId11"/>
    <p:sldId id="782" r:id="rId12"/>
    <p:sldId id="783" r:id="rId13"/>
    <p:sldId id="784" r:id="rId14"/>
    <p:sldId id="785" r:id="rId15"/>
    <p:sldId id="786" r:id="rId16"/>
    <p:sldId id="787" r:id="rId17"/>
    <p:sldId id="788" r:id="rId18"/>
    <p:sldId id="789" r:id="rId19"/>
    <p:sldId id="790" r:id="rId20"/>
    <p:sldId id="791" r:id="rId21"/>
    <p:sldId id="792" r:id="rId22"/>
    <p:sldId id="793" r:id="rId23"/>
    <p:sldId id="794" r:id="rId24"/>
    <p:sldId id="795" r:id="rId25"/>
    <p:sldId id="796" r:id="rId26"/>
    <p:sldId id="797" r:id="rId27"/>
    <p:sldId id="798" r:id="rId28"/>
    <p:sldId id="799" r:id="rId29"/>
    <p:sldId id="800" r:id="rId30"/>
    <p:sldId id="801" r:id="rId31"/>
    <p:sldId id="802" r:id="rId32"/>
    <p:sldId id="803" r:id="rId33"/>
    <p:sldId id="805" r:id="rId34"/>
    <p:sldId id="804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customXml" Target="../customXml/item1.xml"/><Relationship Id="rId42" Type="http://schemas.openxmlformats.org/officeDocument/2006/relationships/customXml" Target="../customXml/item2.xml"/><Relationship Id="rId43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221E-5A2F-496B-AB2F-0D1D2F71E6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03B2-33B5-4C85-89C1-87752B9186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ECE1-6587-496B-B248-649FB96D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EE2F41-C1B9-4F9A-9969-08E055B53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E5046-1F12-4F5A-93B7-5B82BAE4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942-6EA7-483A-A267-5B505C8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5C86A5-F3C0-4BCC-8DE3-3EB41564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145B-BC9B-4BC1-BC95-416F8FC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81121-E8E8-481B-B970-EB2EF093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AC847-246F-4937-811C-9F400D12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7858C-0F67-4107-8B48-0101DEC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F56298-E242-4875-83F8-0BD5F29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8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EBC3F-B731-447C-86C7-D8AA6A9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ADBF64-50EA-49C9-BB50-679DE7D6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FA358-0FB7-4B94-879C-6A5019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B41345-4F91-4EFE-90BD-5E66CD2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B92F9-8F5F-4CE2-B8BC-5E065F10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2FA7-7816-4AD6-87AB-6777D08F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06A82-ADEE-4B7D-9B34-AA50939E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D730F-C4CA-4292-91CD-EDD11CF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48ACD-1A1B-4732-BC6D-BA8E89CD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32A61-F7FB-4DFB-9397-1E28D196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1DD3F-42AC-4878-8663-E43952D0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8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34A8-1A16-4DE8-BE05-39AA4F72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0FA11-6FA0-43DD-AB0F-5E874540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44323-B483-41CF-B124-7B790220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090C84-46EF-4306-AC8C-6762E06BD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14587-A3E9-440A-9599-FA750A7DA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D55913-759D-4271-A081-E28B8245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3C52D7-ABD7-4D0F-B893-A951C02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7E252-5915-42AD-802A-948210B1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70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A943-4154-45BB-89BC-D7259B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BECFA6-1BCD-442E-95A7-C0177EDA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A38AD5-A5FA-4A16-B70B-27D50CC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A6F2B-CD46-499C-98B9-9A75D098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4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06174-D7D8-4DBF-B5D6-FB237D9F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937C1A-B955-4FD5-AC63-F49541A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75C90-A2BB-4A65-901E-5B0955A4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A24A-AD29-4FB8-9E15-F919705E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3B837-65E8-4B42-8BA9-E1A3DCF1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F24F6-A6E4-4A8E-889D-1E75A2E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B8F9-36FB-48EF-9845-AECF1F6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6E588-EEB7-4315-AE84-61165B72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339F43-49DF-4B10-9576-8D14A84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88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937-881E-4414-9F5D-370B0085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3CE69E-6E6E-49A0-919A-9B381236E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6E0285-2E2B-49AE-AB18-1AAC8F10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518D9-1041-4310-983A-B0C0EF3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B941A-14BD-43F6-BE9B-F900338E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62DC-5C88-4F0B-B276-56B7C45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05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F3997-BFE8-4415-808B-3365F202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28CE38-1523-4C63-84B9-9DBD0B83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95A13-8701-4348-9F51-377B56E0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BBC08-BC26-4F81-899A-16D9EDF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7749E-517F-44D9-9C0D-9300594C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4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D9735-7EE3-442F-A56E-7291019CD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7DB0B-FEE8-4AED-A6B7-CC2AB308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A4004-639A-4D85-90A4-58FD36E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90181B-D0C3-4D0F-8D11-92B57F4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4CB82-63AA-402F-8D2C-52E8C71A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8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6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8"/>
          <p:cNvSpPr>
            <a:spLocks noGrp="1"/>
          </p:cNvSpPr>
          <p:nvPr>
            <p:ph type="pic" idx="3"/>
          </p:nvPr>
        </p:nvSpPr>
        <p:spPr>
          <a:xfrm>
            <a:off x="9908820" y="2865127"/>
            <a:ext cx="2283180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8"/>
          <p:cNvSpPr>
            <a:spLocks noGrp="1"/>
          </p:cNvSpPr>
          <p:nvPr>
            <p:ph type="pic" idx="4"/>
          </p:nvPr>
        </p:nvSpPr>
        <p:spPr>
          <a:xfrm>
            <a:off x="6768354" y="2865127"/>
            <a:ext cx="3622284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487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60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1220" y="1544320"/>
            <a:ext cx="2371090" cy="4111506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04860" y="1208941"/>
            <a:ext cx="2371090" cy="2800768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E999-1F8C-4788-8292-1E612B1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5F6EFE-038E-49FC-B690-D6BA04F4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997E1-C832-45DB-A06B-F1B850A4E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368F6-D3BB-4BB9-B9E2-262588308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55B3-F9F4-4CB3-8984-3AE273AB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3">
            <a:extLst>
              <a:ext uri="{FF2B5EF4-FFF2-40B4-BE49-F238E27FC236}">
                <a16:creationId xmlns:a16="http://schemas.microsoft.com/office/drawing/2014/main" id="{CF26E861-816A-5722-A627-FF594DC9B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A0EFF-BBA5-7670-5C4C-AF879D1D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3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D4D55-0308-C543-1D61-065285E2AA30}"/>
              </a:ext>
            </a:extLst>
          </p:cNvPr>
          <p:cNvSpPr txBox="1"/>
          <p:nvPr/>
        </p:nvSpPr>
        <p:spPr>
          <a:xfrm>
            <a:off x="425227" y="438287"/>
            <a:ext cx="9277573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chemeClr val="bg1">
                    <a:lumMod val="75000"/>
                  </a:schemeClr>
                </a:solidFill>
                <a:latin typeface="GothamHTF-Book"/>
                <a:ea typeface="Open Sans"/>
                <a:cs typeface="Open Sans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C41F4-469E-4104-999E-D2986C4584C2}"/>
              </a:ext>
            </a:extLst>
          </p:cNvPr>
          <p:cNvSpPr txBox="1"/>
          <p:nvPr/>
        </p:nvSpPr>
        <p:spPr>
          <a:xfrm>
            <a:off x="425228" y="2013228"/>
            <a:ext cx="9069754" cy="1485150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r>
              <a:rPr lang="en-US" sz="2375" dirty="0">
                <a:solidFill>
                  <a:schemeClr val="bg1"/>
                </a:solidFill>
                <a:latin typeface="GothamHTF-Book"/>
              </a:rPr>
              <a:t>AULA 03</a:t>
            </a:r>
            <a:endParaRPr lang="en-US" sz="240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pt-BR" sz="24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pt-BR" sz="4376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ENGENHARIA DE PROMPT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2F03DA-9662-41DE-94CB-97F721E07590}"/>
              </a:ext>
            </a:extLst>
          </p:cNvPr>
          <p:cNvGrpSpPr/>
          <p:nvPr/>
        </p:nvGrpSpPr>
        <p:grpSpPr>
          <a:xfrm>
            <a:off x="425227" y="5998480"/>
            <a:ext cx="2575150" cy="421231"/>
            <a:chOff x="1070565" y="5176310"/>
            <a:chExt cx="1455806" cy="42123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556EC2-512F-4B55-A86E-C8EAF955F7B9}"/>
                </a:ext>
              </a:extLst>
            </p:cNvPr>
            <p:cNvSpPr/>
            <p:nvPr/>
          </p:nvSpPr>
          <p:spPr>
            <a:xfrm rot="5400000">
              <a:off x="1587852" y="4659023"/>
              <a:ext cx="421232" cy="1455806"/>
            </a:xfrm>
            <a:prstGeom prst="snip1Rect">
              <a:avLst>
                <a:gd name="adj" fmla="val 40787"/>
              </a:avLst>
            </a:prstGeom>
            <a:noFill/>
            <a:ln w="28575">
              <a:solidFill>
                <a:srgbClr val="D30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2700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5A1245-7D7A-4ED9-8D34-71D7E16DE6F3}"/>
                </a:ext>
              </a:extLst>
            </p:cNvPr>
            <p:cNvSpPr txBox="1"/>
            <p:nvPr/>
          </p:nvSpPr>
          <p:spPr>
            <a:xfrm>
              <a:off x="1196555" y="5233037"/>
              <a:ext cx="120382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ctr">
                <a:defRPr sz="1400">
                  <a:latin typeface="Work Sans" panose="00000500000000000000" pitchFamily="2" charset="0"/>
                  <a:ea typeface="Open Sans" pitchFamily="2" charset="0"/>
                  <a:cs typeface="Open Sans" pitchFamily="2" charset="0"/>
                </a:defRPr>
              </a:lvl1pPr>
            </a:lstStyle>
            <a:p>
              <a:r>
                <a:rPr lang="en-US" sz="13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Roboto Light" panose="02000000000000000000" pitchFamily="2" charset="0"/>
                </a:rPr>
                <a:t>PROF. FLAVIO PADILHA</a:t>
              </a:r>
            </a:p>
          </p:txBody>
        </p:sp>
      </p:grpSp>
      <p:sp>
        <p:nvSpPr>
          <p:cNvPr id="8" name="Freeform: Shape 34">
            <a:extLst>
              <a:ext uri="{FF2B5EF4-FFF2-40B4-BE49-F238E27FC236}">
                <a16:creationId xmlns:a16="http://schemas.microsoft.com/office/drawing/2014/main" id="{168852EC-ECA5-AC4A-B1B5-B8BC4F82D821}"/>
              </a:ext>
            </a:extLst>
          </p:cNvPr>
          <p:cNvSpPr/>
          <p:nvPr/>
        </p:nvSpPr>
        <p:spPr>
          <a:xfrm>
            <a:off x="8657986" y="-259043"/>
            <a:ext cx="7485942" cy="7376085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 flip="none" rotWithShape="1"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5400000" scaled="1"/>
            <a:tileRect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9553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2410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FUNDAMENTOS E ARQUITETURA DO PROMPT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Apresentar a Engenharia de Prompt como a disciplina que transforma interação com LLMs em processo sistemático, reprodutível e orientado a resultados.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Conectar a aula ao desenvolvimento de aplicações de IA Generativa: prompts deixam de ser frases soltas e passam a ser artefatos de engenharia.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Explicar que a aula cobre fundamentos, técnicas, controle, segurança, avaliação e ciclo de vida de prompts.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endParaRPr lang="pt-BR" sz="2133" dirty="0">
              <a:solidFill>
                <a:srgbClr val="D30F59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ABERTURA DA AULA 03 -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ENGENHARIA DE PROMPT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331720"/>
            <a:ext cx="1783080" cy="82296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frases soltas
tentativa e erro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58568" y="274320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97480" y="2240280"/>
            <a:ext cx="1965960" cy="10058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ENGENHARIA
DE PROMPT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81728" y="274320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20640" y="2240280"/>
            <a:ext cx="2148840" cy="10058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artefato de engenharia
sistemático · reprodutível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FAFAF"/>
                </a:solidFill>
                <a:latin typeface="Calibri"/>
              </a:rPr>
              <a:t>o mapa da aula: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9525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fundamentos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27988" y="4709159"/>
            <a:ext cx="18288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629156" y="4434840"/>
            <a:ext cx="9525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técnicas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99944" y="4709159"/>
            <a:ext cx="18288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01112" y="4434840"/>
            <a:ext cx="9525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controle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1900" y="4709159"/>
            <a:ext cx="18288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73068" y="4434840"/>
            <a:ext cx="95250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43856" y="4709159"/>
            <a:ext cx="18288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45024" y="4434840"/>
            <a:ext cx="9525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avaliação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15812" y="4709159"/>
            <a:ext cx="18288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16980" y="4434840"/>
            <a:ext cx="95250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ciclo de vida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92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interação com LLM vira processo — com projeto, teste e resultado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LLMs operam de forma probabilística e condicionada ao contexto textual recebido.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prompt é a principal interface de controle do comportamento do modelo em aplicações generativas.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Prompts bem projetados reduzem ambiguidade, aumentam consistência, melhoram formato de saída e facilitam avaliação.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POR QUE ENGENHARIA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PROMPT IMPORTA</a:t>
            </a:r>
            <a:r>
              <a:rPr lang="pt-BR" sz="4000" dirty="0">
                <a:latin typeface="GothamHTF-Book" pitchFamily="2" charset="0"/>
              </a:rPr>
              <a:t>?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148840"/>
            <a:ext cx="155448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APLICAÇÃO
(seu sistema)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29968" y="251460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68880" y="2011680"/>
            <a:ext cx="2377440" cy="10058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PROMPT
a interface de controle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251460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03520" y="2148840"/>
            <a:ext cx="19202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LLM
probabilístico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condicionado ao contexto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FAFAF"/>
                </a:solidFill>
                <a:latin typeface="Calibri"/>
              </a:rPr>
              <a:t>o que um prompt bem projetado compra: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60520"/>
            <a:ext cx="32232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70AD47"/>
                </a:solidFill>
                <a:latin typeface="Calibri"/>
              </a:rPr>
              <a:t>− ambiguidade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instrução clara, sem margem dupla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09060" y="4160520"/>
            <a:ext cx="32232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70AD47"/>
                </a:solidFill>
                <a:latin typeface="Calibri"/>
              </a:rPr>
              <a:t>+ consistência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mesma tarefa, mesmo padrão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12079"/>
            <a:ext cx="32232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70AD47"/>
                </a:solidFill>
                <a:latin typeface="Calibri"/>
              </a:rPr>
              <a:t>formato de saída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resposta no formato esperado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09060" y="5212079"/>
            <a:ext cx="32232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70AD47"/>
                </a:solidFill>
                <a:latin typeface="Calibri"/>
              </a:rPr>
              <a:t>avaliação fácil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dá para medir e comparar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2377440"/>
            <a:ext cx="4206240" cy="4069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Diferentemente de programas tradicionais, modelos de linguagem não executam instruções de modo determinístico.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saída é uma sequência de tokens estimada a partir do contexto, dos dados de treinamento e dos parâmetros de geração.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Por isso, instruções claras, contexto delimitado e política de saída são fundamentais para reduzir incerteza.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990976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LLMS COMO FUNÇÕES</a:t>
            </a:r>
            <a:br>
              <a:rPr lang="pt-BR" sz="4000" dirty="0">
                <a:latin typeface="GothamHTF-Book" pitchFamily="2" charset="0"/>
              </a:rPr>
            </a:br>
            <a:r>
              <a:rPr lang="pt-BR" sz="4000" dirty="0">
                <a:latin typeface="GothamHTF-Book" pitchFamily="2" charset="0"/>
              </a:rPr>
              <a:t>PROBABILÍSTICAS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CONDICIONADAS AO CONTEXTO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9BD5"/>
                </a:solidFill>
                <a:latin typeface="Calibri"/>
              </a:rPr>
              <a:t>programa tradicional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88920"/>
            <a:ext cx="146304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entrada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38528" y="310896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377440" y="2788920"/>
            <a:ext cx="228600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código
(regras fixas)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81728" y="310896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20640" y="2788920"/>
            <a:ext cx="2103120" cy="64008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sempre a MESMA saída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474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0AD47"/>
                </a:solidFill>
                <a:latin typeface="Calibri"/>
              </a:rPr>
              <a:t>determinístico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57E20"/>
                </a:solidFill>
                <a:latin typeface="Calibri"/>
              </a:rPr>
              <a:t>modelo de linguagem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146304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contexto
(prompt)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38528" y="4754879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377440" y="4434840"/>
            <a:ext cx="2286000" cy="64008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distribuição sobre
o próximo token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81728" y="4754879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20640" y="4434840"/>
            <a:ext cx="210312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saída amostrada
— pode variar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120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D30F59"/>
                </a:solidFill>
                <a:latin typeface="Calibri"/>
              </a:rPr>
              <a:t>probabilístico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por isso: instruções claras + contexto delimitado + política de saída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Instrução: define a tarefa e o objetivo da resposta.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Contexto: fornece dados, restrições, público-alvo e informações relevantes.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Exemplos: demonstram o padrão esperado em casos típicos e casos extremos.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Política de saída: especifica formato, tom, limites, critérios de recusa e estrutura final.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ANATOMIA DE UM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PROMPT EFICAZ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1828800"/>
            <a:ext cx="6035040" cy="7315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1 · INSTRUÇÃO — define a tarefa e o objetivo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2560320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2816352"/>
            <a:ext cx="603504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2 · CONTEXTO — dados, restrições, público-alvo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3547872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3803904"/>
            <a:ext cx="6035040" cy="7315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3 · EXEMPLOS — o padrão esperado: casos típicos e extremos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4535424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791456"/>
            <a:ext cx="6035040" cy="7315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4 · POLÍTICA DE SAÍDA — formato, tom, limites, recusas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juntas, as camadas viram um artefato de engenharia — não uma frase solta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prompt pode ser tratado como um contrato entre sistema e modelo.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Ele declara comportamento esperado, formato de entrada, formato de saída, restrições e critérios de qualidade.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visão permite versionar, testar, revisar e auditar prompts como qualquer outro artefato de software.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PROMPT COMO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PROGRAMA DECLARATIVO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88720" y="1737360"/>
            <a:ext cx="4114800" cy="37033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1965960"/>
            <a:ext cx="356616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CONTRATO — prompt v1.2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697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§1  comportamento esperado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20954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§2  formato de entrada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216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§3  formato de saída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336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§4  restrições e limites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4573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§5  critérios de qualidade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6120" y="5458968"/>
            <a:ext cx="0" cy="2834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20240" y="5779008"/>
            <a:ext cx="2651760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versionar · testar · auditar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01752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tratado como software:
tem versão, teste
e revisão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Modelos de linguagem processam tokens, não necessariamente palavras completas.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tokenização impacta custo, limite de contexto, latência e comportamento da geração.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resposta é produzida token a token, a partir de uma distribuição de probabilidade condicionada ao histórico do prompt.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TOKENIZAÇÃO E PROBABILIDADE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 texto ao próximo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48840"/>
            <a:ext cx="1920240" cy="54864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"Qual o melhor…"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95728" y="242316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26080" y="2148840"/>
            <a:ext cx="905256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41064" y="2148840"/>
            <a:ext cx="603504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4296" y="2148840"/>
            <a:ext cx="1106424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melhor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0448" y="2148840"/>
            <a:ext cx="603504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1856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FAFAF"/>
                </a:solidFill>
                <a:latin typeface="Calibri"/>
              </a:rPr>
              <a:t>tokens — as peças que o modelo lê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461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FAFAF"/>
                </a:solidFill>
                <a:latin typeface="Calibri"/>
              </a:rPr>
              <a:t>distribuição de probabilidade do PRÓXIMO token: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611880"/>
            <a:ext cx="3017520" cy="41148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modelo  45%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142232"/>
            <a:ext cx="2194560" cy="411480"/>
          </a:xfrm>
          <a:prstGeom prst="roundRect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prompt  30%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672584"/>
            <a:ext cx="1188720" cy="4114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banana  0,1%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4343400"/>
            <a:ext cx="548640" cy="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09160" y="4023360"/>
            <a:ext cx="2377440" cy="6858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sorteia 1 token
e repete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321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custo, limite de contexto e latência se medem em tokens — não em palavras</a:t>
            </a:r>
          </a:p>
        </p:txBody>
      </p:sp>
    </p:spTree>
    <p:extLst>
      <p:ext uri="{BB962C8B-B14F-4D97-AF65-F5344CB8AC3E}">
        <p14:creationId xmlns:p14="http://schemas.microsoft.com/office/powerpoint/2010/main" val="164217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Prompts robustos separam claramente instruções, dados, exemplos e saída esperada.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Delimitadores, tags XML e blocos nomeados ajudam o modelo a distinguir orientação de conteúdo externo.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contexto longo, a organização do conteúdo é crítica para reduzir perda de informação e ambiguidade.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ARQUITETURA DO PROMPT: ESTRUTURA E CONTEXTO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2240280"/>
            <a:ext cx="6035040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&lt;instruções&gt;   orientação do sistema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27248"/>
            <a:ext cx="60350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&lt;dados&gt;   conteúdo externo — é texto, não ordem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14215"/>
            <a:ext cx="60350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&lt;exemplos&gt;   pares entrada → saída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01183"/>
            <a:ext cx="6035040" cy="6858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&lt;saída&gt;   formato esperado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79591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delimitadores mostram ao modelo onde termina a instrução e onde começa o dado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Compreender o papel do prompt como interface de controle de LLMs.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Reconhecer os componentes de um prompt estruturado.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Relacionar tokenização, probabilidade e contexto com a qualidade da resposta.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Preparar a base conceitual para técnicas como zero-shot, few-shot e Chain-of-Thought.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OBJETIVOS DE APRENDIZAGEM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783080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 prompt como interface de controle de LLMs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25856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670048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os componentes de um prompt estruturado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145536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557015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557015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tokenização, probabilidade e contexto → qualidade da resposta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4032504"/>
            <a:ext cx="0" cy="374903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443983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443983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base para zero-shot, few-shot e Chain-of-Thought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22391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base conceitual da parte 01 — as técnicas vêm na parte 02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TÉCNICAS DE PROMPTING E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RACIOCÍNIO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02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61314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zero-shot, o modelo recebe apenas a instrução da tarefa, sem exemplos.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É simples, rápido e econômico, mas pode falhar em tarefas ambíguas ou com formato específico.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Funciona melhor quando a tarefa é comum, bem descrita e não depende de regras particulares do domínio.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ZERO-SHOT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PROMPTING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965960"/>
            <a:ext cx="237744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PROMPT
só a instrução — zero exemplos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52928" y="237744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91840" y="2057400"/>
            <a:ext cx="118872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98848" y="237744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37760" y="1965960"/>
            <a:ext cx="21945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 direta
simples · rápida · barata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3200400" cy="10972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70AD47"/>
                </a:solidFill>
                <a:latin typeface="Calibri"/>
              </a:rPr>
              <a:t>funciona bem ✓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tarefa comum, bem descrita, sem regras do domínio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703320"/>
            <a:ext cx="3200400" cy="10972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F57E20"/>
                </a:solidFill>
                <a:latin typeface="Calibri"/>
              </a:rPr>
              <a:t>pode falhar ✗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tarefa ambígua ou com formato específico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ponto de partida — se falhar, o próximo degrau é dar exemplos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one-shot, um exemplo orienta o modelo; no few-shot, vários exemplos definem padrão, estilo e formato.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Os exemplos ensinam implicitamente como lidar com variações, exceções e casos extremos.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técnica melhora consistência, mas aumenta consumo de tokens e exige curadoria dos exemplos.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ONE-SHOT 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FEW-SHOT PROMPTING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 escada de exemplos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40279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9BD5"/>
                </a:solidFill>
                <a:latin typeface="Calibri"/>
              </a:rPr>
              <a:t>zero-shot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210312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instrução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9BD5"/>
                </a:solidFill>
                <a:latin typeface="Calibri"/>
              </a:rPr>
              <a:t>one-shot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297180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instrução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2971800"/>
            <a:ext cx="10058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ex.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9BD5"/>
                </a:solidFill>
                <a:latin typeface="Calibri"/>
              </a:rPr>
              <a:t>few-shot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384048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instrução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840480"/>
            <a:ext cx="10058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ex.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840480"/>
            <a:ext cx="10058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ex.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840480"/>
            <a:ext cx="10058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ex.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4800600"/>
            <a:ext cx="402336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consistência ↑  ·  consumo de tokens 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235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cada exemplo ensina padrão, estilo e formato — implicitamente</a:t>
            </a:r>
          </a:p>
        </p:txBody>
      </p:sp>
    </p:spTree>
    <p:extLst>
      <p:ext uri="{BB962C8B-B14F-4D97-AF65-F5344CB8AC3E}">
        <p14:creationId xmlns:p14="http://schemas.microsoft.com/office/powerpoint/2010/main" val="404294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Chain-of-Thought incentiva o modelo a decompor problemas complexos em etapas intermediárias.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técnica é útil em raciocínio lógico, matemático, planejamento e análise multi-etapas.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aplicações reais, é importante controlar o que deve ser exibido ao usuário e o que deve ser usado apenas como processo interno.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CHAIN-OF-THOUGHT: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RACIOCÍNIO PASSO A PASSO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FAFAF"/>
                </a:solidFill>
                <a:latin typeface="Calibri"/>
              </a:rPr>
              <a:t>sem CoT — um salto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6596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2848" y="2240279"/>
            <a:ext cx="1792224" cy="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23360" y="1965960"/>
            <a:ext cx="173736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resposta 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sem mostrar o caminho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FAFAF"/>
                </a:solidFill>
                <a:latin typeface="Calibri"/>
              </a:rPr>
              <a:t>com CoT — "pense passo a passo"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29000"/>
            <a:ext cx="1097280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72768" y="3771900"/>
            <a:ext cx="283463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74519" y="3429000"/>
            <a:ext cx="109728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 · entender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90088" y="3771900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91839" y="3429000"/>
            <a:ext cx="109728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2 · calcular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07407" y="3771900"/>
            <a:ext cx="28346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09159" y="3429000"/>
            <a:ext cx="109728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 · verificar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24727" y="3771900"/>
            <a:ext cx="28346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26479" y="3429000"/>
            <a:ext cx="1097280" cy="6858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 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709160"/>
            <a:ext cx="63093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 erro aparece NO PASSO — o caminho do raciocínio é auditável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3212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em produção: decidir o que mostrar ao usuário e o que fica como processo interno</a:t>
            </a:r>
          </a:p>
        </p:txBody>
      </p:sp>
    </p:spTree>
    <p:extLst>
      <p:ext uri="{BB962C8B-B14F-4D97-AF65-F5344CB8AC3E}">
        <p14:creationId xmlns:p14="http://schemas.microsoft.com/office/powerpoint/2010/main" val="2367165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Self-consistency gera múltiplas trajetórias de solução e seleciona a resposta mais consistente ou frequente.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técnica reduz erros casuais em tarefas de raciocínio, pois não depende de uma única cadeia de resposta.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custo aumenta porque são feitas múltiplas chamadas ou múltiplas amostragens do modelo.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SELF-CONSISTENCY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" y="2971800"/>
            <a:ext cx="169164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mesma
pergunta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21408" y="2194560"/>
            <a:ext cx="649224" cy="11887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88920" y="1874519"/>
            <a:ext cx="192024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caminho A  →  42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27448" y="2194560"/>
            <a:ext cx="649224" cy="11887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21408" y="3337560"/>
            <a:ext cx="649224" cy="457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88920" y="3017520"/>
            <a:ext cx="192024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caminho B  →  42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27448" y="3337560"/>
            <a:ext cx="649224" cy="457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21408" y="3383280"/>
            <a:ext cx="649224" cy="109727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788920" y="4160520"/>
            <a:ext cx="192024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caminho C  →  17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727448" y="3383280"/>
            <a:ext cx="649224" cy="109727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94960" y="2971800"/>
            <a:ext cx="1828800" cy="8229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voto
majoritário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3813048"/>
            <a:ext cx="0" cy="4663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94960" y="4315968"/>
            <a:ext cx="182880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resposta: 42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erro casual (17) é voto vencido — mais robusto, porém N× mais caro</a:t>
            </a:r>
          </a:p>
        </p:txBody>
      </p:sp>
    </p:spTree>
    <p:extLst>
      <p:ext uri="{BB962C8B-B14F-4D97-AF65-F5344CB8AC3E}">
        <p14:creationId xmlns:p14="http://schemas.microsoft.com/office/powerpoint/2010/main" val="1743176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 chaining divide uma tarefa complexa em etapas menores e conectadas.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saída de uma etapa serve como entrada da próxima, permitindo validação intermediária.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É uma estratégia útil para fluxos como extração -&gt; validação -&gt; sumarização -&gt; formatação final.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PROMPT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CHAINING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Uma corrente de etapas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286000"/>
            <a:ext cx="137160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1 · extração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01368" y="267462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40280" y="2286000"/>
            <a:ext cx="1371600" cy="7772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2 · validação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30168" y="267462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69080" y="2286000"/>
            <a:ext cx="137160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3 · sumarização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58968" y="267462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97880" y="2286000"/>
            <a:ext cx="137160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4 · formatação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200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a saída de cada etapa é a entrada da próxima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977639" y="3081528"/>
            <a:ext cx="2377441" cy="75895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697480" y="3886200"/>
            <a:ext cx="237744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saída confiável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83480"/>
            <a:ext cx="63093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cada elo pode ser testado e validado separadamente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tarefa complexa → etapas pequenas e verificáveis</a:t>
            </a:r>
          </a:p>
        </p:txBody>
      </p:sp>
    </p:spTree>
    <p:extLst>
      <p:ext uri="{BB962C8B-B14F-4D97-AF65-F5344CB8AC3E}">
        <p14:creationId xmlns:p14="http://schemas.microsoft.com/office/powerpoint/2010/main" val="121451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definição de papel orienta vocabulário, tom, profundidade e critérios de decisão.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Personas úteis são específicas: área, nível de senioridade, objetivo e limites da atuação.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Papéis não substituem contexto factual; eles apenas alinham o comportamento esperado.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PERSONAS 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PAPÉIS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645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FAFAF"/>
                </a:solidFill>
                <a:latin typeface="Calibri"/>
              </a:rPr>
              <a:t>persona vaga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11680"/>
            <a:ext cx="310896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"Você é um especialista."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289864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3310128"/>
            <a:ext cx="310896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tom e critérios
imprevisíveis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645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Calibri"/>
              </a:rPr>
              <a:t>persona específica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011680"/>
            <a:ext cx="320040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"Analista de crédito sênior;
avalia risco PJ; aponta limites."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23560" y="289864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23360" y="3310128"/>
            <a:ext cx="320040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vocabulário, tom e
decisão alinhados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72000"/>
            <a:ext cx="603504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papel orienta o COMO — não substitui contexto factual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406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área + senioridade + objetivo + limites da atuação</a:t>
            </a:r>
          </a:p>
        </p:txBody>
      </p:sp>
    </p:spTree>
    <p:extLst>
      <p:ext uri="{BB962C8B-B14F-4D97-AF65-F5344CB8AC3E}">
        <p14:creationId xmlns:p14="http://schemas.microsoft.com/office/powerpoint/2010/main" val="18524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Saídas estruturadas facilitam integração com sistemas, validação automática e testes.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Schemas reduzem fuga de formato e deixam explícitos campos obrigatórios, tipos e restrições.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produção, a resposta do LLM deve ser validada antes de alimentar processos críticos.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SAÍDAS ESTRUTURADAS: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JSON, TABELAS E SCHEMAS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" y="2286000"/>
            <a:ext cx="2194560" cy="13716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{
"cliente": string,
"valor": number,
"aprovado": boolean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o schema: o contrato de formato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2606040"/>
            <a:ext cx="155448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resposta
do LLM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36008" y="297180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74920" y="2606040"/>
            <a:ext cx="2148840" cy="7315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validação contra
o schema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" y="3355848"/>
            <a:ext cx="0" cy="758952"/>
          </a:xfrm>
          <a:prstGeom prst="line">
            <a:avLst/>
          </a:prstGeom>
          <a:ln w="3175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74920" y="4160520"/>
            <a:ext cx="21488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✓  sistema:
ERP, API, banco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023360" y="3355848"/>
            <a:ext cx="1097280" cy="758952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80360" y="4160520"/>
            <a:ext cx="173736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✗  corrigir /
reprompt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4864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formato previsível = integração e teste automatizáveis — validar antes de alimentar processos críticos</a:t>
            </a:r>
          </a:p>
        </p:txBody>
      </p:sp>
    </p:spTree>
    <p:extLst>
      <p:ext uri="{BB962C8B-B14F-4D97-AF65-F5344CB8AC3E}">
        <p14:creationId xmlns:p14="http://schemas.microsoft.com/office/powerpoint/2010/main" val="188465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Começar com um prompt zero-shot simples.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Adicionar contexto, exemplos few-shot, formato de saída e critérios de avaliação.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Testar casos comuns e casos extremos para comparar qualidade, consistência e aderência ao formato.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ATIVIDADE HANDS-ON: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EVOLUINDO UM PROMPT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783080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prompt zero-shot simples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258568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532888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contexto (dados, público, restrições)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008376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282696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exemplos few-shot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758183"/>
            <a:ext cx="0" cy="237745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032504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formato de saída e critérios de avaliação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507992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478231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4782312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testar: casos comuns e casos extremos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669280"/>
            <a:ext cx="6263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comparar a cada passo: qualidade · consistência · aderência ao formato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CONTROLE, SEGURANÇA E AVALIAÇÃO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03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631024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temperatura ajusta a aleatoriedade da geração.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Valores baixos tornam a resposta mais conservadora e previsível; valores altos aumentam diversidade.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Para tarefas técnicas, extração e classificação, temperaturas baixas tendem a ser mais adequadas.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it-IT" sz="4000" dirty="0">
                <a:latin typeface="GothamHTF-Book" pitchFamily="2" charset="0"/>
              </a:rPr>
              <a:t>PARÂMETROS DE CONTROLE: </a:t>
            </a:r>
            <a:r>
              <a:rPr lang="it-IT" sz="4000" dirty="0">
                <a:solidFill>
                  <a:srgbClr val="D30F59"/>
                </a:solidFill>
                <a:latin typeface="GothamHTF-Book" pitchFamily="2" charset="0"/>
              </a:rPr>
              <a:t>TEMPERATURA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51760" y="1783080"/>
            <a:ext cx="22860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mesmo prompt ×3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194560" y="2350008"/>
            <a:ext cx="1097280" cy="43891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97680" y="2350008"/>
            <a:ext cx="1097280" cy="43891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2834640"/>
            <a:ext cx="219456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temp 0.1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834640"/>
            <a:ext cx="219456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temp 0.9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3401568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77840" y="3401568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3703320"/>
            <a:ext cx="21945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 · A ·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703320"/>
            <a:ext cx="21945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 · B ·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previsível, repetível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diversa, criativa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029200"/>
            <a:ext cx="521208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tarefas técnicas, extração e classificação → temperatura BAIXA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521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'botão' da aleatoriedade da amostragem</a:t>
            </a:r>
          </a:p>
        </p:txBody>
      </p:sp>
    </p:spTree>
    <p:extLst>
      <p:ext uri="{BB962C8B-B14F-4D97-AF65-F5344CB8AC3E}">
        <p14:creationId xmlns:p14="http://schemas.microsoft.com/office/powerpoint/2010/main" val="3665925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Top-k limita a escolha aos k tokens mais prováveis.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Top-p seleciona o conjunto mínimo de tokens cuja probabilidade acumulada atinge um limiar.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Penalidades de repetição ajudam a evitar respostas redundantes ou loops textuais.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TOP-K, TOP-P E PENALIDADE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REPETIÇÃO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 funil da amostragem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03120"/>
            <a:ext cx="6400800" cy="56692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vocabulário inteiro (~100 mil tokens)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2679191"/>
            <a:ext cx="0" cy="24688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280160" y="2953512"/>
            <a:ext cx="4754880" cy="566928"/>
          </a:xfrm>
          <a:prstGeom prst="roundRect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top-k: só os k mais prováveis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0" y="3529584"/>
            <a:ext cx="0" cy="24688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3803904"/>
            <a:ext cx="3291840" cy="566928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top-p: massa acumulada ≥ 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4379976"/>
            <a:ext cx="0" cy="24688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0" y="4654296"/>
            <a:ext cx="1828800" cy="566928"/>
          </a:xfrm>
          <a:prstGeom prst="roundRect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sorteio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41848"/>
            <a:ext cx="64008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penalidade de repetição: rebaixa tokens já usados — evita loops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cada filtro estreita o sorteio do próximo token</a:t>
            </a:r>
          </a:p>
        </p:txBody>
      </p:sp>
    </p:spTree>
    <p:extLst>
      <p:ext uri="{BB962C8B-B14F-4D97-AF65-F5344CB8AC3E}">
        <p14:creationId xmlns:p14="http://schemas.microsoft.com/office/powerpoint/2010/main" val="3048446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Alucinação: geração de informação incorreta com aparência de confiança.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Ambiguidade: instruções abertas demais levam a respostas inconsistentes.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Fuga de formato: a saída não segue o padrão solicitado.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Supergeneralização: o modelo ignora exceções ou regras específicas do domínio.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FALHAS COMUNS EM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PROMPTS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315468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D30F59"/>
                </a:solidFill>
                <a:latin typeface="Calibri"/>
              </a:rPr>
              <a:t>ALUCINAÇÃO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informação incorreta com aparência de confiança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828800"/>
            <a:ext cx="315468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F57E20"/>
                </a:solidFill>
                <a:latin typeface="Calibri"/>
              </a:rPr>
              <a:t>AMBIGUIDADE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instrução aberta demais → respostas inconsistentes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315468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5B9BD5"/>
                </a:solidFill>
                <a:latin typeface="Calibri"/>
              </a:rPr>
              <a:t>FUGA DE FORMATO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a saída ignora o padrão solicitado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337560"/>
            <a:ext cx="315468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70AD47"/>
                </a:solidFill>
                <a:latin typeface="Calibri"/>
              </a:rPr>
              <a:t>SUPERGENERALIZAÇÃO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ignora exceções e regras do domínio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diagnóstico: cada falha pede um reforço diferente no prompt</a:t>
            </a:r>
          </a:p>
        </p:txBody>
      </p:sp>
    </p:spTree>
    <p:extLst>
      <p:ext uri="{BB962C8B-B14F-4D97-AF65-F5344CB8AC3E}">
        <p14:creationId xmlns:p14="http://schemas.microsoft.com/office/powerpoint/2010/main" val="1550297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 injection ocorre quando uma instrução maliciosa tenta sobrescrever regras do sistema.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ataque indireto, a instrução pode estar escondida em documentos, páginas web ou dados externos processados pelo LLM.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defesa exige separar instruções de dados, validar ferramentas, aplicar permissões e limitar ações automáticas.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PROMPT INJECTION DIRETO E INDIRETO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06040" y="1737360"/>
            <a:ext cx="24688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regras do sistema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2304288"/>
            <a:ext cx="0" cy="30175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08960" y="2651760"/>
            <a:ext cx="146304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77639"/>
            <a:ext cx="2743200" cy="8229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ATAQUE DIRETO — usuário:
"ignore as regras"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977639"/>
            <a:ext cx="278892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ATAQUE INDIRETO — doc externo:
instrução escondida no dado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103120" y="3493008"/>
            <a:ext cx="1143000" cy="45720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434840" y="3493008"/>
            <a:ext cx="1234440" cy="45720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5257800"/>
            <a:ext cx="6309360" cy="640080"/>
          </a:xfrm>
          <a:prstGeom prst="roundRect">
            <a:avLst/>
          </a:prstGeom>
          <a:noFill/>
          <a:ln w="15875">
            <a:solidFill>
              <a:srgbClr val="70AD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70AD47"/>
                </a:solidFill>
                <a:latin typeface="Calibri"/>
              </a:rPr>
              <a:t>defesa: separar instruções de dados · permissões mínimas ·
validar ferramentas · limitar ações automáticas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D30F59"/>
                </a:solidFill>
                <a:latin typeface="Calibri"/>
              </a:rPr>
              <a:t>dado nunca deveria virar ordem</a:t>
            </a:r>
          </a:p>
        </p:txBody>
      </p:sp>
    </p:spTree>
    <p:extLst>
      <p:ext uri="{BB962C8B-B14F-4D97-AF65-F5344CB8AC3E}">
        <p14:creationId xmlns:p14="http://schemas.microsoft.com/office/powerpoint/2010/main" val="4293892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Faithfulness mede se a resposta está sustentada pelos dados fornecidos.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Contextual precision e recall medem a qualidade do contexto recuperado, especialmente em sistemas RAG.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G-Eval usa LLM-as-a-judge para avaliar respostas com rubricas estruturadas.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MÉTRICAS: FIDELIDADE, PRECISÃO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CONTEXTUAL E G-EVAL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21488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FAITHFULNESS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2148840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 resposta está sustentada
pelos dados fornecidos?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286000"/>
            <a:ext cx="21488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CONTEXTUAL P &amp; 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2880360"/>
            <a:ext cx="2148840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 contexto recuperado é bom?
(precision e recall — RAG)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2286000"/>
            <a:ext cx="214884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G-EVAL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880360"/>
            <a:ext cx="2148840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LLM-as-a-judge avalia
com rubricas estruturadas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58521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avaliação vira número → dá para comparar versões de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sem métrica, 'melhorou' é só opinião</a:t>
            </a:r>
          </a:p>
        </p:txBody>
      </p:sp>
    </p:spTree>
    <p:extLst>
      <p:ext uri="{BB962C8B-B14F-4D97-AF65-F5344CB8AC3E}">
        <p14:creationId xmlns:p14="http://schemas.microsoft.com/office/powerpoint/2010/main" val="4081027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Prompts devem ter versão, dono, objetivo, dataset de teste e histórico de alterações.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Observabilidade monitora latência, custo, taxa de erro, aderência ao formato e satisfação do usuário.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LLMOps integra prompts, modelos, dados, avaliações e deploy em um ciclo de melhoria contínua.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VERSIONAMENTO, OBSERVABILIDADE 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LLMOPS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 ciclo de vida do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103120"/>
            <a:ext cx="173736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versionar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24612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testar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38912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monitorar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revisar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2670048"/>
            <a:ext cx="914400" cy="5486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434840" y="3813048"/>
            <a:ext cx="914400" cy="5577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148840" y="3813048"/>
            <a:ext cx="914400" cy="5577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8840" y="2670048"/>
            <a:ext cx="914400" cy="5486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63240" y="34015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49240"/>
            <a:ext cx="60350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cada versão: dono · objetivo · dataset de teste · histórico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melhoria contínua, como qualquer software em produção</a:t>
            </a:r>
          </a:p>
        </p:txBody>
      </p:sp>
    </p:spTree>
    <p:extLst>
      <p:ext uri="{BB962C8B-B14F-4D97-AF65-F5344CB8AC3E}">
        <p14:creationId xmlns:p14="http://schemas.microsoft.com/office/powerpoint/2010/main" val="3426461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Empresas usam prompts estruturados para atendimento, copilotos internos, automação de documentos e suporte técnico.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diferencial competitivo está menos em “perguntar bem” e mais em controlar comportamento, segurança, custo e qualidade.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Prompts passam a compor arquiteturas com RAG, agentes, ferramentas, guardrails e observabilidade.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MERCADO: ENGENHARIA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PROMPT EM PRODUTOS DE IA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24028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D30F59"/>
                </a:solidFill>
                <a:latin typeface="Calibri"/>
              </a:rPr>
              <a:t>Atendimento e copilotos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prompts estruturados em produção massiva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224028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Automação de documentos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extração, suporte técnico,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57E20"/>
                </a:solidFill>
                <a:latin typeface="Calibri"/>
              </a:rPr>
              <a:t>O diferencial: CONTROLE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comportamento, segurança, custo, qualidade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65760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70AD47"/>
                </a:solidFill>
                <a:latin typeface="Calibri"/>
              </a:rPr>
              <a:t>Arquiteturas compostas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RAG + agentes + guardrails + observabilidade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menos 'perguntar bem', mais engenharia de comportamento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Frameworks como LangChain e LlamaIndex ajudam a organizar prompts, chains, ferramentas e recuperação de contexto.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Ferramentas de avaliação como DeepEval, RAGAS e MLflow apoiam testes, métricas e rastreabilidade.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escolha da ferramenta deve considerar integração, governança, custo, facilidade de teste e maturidade operacional.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FRAMEWORKS E FERRAMENTAS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Duas famílias de ferramentas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48840"/>
            <a:ext cx="3200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ORQUESTRAÇÃO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0040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LangChain · LlamaIndex
prompts, chains, ferramentas,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148840"/>
            <a:ext cx="320040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AVALIAÇÃO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2743200"/>
            <a:ext cx="320040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DeepEval · RAGAS · MLflow
testes, métricas, rastreabilidade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667512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critérios de escolha: integração · governança · custo ·
facilidade de teste · maturidade operacional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ferramenta serve à arquitetura — não o contrário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Especificar objetivo, público, escopo, dados de entrada, restrições e formato de saída.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Separar instruções de dados externos usando delimitadores claros.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Adicionar exemplos representativos e casos extremos quando necessário.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Testar, versionar, monitorar e revisar prompts continuamente.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BOAS PRÁTICAS PARA PROMPTS EM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PRODUÇÃO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Checklist de produção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2221992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2148840"/>
            <a:ext cx="5760720" cy="56692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especificar objetivo, público, escopo, dados, restrições e formato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063240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2990088"/>
            <a:ext cx="5760720" cy="56692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separar instruções de dados externos com delimitadores claros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904488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3831336"/>
            <a:ext cx="5760720" cy="56692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exemplos representativos + casos extremos quando necessário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745736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672584"/>
            <a:ext cx="5760720" cy="56692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testar · versionar · monitorar · revisar continuamente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509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um prompt só vai a produção depois dos quatro ✓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Engenharia de Prompt como disciplina estruturada para controlar LLMs.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Técnicas zero-shot, few-shot, Chain-of-Thought, self-consistency e prompt chaining.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Parâmetros de geração, segurança contra prompt injection e diagnóstico de falhas.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Avaliação com métricas, harness de testes, versionamento, observabilidade e LLMOps.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ENCERRAMENTO: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O QUE VOCÊ VIU NESTA AULA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783080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fundamentos: anatomia e prompt como contrato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25856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670048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técnicas: zero/few-shot, CoT, self-consistency, chaining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145536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557015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557015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controle e segurança: parâmetros, falhas, prompt injection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4032504"/>
            <a:ext cx="0" cy="374903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443983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443983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avaliação e ciclo de vida: métricas, versionamento, LLMOps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22391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do prompt solto ao prompt em produção — a trilha completa da aula</a:t>
            </a:r>
          </a:p>
        </p:txBody>
      </p:sp>
    </p:spTree>
    <p:extLst>
      <p:ext uri="{BB962C8B-B14F-4D97-AF65-F5344CB8AC3E}">
        <p14:creationId xmlns:p14="http://schemas.microsoft.com/office/powerpoint/2010/main" val="1188903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Desafio: escolher uma tarefa real e construir um prompt robusto com instrução, contexto, exemplos e formato de saída.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Executar pelo menos cinco testes, incluindo um caso extremo e uma tentativa de quebra de formato.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Registrar versão, resultado, limitações e próximos ajustes do prompt.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ENCERRAMENTO E DESAFIO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965960"/>
            <a:ext cx="548640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construir um prompt robusto
instrução + contexto + exemplos + formato de saída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" y="262432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3182112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044952"/>
            <a:ext cx="548640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rodar pelo menos 5 testes
incluindo um caso extremo e uma tentativa de quebra de formato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" y="3703320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4261104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123944"/>
            <a:ext cx="548640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registrar como engenharia
versão · resultado · limitações · próximos ajustes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340096"/>
            <a:ext cx="47548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trate o desafio como um mini-projeto de engenharia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BROWN, T. et al. Language Models are Few-Shot Learners. In: Advances in Neural Information Processing Systems (NeurIPS), 2020.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WEI, J. et al. Chain-of-Thought Prompting Elicits Reasoning in Large Language Models. In: Advances in Neural Information Processing Systems (NeurIPS), 2022.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WANG, X. et al. Self-Consistency Improves Chain of Thought Reasoning in Language Models. [S.l.: s.n.], 2022.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OUYANG, L. et al. Training language models to follow instructions with human feedback. In: Advances in Neural Information Processing Systems (NeurIPS), 2022.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HOLTZMAN, A. et al. The Curious Case of Neural Text Degeneration. In: International Conference on Learning Representations (ICLR), 2020.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REYNOLDS, L.; MCDONELL, K. Prompt Programming for Large Language Models: Beyond the Few-Shot Paradigm. [S.l.: s.n.], 2021.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ZHOU, K. et al. Large Language Model Prompt Engineering: A Survey. [S.l.: s.n.],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LIU, N. F. et al. Lost in the Middle: How Language Models Use Long Contexts. [S.l.: s.n.],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LIU, P. et al. Pre-train, Prompt, and Predict: A Systematic Survey of Prompting Methods in Natural Language Processing. ACM Computing Surveys,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OPENAI. GPT-4 Technical Report. [S.l.: s.n.],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GOODFELLOW, I.; BENGIO, Y.; COURVILLE, A. Deep Learning. Cambridge: MIT Press, 2016.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2700"/>
            </a:pP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"/>
          <p:cNvSpPr/>
          <p:nvPr/>
        </p:nvSpPr>
        <p:spPr>
          <a:xfrm>
            <a:off x="2353030" y="-259043"/>
            <a:ext cx="7485942" cy="7376085"/>
          </a:xfrm>
          <a:custGeom>
            <a:avLst/>
            <a:gdLst/>
            <a:ahLst/>
            <a:cxnLst/>
            <a:rect l="l" t="t" r="r" b="b"/>
            <a:pathLst>
              <a:path w="3648669" h="3595124" extrusionOk="0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9A0D3B">
                  <a:alpha val="50588"/>
                </a:srgbClr>
              </a:gs>
              <a:gs pos="18000">
                <a:srgbClr val="9A0D3B">
                  <a:alpha val="50588"/>
                </a:srgbClr>
              </a:gs>
              <a:gs pos="78000">
                <a:srgbClr val="9A0D3B">
                  <a:alpha val="0"/>
                </a:srgbClr>
              </a:gs>
              <a:gs pos="100000">
                <a:srgbClr val="9A0D3B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Clr>
                <a:srgbClr val="000000"/>
              </a:buClr>
              <a:buSzPts val="4050"/>
            </a:pP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2" name="Google Shape;1292;p6"/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 w="12700" cap="flat" cmpd="sng">
            <a:solidFill>
              <a:srgbClr val="F57E20">
                <a:alpha val="4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4050"/>
            </a:pPr>
            <a:endParaRPr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3" name="Google Shape;129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0150" y="2949830"/>
            <a:ext cx="5911702" cy="95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16" ma:contentTypeDescription="Crie um novo documento." ma:contentTypeScope="" ma:versionID="dae3bc908e15ec8f9115713424d3a2bb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2432d4b2454c185ef2449b66e2f5b84c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4c2c100-d553-4c8e-a0cc-71e94ec5782d}" ma:internalName="TaxCatchAll" ma:showField="CatchAllData" ma:web="d48fd270-4a57-47e1-b674-c7d4969804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8fd270-4a57-47e1-b674-c7d4969804ad" xsi:nil="true"/>
    <lcf76f155ced4ddcb4097134ff3c332f xmlns="2220af93-035a-443f-80b0-3b9b401ad9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E0A40E-6ACD-4BD0-A92A-2322760832F4}"/>
</file>

<file path=customXml/itemProps2.xml><?xml version="1.0" encoding="utf-8"?>
<ds:datastoreItem xmlns:ds="http://schemas.openxmlformats.org/officeDocument/2006/customXml" ds:itemID="{1D70E3E7-7680-4847-A913-29C0579E5EEE}"/>
</file>

<file path=customXml/itemProps3.xml><?xml version="1.0" encoding="utf-8"?>
<ds:datastoreItem xmlns:ds="http://schemas.openxmlformats.org/officeDocument/2006/customXml" ds:itemID="{1E943BDE-9222-4BEF-8DBC-17AD2E646E19}"/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1806</Words>
  <Application>Microsoft Office PowerPoint</Application>
  <PresentationFormat>Widescreen</PresentationFormat>
  <Paragraphs>208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GothamHTF-Book</vt:lpstr>
      <vt:lpstr>Open Sans</vt:lpstr>
      <vt:lpstr>Roboto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Elisa Batista</dc:creator>
  <cp:lastModifiedBy>Elisa Batista</cp:lastModifiedBy>
  <cp:revision>9</cp:revision>
  <dcterms:created xsi:type="dcterms:W3CDTF">2026-07-06T13:22:28Z</dcterms:created>
  <dcterms:modified xsi:type="dcterms:W3CDTF">2026-07-08T16:33:14Z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