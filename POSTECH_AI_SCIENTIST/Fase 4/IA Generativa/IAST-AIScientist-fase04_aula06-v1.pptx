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772" r:id="rId2"/>
    <p:sldId id="773" r:id="rId3"/>
    <p:sldId id="774" r:id="rId4"/>
    <p:sldId id="775" r:id="rId5"/>
    <p:sldId id="776" r:id="rId6"/>
    <p:sldId id="777" r:id="rId7"/>
    <p:sldId id="778" r:id="rId8"/>
    <p:sldId id="779" r:id="rId9"/>
    <p:sldId id="780" r:id="rId10"/>
    <p:sldId id="781" r:id="rId11"/>
    <p:sldId id="782" r:id="rId12"/>
    <p:sldId id="783" r:id="rId13"/>
    <p:sldId id="784" r:id="rId14"/>
    <p:sldId id="785" r:id="rId15"/>
    <p:sldId id="786" r:id="rId16"/>
    <p:sldId id="787" r:id="rId17"/>
    <p:sldId id="788" r:id="rId18"/>
    <p:sldId id="789" r:id="rId19"/>
    <p:sldId id="790" r:id="rId20"/>
    <p:sldId id="791" r:id="rId21"/>
    <p:sldId id="792" r:id="rId22"/>
    <p:sldId id="793" r:id="rId23"/>
    <p:sldId id="794" r:id="rId24"/>
    <p:sldId id="795" r:id="rId25"/>
    <p:sldId id="796" r:id="rId26"/>
    <p:sldId id="797" r:id="rId27"/>
    <p:sldId id="798" r:id="rId28"/>
    <p:sldId id="799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customXml" Target="../customXml/item1.xml"/><Relationship Id="rId36" Type="http://schemas.openxmlformats.org/officeDocument/2006/relationships/customXml" Target="../customXml/item2.xml"/><Relationship Id="rId37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8" y="2013228"/>
            <a:ext cx="9069754" cy="1485150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75" dirty="0">
                <a:solidFill>
                  <a:schemeClr val="bg1"/>
                </a:solidFill>
                <a:latin typeface="GothamHTF-Book"/>
              </a:rPr>
              <a:t>AULA 06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376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ÉTICA, VIÉS, SEGURANÇA E IMPACTO SOCIAL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Prof. 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2410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GENAI COMO SISTEMA SOCIOTÉCNICO E MAPA DE RISCOS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IA generativa passou a compor fluxos reais de decisão, atendimento, educação, saúde, finanças, desenvolvimento de software e gestão pública.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 maior utilidade vem maior responsabilidade técnica: modelos podem gerar respostas enviesadas, expor dados, reproduzir desinformação ou executar ações indevidas.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aula conecta ética, segurança e impacto social à prática concreta de engenharia.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ABERTURA: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GENAI ALÉM DA PRODUTIVIDADE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GenAI saiu do chat: entrou em fluxos reais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decisão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atendimento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educação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5344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saúde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6631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finanças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19" y="2468880"/>
            <a:ext cx="1069848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gestão pública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2971800"/>
            <a:ext cx="0" cy="3200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371600" y="3337560"/>
            <a:ext cx="457200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maior utilidade  →  maior responsabilidade técnica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0" y="3950208"/>
            <a:ext cx="0" cy="3200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2920" y="4315968"/>
            <a:ext cx="1572768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respostas
enviesadas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12848" y="4315968"/>
            <a:ext cx="1572768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exposição
de dados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22776" y="4315968"/>
            <a:ext cx="1572768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desinformação
reproduzida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2704" y="4315968"/>
            <a:ext cx="1572768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ações
indevidas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esta aula: transformar essa responsabilidade em prática concreta de engenharia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GenAI como sistema sociotécnico e não apenas como modelo estatístico.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Classificar riscos em famílias: viés, toxicidade, integridade informacional, privacidade, segurança e impacto social.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Aplicar a lógica do NIST AI RMF: governar, mapear, medir e gerenciar riscos.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Propor guardrails e controles para aplicações com LLM, RAG e agentes.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Reconhecer exigências de documentação, conformidade e resposta a incidentes.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RESULTADOS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APRENDIZAGEM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645920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GenAI como sistema sociotécnico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12140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487168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Famílias de risco: do viés ao impacto social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2962656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328416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NIST AI RMF: governar, mapear, medir, gerenciar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03904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169664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Guardrails para LLM, RAG e agentes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645152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5010912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Documentação, conformidade e incidentes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trilha da aula — do conceito ao laboratório de segurança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assistente corporativo não é apenas uma chamada a um LLM.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Ele envolve documentos internos, bases vetoriais, APIs, permissões, usuários, logs, políticas de retenção, interfaces e supervisão humana.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Riscos aparecem, se amplificam ou são mitigados nesse conjunto de componentes.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Por isso, ética e segurança não podem ser tratadas apenas como “filtro no final”.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GENAI COMO SISTEMA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SOCIOTÉCNICO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737360"/>
            <a:ext cx="6400800" cy="4206240"/>
          </a:xfrm>
          <a:prstGeom prst="roundRect">
            <a:avLst/>
          </a:prstGeom>
          <a:noFill/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47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AD47"/>
                </a:solidFill>
                <a:latin typeface="Calibri"/>
              </a:rPr>
              <a:t>PESSOAS  ·  POLÍTICAS  ·  SUPERVISÃO HUMANA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331720"/>
            <a:ext cx="5212080" cy="301752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4414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9BD5"/>
                </a:solidFill>
                <a:latin typeface="Calibri"/>
              </a:rPr>
              <a:t>docs internos · bases vetoriais · APIs · permissões · logs · retenção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520440"/>
            <a:ext cx="137160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 assistente corporativo é ESTE conjunto — não só a chamada ao modelo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riscos surgem — e são mitigados — em todas as camadas, não só num “filtro no final”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um modelo inventa uma referência, temos uma falha de factualidade.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essa falha ocorre em contexto jurídico, médico, educacional ou financeiro, ela pode virar risco regulatório, reputacional e social.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nível de risco depende do contexto, do grau de autonomia, da vulnerabilidade das pessoas afetadas e da capacidade de contestação.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pergunta central deixa de ser “o modelo acerta?” e passa a ser “o sistema é seguro para este uso?”.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DA FALHA TÉCNICA AO </a:t>
            </a:r>
            <a:br>
              <a:rPr lang="pt-BR" sz="4000" dirty="0">
                <a:latin typeface="GothamHTF-Book" pitchFamily="2" charset="0"/>
              </a:rPr>
            </a:b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RISCO INSTITUCIONAL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331720"/>
            <a:ext cx="196596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FALHA TÉCNICA
modelo inventa
uma referência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761487"/>
            <a:ext cx="31089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88920" y="2331720"/>
            <a:ext cx="1965960" cy="8686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CONTEXTO CRÍTICO
jurídico · médico
educacional · financeiro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82312" y="2761487"/>
            <a:ext cx="31089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0640" y="2331720"/>
            <a:ext cx="196596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RISCO INSTITUCIONAL
regulatório
reputacional ·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o que amplifica o risco: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94760"/>
            <a:ext cx="214884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grau de autonomia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3794760"/>
            <a:ext cx="214884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vulnerabilidade dos afetados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3794760"/>
            <a:ext cx="214884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capacidade de contestação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09160"/>
            <a:ext cx="301752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pergunta antiga:
“o modelo acerta?”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02152" y="5029200"/>
            <a:ext cx="402335" cy="0"/>
          </a:xfrm>
          <a:prstGeom prst="line">
            <a:avLst/>
          </a:prstGeom>
          <a:ln w="2540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931920" y="4709160"/>
            <a:ext cx="315468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pergunta central:
“o sistema é seguro para este uso?”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NIST AI Risk Management Framework apoia organizações no gerenciamento de riscos em concepção, desenvolvimento, implantação, uso e avaliação.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perfil NIST AI 600-1 destaca riscos específicos ou intensificados por GenAI, como confabulação, privacidade, integridade informacional e riscos na cadeia de valor.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proposta é transformar princípios abstratos em controles, evidências, métricas e responsabilidades.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Risco em IA não é evento isolado; é algo a ser monitorado continuamente.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NIST AI RMF: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GESTÃO DE RISCO AO LONGO DO CICLO DE VIDA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1115568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concepção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91056" y="26060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47088" y="2286000"/>
            <a:ext cx="1115568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desenvolvi-
mento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0944" y="26060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36976" y="2286000"/>
            <a:ext cx="1115568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implantação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70831" y="260604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26864" y="2286000"/>
            <a:ext cx="1115568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0" y="26060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16752" y="2286000"/>
            <a:ext cx="1115568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667512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GESTÃO DE RISCO: contínua, do início ao fim — não um evento isolado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097280" y="2962656"/>
            <a:ext cx="0" cy="256032"/>
          </a:xfrm>
          <a:prstGeom prst="line">
            <a:avLst/>
          </a:prstGeom>
          <a:ln w="190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14600" y="2962656"/>
            <a:ext cx="0" cy="256032"/>
          </a:xfrm>
          <a:prstGeom prst="line">
            <a:avLst/>
          </a:prstGeom>
          <a:ln w="190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31920" y="2962656"/>
            <a:ext cx="0" cy="256032"/>
          </a:xfrm>
          <a:prstGeom prst="line">
            <a:avLst/>
          </a:prstGeom>
          <a:ln w="190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349240" y="2962656"/>
            <a:ext cx="0" cy="256032"/>
          </a:xfrm>
          <a:prstGeom prst="line">
            <a:avLst/>
          </a:prstGeom>
          <a:ln w="190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492240" y="2962656"/>
            <a:ext cx="0" cy="256032"/>
          </a:xfrm>
          <a:prstGeom prst="line">
            <a:avLst/>
          </a:prstGeom>
          <a:ln w="190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" y="4206240"/>
            <a:ext cx="6675120" cy="7772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perfil NIST AI 600-1 (GenAI): confabulação · privacidade · integridade informacional · riscos na cadeia de valor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de princípios abstratos a controles, evidências, métricas e responsabilidades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Govern: estabelecer papéis, políticas, responsabilidades e cultura de gestão de risco.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Map: compreender contexto, stakeholders, uso pretendido, danos plausíveis e limitações.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Measure: medir, testar, avaliar, documentar e comparar riscos técnicos e sociotécnicos.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Manage: priorizar, mitigar, aceitar, transferir ou monitorar riscos com controles práticos.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Essas funções ajudam a sair da declaração de princípios e chegar a evidências auditáveis.</a:t>
            </a:r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FUNÇÕES DO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NIST AI RMF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23160" y="1691640"/>
            <a:ext cx="228600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MAP
contexto, uso pretendido,
danos plausíveis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206240"/>
            <a:ext cx="228600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MEASURE
medir, testar, avaliar,
documentar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228600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MANAGE
priorizar, mitigar,
monitorar</a:t>
            </a:r>
          </a:p>
        </p:txBody>
      </p:sp>
      <p:sp>
        <p:nvSpPr>
          <p:cNvPr id="21" name="Oval 20"/>
          <p:cNvSpPr/>
          <p:nvPr/>
        </p:nvSpPr>
        <p:spPr>
          <a:xfrm>
            <a:off x="2880360" y="3063240"/>
            <a:ext cx="1463040" cy="146304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2542032"/>
            <a:ext cx="1051560" cy="16184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788920" y="4617720"/>
            <a:ext cx="182880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37360" y="2542032"/>
            <a:ext cx="868680" cy="16184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D30F59"/>
                </a:solidFill>
                <a:latin typeface="Calibri"/>
              </a:rPr>
              <a:t>GOVERN sustenta as outras três: papéis, políticas e cultura de risco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978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objetivo: sair da declaração de princípios e chegar a evidências auditáveis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Viés, discriminação e injustiça algorítmica.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Toxicidade, conteúdo abusivo e dano psicológico.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Integridade informacional: alucinação, desinformação e falta de calibração.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Privacidade, sigilo, proteção de dados e vazamento de informações.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Segurança de aplicações LLM: prompt injection, supply chain, poisoning, output handling e excessive agency.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Impacto social e humano: dependência excessiva, deslocamento de trabalho, vigilância e assimetrias informacionais.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FAMÍLIAS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RISCO EM GENAI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Viés e injustiça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discriminação algorítmica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82880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Toxicidade e abuso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conteúdo perigoso, dano psicológico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5468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Integridade informacional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alucinação e desinformação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15468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Privacidade e vazamento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dados pessoais, sigilo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Segurança de apps LLM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injection, poisoning, agency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448056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AFAFAF"/>
                </a:solidFill>
                <a:latin typeface="Calibri"/>
              </a:rPr>
              <a:t>Impacto social e humano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dependência, trabalho, vigilância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cada família pede métricas e controles próprios — não existe filtro único</a:t>
            </a: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SEGURANÇA, PROMPT INJECTION E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GUARDRAILS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Modelos treinados em grandes corpus podem reproduzir padrões históricos de desigualdade e estereótipos.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Viés não surge apenas nos dados: aparece na formulação do problema, amostragem, rotulagem, métricas, interface e interpretação humana.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mitigação exige avaliação por grupos afetados, testes de equidade, revisão humana e critérios claros de uso.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objetivo não é prometer neutralidade perfeita, mas reduzir danos e documentar limites.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VIÉS E INJUSTIÇA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ALGORÍTMICA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Viés entra por várias portas — não só pelos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11680"/>
            <a:ext cx="23317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formulação do problema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07208" y="2240280"/>
            <a:ext cx="758952" cy="1371600"/>
          </a:xfrm>
          <a:prstGeom prst="line">
            <a:avLst/>
          </a:prstGeom>
          <a:ln w="1905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670048"/>
            <a:ext cx="23317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amostragem dos dados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07208" y="2898648"/>
            <a:ext cx="758952" cy="713232"/>
          </a:xfrm>
          <a:prstGeom prst="line">
            <a:avLst/>
          </a:prstGeom>
          <a:ln w="1905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3328415"/>
            <a:ext cx="23317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rotulagem humana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07208" y="3557015"/>
            <a:ext cx="758952" cy="54865"/>
          </a:xfrm>
          <a:prstGeom prst="line">
            <a:avLst/>
          </a:prstGeom>
          <a:ln w="1905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3986783"/>
            <a:ext cx="23317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escolha de métricas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807208" y="3611880"/>
            <a:ext cx="758952" cy="603503"/>
          </a:xfrm>
          <a:prstGeom prst="line">
            <a:avLst/>
          </a:prstGeom>
          <a:ln w="1905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4645151"/>
            <a:ext cx="23317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interface e interpretação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807208" y="3611880"/>
            <a:ext cx="758952" cy="1261871"/>
          </a:xfrm>
          <a:prstGeom prst="line">
            <a:avLst/>
          </a:prstGeom>
          <a:ln w="1905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11880" y="3246120"/>
            <a:ext cx="1417320" cy="7772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VIÉS no
sistema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47488" y="3630168"/>
            <a:ext cx="39319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0" y="2697480"/>
            <a:ext cx="1691640" cy="1828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MITIGAR:
avaliação por grupo
testes de equidade
revisão humana
documentar limites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não basta “limpar os dados”: cada porta pede um controle próprio</a:t>
            </a:r>
          </a:p>
        </p:txBody>
      </p: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Sistemas de GenAI podem gerar insultos, discurso de ódio, conteúdo inadequado, incentivo à violência ou instruções perigosas.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Filtros simples podem falhar por variação linguística, documentos externos maliciosos e tentativas de jailbreak.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segurança deve combinar política de uso, classificação de risco, moderação de entrada, validação de saída e revisão humana em casos sensíveis.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produção, é preciso monitorar tentativas de contorno e atualizar controles.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TOXICIDADE, ABUSO E CONTEÚDO PERIGOSO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 que um filtro simples falha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965960"/>
            <a:ext cx="19202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variação linguística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2441448"/>
            <a:ext cx="0" cy="347472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79" y="1965960"/>
            <a:ext cx="19202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docs externos maliciosos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" y="2441448"/>
            <a:ext cx="0" cy="347472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0" y="1965960"/>
            <a:ext cx="19202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jailbreak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2441448"/>
            <a:ext cx="0" cy="347472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2834640"/>
            <a:ext cx="1130198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política
de uso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05686" y="320040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843430" y="2834640"/>
            <a:ext cx="1130198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moderação
de entrada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91916" y="320040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29660" y="2834640"/>
            <a:ext cx="1130198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modelo
gera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78147" y="320040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15891" y="2834640"/>
            <a:ext cx="1130198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validação
de saída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4377" y="320040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02121" y="2834640"/>
            <a:ext cx="1130198" cy="7315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revisão humana
casos sensíveis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862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9BD5"/>
                </a:solidFill>
                <a:latin typeface="Calibri"/>
              </a:rPr>
              <a:t>a segurança é a ESTEIRA inteira — não uma caixa só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434840"/>
            <a:ext cx="59436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 produção: monitorar tentativas de contorno e atualizar os controles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Confabulação ocorre quando o modelo produz respostas plausíveis, mas falsas ou sem sustentação.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sistemas críticos, isso pode gerar decisões erradas, perda financeira, dano reputacional e desinformação.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RAG, citações, checagem de fontes, recusa quando não há evidência e avaliação de faithfulness reduzem o risco.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Mesmo com RAG, o sistema deve inspecionar se a resposta realmente está fundamentada no contexto recuperado.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INTEGRIDADE INFORMACIONAL 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CONFABULAÇÃO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Plausível não é verdadeiro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011680"/>
            <a:ext cx="25603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pergunta do usuário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2532888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331720" y="2834640"/>
            <a:ext cx="256032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recuperar evidência (RAG)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11880" y="3355848"/>
            <a:ext cx="0" cy="25603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03120" y="3657600"/>
            <a:ext cx="30175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resposta está fundamentada
na evidência?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011680" y="4224528"/>
            <a:ext cx="640080" cy="438912"/>
          </a:xfrm>
          <a:prstGeom prst="line">
            <a:avLst/>
          </a:prstGeom>
          <a:ln w="2540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4224528"/>
            <a:ext cx="640080" cy="438912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4440" y="4279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  <a:latin typeface="Calibri"/>
              </a:rPr>
              <a:t>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79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30F59"/>
                </a:solidFill>
                <a:latin typeface="Calibri"/>
              </a:rPr>
              <a:t>não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60"/>
            <a:ext cx="2651760" cy="64008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0A1424"/>
                </a:solidFill>
                <a:latin typeface="Calibri"/>
              </a:rPr>
              <a:t>responder
+ citar a fonte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4709160"/>
            <a:ext cx="265176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recusar
ou pedir mais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recusar sem evidência também é comportamento seguro (faithfulness)</a:t>
            </a:r>
          </a:p>
        </p:txBody>
      </p:sp>
    </p:spTree>
    <p:extLst>
      <p:ext uri="{BB962C8B-B14F-4D97-AF65-F5344CB8AC3E}">
        <p14:creationId xmlns:p14="http://schemas.microsoft.com/office/powerpoint/2010/main" val="404294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Dados pessoais podem entrar por prompts, anexos, documentos RAG, logs, histórico, fine-tuning, telemetria e ferramentas externas.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LGPD traz princípios como finalidade, adequação, necessidade, transparência, segurança, prevenção, não discriminação e responsabilização.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Aplicações de GenAI devem praticar minimização: coletar e reter apenas o necessário para finalidade legítima.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Logs e datasets de avaliação também precisam ser tratados como ativos sensíveis.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PRIVACIDADE, SIGILO E LGPD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Dados pessoais entram por muitas portas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8407" y="2532888"/>
            <a:ext cx="2679193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91056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anexos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12264" y="2532888"/>
            <a:ext cx="1545336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24912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docs RAG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6120" y="2532888"/>
            <a:ext cx="411480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58768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logs e
histórico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2532888"/>
            <a:ext cx="722376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92624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fine-
tuning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657600" y="2532888"/>
            <a:ext cx="1856232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26480" y="1965960"/>
            <a:ext cx="105156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telemetria e
ferramentas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657600" y="2532888"/>
            <a:ext cx="2990088" cy="438912"/>
          </a:xfrm>
          <a:prstGeom prst="line">
            <a:avLst/>
          </a:prstGeom>
          <a:ln w="15875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371600" y="3017520"/>
            <a:ext cx="457200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MINIMIZAÇÃO: coletar e reter só o necessário
para finalidade legítima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77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0AD47"/>
                </a:solidFill>
                <a:latin typeface="Calibri"/>
              </a:rPr>
              <a:t>princípios da LGPD: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finalidade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21408" y="4297680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adequação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85616" y="4297680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necessidade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9824" y="4297680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transparência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73168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21408" y="4773168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prevenção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5616" y="4773168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não discriminação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9824" y="4773168"/>
            <a:ext cx="15727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responsabilização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40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logs e datasets de avaliação também são ativos sensíveis</a:t>
            </a:r>
          </a:p>
        </p:txBody>
      </p:sp>
    </p:spTree>
    <p:extLst>
      <p:ext uri="{BB962C8B-B14F-4D97-AF65-F5344CB8AC3E}">
        <p14:creationId xmlns:p14="http://schemas.microsoft.com/office/powerpoint/2010/main" val="2367165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Prompt injection ocorre quando uma entrada textual, visual ou multimodal altera o comportamento do modelo de forma não pretendida.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Ataque direto: o usuário tenta burlar instruções, por exemplo: “ignore as instruções anteriores”.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Ataque indireto: instruções maliciosas são escondidas em documentos, sites, e-mails, PDFs, planilhas, imagens ou resultados de busca.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 e agentes aumentam a criticidade porque o sistema tende a consumir conteúdo externo e acionar ferramentas.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PROMPT INJECTION: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ATAQUE DIRETO E INDIRETO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1828800"/>
            <a:ext cx="2651760" cy="9601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ATAQUE DIRETO
usuário tenta burlar:
“ignore as instruções
anteriores”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828800"/>
            <a:ext cx="2651760" cy="9601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ATAQUE INDIRETO
instruções escondidas em
docs, sites, e-mails, PDFs,
planilhas, imagens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48840" y="2807208"/>
            <a:ext cx="1143000" cy="6217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06240" y="2807208"/>
            <a:ext cx="1143000" cy="6217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377440" y="3474720"/>
            <a:ext cx="274320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 LLM obedece
o texto que lê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4133087"/>
            <a:ext cx="0" cy="301753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80160" y="4480560"/>
            <a:ext cx="493776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RAG e agentes elevam a criticidade:
consomem conteúdo externo e acionam ferramentas sozinhos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ataque indireto chega pelo conteúdo que o próprio sistema busca</a:t>
            </a:r>
          </a:p>
        </p:txBody>
      </p:sp>
    </p:spTree>
    <p:extLst>
      <p:ext uri="{BB962C8B-B14F-4D97-AF65-F5344CB8AC3E}">
        <p14:creationId xmlns:p14="http://schemas.microsoft.com/office/powerpoint/2010/main" val="174317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Separar instruções confiáveis de dados externos não confiáveis.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Marcar conteúdo recuperado como evidência, e não como comando.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Aplicar least privilege, allowlist de ações, tokens temporários e escopo mínimo de ferramentas.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Validar entrada e saída, isolar execução e exigir aprovação humana para operações irreversíveis.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Manter logs auditáveis e realizar testes adversariais regularmente.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8" y="441326"/>
            <a:ext cx="1132826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MITIGAÇÕES CONTRA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PROMPT INJECTION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0" y="1572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D30F59"/>
                </a:solidFill>
                <a:latin typeface="Calibri"/>
              </a:rPr>
              <a:t>ataque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1481328"/>
            <a:ext cx="0" cy="457200"/>
          </a:xfrm>
          <a:prstGeom prst="line">
            <a:avLst/>
          </a:prstGeom>
          <a:ln w="381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1965960"/>
            <a:ext cx="621792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separar instruções confiáveis  ×  dados externos não confiáveis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587752"/>
            <a:ext cx="62179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conteúdo recuperado = EVIDÊNCIA, não comando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9544"/>
            <a:ext cx="621792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least privilege · allowlist de ações · tokens temporários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31336"/>
            <a:ext cx="62179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validar entrada e saída · aprovação humana p/ ações irreversíveis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53128"/>
            <a:ext cx="621792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logs auditáveis · testes adversariais regulares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56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D30F59"/>
                </a:solidFill>
                <a:latin typeface="Calibr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5896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nenhuma camada segura sozinha — empilhadas, o ataque não atravessa</a:t>
            </a:r>
          </a:p>
        </p:txBody>
      </p:sp>
    </p:spTree>
    <p:extLst>
      <p:ext uri="{BB962C8B-B14F-4D97-AF65-F5344CB8AC3E}">
        <p14:creationId xmlns:p14="http://schemas.microsoft.com/office/powerpoint/2010/main" val="121451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Guardrails são mecanismos técnicos e organizacionais para manter o comportamento do sistema dentro de limites aceitáveis.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Eles podem operar antes do modelo, durante a composição do contexto, depois da geração ou antes da execução de ferramentas.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bom desenho usa defesa em profundidade: múltiplas camadas, e não um único filtro.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sistemas agentic, guardrails precisam controlar ações, ferramentas, parâmetros, contexto, usuário e aprovação.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GUARDRAILS: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POLÍTICAS, FILTROS E LIMITES DE AUTONOMIA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1046073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entrada do
usuário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21561" y="317754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521561" y="2057400"/>
            <a:ext cx="347472" cy="347472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95297" y="2423160"/>
            <a:ext cx="0" cy="667512"/>
          </a:xfrm>
          <a:prstGeom prst="line">
            <a:avLst/>
          </a:prstGeom>
          <a:ln w="15875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87321" y="2834640"/>
            <a:ext cx="1046073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contexto
(RAG)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51683" y="317754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51683" y="2057400"/>
            <a:ext cx="347472" cy="347472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25419" y="2423160"/>
            <a:ext cx="0" cy="667512"/>
          </a:xfrm>
          <a:prstGeom prst="line">
            <a:avLst/>
          </a:prstGeom>
          <a:ln w="15875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17443" y="2834640"/>
            <a:ext cx="1046073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
gera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81804" y="317754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381804" y="2057400"/>
            <a:ext cx="347472" cy="347472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55540" y="2423160"/>
            <a:ext cx="0" cy="667512"/>
          </a:xfrm>
          <a:prstGeom prst="line">
            <a:avLst/>
          </a:prstGeom>
          <a:ln w="15875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47564" y="2834640"/>
            <a:ext cx="1046073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saída
validada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11926" y="317754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11926" y="2057400"/>
            <a:ext cx="347472" cy="347472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85662" y="2423160"/>
            <a:ext cx="0" cy="667512"/>
          </a:xfrm>
          <a:prstGeom prst="line">
            <a:avLst/>
          </a:prstGeom>
          <a:ln w="15875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7686" y="2834640"/>
            <a:ext cx="1046073" cy="6858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ferramenta
/ 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D30F59"/>
                </a:solidFill>
                <a:latin typeface="Calibri"/>
              </a:rPr>
              <a:t>G = guardrail em cada FRONTEIRA — defesa em profundidade, não um filtro único no fim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434840"/>
            <a:ext cx="60350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 sistemas agentic, guardrails também controlam:
ações · ferramentas · parâmetros · contexto · usuário · aprovação</a:t>
            </a:r>
          </a:p>
        </p:txBody>
      </p:sp>
    </p:spTree>
    <p:extLst>
      <p:ext uri="{BB962C8B-B14F-4D97-AF65-F5344CB8AC3E}">
        <p14:creationId xmlns:p14="http://schemas.microsoft.com/office/powerpoint/2010/main" val="18524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GOVERNANÇA, CONFORMIDADE, INCIDENTES E PRÁTICA GUIADA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Governança começa antes do prompt: é preciso saber quais dados entram, de onde vêm, quem autorizou, por quanto tempo serão armazenados e quem pode acessar.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RAG, chunks e embeddings podem criar um novo canal de acesso a informações restritas.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Permissões precisam ser preservadas por documento, por trecho, por usuário e por finalidade.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autorização deve ocorrer tanto na recuperação quanto na composição da resposta.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GOVERNANÇA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DADOS EM GENAI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Permissão em DOIS momentos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94560"/>
            <a:ext cx="1463040" cy="7315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usuário
pergunta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38528" y="2560320"/>
            <a:ext cx="31089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67712" y="2194560"/>
            <a:ext cx="173736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recuperação
de chunks
🔒 checa permissão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23360" y="2560320"/>
            <a:ext cx="31089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52544" y="2194560"/>
            <a:ext cx="173736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composição
da resposta
🔒 checa DE NOVO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560320"/>
            <a:ext cx="31089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37376" y="2148840"/>
            <a:ext cx="868680" cy="82296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0A1424"/>
                </a:solidFill>
                <a:latin typeface="Calibri"/>
              </a:rPr>
              <a:t>só o que
pode
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80"/>
            <a:ext cx="66751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embeddings e chunks NÃO podem virar atalho para documentos restritos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FAFAF"/>
                </a:solidFill>
                <a:latin typeface="Calibri"/>
              </a:rPr>
              <a:t>permissões preservadas em quatro dimensões: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26280"/>
            <a:ext cx="1572768" cy="4114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documento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57984" y="4526280"/>
            <a:ext cx="1572768" cy="4114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trecho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58768" y="4526280"/>
            <a:ext cx="1572768" cy="4114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usuário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9552" y="4526280"/>
            <a:ext cx="1572768" cy="4114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finalidade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578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governança começa antes do prompt: origem, autorização, retenção e acesso</a:t>
            </a:r>
          </a:p>
        </p:txBody>
      </p:sp>
    </p:spTree>
    <p:extLst>
      <p:ext uri="{BB962C8B-B14F-4D97-AF65-F5344CB8AC3E}">
        <p14:creationId xmlns:p14="http://schemas.microsoft.com/office/powerpoint/2010/main" val="188465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Incidentes podem envolver vazamento de dados, conteúdo discriminatório, obediência a documento malicioso, execução indevida de ferramenta ou desinformação em escala.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plano de resposta deve combinar detecção, contenção, análise, comunicação, correção e aprendizado.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Brasil, a ANPD aprovou regulamento de comunicação de incidente de segurança e orienta comunicação em três dias úteis quando aplicável.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maturidade de LLMOps inclui versionamento de prompts, políticas, modelos, logs, métricas de risco e playbooks de incidente.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it-IT" sz="4000" dirty="0">
                <a:latin typeface="GothamHTF-Book" pitchFamily="2" charset="0"/>
              </a:rPr>
              <a:t>RESPOSTA A INCIDENTES EM </a:t>
            </a:r>
            <a:r>
              <a:rPr lang="it-IT" sz="4000" dirty="0">
                <a:solidFill>
                  <a:srgbClr val="D30F59"/>
                </a:solidFill>
                <a:latin typeface="GothamHTF-Book" pitchFamily="2" charset="0"/>
              </a:rPr>
              <a:t>GENAI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 alerta ao aprendizado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03120"/>
            <a:ext cx="192024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 · DETECTAR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103120"/>
            <a:ext cx="19202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2 · CONTER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103120"/>
            <a:ext cx="19202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3 · ANALISAR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00400"/>
            <a:ext cx="19202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4 · COMUNICAR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200400"/>
            <a:ext cx="19202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5 · CORRIGIR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00400"/>
            <a:ext cx="192024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0A1424"/>
                </a:solidFill>
                <a:latin typeface="Calibri"/>
              </a:rPr>
              <a:t>6 · APRENDER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87168" y="2377439"/>
            <a:ext cx="1920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36008" y="2377439"/>
            <a:ext cx="1920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06440" y="2670048"/>
            <a:ext cx="0" cy="51206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636008" y="3474720"/>
            <a:ext cx="1920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487168" y="3474720"/>
            <a:ext cx="1920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508760" y="2670048"/>
            <a:ext cx="0" cy="512064"/>
          </a:xfrm>
          <a:prstGeom prst="line">
            <a:avLst/>
          </a:prstGeom>
          <a:ln w="2540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28800" y="2788920"/>
            <a:ext cx="960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AD47"/>
                </a:solidFill>
                <a:latin typeface="Calibri"/>
              </a:rPr>
              <a:t>o aprendizado
realimenta
a detecção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6217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ANPD: comunicar incidente de segurança em até 3 dias úteis, quando aplicável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2920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maturidade LLMOps: versionar prompts, políticas, modelos, logs e playbooks</a:t>
            </a:r>
          </a:p>
        </p:txBody>
      </p:sp>
    </p:spTree>
    <p:extLst>
      <p:ext uri="{BB962C8B-B14F-4D97-AF65-F5344CB8AC3E}">
        <p14:creationId xmlns:p14="http://schemas.microsoft.com/office/powerpoint/2010/main" val="3665925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conformidade em GenAI exige inventário, classificação de risco, uso pretendido, documentação técnica e evidências de monitoramento.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EU AI Act usa abordagem baseada em risco e estabelece obrigações de transparência, supervisão humana, monitoramento e reporte em certos casos.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LGPD permanece central quando a aplicação trata dados pessoais no Brasil.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pacote mínimo de evidências inclui model card, datasheet, data lineage, threat model, matriz de controles, resultados de avaliação, política de retenção e logs de auditoria.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CONFORMIDADE: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LGPD, EU AI ACT E DOCUMENTAÇÃO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011680"/>
            <a:ext cx="324612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EU AI ACT
abordagem baseada em risco:
transparência, supervisão humana, reporte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2011680"/>
            <a:ext cx="324612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LGPD
central sempre que a aplicação
trata dados pessoais no Brasil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4760" y="2971800"/>
            <a:ext cx="0" cy="3200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3375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D30F59"/>
                </a:solidFill>
                <a:latin typeface="Calibri"/>
              </a:rPr>
              <a:t>pacote mínimo de evidências: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model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370332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datasheet dos dados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70332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data lineage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370332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threat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15968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matriz de controles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4315968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resultados de avaliação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315968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política de retenção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4315968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📄 logs de auditoria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é isto que um auditor — ou um cliente grande — vai pedir</a:t>
            </a:r>
          </a:p>
        </p:txBody>
      </p:sp>
    </p:spTree>
    <p:extLst>
      <p:ext uri="{BB962C8B-B14F-4D97-AF65-F5344CB8AC3E}">
        <p14:creationId xmlns:p14="http://schemas.microsoft.com/office/powerpoint/2010/main" val="304844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mercado exige cada vez mais sistemas de GenAI auditáveis, seguros e alinhados a políticas corporativas.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tendência é integrar Responsible AI, LLMOps, segurança de aplicações, governança de dados e conformidade regulatória.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Organizações maduras tratam segurança de GenAI como ciclo contínuo: avaliação, monitoramento, red teaming, auditoria e melhoria.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vantagem competitiva passa a incluir confiança, rastreabilidade, proteção de dados e capacidade de demonstrar diligência.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MERCADO, CASES E TENDÊNCIAS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Auditável por padrão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seguro e alinhado a políticas corporativas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82880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Disciplinas integradas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Responsible AI · LLMOps · AppSec · governança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5468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Segurança como ciclo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avaliação, red teaming, auditoria, melhoria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154680"/>
            <a:ext cx="3200400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Confiança como vantagem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rastreabilidade e diligência demonstrável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diferencial competitivo deixou de ser só o modelo — é a confiança operada</a:t>
            </a:r>
          </a:p>
        </p:txBody>
      </p:sp>
    </p:spTree>
    <p:extLst>
      <p:ext uri="{BB962C8B-B14F-4D97-AF65-F5344CB8AC3E}">
        <p14:creationId xmlns:p14="http://schemas.microsoft.com/office/powerpoint/2010/main" val="1550297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Transformar políticas de uso em verificações automatizadas.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Detectar informações pessoais identificáveis em entrada e saída.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Sinalizar tentativas simples de prompt injection.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eventos para auditoria e resposta a incidentes.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Montar um pipeline defensivo mínimo: entrada, contexto, modelo, saída, ferramenta e log.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HANDS ON: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LABORATÓRIO MÍNIMO DE SEGURANÇA E GOVERNANÇA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148840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políticas de uso → verificações automatizadas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2862072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detector de PII na entrada e na saída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3575304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sinalizar tentativas simples de prompt injection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288536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registro de eventos para auditoria e incidentes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0017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5001768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pipeline defensivo: entrada → contexto → modelo → saída → ferramenta →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24728"/>
            <a:ext cx="644652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laboratório mínimo de segurança e governança — cada política vira código</a:t>
            </a:r>
          </a:p>
        </p:txBody>
      </p:sp>
    </p:spTree>
    <p:extLst>
      <p:ext uri="{BB962C8B-B14F-4D97-AF65-F5344CB8AC3E}">
        <p14:creationId xmlns:p14="http://schemas.microsoft.com/office/powerpoint/2010/main" val="1188903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Escopo e uso pretendido documentados.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Dados classificados, minimizados e com permissões preservadas.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Riscos mapeados com matriz de severidade e probabilidade.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Guardrails implementados em entrada, contexto, saída e ferramentas.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Avaliação contínua de qualidade, segurança, viés, factualidade e privacidade.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Logs, traces, auditoria, plano de incidentes e revisão humana definidos.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7886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CHECKLIST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PRODUÇÃO RESPONSÁVEL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214884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ANTES DE CONSTRUIR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40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escopo e uso
pretendido documentados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72968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dados classificados,
minimizados, com permissões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828800"/>
            <a:ext cx="2148840" cy="4572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AO CONSTRUIR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377440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riscos mapeados:
matriz severidade × prob.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172968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guardrails em entrada,
contexto, saída, ferramentas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828800"/>
            <a:ext cx="2148840" cy="4572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0A1424"/>
                </a:solidFill>
                <a:latin typeface="Calibri"/>
              </a:rPr>
              <a:t>EM OPERAÇÃO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377440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avaliação contínua: viés,
PII, factualidade, segurança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172968"/>
            <a:ext cx="21488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logs, plano de incidentes,
revisão humana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51960"/>
            <a:ext cx="530352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 checklist é um PORTÃO: sem todos os ✓, não sobe para produção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029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seis grupos de exigências — cobrados de novo a cada mudança relevante</a:t>
            </a: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Ética em GenAI não é apenas discussão filosófica; aparece em dados, métricas, arquitetura, permissões, documentação, monitoramento e resposta a incidentes.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Riscos de GenAI incluem viés, toxicidade, privacidade, segurança, propriedade intelectual, desinformação e impacto social.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Frameworks como NIST AI RMF, OWASP LLM Top 10 e EU AI Act ajudam a transformar princípios em controles operacionais.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Guardrails, detecção de PII, análise de prompt injection, avaliação contínua e documentação são bases de uma GenAI segura, auditável e responsável.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FECHAMENTO: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O QUE VOCÊ VIU NESTA AULA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194560"/>
            <a:ext cx="1394460" cy="10515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PRINCÍPIOS
ética concreta,
não só filosofia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69948" y="2720339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17420" y="2194560"/>
            <a:ext cx="1394460" cy="105156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RISCOS
viés · toxicidade
privacidade · segurança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30168" y="2720339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977639" y="2194560"/>
            <a:ext cx="1394460" cy="105156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FRAMEWORKS
NIST AI RMF · OWASP
EU AI 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90388" y="2720339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37859" y="2194560"/>
            <a:ext cx="1394460" cy="105156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CONTROLES
guardrails · PII
avaliação ·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840480"/>
            <a:ext cx="521208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GenAI segura, auditável e responsável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94760" y="3264408"/>
            <a:ext cx="0" cy="5486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47091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ética aparece em dados, métricas, arquitetura, permissões, monitoramento e resposta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TABASSI, E. Artificial Intelligence Risk Management Framework (AI RMF 1.0). Gaithersburg: National Institute of Standards and Technology,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OWASP. OWASP Top 10 for LLM Applications 2025. OWASP Foundation, 2024.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OWASP. LLM01: Prompt Injection. OWASP Foundation,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LIANG, P. et al. Holistic Evaluation of Language Models.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BRASIL. Lei nº 13.709, de 14 de agosto de 2018 (Lei Geral de Proteção de Dados Pessoais – LGPD). Brasília: Presidência da República, 2018.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NATIONAL INSTITUTE OF STANDARDS AND TECHNOLOGY (NIST). AI RMF Core: Govern, Map, Measure, Manage. NIST.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GRESHAKE, K. et al. Not what you’ve signed up for: Compromising Real-World LLM-Integrated Applications with Indirect Prompt Injection.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EUROPEAN COMMISSION. AI Act: regulatory framework for artificial intelligence. European Union, 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BRASIL. Autoridade Nacional de Proteção de Dados (ANPD). ANPD determina suspensão cautelar do tratamento de dados pessoais para treinamento da IA da Meta. Brasília, 2024.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46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3E06B9-7265-4333-9724-60F95370CE2C}"/>
</file>

<file path=customXml/itemProps2.xml><?xml version="1.0" encoding="utf-8"?>
<ds:datastoreItem xmlns:ds="http://schemas.openxmlformats.org/officeDocument/2006/customXml" ds:itemID="{C8DD1FA8-8F56-490A-8CC6-CDA88A6017A5}"/>
</file>

<file path=customXml/itemProps3.xml><?xml version="1.0" encoding="utf-8"?>
<ds:datastoreItem xmlns:ds="http://schemas.openxmlformats.org/officeDocument/2006/customXml" ds:itemID="{4B878951-B11B-4E42-BC38-66790B470EDB}"/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1968</Words>
  <Application>Microsoft Office PowerPoint</Application>
  <PresentationFormat>Widescreen</PresentationFormat>
  <Paragraphs>214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GothamHTF-Book</vt:lpstr>
      <vt:lpstr>Open Sans</vt:lpstr>
      <vt:lpstr>Roboto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9</cp:revision>
  <dcterms:created xsi:type="dcterms:W3CDTF">2026-07-06T13:22:28Z</dcterms:created>
  <dcterms:modified xsi:type="dcterms:W3CDTF">2026-07-08T19:10:21Z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