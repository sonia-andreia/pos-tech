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747" r:id="rId2"/>
    <p:sldId id="572" r:id="rId3"/>
    <p:sldId id="569" r:id="rId4"/>
    <p:sldId id="748" r:id="rId5"/>
    <p:sldId id="749" r:id="rId6"/>
    <p:sldId id="750" r:id="rId7"/>
    <p:sldId id="751" r:id="rId8"/>
    <p:sldId id="752" r:id="rId9"/>
    <p:sldId id="753" r:id="rId10"/>
    <p:sldId id="754" r:id="rId11"/>
    <p:sldId id="756" r:id="rId12"/>
    <p:sldId id="757" r:id="rId13"/>
    <p:sldId id="758" r:id="rId14"/>
    <p:sldId id="759" r:id="rId15"/>
    <p:sldId id="760" r:id="rId16"/>
    <p:sldId id="761" r:id="rId17"/>
    <p:sldId id="762" r:id="rId18"/>
    <p:sldId id="755" r:id="rId19"/>
    <p:sldId id="763" r:id="rId20"/>
    <p:sldId id="764" r:id="rId21"/>
    <p:sldId id="765" r:id="rId22"/>
    <p:sldId id="766" r:id="rId23"/>
    <p:sldId id="767" r:id="rId24"/>
    <p:sldId id="768" r:id="rId25"/>
    <p:sldId id="769" r:id="rId26"/>
    <p:sldId id="770" r:id="rId27"/>
    <p:sldId id="284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0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customXml" Target="../customXml/item1.xml"/><Relationship Id="rId35" Type="http://schemas.openxmlformats.org/officeDocument/2006/relationships/customXml" Target="../customXml/item2.xml"/><Relationship Id="rId36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221E-5A2F-496B-AB2F-0D1D2F71E69D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03B2-33B5-4C85-89C1-87752B9186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8" name="Google Shape;12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ECE1-6587-496B-B248-649FB96D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EE2F41-C1B9-4F9A-9969-08E055B53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E5046-1F12-4F5A-93B7-5B82BAE4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942-6EA7-483A-A267-5B505C8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5C86A5-F3C0-4BCC-8DE3-3EB41564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145B-BC9B-4BC1-BC95-416F8FC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81121-E8E8-481B-B970-EB2EF093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AC847-246F-4937-811C-9F400D12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7858C-0F67-4107-8B48-0101DEC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F56298-E242-4875-83F8-0BD5F29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8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EBC3F-B731-447C-86C7-D8AA6A9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ADBF64-50EA-49C9-BB50-679DE7D6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FA358-0FB7-4B94-879C-6A5019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B41345-4F91-4EFE-90BD-5E66CD2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B92F9-8F5F-4CE2-B8BC-5E065F10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2FA7-7816-4AD6-87AB-6777D08F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06A82-ADEE-4B7D-9B34-AA50939E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D730F-C4CA-4292-91CD-EDD11CF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48ACD-1A1B-4732-BC6D-BA8E89CD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32A61-F7FB-4DFB-9397-1E28D196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1DD3F-42AC-4878-8663-E43952D0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8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34A8-1A16-4DE8-BE05-39AA4F72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0FA11-6FA0-43DD-AB0F-5E874540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44323-B483-41CF-B124-7B790220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090C84-46EF-4306-AC8C-6762E06BD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14587-A3E9-440A-9599-FA750A7DA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D55913-759D-4271-A081-E28B8245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3C52D7-ABD7-4D0F-B893-A951C02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7E252-5915-42AD-802A-948210B1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70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A943-4154-45BB-89BC-D7259B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BECFA6-1BCD-442E-95A7-C0177EDA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A38AD5-A5FA-4A16-B70B-27D50CC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A6F2B-CD46-499C-98B9-9A75D098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4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06174-D7D8-4DBF-B5D6-FB237D9F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937C1A-B955-4FD5-AC63-F49541A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75C90-A2BB-4A65-901E-5B0955A4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A24A-AD29-4FB8-9E15-F919705E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3B837-65E8-4B42-8BA9-E1A3DCF1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F24F6-A6E4-4A8E-889D-1E75A2E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B8F9-36FB-48EF-9845-AECF1F6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6E588-EEB7-4315-AE84-61165B72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339F43-49DF-4B10-9576-8D14A84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88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937-881E-4414-9F5D-370B0085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3CE69E-6E6E-49A0-919A-9B381236E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6E0285-2E2B-49AE-AB18-1AAC8F10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518D9-1041-4310-983A-B0C0EF3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B941A-14BD-43F6-BE9B-F900338E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62DC-5C88-4F0B-B276-56B7C45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05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F3997-BFE8-4415-808B-3365F202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28CE38-1523-4C63-84B9-9DBD0B83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95A13-8701-4348-9F51-377B56E0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BBC08-BC26-4F81-899A-16D9EDF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7749E-517F-44D9-9C0D-9300594C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4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D9735-7EE3-442F-A56E-7291019CD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7DB0B-FEE8-4AED-A6B7-CC2AB308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A4004-639A-4D85-90A4-58FD36E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90181B-D0C3-4D0F-8D11-92B57F4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4CB82-63AA-402F-8D2C-52E8C71A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8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6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8"/>
          <p:cNvSpPr>
            <a:spLocks noGrp="1"/>
          </p:cNvSpPr>
          <p:nvPr>
            <p:ph type="pic" idx="3"/>
          </p:nvPr>
        </p:nvSpPr>
        <p:spPr>
          <a:xfrm>
            <a:off x="9908820" y="2865127"/>
            <a:ext cx="2283180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8"/>
          <p:cNvSpPr>
            <a:spLocks noGrp="1"/>
          </p:cNvSpPr>
          <p:nvPr>
            <p:ph type="pic" idx="4"/>
          </p:nvPr>
        </p:nvSpPr>
        <p:spPr>
          <a:xfrm>
            <a:off x="6768354" y="2865127"/>
            <a:ext cx="3622284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487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60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1220" y="1544320"/>
            <a:ext cx="2371090" cy="4111506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04860" y="1208941"/>
            <a:ext cx="2371090" cy="2800768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E999-1F8C-4788-8292-1E612B1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5F6EFE-038E-49FC-B690-D6BA04F4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997E1-C832-45DB-A06B-F1B850A4E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C2A4-8F15-4E50-9E8F-279B4B62E212}" type="datetimeFigureOut">
              <a:rPr lang="pt-BR" smtClean="0"/>
              <a:t>06/07/2026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368F6-D3BB-4BB9-B9E2-262588308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55B3-F9F4-4CB3-8984-3AE273AB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3">
            <a:extLst>
              <a:ext uri="{FF2B5EF4-FFF2-40B4-BE49-F238E27FC236}">
                <a16:creationId xmlns:a16="http://schemas.microsoft.com/office/drawing/2014/main" id="{CF26E861-816A-5722-A627-FF594DC9B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A0EFF-BBA5-7670-5C4C-AF879D1D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3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D4D55-0308-C543-1D61-065285E2AA30}"/>
              </a:ext>
            </a:extLst>
          </p:cNvPr>
          <p:cNvSpPr txBox="1"/>
          <p:nvPr/>
        </p:nvSpPr>
        <p:spPr>
          <a:xfrm>
            <a:off x="425227" y="438287"/>
            <a:ext cx="9277573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chemeClr val="bg1">
                    <a:lumMod val="75000"/>
                  </a:schemeClr>
                </a:solidFill>
                <a:latin typeface="GothamHTF-Book"/>
                <a:ea typeface="Open Sans"/>
                <a:cs typeface="Open Sans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C41F4-469E-4104-999E-D2986C4584C2}"/>
              </a:ext>
            </a:extLst>
          </p:cNvPr>
          <p:cNvSpPr txBox="1"/>
          <p:nvPr/>
        </p:nvSpPr>
        <p:spPr>
          <a:xfrm>
            <a:off x="425228" y="2013228"/>
            <a:ext cx="9069754" cy="1485150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r>
              <a:rPr lang="en-US" sz="2375" dirty="0">
                <a:solidFill>
                  <a:schemeClr val="bg1"/>
                </a:solidFill>
                <a:latin typeface="GothamHTF-Book"/>
              </a:rPr>
              <a:t>AULA 01</a:t>
            </a:r>
            <a:endParaRPr lang="en-US" sz="240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pt-BR" sz="24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pt-BR" sz="4376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ARQUITETURA TRANSFORMER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2F03DA-9662-41DE-94CB-97F721E07590}"/>
              </a:ext>
            </a:extLst>
          </p:cNvPr>
          <p:cNvGrpSpPr/>
          <p:nvPr/>
        </p:nvGrpSpPr>
        <p:grpSpPr>
          <a:xfrm>
            <a:off x="425227" y="5998480"/>
            <a:ext cx="2575150" cy="421231"/>
            <a:chOff x="1070565" y="5176310"/>
            <a:chExt cx="1455806" cy="42123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556EC2-512F-4B55-A86E-C8EAF955F7B9}"/>
                </a:ext>
              </a:extLst>
            </p:cNvPr>
            <p:cNvSpPr/>
            <p:nvPr/>
          </p:nvSpPr>
          <p:spPr>
            <a:xfrm rot="5400000">
              <a:off x="1587852" y="4659023"/>
              <a:ext cx="421232" cy="1455806"/>
            </a:xfrm>
            <a:prstGeom prst="snip1Rect">
              <a:avLst>
                <a:gd name="adj" fmla="val 40787"/>
              </a:avLst>
            </a:prstGeom>
            <a:noFill/>
            <a:ln w="28575">
              <a:solidFill>
                <a:srgbClr val="D30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2700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5A1245-7D7A-4ED9-8D34-71D7E16DE6F3}"/>
                </a:ext>
              </a:extLst>
            </p:cNvPr>
            <p:cNvSpPr txBox="1"/>
            <p:nvPr/>
          </p:nvSpPr>
          <p:spPr>
            <a:xfrm>
              <a:off x="1196555" y="5233037"/>
              <a:ext cx="120382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ctr">
                <a:defRPr sz="1400">
                  <a:latin typeface="Work Sans" panose="00000500000000000000" pitchFamily="2" charset="0"/>
                  <a:ea typeface="Open Sans" pitchFamily="2" charset="0"/>
                  <a:cs typeface="Open Sans" pitchFamily="2" charset="0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Roboto Light" panose="02000000000000000000" pitchFamily="2" charset="0"/>
                </a:rPr>
                <a:t>Flavio Padilha</a:t>
              </a:r>
            </a:p>
          </p:txBody>
        </p:sp>
      </p:grpSp>
      <p:sp>
        <p:nvSpPr>
          <p:cNvPr id="8" name="Freeform: Shape 34">
            <a:extLst>
              <a:ext uri="{FF2B5EF4-FFF2-40B4-BE49-F238E27FC236}">
                <a16:creationId xmlns:a16="http://schemas.microsoft.com/office/drawing/2014/main" id="{168852EC-ECA5-AC4A-B1B5-B8BC4F82D821}"/>
              </a:ext>
            </a:extLst>
          </p:cNvPr>
          <p:cNvSpPr/>
          <p:nvPr/>
        </p:nvSpPr>
        <p:spPr>
          <a:xfrm>
            <a:off x="8657986" y="-259043"/>
            <a:ext cx="7485942" cy="7376085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 flip="none" rotWithShape="1"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5400000" scaled="1"/>
            <a:tileRect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9553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2410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FUNDAMENTOS, LIMITES DAS ARQUITETURAS ANTERIORES E ESTRUTURA ENCODER-DECODER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Os Transformers se tornaram a base dos modelos fundacionais modernos de linguagem, visão, áudio e multimodalidade.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arquitetura reorganiza o processamento sequencial em torno do mecanismo de atenção, permitindo capturar relações entre tokens distantes.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objetivo da aula é entender os blocos internos que sustentam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LLMs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modelos generativos, tradução, sumarização, RAG e sistemas multimodais. 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ABERTURA</a:t>
            </a:r>
            <a:r>
              <a:rPr lang="pt-BR" sz="4000" dirty="0">
                <a:latin typeface="GothamHTF-Book" pitchFamily="2" charset="0"/>
              </a:rPr>
              <a:t>: POR QUE ESTUDAR TRANSFORMERS?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31720" y="3520439"/>
            <a:ext cx="2103120" cy="9144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TRANSFORMER
(2017)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4884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LLMs e copilotos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645920" y="2715768"/>
            <a:ext cx="1737360" cy="804671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80560" y="214884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Tradução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383280" y="2715768"/>
            <a:ext cx="2286000" cy="804671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548640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Busca e RAG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645920" y="4434840"/>
            <a:ext cx="1737360" cy="10332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80560" y="548640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Multimodal (imagem, áudio)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83280" y="4434840"/>
            <a:ext cx="2286000" cy="10332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1722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uma arquitetura só — a peça comum de toda a IA generativa moderna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Diferenciar limitações de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RNNs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CNNs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a solução proposta pela atenção.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Descrever a arquitetura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encoder-decoder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do Transformer original.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positional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como preparação da entrada.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Interpretar o mecanismo de self-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por meio de consultas, chaves e valores.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Comparar famílias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encoder-only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decoder-only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encoder-decoder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em tarefas de compreensão e geração. 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RESULTADOS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APRENDIZAGEM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645920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Limitações de RNNs e CNNs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12140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487168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Encoder-decoder original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2962656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328416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Tokenização, embeddings e posição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803904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169664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Self-attention: Q, K e V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645152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5010912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Famílias: BERT, GPT, T5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trilha da aula — cada parada vira código no notebook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Redes recorrentes processam sequências passo a passo: cada estado oculto depende do estado anterior e da entrada atual.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dependência sequencial dificulta paralelização, aumenta o custo de treinamento e limita a escala.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RNNs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também sofrem com dissipação ou explosão do gradiente, o que dificulta reter informações em sequências longas.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LSTM e GRU ajudam a mitigar o problema, mas não eliminam o gargalo estrutural do processamento sequencial. 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LIMITAÇÕES DAS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RNNS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RNN: uma palavra por vez, carregando a memória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377440"/>
            <a:ext cx="1234440" cy="566928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palavra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01368" y="2660904"/>
            <a:ext cx="420624" cy="0"/>
          </a:xfrm>
          <a:prstGeom prst="line">
            <a:avLst/>
          </a:prstGeom>
          <a:ln w="25400">
            <a:solidFill>
              <a:srgbClr val="F57E2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19072" y="2084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7E20"/>
                </a:solidFill>
                <a:latin typeface="Calibri"/>
              </a:rPr>
              <a:t>memória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2377440"/>
            <a:ext cx="1234440" cy="566928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palavra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93008" y="2660904"/>
            <a:ext cx="420624" cy="0"/>
          </a:xfrm>
          <a:prstGeom prst="line">
            <a:avLst/>
          </a:prstGeom>
          <a:ln w="25400">
            <a:solidFill>
              <a:srgbClr val="F57E2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10712" y="2084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7E20"/>
                </a:solidFill>
                <a:latin typeface="Calibri"/>
              </a:rPr>
              <a:t>memória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2377440"/>
            <a:ext cx="1234440" cy="566928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palavra 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84648" y="2660904"/>
            <a:ext cx="420624" cy="0"/>
          </a:xfrm>
          <a:prstGeom prst="line">
            <a:avLst/>
          </a:prstGeom>
          <a:ln w="25400">
            <a:solidFill>
              <a:srgbClr val="F57E2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02352" y="20848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7E20"/>
                </a:solidFill>
                <a:latin typeface="Calibri"/>
              </a:rPr>
              <a:t>memória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2377440"/>
            <a:ext cx="1234440" cy="566928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palavra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49039"/>
            <a:ext cx="5120640" cy="6858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GARGALO: não dá para paralelizar —
o passo 4 espera o passo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e em sequências longas a memória 'evapora' (gradiente some)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CNNs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permitem maior paralelismo que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RNNs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mas capturam relações locais por janelas ou filtros.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Para relacionar sinais distantes, é necessário empilhar camadas ou ampliar o campo receptivo.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Isso aumenta o número de operações e pode limitar a resolução do contexto global.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problemas de linguagem, dependências semânticas, sintáticas e pronominais podem atravessar grandes distâncias no texto. 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LIMITAÇÕES DAS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CNNS EM LINGUAGEM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CNN: só enxerga janelas locais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8686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81912" y="5029200"/>
            <a:ext cx="8686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5184" y="5029200"/>
            <a:ext cx="8686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48456" y="5029200"/>
            <a:ext cx="8686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7" y="5029200"/>
            <a:ext cx="8686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4999" y="5029200"/>
            <a:ext cx="8686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166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FAFAF"/>
                </a:solidFill>
                <a:latin typeface="Calibri"/>
              </a:rPr>
              <a:t>palavras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566160" y="4572000"/>
            <a:ext cx="0" cy="402336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7" y="3977639"/>
            <a:ext cx="182880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977639"/>
            <a:ext cx="182880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45152" y="3977639"/>
            <a:ext cx="182880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1148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FAFAF"/>
                </a:solidFill>
                <a:latin typeface="Calibri"/>
              </a:rPr>
              <a:t>janelas locais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566160" y="3520439"/>
            <a:ext cx="0" cy="402337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645919" y="2926080"/>
            <a:ext cx="384048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3063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FAFAF"/>
                </a:solidFill>
                <a:latin typeface="Calibri"/>
              </a:rPr>
              <a:t>visão ampla — só no topo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para relacionar palavras distantes: empilhar camadas — caro e limitado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Transformer permite que cada posição da sequência consulte diretamente outras posições relevantes.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atenção reduz a dependência de recorrência e convolução para modelar relações entre tokens.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desenho torna o treinamento mais paralelizável e melhora a captura de dependências longas.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ideia central do artigo original é direta: “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All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You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Need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”. 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ATENÇÃO</a:t>
            </a:r>
            <a:r>
              <a:rPr lang="pt-BR" sz="4000" dirty="0">
                <a:latin typeface="GothamHTF-Book" pitchFamily="2" charset="0"/>
              </a:rPr>
              <a:t>: A VIRADA ARQUITETURAL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Atenção: cada palavra consulta TODAS as outras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2194560"/>
            <a:ext cx="19202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194560"/>
            <a:ext cx="19202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2907791"/>
            <a:ext cx="19202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contrato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907791"/>
            <a:ext cx="19202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contrato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621024"/>
            <a:ext cx="19202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621024"/>
            <a:ext cx="19202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334256"/>
            <a:ext cx="19202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334256"/>
            <a:ext cx="19202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047488"/>
            <a:ext cx="192024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cancelado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5047488"/>
            <a:ext cx="19202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cancelado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944368" y="2441448"/>
            <a:ext cx="1335024" cy="2852928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944368" y="3154679"/>
            <a:ext cx="1335024" cy="2139697"/>
          </a:xfrm>
          <a:prstGeom prst="line">
            <a:avLst/>
          </a:prstGeom>
          <a:ln w="38100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944368" y="3867912"/>
            <a:ext cx="1335024" cy="1426464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944368" y="4581144"/>
            <a:ext cx="1335024" cy="713232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44368" y="5294376"/>
            <a:ext cx="1335024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" y="5806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D30F59"/>
                </a:solidFill>
                <a:latin typeface="Calibri"/>
              </a:rPr>
              <a:t>"cancelado" liga DIRETO em "contrato" — sem carregar memória pelo caminho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Transformer original foi proposto como uma arquitetura composta por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transforma a sequência de entrada em representações contínuas de alta dimensionalidade.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gera a sequência de saída de forma autorregressiva, usando os tokens já gerados e a memória produzida pelo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estrutura é especialmente adequada para tarefas seq2seq, como tradução, sumarização e reescrita. 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ENCODER-DECODER: </a:t>
            </a:r>
            <a:r>
              <a:rPr lang="pt-BR" sz="4000" dirty="0">
                <a:latin typeface="GothamHTF-Book" pitchFamily="2" charset="0"/>
              </a:rPr>
              <a:t>A ESTRUTURA DO TRANSFORMER ORIGINAL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371600" cy="82296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entrada
"Attention is…"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47088" y="352044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3108960"/>
            <a:ext cx="160020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ENCODER
lê e entende TUDO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3048" y="352044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160520" y="3218688"/>
            <a:ext cx="621792" cy="621792"/>
          </a:xfrm>
          <a:prstGeom prst="ellipse">
            <a:avLst/>
          </a:prstGeom>
          <a:solidFill>
            <a:srgbClr val="F57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38953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57E20"/>
                </a:solidFill>
                <a:latin typeface="Calibri"/>
              </a:rPr>
              <a:t>a 'memória'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00600" y="352044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48072" y="3108960"/>
            <a:ext cx="1600200" cy="8229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DECODER
gera token a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5146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9BD5"/>
                </a:solidFill>
                <a:latin typeface="Calibri"/>
              </a:rPr>
              <a:t>bidirecional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25146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D30F59"/>
                </a:solidFill>
                <a:latin typeface="Calibri"/>
              </a:rPr>
              <a:t>autorregressivo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663440"/>
            <a:ext cx="2194560" cy="54864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saída: "Atenção é…"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206240" y="3950208"/>
            <a:ext cx="1737360" cy="6949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17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Cada camada do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combina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multi-head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self-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uma rede feed-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forward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posicional.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Cada camada do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inclui atenção mascarada, atenção sobre a saída do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rede feed-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forward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Conexões residuais preservam fluxo de informação e ajudam na propagação de gradientes.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Layer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normalization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estabiliza o treinamento e mantém as ativações em escala adequada.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rede feed-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forward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aplica transformações não lineares depois que a atenção mistura informações entre posições. </a:t>
            </a:r>
            <a:endParaRPr lang="pt-BR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CAMADAS INTERNAS: </a:t>
            </a:r>
            <a:r>
              <a:rPr lang="pt-BR" sz="4000" dirty="0">
                <a:latin typeface="GothamHTF-Book" pitchFamily="2" charset="0"/>
              </a:rPr>
              <a:t>ATENÇÃO, FFN, RESIDUAL E NORMALIZAÇÃO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03120" y="2057400"/>
            <a:ext cx="29260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embeddings + posição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" y="2560320"/>
            <a:ext cx="0" cy="20116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03120" y="2761488"/>
            <a:ext cx="292608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Multi-Head Attention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3264408"/>
            <a:ext cx="0" cy="20116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03120" y="3465576"/>
            <a:ext cx="292608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Add &amp; Norm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66160" y="3968496"/>
            <a:ext cx="0" cy="201167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03120" y="4169664"/>
            <a:ext cx="2926080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Feed-Forward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66160" y="4672584"/>
            <a:ext cx="0" cy="20116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03120" y="4873752"/>
            <a:ext cx="292608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Add &amp; Norm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5376672"/>
            <a:ext cx="0" cy="20116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03120" y="5577840"/>
            <a:ext cx="29260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saída da camada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74920" y="2331720"/>
            <a:ext cx="548640" cy="731520"/>
          </a:xfrm>
          <a:prstGeom prst="line">
            <a:avLst/>
          </a:prstGeom>
          <a:ln w="254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074920" y="3063240"/>
            <a:ext cx="548640" cy="457200"/>
          </a:xfrm>
          <a:prstGeom prst="line">
            <a:avLst/>
          </a:prstGeom>
          <a:ln w="254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74920" y="3749039"/>
            <a:ext cx="548640" cy="731521"/>
          </a:xfrm>
          <a:prstGeom prst="line">
            <a:avLst/>
          </a:prstGeom>
          <a:ln w="254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074920" y="4480560"/>
            <a:ext cx="548640" cy="457200"/>
          </a:xfrm>
          <a:prstGeom prst="line">
            <a:avLst/>
          </a:prstGeom>
          <a:ln w="254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15000" y="3566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AD47"/>
                </a:solidFill>
                <a:latin typeface="Calibri"/>
              </a:rPr>
              <a:t>conexões residuais:
o sinal pula e soma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6235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× N camadas
empilhadas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TOKENIZAÇÃO, EMBEDDINGS E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SELF-ATTENTION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02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61314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Modelos Transformer não processam palavras diretamente; eles processam tokens representados por números.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transforma texto em unidades discretas que podem ser mapeadas para vetores.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Abordagens antigas sofriam com palavras desconhecidas quando o vocabulário era fixo e limitado.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por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subpalavras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reduz esse problema ao dividir palavras raras em pedaços conhecidos.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TOKENIZAÇÃO</a:t>
            </a:r>
            <a:r>
              <a:rPr lang="pt-BR" sz="4000" dirty="0">
                <a:latin typeface="GothamHTF-Book" pitchFamily="2" charset="0"/>
              </a:rPr>
              <a:t>: TEXTO VIRA UNIDADES DISCRETAS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Texto vira peças de Lego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48840"/>
            <a:ext cx="2377440" cy="50292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hipomagnesemia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2395728"/>
            <a:ext cx="45720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20440" y="2148840"/>
            <a:ext cx="905256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hipo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17136" y="2148840"/>
            <a:ext cx="905256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magn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2148840"/>
            <a:ext cx="795528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148840"/>
            <a:ext cx="905256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emia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063240"/>
            <a:ext cx="2377440" cy="50292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recomendasão (typo)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71800" y="3310128"/>
            <a:ext cx="45720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520440" y="3063240"/>
            <a:ext cx="1014983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recome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3063240"/>
            <a:ext cx="905256" cy="50292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ndas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3063240"/>
            <a:ext cx="795528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14800"/>
            <a:ext cx="63093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['hipo', 'magn', 'es', 'emia']  →  ids [10244, 13802, 272, 3085]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palavra rara ou errada nunca vira 'desconhecido' — vira combinação de peças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BPE começa tratando caracteres como tokens e junta pares frequentes de forma iterativa.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processo cria um vocabulário de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subpalavras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que equilibra cobertura linguística e eficiência computacional.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Palavras frequentes podem permanecer inteiras, enquanto palavras raras são quebradas em partes menores.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estratégia melhora a capacidade do modelo de lidar com nomes próprios, erros de digitação e termos técnicos.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BYTE PAIR ENCODING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(BPE)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BPE: os pares mais frequentes se fundem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2240280"/>
            <a:ext cx="914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2240280"/>
            <a:ext cx="914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2240280"/>
            <a:ext cx="914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2240280"/>
            <a:ext cx="914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0" y="2807208"/>
            <a:ext cx="0" cy="3474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40480" y="28437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FAFAF"/>
                </a:solidFill>
                <a:latin typeface="Calibri"/>
              </a:rPr>
              <a:t>funde o par mais frequente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79" y="3200400"/>
            <a:ext cx="201168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3200400"/>
            <a:ext cx="201168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57600" y="3767328"/>
            <a:ext cx="0" cy="3474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40480" y="38039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AFAFAF"/>
                </a:solidFill>
                <a:latin typeface="Calibri"/>
              </a:rPr>
              <a:t>funde o par mais frequente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0200" y="4160520"/>
            <a:ext cx="411480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hipo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120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repete milhares de vezes sobre o corpus → nasce o vocabulário de subpalavras</a:t>
            </a:r>
          </a:p>
        </p:txBody>
      </p:sp>
    </p:spTree>
    <p:extLst>
      <p:ext uri="{BB962C8B-B14F-4D97-AF65-F5344CB8AC3E}">
        <p14:creationId xmlns:p14="http://schemas.microsoft.com/office/powerpoint/2010/main" val="4042940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Depois da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cada token é associado a um vetor de alta dimensão chamado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permitem que o modelo opere com álgebra linear e capture regularidades semânticas.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significado de um token não é fixo isoladamente; ele é refinado ao longo das camadas conforme interage com outros tokens.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combinação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+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é a ponte entre linguagem humana e computação matricial.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EMBEDDINGS</a:t>
            </a:r>
            <a:r>
              <a:rPr lang="pt-BR" sz="4000" dirty="0">
                <a:latin typeface="GothamHTF-Book" pitchFamily="2" charset="0"/>
              </a:rPr>
              <a:t>: TOKENS EM ESPAÇO VETORIAL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1645920"/>
            <a:ext cx="6035040" cy="420624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1828800" y="2377440"/>
            <a:ext cx="201168" cy="201168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151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rei</a:t>
            </a:r>
          </a:p>
        </p:txBody>
      </p:sp>
      <p:sp>
        <p:nvSpPr>
          <p:cNvPr id="21" name="Oval 20"/>
          <p:cNvSpPr/>
          <p:nvPr/>
        </p:nvSpPr>
        <p:spPr>
          <a:xfrm>
            <a:off x="3017520" y="2697480"/>
            <a:ext cx="201168" cy="201168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93522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rainha</a:t>
            </a:r>
          </a:p>
        </p:txBody>
      </p:sp>
      <p:sp>
        <p:nvSpPr>
          <p:cNvPr id="23" name="Oval 22"/>
          <p:cNvSpPr/>
          <p:nvPr/>
        </p:nvSpPr>
        <p:spPr>
          <a:xfrm>
            <a:off x="1554480" y="4480560"/>
            <a:ext cx="201168" cy="20116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1830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cachorro</a:t>
            </a:r>
          </a:p>
        </p:txBody>
      </p:sp>
      <p:sp>
        <p:nvSpPr>
          <p:cNvPr id="25" name="Oval 24"/>
          <p:cNvSpPr/>
          <p:nvPr/>
        </p:nvSpPr>
        <p:spPr>
          <a:xfrm>
            <a:off x="2834640" y="4800600"/>
            <a:ext cx="201168" cy="20116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0383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gato</a:t>
            </a:r>
          </a:p>
        </p:txBody>
      </p:sp>
      <p:sp>
        <p:nvSpPr>
          <p:cNvPr id="27" name="Oval 26"/>
          <p:cNvSpPr/>
          <p:nvPr/>
        </p:nvSpPr>
        <p:spPr>
          <a:xfrm>
            <a:off x="5394960" y="3566160"/>
            <a:ext cx="201168" cy="201168"/>
          </a:xfrm>
          <a:prstGeom prst="ellipse">
            <a:avLst/>
          </a:prstGeom>
          <a:solidFill>
            <a:srgbClr val="AF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80390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computador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2103120"/>
            <a:ext cx="2286000" cy="1234440"/>
          </a:xfrm>
          <a:prstGeom prst="roundRect">
            <a:avLst/>
          </a:prstGeom>
          <a:noFill/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206240"/>
            <a:ext cx="2377440" cy="123444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perto no mapa = parecido no sentido — e é só o vetor de ENTRADA</a:t>
            </a:r>
          </a:p>
        </p:txBody>
      </p:sp>
    </p:spTree>
    <p:extLst>
      <p:ext uri="{BB962C8B-B14F-4D97-AF65-F5344CB8AC3E}">
        <p14:creationId xmlns:p14="http://schemas.microsoft.com/office/powerpoint/2010/main" val="236716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Cada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é projetado em três representações: Query (Q), Key (K)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Value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(V).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Query de um token é comparada com as Keys dos demais tokens para medir relevância.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Os escores de relevância ponderam 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Values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formando uma nova representação contextualizada.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Assim, cada token passa a incorporar informações úteis de outros tokens da sequência.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SELF-ATTENTION</a:t>
            </a:r>
            <a:r>
              <a:rPr lang="pt-BR" sz="4000" dirty="0">
                <a:latin typeface="GothamHTF-Book" pitchFamily="2" charset="0"/>
              </a:rPr>
              <a:t>: CONSULTAS, CHAVES E VALORES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205740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QUERY (Q)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377440"/>
            <a:ext cx="205740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 pergunta que eu faço:
"quem é o sujeito aqui?"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1828800"/>
            <a:ext cx="20574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KEY (K)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2377440"/>
            <a:ext cx="205740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 etiqueta que eu exibo:
"sou pessoa, sou substantivo"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1828800"/>
            <a:ext cx="2057400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VALUE (V)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377440"/>
            <a:ext cx="205740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 conteúdo que eu entrego
quando sou escolhido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94760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 de "ele" × K de todos → escores de afinidade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49039" y="4270248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" y="4526280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softmax → pesos (fatias que somam 100%)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49039" y="5001768"/>
            <a:ext cx="0" cy="23774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" y="5257800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mistura ponderada dos V → "ele" absorve "cliente"</a:t>
            </a:r>
          </a:p>
        </p:txBody>
      </p:sp>
    </p:spTree>
    <p:extLst>
      <p:ext uri="{BB962C8B-B14F-4D97-AF65-F5344CB8AC3E}">
        <p14:creationId xmlns:p14="http://schemas.microsoft.com/office/powerpoint/2010/main" val="1743176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atenção calcula similaridade entre consultas e chaves por produto escalar.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resultado é escalado pela raiz da dimensionalidade das chaves para manter estabilidade numérica.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função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softmax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transforma escores em pesos de atenção.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saída é uma combinação ponderada dos valores, priorizando tokens mais relevantes para cada posição.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Forma conceitual: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(Q,K,V) =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softmax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(QKᵀ / √dₖ)V.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SCALED DOT-PRODUCT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ATTENTION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 fórmula é uma esteira de 4 passos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68880"/>
            <a:ext cx="1289304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Q · Kᵀ
afinidade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56232" y="292608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21992" y="2468880"/>
            <a:ext cx="1289304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÷ √dₖ
estabiliza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9584" y="292608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95344" y="2468880"/>
            <a:ext cx="1289304" cy="9144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softmax
fatias 100%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02936" y="2926080"/>
            <a:ext cx="347472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68696" y="2468880"/>
            <a:ext cx="1289304" cy="9144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× V
mistura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3977639"/>
            <a:ext cx="502920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Attention(Q,K,V) = softmax(QKᵀ / √dₖ) 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006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saída: cada token contextualizado pelos que importam</a:t>
            </a:r>
          </a:p>
        </p:txBody>
      </p:sp>
    </p:spTree>
    <p:extLst>
      <p:ext uri="{BB962C8B-B14F-4D97-AF65-F5344CB8AC3E}">
        <p14:creationId xmlns:p14="http://schemas.microsoft.com/office/powerpoint/2010/main" val="1214510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vez de uma única atenção, o Transformer usa múltiplas cabeças em paralelo.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Cada cabeça aprende projeções diferentes de Q, K e V, capturando aspectos distintos da sequência.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cabeça pode focar em sintaxe, outra em semântica, outra em correferência ou relações de longo alcance.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As saídas das cabeças são concatenadas e projetadas novamente para formar a representação final.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MULTI-HEAD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ATTENTION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Várias 'lentes' leem a mesma frase em paralelo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148840"/>
            <a:ext cx="2011680" cy="50292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 frase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828800" y="2670048"/>
            <a:ext cx="1828800" cy="4206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3108960"/>
            <a:ext cx="18288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cabeça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94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  <a:latin typeface="Calibri"/>
              </a:rPr>
              <a:t>sintaxe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28800" y="3977639"/>
            <a:ext cx="1828800" cy="42976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2670048"/>
            <a:ext cx="457200" cy="4206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200400" y="3108960"/>
            <a:ext cx="182880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cabeça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694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  <a:latin typeface="Calibri"/>
              </a:rPr>
              <a:t>semântica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657600" y="3977639"/>
            <a:ext cx="457200" cy="42976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57600" y="2670048"/>
            <a:ext cx="2743200" cy="4206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0" y="3108960"/>
            <a:ext cx="182880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cabeça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94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  <a:latin typeface="Calibri"/>
              </a:rPr>
              <a:t>correferência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657600" y="3977639"/>
            <a:ext cx="2743200" cy="42976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331720" y="4434840"/>
            <a:ext cx="265176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concatena + projeta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0352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cada cabeça aprende um aspecto — juntas, formam a representação final</a:t>
            </a:r>
          </a:p>
        </p:txBody>
      </p:sp>
    </p:spTree>
    <p:extLst>
      <p:ext uri="{BB962C8B-B14F-4D97-AF65-F5344CB8AC3E}">
        <p14:creationId xmlns:p14="http://schemas.microsoft.com/office/powerpoint/2010/main" val="185245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Como o Transformer remove recorrência e convolução, ele precisa injetar informação de posição explicitamente.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Positional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são somados aos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de entrada para indicar a posição de cada token.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artigo original, foram usadas codificações senoidais fixas baseadas em seno e cosseno.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Sem informação posicional, o modelo teria dificuldade em distinguir sequências com os mesmos tokens em ordens diferentes.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POSITIONAL ENCODING</a:t>
            </a:r>
            <a:r>
              <a:rPr lang="pt-BR" sz="4000" dirty="0">
                <a:latin typeface="GothamHTF-Book" pitchFamily="2" charset="0"/>
              </a:rPr>
              <a:t>: ORDEM SEM RECORRÊNCIA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9659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Sem posição, estas duas frases seriam iguais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514600"/>
            <a:ext cx="13716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2514600"/>
            <a:ext cx="13716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paga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514600"/>
            <a:ext cx="13716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João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62432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9BD5"/>
                </a:solidFill>
                <a:latin typeface="Calibri"/>
              </a:rPr>
              <a:t>mesmos tokens!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291840"/>
            <a:ext cx="13716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João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3291840"/>
            <a:ext cx="13716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paga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3291840"/>
            <a:ext cx="13716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4015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57E20"/>
                </a:solidFill>
                <a:latin typeface="Calibri"/>
              </a:rPr>
              <a:t>mesmos tokens!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08960" y="3977639"/>
            <a:ext cx="0" cy="365761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" y="4434840"/>
            <a:ext cx="13716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Ana  +  pos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4434840"/>
            <a:ext cx="13716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paga  +  pos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4434840"/>
            <a:ext cx="13716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João  +  pos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578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positional encoding: um 'carimbo' de posição (seno/cosseno) somado a cada embedding</a:t>
            </a:r>
          </a:p>
        </p:txBody>
      </p:sp>
    </p:spTree>
    <p:extLst>
      <p:ext uri="{BB962C8B-B14F-4D97-AF65-F5344CB8AC3E}">
        <p14:creationId xmlns:p14="http://schemas.microsoft.com/office/powerpoint/2010/main" val="1884655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FINE-TUNING, FAMÍLIAS DE MODELOS, MERCADO E HANDS ON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03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63102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Pré-treinamento constrói a base do modelo com grandes volumes de dados e objetivos auto supervisionados.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Fine-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tuning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ajusta parâmetros do modelo para uma tarefa, domínio ou estilo específico.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In-context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adapta o comportamento sem alterar pesos, usando instruções, contexto e exemplos no prompt.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ambientes corporativos, a escolha entre essas estratégias depende de custo, latência, governança e dados disponíveis.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it-IT" sz="4000" dirty="0">
                <a:latin typeface="GothamHTF-Book" pitchFamily="2" charset="0"/>
              </a:rPr>
              <a:t>PRÉ-TREINAMENTO, FINE-TUNING E IN-CONTEXT LEARNING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377440"/>
            <a:ext cx="2057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PRÉ-TREINAMENTO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2057400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aprende o idioma
corpus gigante, meses, $$$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24328" y="3017520"/>
            <a:ext cx="1005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2377440"/>
            <a:ext cx="205740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971800"/>
            <a:ext cx="2057400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especializa no SEU domínio
ajusta pesos, horas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18888" y="3017520"/>
            <a:ext cx="1005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37760" y="2377440"/>
            <a:ext cx="205740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IN-CONTEXT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2971800"/>
            <a:ext cx="2057400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adapta na hora
só prompt e exemplos, segundos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← mais custo e permanência          na prática: combine — a escolha é de negócio →</a:t>
            </a:r>
          </a:p>
        </p:txBody>
      </p:sp>
    </p:spTree>
    <p:extLst>
      <p:ext uri="{BB962C8B-B14F-4D97-AF65-F5344CB8AC3E}">
        <p14:creationId xmlns:p14="http://schemas.microsoft.com/office/powerpoint/2010/main" val="3665925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LoRA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congela os pesos originais do modelo e injeta matrizes treináveis de baixa dimensão em camadas do Transformer.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vez de atualizar todos os parâmetros, aprende uma correção compacta para adaptar o modelo.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abordagem reduz custo computacional, memória e necessidade de infraestrutura para ajuste fino.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ideia central é preservar o conhecimento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pré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-treinado e deslocar a adaptação para um subespaço menor.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LORA</a:t>
            </a:r>
            <a:r>
              <a:rPr lang="pt-BR" sz="4000" dirty="0">
                <a:latin typeface="GothamHTF-Book" pitchFamily="2" charset="0"/>
              </a:rPr>
              <a:t>: ADAPTAÇÃO DE BAIXO POSTO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1920240"/>
            <a:ext cx="3291840" cy="23774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MODELO
PRÉ-TREINADO
🔒 congelado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103120"/>
            <a:ext cx="109728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
(d×r)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103120"/>
            <a:ext cx="109728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
(r×d)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212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·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20640" y="2788920"/>
            <a:ext cx="0" cy="5029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669280" y="2788920"/>
            <a:ext cx="640080" cy="5029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80560" y="3337560"/>
            <a:ext cx="23774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correção A·B (posto 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27614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63440"/>
            <a:ext cx="62179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saída = W congelado  +  A·B treinável   →   só ~0,2% dos parâmetros treinam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como post-its num livro que não se pode rabiscar</a:t>
            </a:r>
          </a:p>
        </p:txBody>
      </p:sp>
    </p:spTree>
    <p:extLst>
      <p:ext uri="{BB962C8B-B14F-4D97-AF65-F5344CB8AC3E}">
        <p14:creationId xmlns:p14="http://schemas.microsoft.com/office/powerpoint/2010/main" val="3048446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Encoder-only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usa apenas o codificador, com atenção bidirecional, ideal para tarefas de compreensão. Exemplo: BERT.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Decoder-only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usa apenas o decodificador, com atenção causal, ideal para geração autorregressiva. Exemplo: GPT.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Encoder-decoder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combina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bidirecional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causal, útil em tarefas seq2seq. Exemplo: T5.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direção da atenção define o tipo de tarefa em que a arquitetura tende a ser mais adequada.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FAMÍLIAS DE MODELOS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TRANSFORMER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20574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23160"/>
            <a:ext cx="20574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Encoder-only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26080"/>
            <a:ext cx="20574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atenção bidirecional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29000"/>
            <a:ext cx="2057400" cy="777240"/>
          </a:xfrm>
          <a:prstGeom prst="roundRect">
            <a:avLst/>
          </a:prstGeom>
          <a:noFill/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COMPREENDER
classificar, buscar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1828800"/>
            <a:ext cx="205740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2423160"/>
            <a:ext cx="20574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Decoder-only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926080"/>
            <a:ext cx="20574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atenção causal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429000"/>
            <a:ext cx="2057400" cy="777240"/>
          </a:xfrm>
          <a:prstGeom prst="roundRect">
            <a:avLst/>
          </a:prstGeom>
          <a:noFill/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GERAR
assistentes, código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1828800"/>
            <a:ext cx="205740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2423160"/>
            <a:ext cx="20574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Encoder-Decoder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2926080"/>
            <a:ext cx="20574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os dois mundos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429000"/>
            <a:ext cx="2057400" cy="777240"/>
          </a:xfrm>
          <a:prstGeom prst="roundRect">
            <a:avLst/>
          </a:prstGeom>
          <a:noFill/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TRANSFORMAR
traduzir, resumir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direção da atenção define a vocação da família</a:t>
            </a:r>
          </a:p>
        </p:txBody>
      </p:sp>
    </p:spTree>
    <p:extLst>
      <p:ext uri="{BB962C8B-B14F-4D97-AF65-F5344CB8AC3E}">
        <p14:creationId xmlns:p14="http://schemas.microsoft.com/office/powerpoint/2010/main" val="155029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 atenção bidirecional, cada token pode observar tokens anteriores e posteriores.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estratégia é útil para compreender uma sequência inteira antes de tomar uma decisão.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 atenção causal, uma máscara impede que o modelo veja tokens futuros.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bloqueio é essencial para geração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autoregressiva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em que o próximo token deve ser previsto sem acesso ao futuro.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ATENÇÃO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BIDIRECIONAL VERSUS CAUSAL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1691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B9BD5"/>
                </a:solidFill>
                <a:latin typeface="Calibri"/>
              </a:rPr>
              <a:t>BERT — vê tudo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057400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98448" y="2057400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2495" y="2057400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66543" y="2057400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0591" y="2057400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2441448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98448" y="2441448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82495" y="2441448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66543" y="2441448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50591" y="2441448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2825496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2825496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82495" y="2825496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66543" y="2825496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50591" y="2825496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3209544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98448" y="3209544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82495" y="3209544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66543" y="3209544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50591" y="3209544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" y="3593591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98448" y="3593591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82495" y="3593591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66543" y="3593591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50591" y="3593591"/>
            <a:ext cx="384048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1691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D30F59"/>
                </a:solidFill>
                <a:latin typeface="Calibri"/>
              </a:rPr>
              <a:t>GPT — só o passado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2057400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81728" y="2057400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65776" y="2057400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49824" y="2057400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33872" y="2057400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80" y="2441448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81728" y="2441448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65776" y="2441448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49824" y="2441448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33872" y="2441448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97680" y="2825496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81728" y="2825496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5776" y="2825496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49824" y="2825496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33872" y="2825496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97680" y="3209544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81728" y="3209544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5776" y="3209544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9824" y="3209544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33872" y="3209544"/>
            <a:ext cx="384048" cy="384048"/>
          </a:xfrm>
          <a:prstGeom prst="rect">
            <a:avLst/>
          </a:prstGeom>
          <a:noFill/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97680" y="3593591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81728" y="3593591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65776" y="3593591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49824" y="3593591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33872" y="3593591"/>
            <a:ext cx="384048" cy="384048"/>
          </a:xfrm>
          <a:prstGeom prst="rect">
            <a:avLst/>
          </a:prstGeom>
          <a:solidFill>
            <a:srgbClr val="D30F59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41605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linha = token gerando · coluna = token visto · vazio = futuro bloqueado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4754880"/>
            <a:ext cx="58521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compreensão pede os dois lados; geração PROÍBE ver o futuro</a:t>
            </a:r>
          </a:p>
        </p:txBody>
      </p:sp>
    </p:spTree>
    <p:extLst>
      <p:ext uri="{BB962C8B-B14F-4D97-AF65-F5344CB8AC3E}">
        <p14:creationId xmlns:p14="http://schemas.microsoft.com/office/powerpoint/2010/main" val="4293892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Inspecionar 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de frases curtas usando uma biblioteca de modelos Transformer.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Executar inferência simples com um modelo seq2seq ou generativo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pré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-treinado.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Observar entradas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tokenizadas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IDs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mask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saída decodificada.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Discutir, em nível introdutório, como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LoRA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poderia ser encaixado em um fluxo experimental de fine-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tuning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eficiente.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HANDS ON</a:t>
            </a:r>
            <a:r>
              <a:rPr lang="pt-BR" sz="4000" dirty="0">
                <a:latin typeface="GothamHTF-Book" pitchFamily="2" charset="0"/>
              </a:rPr>
              <a:t>: EXPLORANDO TRANSFORMERS NA PRÁTICA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1828800"/>
            <a:ext cx="51206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tokenização BPE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254203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2542032"/>
            <a:ext cx="51206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embeddings e cossenos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25526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3255264"/>
            <a:ext cx="51206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atenção BERT × máscara GPT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396849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3968496"/>
            <a:ext cx="51206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tradução + geração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68172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681728"/>
            <a:ext cx="51206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 conta da LoRA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32120"/>
            <a:ext cx="5806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notebook: aula01_handson.ipynb — modelos em PORTUGUÊS, rodando local</a:t>
            </a:r>
          </a:p>
        </p:txBody>
      </p:sp>
    </p:spTree>
    <p:extLst>
      <p:ext uri="{BB962C8B-B14F-4D97-AF65-F5344CB8AC3E}">
        <p14:creationId xmlns:p14="http://schemas.microsoft.com/office/powerpoint/2010/main" val="4081027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Transformers deixaram de ser apenas uma inovação acadêmica e se tornaram infraestrutura de produto em assistentes, busca, tradução,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contact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centers e copilotos.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decoder-only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sustentam assistentes generativos de uso massivo, enquanto modelos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seq2seq seguem relevantes em busca, classificação, tradução e sumarização.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Empresas combinam Transformers com nuvem,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observabilidade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governança, RAG e integração com ferramentas corporativas.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discussão atual não é apenas “qual modelo usar”, mas como operar modelos com custo previsível, segurança, qualidade e valor de negócio.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MERCADO, CASES E TENDÊNCIAS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920240"/>
            <a:ext cx="301752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D30F59"/>
                </a:solidFill>
                <a:latin typeface="Calibri"/>
              </a:rPr>
              <a:t>Assistentes e copilotos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decoder-only em produção massiva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1920240"/>
            <a:ext cx="301752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5B9BD5"/>
                </a:solidFill>
                <a:latin typeface="Calibri"/>
              </a:rPr>
              <a:t>Busca, tradução, classificação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encoder e seq2seq seguem vivos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301752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57E20"/>
                </a:solidFill>
                <a:latin typeface="Calibri"/>
              </a:rPr>
              <a:t>Transformer + nuvem + RAG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observabilidade e governança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154680"/>
            <a:ext cx="301752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70AD47"/>
                </a:solidFill>
                <a:latin typeface="Calibri"/>
              </a:rPr>
              <a:t>A pergunta de 2026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operar com custo, segurança e 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de inovação acadêmica a infraestrutura de produto</a:t>
            </a:r>
          </a:p>
        </p:txBody>
      </p:sp>
    </p:spTree>
    <p:extLst>
      <p:ext uri="{BB962C8B-B14F-4D97-AF65-F5344CB8AC3E}">
        <p14:creationId xmlns:p14="http://schemas.microsoft.com/office/powerpoint/2010/main" val="3426461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Você compreendeu por que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RNNs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CNNs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tinham limitações para dependências longas e treinamento paralelo.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Estudou como o Transformer usa self-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para permitir interação direta entre posições da sequência.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Viu como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tokenização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positional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encodings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preparam a entrada para o modelo.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Analisou Q, K, V,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scaled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dot-product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multi-head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como núcleo da arquitetura.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Relacionou fine-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tuning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20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LoRA</a:t>
            </a:r>
            <a:r>
              <a:rPr lang="pt-BR" sz="20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famílias de modelos à prática moderna de IA generativa.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ENCERRAMENTO</a:t>
            </a:r>
            <a:r>
              <a:rPr lang="pt-BR" sz="4000" dirty="0">
                <a:latin typeface="GothamHTF-Book" pitchFamily="2" charset="0"/>
              </a:rPr>
              <a:t>: O QUE VOCÊ VIU NESTA 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03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VASWANI,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Ashish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et al.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Attention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all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you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need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In: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Advances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in Neural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Information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Processing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Systems 30. [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S.l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.]: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Curran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Associates, 2017. p. 5998–6008.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SENNRICH, R.; HADDOW, B.; BIRCH, A. Neural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machine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translation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of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rare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words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with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subword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units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preprint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arXiv:1508.07909, 2015.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HU, E. J. et al.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LoRA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Low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-Rank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Adaptation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of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Large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Language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Models. [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S.l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.: s.n.], 2021.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ELMAN, Jeffrey L.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Finding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structure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in time.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Cognitive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Science, v. 14, n. 2, p. 179–211, 1990.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ZUCCHET, N.; ORVIETO, A.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Recurrent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neural networks: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vanishing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and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exploding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gradients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are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not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the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end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of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the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story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[</a:t>
            </a:r>
            <a:r>
              <a:rPr lang="pt-BR" sz="16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S.l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.: s.n.], 2024.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CAPANEMA, Cláudio Gustavo Santos; SILVA, Fabrício Aguiar; SILVA, Thais Regina de Moura Braga. MFA-RNN: Uma Rede Neural Recorrente para Predição de Próximo Local de Visita com Base em Dados Esparsos. 2020.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REFERÊNCIAS DA AULA 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2700"/>
            </a:pP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"/>
          <p:cNvSpPr/>
          <p:nvPr/>
        </p:nvSpPr>
        <p:spPr>
          <a:xfrm>
            <a:off x="2353030" y="-259043"/>
            <a:ext cx="7485942" cy="7376085"/>
          </a:xfrm>
          <a:custGeom>
            <a:avLst/>
            <a:gdLst/>
            <a:ahLst/>
            <a:cxnLst/>
            <a:rect l="l" t="t" r="r" b="b"/>
            <a:pathLst>
              <a:path w="3648669" h="3595124" extrusionOk="0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9A0D3B">
                  <a:alpha val="50588"/>
                </a:srgbClr>
              </a:gs>
              <a:gs pos="18000">
                <a:srgbClr val="9A0D3B">
                  <a:alpha val="50588"/>
                </a:srgbClr>
              </a:gs>
              <a:gs pos="78000">
                <a:srgbClr val="9A0D3B">
                  <a:alpha val="0"/>
                </a:srgbClr>
              </a:gs>
              <a:gs pos="100000">
                <a:srgbClr val="9A0D3B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Clr>
                <a:srgbClr val="000000"/>
              </a:buClr>
              <a:buSzPts val="4050"/>
            </a:pP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2" name="Google Shape;1292;p6"/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 w="12700" cap="flat" cmpd="sng">
            <a:solidFill>
              <a:srgbClr val="F57E20">
                <a:alpha val="4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4050"/>
            </a:pPr>
            <a:endParaRPr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3" name="Google Shape;129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0150" y="2949830"/>
            <a:ext cx="5911702" cy="95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16" ma:contentTypeDescription="Crie um novo documento." ma:contentTypeScope="" ma:versionID="dae3bc908e15ec8f9115713424d3a2bb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2432d4b2454c185ef2449b66e2f5b84c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4c2c100-d553-4c8e-a0cc-71e94ec5782d}" ma:internalName="TaxCatchAll" ma:showField="CatchAllData" ma:web="d48fd270-4a57-47e1-b674-c7d4969804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8fd270-4a57-47e1-b674-c7d4969804ad" xsi:nil="true"/>
    <lcf76f155ced4ddcb4097134ff3c332f xmlns="2220af93-035a-443f-80b0-3b9b401ad9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0208A5-08E6-4D03-97C5-5C03E28D5E01}"/>
</file>

<file path=customXml/itemProps2.xml><?xml version="1.0" encoding="utf-8"?>
<ds:datastoreItem xmlns:ds="http://schemas.openxmlformats.org/officeDocument/2006/customXml" ds:itemID="{561E011B-4854-4D70-9533-805EBA99889E}"/>
</file>

<file path=customXml/itemProps3.xml><?xml version="1.0" encoding="utf-8"?>
<ds:datastoreItem xmlns:ds="http://schemas.openxmlformats.org/officeDocument/2006/customXml" ds:itemID="{566D4197-20BA-407C-9CF4-C09BC335423E}"/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1806</Words>
  <Application>Microsoft Office PowerPoint</Application>
  <PresentationFormat>Widescreen</PresentationFormat>
  <Paragraphs>200</Paragraphs>
  <Slides>27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GothamHTF-Book</vt:lpstr>
      <vt:lpstr>Open Sans</vt:lpstr>
      <vt:lpstr>Roboto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Elisa Batista</dc:creator>
  <cp:lastModifiedBy>Elisa Batista</cp:lastModifiedBy>
  <cp:revision>7</cp:revision>
  <dcterms:created xsi:type="dcterms:W3CDTF">2026-07-06T13:22:28Z</dcterms:created>
  <dcterms:modified xsi:type="dcterms:W3CDTF">2026-07-06T15:39:38Z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