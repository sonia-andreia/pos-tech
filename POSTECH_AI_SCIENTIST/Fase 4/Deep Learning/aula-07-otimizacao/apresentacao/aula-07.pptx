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41732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9AA0A6"/>
                </a:solidFill>
                <a:latin typeface="Calibri"/>
              </a:rPr>
              <a:t>REDES NEURAIS E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D145B"/>
                </a:solidFill>
                <a:latin typeface="Calibri"/>
              </a:rPr>
              <a:t>AULA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95728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Otimização e Regularização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1" y="4224528"/>
            <a:ext cx="1463040" cy="64008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52628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Prof. Flavio Padilha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919472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A0A6"/>
                </a:solidFill>
                <a:latin typeface="Calibri"/>
              </a:rPr>
              <a:t>FIAP Pós-Tech · AI Engineering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1  ·  30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Introdução teórica: a paisagem de perda e o SGD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Por que a superfície de perda de deep learning não é convexa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SGD: o passo mais simples, e o que ele não resolve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O mapa da aula: otimizador, schedule, regularização e HPO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Onde estamos:</a:t>
            </a:r>
            <a:r>
              <a:rPr sz="2700" b="1">
                <a:solidFill>
                  <a:srgbClr val="ED145B"/>
                </a:solidFill>
                <a:latin typeface="Calibri"/>
              </a:rPr>
              <a:t> da arquitetura ao treino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Aulas 1–6 ✓ Arquiteturas (MLP → Transformer)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Aula 7 — Treinar de verdade ← aqui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Aula 8: MLOps e deploy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2395728"/>
            <a:ext cx="6364224" cy="0"/>
          </a:xfrm>
          <a:prstGeom prst="line">
            <a:avLst/>
          </a:prstGeom>
          <a:ln w="1778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22376" y="222199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3" y="2734056"/>
            <a:ext cx="950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Perceptron</a:t>
            </a:r>
          </a:p>
        </p:txBody>
      </p:sp>
      <p:sp>
        <p:nvSpPr>
          <p:cNvPr id="8" name="Oval 7"/>
          <p:cNvSpPr/>
          <p:nvPr/>
        </p:nvSpPr>
        <p:spPr>
          <a:xfrm>
            <a:off x="1618488" y="222199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2734056"/>
            <a:ext cx="950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MLP +</a:t>
            </a:r>
          </a:p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Backprop</a:t>
            </a:r>
          </a:p>
        </p:txBody>
      </p:sp>
      <p:sp>
        <p:nvSpPr>
          <p:cNvPr id="10" name="Oval 9"/>
          <p:cNvSpPr/>
          <p:nvPr/>
        </p:nvSpPr>
        <p:spPr>
          <a:xfrm>
            <a:off x="2514600" y="222199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2734056"/>
            <a:ext cx="950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CNN</a:t>
            </a:r>
          </a:p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fundamentos</a:t>
            </a:r>
          </a:p>
        </p:txBody>
      </p:sp>
      <p:sp>
        <p:nvSpPr>
          <p:cNvPr id="12" name="Oval 11"/>
          <p:cNvSpPr/>
          <p:nvPr/>
        </p:nvSpPr>
        <p:spPr>
          <a:xfrm>
            <a:off x="3410712" y="222199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734056"/>
            <a:ext cx="950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CNN</a:t>
            </a:r>
          </a:p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avançado</a:t>
            </a:r>
          </a:p>
        </p:txBody>
      </p:sp>
      <p:sp>
        <p:nvSpPr>
          <p:cNvPr id="14" name="Oval 13"/>
          <p:cNvSpPr/>
          <p:nvPr/>
        </p:nvSpPr>
        <p:spPr>
          <a:xfrm>
            <a:off x="4306824" y="222199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2734056"/>
            <a:ext cx="950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RNN</a:t>
            </a:r>
          </a:p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LSTM · GRU</a:t>
            </a:r>
          </a:p>
        </p:txBody>
      </p:sp>
      <p:sp>
        <p:nvSpPr>
          <p:cNvPr id="16" name="Oval 15"/>
          <p:cNvSpPr/>
          <p:nvPr/>
        </p:nvSpPr>
        <p:spPr>
          <a:xfrm>
            <a:off x="5202936" y="222199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1184" y="2734056"/>
            <a:ext cx="950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Attention</a:t>
            </a:r>
          </a:p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Transformers</a:t>
            </a:r>
          </a:p>
        </p:txBody>
      </p:sp>
      <p:sp>
        <p:nvSpPr>
          <p:cNvPr id="18" name="Oval 17"/>
          <p:cNvSpPr/>
          <p:nvPr/>
        </p:nvSpPr>
        <p:spPr>
          <a:xfrm>
            <a:off x="6062471" y="2185416"/>
            <a:ext cx="420624" cy="420624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97296" y="2734056"/>
            <a:ext cx="950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ED145B"/>
                </a:solidFill>
                <a:latin typeface="Calibri"/>
              </a:rPr>
              <a:t>Otimização e</a:t>
            </a:r>
          </a:p>
          <a:p>
            <a:pPr algn="ctr"/>
            <a:r>
              <a:rPr sz="1000" b="1" i="0">
                <a:solidFill>
                  <a:srgbClr val="ED145B"/>
                </a:solidFill>
                <a:latin typeface="Calibri"/>
              </a:rPr>
              <a:t>regularização</a:t>
            </a:r>
          </a:p>
        </p:txBody>
      </p:sp>
      <p:sp>
        <p:nvSpPr>
          <p:cNvPr id="20" name="Oval 19"/>
          <p:cNvSpPr/>
          <p:nvPr/>
        </p:nvSpPr>
        <p:spPr>
          <a:xfrm>
            <a:off x="6976872" y="2203704"/>
            <a:ext cx="384048" cy="3840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9AA0A6"/>
                </a:solidFill>
                <a:latin typeface="Calibri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2734056"/>
            <a:ext cx="950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MLOps</a:t>
            </a:r>
          </a:p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e deploy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72783" y="1828800"/>
            <a:ext cx="0" cy="292608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04103" y="1517904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você está aqui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29584"/>
            <a:ext cx="6565392" cy="676656"/>
          </a:xfrm>
          <a:prstGeom prst="roundRect">
            <a:avLst>
              <a:gd name="adj" fmla="val 12162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9AA0A6"/>
                </a:solidFill>
                <a:latin typeface="Calibri"/>
              </a:rPr>
              <a:t>AULAS 1–6 ✓   arquiteturas: do perceptron ao Transformer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352544"/>
            <a:ext cx="6565392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AULA 7 ← aqui   fazer essa arquitetura CONVERGIR e GENERALIZAR: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otimizador, learning rate, schedule e regularização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285232"/>
            <a:ext cx="6565392" cy="676656"/>
          </a:xfrm>
          <a:prstGeom prst="roundRect">
            <a:avLst>
              <a:gd name="adj" fmla="val 12162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9AA0A6"/>
                </a:solidFill>
                <a:latin typeface="Calibri"/>
              </a:rPr>
              <a:t>AULA 8   MLOps: levar o modelo treinado para produção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6089904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a arquitetura define o que a rede PODE aprender; o treino define o que ela REALMENTE aprende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Agenda:</a:t>
            </a:r>
            <a:r>
              <a:rPr sz="2700" b="1">
                <a:solidFill>
                  <a:srgbClr val="ED145B"/>
                </a:solidFill>
                <a:latin typeface="Calibri"/>
              </a:rPr>
              <a:t> o que faz um treino convergir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Otimizadores: SGD, momentum, Adam, AdamW, Lion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Schedulers: step, cosine, OneCycle, warmup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Regularizadores: L2, Dropout, Normalização, Early stopping, Augmentation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Hyperparameter tuning com Optuna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Caso Olist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O CAMINHO DA AULA, NA ORDEM EM QUE O TREINO ACONTECE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10512"/>
            <a:ext cx="6565392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Oval 6"/>
          <p:cNvSpPr/>
          <p:nvPr/>
        </p:nvSpPr>
        <p:spPr>
          <a:xfrm>
            <a:off x="841247" y="1965960"/>
            <a:ext cx="347472" cy="3474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1892807"/>
            <a:ext cx="2240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Otimizadores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2157984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A0A6"/>
                </a:solidFill>
                <a:latin typeface="Calibri"/>
              </a:rPr>
              <a:t>SGD · momentum · Adam · AdamW · Lion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020824"/>
            <a:ext cx="960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D145B"/>
                </a:solidFill>
                <a:latin typeface="Calibri"/>
              </a:rPr>
              <a:t>PARTE 1–2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78608"/>
            <a:ext cx="6565392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841247" y="2734056"/>
            <a:ext cx="347472" cy="347472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2660903"/>
            <a:ext cx="2240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Schedulers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2926079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A0A6"/>
                </a:solidFill>
                <a:latin typeface="Calibri"/>
              </a:rPr>
              <a:t>step · cosine · OneCycle · warmup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788920"/>
            <a:ext cx="960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2D9CDB"/>
                </a:solidFill>
                <a:latin typeface="Calibri"/>
              </a:rPr>
              <a:t>PARTE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346703"/>
            <a:ext cx="6565392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41247" y="3502151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5024" y="3428999"/>
            <a:ext cx="2240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Regularizadores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694176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A0A6"/>
                </a:solidFill>
                <a:latin typeface="Calibri"/>
              </a:rPr>
              <a:t>L2 · dropout · normalização · early stopping · augmentation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557015"/>
            <a:ext cx="960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27AE60"/>
                </a:solidFill>
                <a:latin typeface="Calibri"/>
              </a:rPr>
              <a:t>PARTE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114800"/>
            <a:ext cx="6565392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841247" y="4270248"/>
            <a:ext cx="347472" cy="347472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5024" y="4197096"/>
            <a:ext cx="2240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Hyperparameter tuning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5024" y="4462272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A0A6"/>
                </a:solidFill>
                <a:latin typeface="Calibri"/>
              </a:rPr>
              <a:t>busca guiada com Optuna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325112"/>
            <a:ext cx="960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B51E0"/>
                </a:solidFill>
                <a:latin typeface="Calibri"/>
              </a:rPr>
              <a:t>PARTE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82896"/>
            <a:ext cx="6565392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Oval 26"/>
          <p:cNvSpPr/>
          <p:nvPr/>
        </p:nvSpPr>
        <p:spPr>
          <a:xfrm>
            <a:off x="841247" y="5038344"/>
            <a:ext cx="347472" cy="34747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5024" y="4965192"/>
            <a:ext cx="2240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Caso Olist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5024" y="5230368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A0A6"/>
                </a:solidFill>
                <a:latin typeface="Calibri"/>
              </a:rPr>
              <a:t>forecasting de demanda: 12 % de ganho em MAE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093208"/>
            <a:ext cx="960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2994A"/>
                </a:solidFill>
                <a:latin typeface="Calibri"/>
              </a:rPr>
              <a:t>PARTE 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724144"/>
            <a:ext cx="6565392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nenhum item é independente: LR, otimizador e regularização formam um só sistema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 problema:</a:t>
            </a:r>
            <a:r>
              <a:rPr sz="2700" b="1">
                <a:solidFill>
                  <a:srgbClr val="ED145B"/>
                </a:solidFill>
                <a:latin typeface="Calibri"/>
              </a:rPr>
              <a:t> a perda não é uma tigela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Loss surface de DL é não convexa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Milhões de parâmetros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Platôs, saddle points, vales estreitos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Escolhas práticas impactam 10× o tempo até convergência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UM CORTE DA SUPERFÍCIE DE PERDA EM MILHÕES DE DIMENSÕES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3986784"/>
            <a:ext cx="6181344" cy="0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41248" y="2176272"/>
            <a:ext cx="0" cy="1810512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4078224"/>
            <a:ext cx="618134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espaço de parâmetros  θ 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847088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perda 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5840" y="2318918"/>
            <a:ext cx="292608" cy="122895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8448" y="2441813"/>
            <a:ext cx="292608" cy="175565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91056" y="2617378"/>
            <a:ext cx="292608" cy="175565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83664" y="2792943"/>
            <a:ext cx="292608" cy="105339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176272" y="2898282"/>
            <a:ext cx="292608" cy="35113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468880" y="2933395"/>
            <a:ext cx="292608" cy="8778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61488" y="2942173"/>
            <a:ext cx="292608" cy="8778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54096" y="2950951"/>
            <a:ext cx="292608" cy="0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346704" y="2950951"/>
            <a:ext cx="292608" cy="8778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39312" y="2959729"/>
            <a:ext cx="292608" cy="8779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31920" y="2968508"/>
            <a:ext cx="292608" cy="105339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224528" y="3073847"/>
            <a:ext cx="292608" cy="175564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17136" y="3249411"/>
            <a:ext cx="117043" cy="70226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634179" y="3284524"/>
            <a:ext cx="175565" cy="35113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809744" y="3214298"/>
            <a:ext cx="175564" cy="70226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985308" y="3179185"/>
            <a:ext cx="117044" cy="35113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102352" y="3179185"/>
            <a:ext cx="175564" cy="70226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277916" y="3249411"/>
            <a:ext cx="292608" cy="158009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70524" y="3407420"/>
            <a:ext cx="234087" cy="193121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04611" y="3600541"/>
            <a:ext cx="175565" cy="175565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980176" y="3776106"/>
            <a:ext cx="117043" cy="105339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97219" y="3881445"/>
            <a:ext cx="87782" cy="35113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185001" y="3811219"/>
            <a:ext cx="87783" cy="105339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272784" y="3600541"/>
            <a:ext cx="175564" cy="210678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448348" y="3389863"/>
            <a:ext cx="175565" cy="210678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623913" y="3196742"/>
            <a:ext cx="234087" cy="193121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2980944" y="2877799"/>
            <a:ext cx="146304" cy="146304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19655" y="2347447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2994A"/>
                </a:solidFill>
                <a:latin typeface="Calibri"/>
              </a:rPr>
              <a:t>platô  ·  ∇L ≈ 0  ·  o treino “para”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3054096" y="2621767"/>
            <a:ext cx="0" cy="256032"/>
          </a:xfrm>
          <a:prstGeom prst="line">
            <a:avLst/>
          </a:prstGeom>
          <a:ln w="12700">
            <a:solidFill>
              <a:srgbClr val="F2994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4561027" y="3246485"/>
            <a:ext cx="146304" cy="146304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99739" y="2716133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9B51E0"/>
                </a:solidFill>
                <a:latin typeface="Calibri"/>
              </a:rPr>
              <a:t>mínimo local / saddle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4634179" y="2990453"/>
            <a:ext cx="0" cy="256032"/>
          </a:xfrm>
          <a:prstGeom prst="line">
            <a:avLst/>
          </a:prstGeom>
          <a:ln w="12700">
            <a:solidFill>
              <a:srgbClr val="9B51E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6111849" y="3843406"/>
            <a:ext cx="146304" cy="146304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4078224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27AE60"/>
                </a:solidFill>
                <a:latin typeface="Calibri"/>
              </a:rPr>
              <a:t>vale estreito — um passo grande escapa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4553712"/>
            <a:ext cx="2029968" cy="1060704"/>
          </a:xfrm>
          <a:prstGeom prst="roundRect">
            <a:avLst>
              <a:gd name="adj" fmla="val 7758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2D9CDB"/>
                </a:solidFill>
                <a:latin typeface="Calibri"/>
              </a:rPr>
              <a:t>não convexa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milhões de parâmetros:
não há solução fechada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926080" y="4553712"/>
            <a:ext cx="2029968" cy="1060704"/>
          </a:xfrm>
          <a:prstGeom prst="roundRect">
            <a:avLst>
              <a:gd name="adj" fmla="val 7758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F2994A"/>
                </a:solidFill>
                <a:latin typeface="Calibri"/>
              </a:rPr>
              <a:t>gradiente ≈ 0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platôs e saddles dominam
em alta dimensão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93792" y="4553712"/>
            <a:ext cx="2029968" cy="1060704"/>
          </a:xfrm>
          <a:prstGeom prst="roundRect">
            <a:avLst>
              <a:gd name="adj" fmla="val 7758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9B51E0"/>
                </a:solidFill>
                <a:latin typeface="Calibri"/>
              </a:rPr>
              <a:t>curvatura desigual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vales estreitos exigem
passo adaptativo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779008"/>
            <a:ext cx="6565392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as escolhas de treino mudam em ~10× o tempo até convergir — com a MESMA arquitetura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2389078" y="1463040"/>
            <a:ext cx="3103972" cy="793034"/>
          </a:xfrm>
          <a:prstGeom prst="roundRect">
            <a:avLst/>
          </a:prstGeom>
          <a:solidFill>
            <a:srgbClr val="17171F"/>
          </a:solidFill>
          <a:ln w="1524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SGD:</a:t>
            </a:r>
            <a:r>
              <a:rPr sz="2700" b="1">
                <a:solidFill>
                  <a:srgbClr val="ED145B"/>
                </a:solidFill>
                <a:latin typeface="Calibri"/>
              </a:rPr>
              <a:t> o passo mais simples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Simples e robusto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Bem sintonizado, ainda vence em ImageNet/CV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Muito sensível a η</a:t>
            </a:r>
          </a:p>
        </p:txBody>
      </p:sp>
      <p:pic>
        <p:nvPicPr>
          <p:cNvPr id="5" name="Picture 4" descr="20731edc6a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246" y="1664208"/>
            <a:ext cx="2701636" cy="39069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2852928"/>
            <a:ext cx="1408176" cy="749808"/>
          </a:xfrm>
          <a:prstGeom prst="roundRect">
            <a:avLst>
              <a:gd name="adj" fmla="val 10975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θₜ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posição atual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3227832"/>
            <a:ext cx="237743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77440" y="2852928"/>
            <a:ext cx="1408176" cy="749808"/>
          </a:xfrm>
          <a:prstGeom prst="roundRect">
            <a:avLst>
              <a:gd name="adj" fmla="val 10975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∇L(θₜ)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direção de maior SUBIDA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22192" y="3227832"/>
            <a:ext cx="23774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96512" y="2852928"/>
            <a:ext cx="1408176" cy="749808"/>
          </a:xfrm>
          <a:prstGeom prst="roundRect">
            <a:avLst>
              <a:gd name="adj" fmla="val 10975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− η · ∇L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passo contra o gradiente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41264" y="3227832"/>
            <a:ext cx="23774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15584" y="2852928"/>
            <a:ext cx="1408176" cy="749808"/>
          </a:xfrm>
          <a:prstGeom prst="roundRect">
            <a:avLst>
              <a:gd name="adj" fmla="val 10975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θₜ₊₁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nova posição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858768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O MESMO GRADIENTE, TRÊS VALORES DE 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133087"/>
            <a:ext cx="2029968" cy="2103120"/>
          </a:xfrm>
          <a:prstGeom prst="roundRect">
            <a:avLst>
              <a:gd name="adj" fmla="val 4054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233672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2994A"/>
                </a:solidFill>
                <a:latin typeface="Calibri"/>
              </a:rPr>
              <a:t>η pequeno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4572000"/>
            <a:ext cx="50596" cy="12964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4996" y="4701641"/>
            <a:ext cx="50597" cy="12070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5593" y="4822342"/>
            <a:ext cx="50597" cy="111760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66190" y="4934102"/>
            <a:ext cx="50597" cy="102819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16787" y="5036921"/>
            <a:ext cx="50597" cy="93879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67384" y="5130800"/>
            <a:ext cx="50596" cy="84937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17980" y="5215737"/>
            <a:ext cx="50597" cy="75997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68577" y="5291734"/>
            <a:ext cx="50597" cy="67056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319174" y="5358790"/>
            <a:ext cx="50597" cy="58115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369771" y="5416905"/>
            <a:ext cx="50597" cy="49174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420368" y="5466079"/>
            <a:ext cx="50596" cy="40234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470964" y="5506313"/>
            <a:ext cx="50597" cy="31293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521561" y="5537606"/>
            <a:ext cx="50597" cy="22352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572158" y="5559958"/>
            <a:ext cx="50597" cy="1341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622755" y="5573369"/>
            <a:ext cx="50597" cy="447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673352" y="5573369"/>
            <a:ext cx="50596" cy="447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723948" y="5559958"/>
            <a:ext cx="50597" cy="1341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774545" y="5537606"/>
            <a:ext cx="50597" cy="22352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825142" y="5506313"/>
            <a:ext cx="50597" cy="31293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875739" y="5466080"/>
            <a:ext cx="50596" cy="40233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926335" y="5416905"/>
            <a:ext cx="50597" cy="49175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976932" y="5358790"/>
            <a:ext cx="50597" cy="58115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027529" y="5291734"/>
            <a:ext cx="50597" cy="67056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078126" y="5215737"/>
            <a:ext cx="50597" cy="75997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128723" y="5130800"/>
            <a:ext cx="50597" cy="84937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179320" y="5036921"/>
            <a:ext cx="50596" cy="93879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229916" y="4934102"/>
            <a:ext cx="50597" cy="102819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280513" y="4822342"/>
            <a:ext cx="50597" cy="111760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331110" y="4701641"/>
            <a:ext cx="50597" cy="12070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381707" y="4572000"/>
            <a:ext cx="50597" cy="12964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2372868" y="4512564"/>
            <a:ext cx="118872" cy="11887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8" name="Oval 47"/>
          <p:cNvSpPr/>
          <p:nvPr/>
        </p:nvSpPr>
        <p:spPr>
          <a:xfrm>
            <a:off x="2296972" y="4703673"/>
            <a:ext cx="118872" cy="11887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2356408" y="4572000"/>
            <a:ext cx="75896" cy="191109"/>
          </a:xfrm>
          <a:prstGeom prst="line">
            <a:avLst/>
          </a:prstGeom>
          <a:ln w="13970">
            <a:solidFill>
              <a:srgbClr val="F2994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2228667" y="4858472"/>
            <a:ext cx="118872" cy="11887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2288103" y="4763109"/>
            <a:ext cx="68305" cy="154799"/>
          </a:xfrm>
          <a:prstGeom prst="line">
            <a:avLst/>
          </a:prstGeom>
          <a:ln w="13970">
            <a:solidFill>
              <a:srgbClr val="F2994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2167950" y="4982391"/>
            <a:ext cx="118872" cy="11887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2227386" y="4917908"/>
            <a:ext cx="60717" cy="123919"/>
          </a:xfrm>
          <a:prstGeom prst="line">
            <a:avLst/>
          </a:prstGeom>
          <a:ln w="13970">
            <a:solidFill>
              <a:srgbClr val="F2994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2114824" y="5080260"/>
            <a:ext cx="118872" cy="11887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2174260" y="5041827"/>
            <a:ext cx="53126" cy="97869"/>
          </a:xfrm>
          <a:prstGeom prst="line">
            <a:avLst/>
          </a:prstGeom>
          <a:ln w="13970">
            <a:solidFill>
              <a:srgbClr val="F2994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86384" y="5705856"/>
            <a:ext cx="17739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2994A"/>
                </a:solidFill>
                <a:latin typeface="Calibri"/>
              </a:rPr>
              <a:t>converge, mas gasta</a:t>
            </a:r>
          </a:p>
          <a:p>
            <a:pPr algn="ctr"/>
            <a:r>
              <a:rPr sz="1000" b="0" i="0">
                <a:solidFill>
                  <a:srgbClr val="F2994A"/>
                </a:solidFill>
                <a:latin typeface="Calibri"/>
              </a:rPr>
              <a:t>epochs demais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926080" y="4133087"/>
            <a:ext cx="2029968" cy="2103120"/>
          </a:xfrm>
          <a:prstGeom prst="roundRect">
            <a:avLst>
              <a:gd name="adj" fmla="val 4054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35808" y="4233672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η adequado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182112" y="4572000"/>
            <a:ext cx="50596" cy="12964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232708" y="4701641"/>
            <a:ext cx="50597" cy="12070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283305" y="4822342"/>
            <a:ext cx="50597" cy="111760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333902" y="4934102"/>
            <a:ext cx="50597" cy="102819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384499" y="5036921"/>
            <a:ext cx="50597" cy="93879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435096" y="5130800"/>
            <a:ext cx="50596" cy="84937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485692" y="5215737"/>
            <a:ext cx="50597" cy="75997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536289" y="5291734"/>
            <a:ext cx="50597" cy="67056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586886" y="5358790"/>
            <a:ext cx="50597" cy="58115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637483" y="5416905"/>
            <a:ext cx="50597" cy="49174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688080" y="5466079"/>
            <a:ext cx="50596" cy="40234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738676" y="5506313"/>
            <a:ext cx="50597" cy="31293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789273" y="5537606"/>
            <a:ext cx="50597" cy="22352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839870" y="5559958"/>
            <a:ext cx="50597" cy="1341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890467" y="5573369"/>
            <a:ext cx="50597" cy="447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3941064" y="5573369"/>
            <a:ext cx="50596" cy="447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3991660" y="5559958"/>
            <a:ext cx="50597" cy="1341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042257" y="5537606"/>
            <a:ext cx="50597" cy="22352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092854" y="5506313"/>
            <a:ext cx="50597" cy="31293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143451" y="5466080"/>
            <a:ext cx="50597" cy="40233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194048" y="5416905"/>
            <a:ext cx="50596" cy="49175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244644" y="5358790"/>
            <a:ext cx="50597" cy="58115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295241" y="5291734"/>
            <a:ext cx="50597" cy="67056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345838" y="5215737"/>
            <a:ext cx="50597" cy="75997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396435" y="5130800"/>
            <a:ext cx="50597" cy="84937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447032" y="5036921"/>
            <a:ext cx="50596" cy="93879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497628" y="4934102"/>
            <a:ext cx="50597" cy="102819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4548225" y="4822342"/>
            <a:ext cx="50597" cy="111760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4598822" y="4701641"/>
            <a:ext cx="50597" cy="12070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4649419" y="4572000"/>
            <a:ext cx="50597" cy="12964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4640580" y="4512564"/>
            <a:ext cx="118872" cy="1188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0" name="Oval 89"/>
          <p:cNvSpPr/>
          <p:nvPr/>
        </p:nvSpPr>
        <p:spPr>
          <a:xfrm>
            <a:off x="4200387" y="5340973"/>
            <a:ext cx="118872" cy="1188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91" name="Connector 90"/>
          <p:cNvCxnSpPr/>
          <p:nvPr/>
        </p:nvCxnSpPr>
        <p:spPr>
          <a:xfrm flipH="1">
            <a:off x="4259823" y="4572000"/>
            <a:ext cx="440193" cy="828409"/>
          </a:xfrm>
          <a:prstGeom prst="line">
            <a:avLst/>
          </a:prstGeom>
          <a:ln w="13970">
            <a:solidFill>
              <a:srgbClr val="27AE6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4010649" y="5489335"/>
            <a:ext cx="118872" cy="1188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93" name="Connector 92"/>
          <p:cNvCxnSpPr/>
          <p:nvPr/>
        </p:nvCxnSpPr>
        <p:spPr>
          <a:xfrm flipH="1">
            <a:off x="4070085" y="5400409"/>
            <a:ext cx="189738" cy="148362"/>
          </a:xfrm>
          <a:prstGeom prst="line">
            <a:avLst/>
          </a:prstGeom>
          <a:ln w="13970">
            <a:solidFill>
              <a:srgbClr val="27AE6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3927165" y="5514782"/>
            <a:ext cx="118872" cy="1188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95" name="Connector 94"/>
          <p:cNvCxnSpPr/>
          <p:nvPr/>
        </p:nvCxnSpPr>
        <p:spPr>
          <a:xfrm flipH="1">
            <a:off x="3986601" y="5548771"/>
            <a:ext cx="83484" cy="25447"/>
          </a:xfrm>
          <a:prstGeom prst="line">
            <a:avLst/>
          </a:prstGeom>
          <a:ln w="13970">
            <a:solidFill>
              <a:srgbClr val="27AE6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3054096" y="5705856"/>
            <a:ext cx="17739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27AE60"/>
                </a:solidFill>
                <a:latin typeface="Calibri"/>
              </a:rPr>
              <a:t>desce rápido e</a:t>
            </a:r>
          </a:p>
          <a:p>
            <a:pPr algn="ctr"/>
            <a:r>
              <a:rPr sz="1000" b="0" i="0">
                <a:solidFill>
                  <a:srgbClr val="27AE60"/>
                </a:solidFill>
                <a:latin typeface="Calibri"/>
              </a:rPr>
              <a:t>estabiliza no vale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193792" y="4133087"/>
            <a:ext cx="2029968" cy="2103120"/>
          </a:xfrm>
          <a:prstGeom prst="roundRect">
            <a:avLst>
              <a:gd name="adj" fmla="val 4054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303520" y="4233672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η grande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5449824" y="4572000"/>
            <a:ext cx="50596" cy="12964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5500420" y="4701641"/>
            <a:ext cx="50597" cy="12070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5551017" y="4822342"/>
            <a:ext cx="50597" cy="111760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5601614" y="4934102"/>
            <a:ext cx="50597" cy="102819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5652211" y="5036921"/>
            <a:ext cx="50597" cy="93879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5702808" y="5130800"/>
            <a:ext cx="50596" cy="84937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5753404" y="5215737"/>
            <a:ext cx="50597" cy="75997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804001" y="5291734"/>
            <a:ext cx="50597" cy="67056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5854598" y="5358790"/>
            <a:ext cx="50597" cy="58115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905195" y="5416905"/>
            <a:ext cx="50597" cy="49174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5955792" y="5466079"/>
            <a:ext cx="50596" cy="40234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006388" y="5506313"/>
            <a:ext cx="50597" cy="31293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6056985" y="5537606"/>
            <a:ext cx="50597" cy="22352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107582" y="5559958"/>
            <a:ext cx="50597" cy="1341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158179" y="5573369"/>
            <a:ext cx="50597" cy="447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6208776" y="5573369"/>
            <a:ext cx="50596" cy="447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6259372" y="5559958"/>
            <a:ext cx="50597" cy="1341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6309969" y="5537606"/>
            <a:ext cx="50597" cy="22352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360566" y="5506313"/>
            <a:ext cx="50597" cy="31293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411163" y="5466080"/>
            <a:ext cx="50597" cy="40233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461760" y="5416905"/>
            <a:ext cx="50596" cy="49175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512356" y="5358790"/>
            <a:ext cx="50597" cy="58115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562953" y="5291734"/>
            <a:ext cx="50597" cy="67056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613550" y="5215737"/>
            <a:ext cx="50597" cy="75997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664147" y="5130800"/>
            <a:ext cx="50597" cy="84937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714744" y="5036921"/>
            <a:ext cx="50596" cy="93879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765340" y="4934102"/>
            <a:ext cx="50597" cy="102819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6815937" y="4822342"/>
            <a:ext cx="50597" cy="111760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6866534" y="4701641"/>
            <a:ext cx="50597" cy="12070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6917131" y="4572000"/>
            <a:ext cx="50597" cy="129641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Oval 128"/>
          <p:cNvSpPr/>
          <p:nvPr/>
        </p:nvSpPr>
        <p:spPr>
          <a:xfrm>
            <a:off x="6566763" y="5214137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0" name="Oval 129"/>
          <p:cNvSpPr/>
          <p:nvPr/>
        </p:nvSpPr>
        <p:spPr>
          <a:xfrm>
            <a:off x="5542178" y="4874666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31" name="Connector 130"/>
          <p:cNvCxnSpPr/>
          <p:nvPr/>
        </p:nvCxnSpPr>
        <p:spPr>
          <a:xfrm flipH="1" flipV="1">
            <a:off x="5601614" y="4934102"/>
            <a:ext cx="1024585" cy="339471"/>
          </a:xfrm>
          <a:prstGeom prst="line">
            <a:avLst/>
          </a:prstGeom>
          <a:ln w="13970">
            <a:solidFill>
              <a:srgbClr val="ED145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6893112" y="4552395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33" name="Connector 132"/>
          <p:cNvCxnSpPr/>
          <p:nvPr/>
        </p:nvCxnSpPr>
        <p:spPr>
          <a:xfrm flipV="1">
            <a:off x="5601614" y="4611831"/>
            <a:ext cx="1350934" cy="322271"/>
          </a:xfrm>
          <a:prstGeom prst="line">
            <a:avLst/>
          </a:prstGeom>
          <a:ln w="13970">
            <a:solidFill>
              <a:srgbClr val="ED145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6952548" y="4425696"/>
            <a:ext cx="164592" cy="186135"/>
          </a:xfrm>
          <a:prstGeom prst="line">
            <a:avLst/>
          </a:prstGeom>
          <a:ln w="2032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5321808" y="5705856"/>
            <a:ext cx="17739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D145B"/>
                </a:solidFill>
                <a:latin typeface="Calibri"/>
              </a:rPr>
              <a:t>oscila e diverge:</a:t>
            </a:r>
          </a:p>
          <a:p>
            <a:pPr algn="ctr"/>
            <a:r>
              <a:rPr sz="1000" b="0" i="0">
                <a:solidFill>
                  <a:srgbClr val="ED145B"/>
                </a:solidFill>
                <a:latin typeface="Calibri"/>
              </a:rPr>
              <a:t>NaN na loss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2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Otimizadores modernos e learning rate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Momentum, RMSprop, Adam, AdamW e Lion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Learning rate: o hiperparâmetro nº 1 e o LR finder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Schedulers: step, cosine, OneCycle e warmup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SGD com momentum:</a:t>
            </a:r>
            <a:r>
              <a:rPr sz="2700" b="1">
                <a:solidFill>
                  <a:srgbClr val="ED145B"/>
                </a:solidFill>
                <a:latin typeface="Calibri"/>
              </a:rPr>
              <a:t> memória da direção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Acelera em direções consistentes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Suaviza o ruído do mini-batch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β típico: 0,9 — memória de ~10 passos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Sutskever et al., 2013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3163824" cy="2743200"/>
          </a:xfrm>
          <a:prstGeom prst="roundRect">
            <a:avLst>
              <a:gd name="adj" fmla="val 30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655064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2994A"/>
                </a:solidFill>
                <a:latin typeface="Calibri"/>
              </a:rPr>
              <a:t>SGD PURO</a:t>
            </a:r>
          </a:p>
        </p:txBody>
      </p:sp>
      <p:sp>
        <p:nvSpPr>
          <p:cNvPr id="7" name="Oval 6"/>
          <p:cNvSpPr/>
          <p:nvPr/>
        </p:nvSpPr>
        <p:spPr>
          <a:xfrm>
            <a:off x="1124712" y="2093976"/>
            <a:ext cx="2468880" cy="1188720"/>
          </a:xfrm>
          <a:prstGeom prst="ellipse">
            <a:avLst/>
          </a:prstGeom>
          <a:noFill/>
          <a:ln w="1397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44752" y="2258568"/>
            <a:ext cx="1828800" cy="859536"/>
          </a:xfrm>
          <a:prstGeom prst="ellipse">
            <a:avLst/>
          </a:prstGeom>
          <a:noFill/>
          <a:ln w="1397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64792" y="2414016"/>
            <a:ext cx="1188720" cy="548640"/>
          </a:xfrm>
          <a:prstGeom prst="ellipse">
            <a:avLst/>
          </a:prstGeom>
          <a:noFill/>
          <a:ln w="1397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75688" y="2560320"/>
            <a:ext cx="566928" cy="256032"/>
          </a:xfrm>
          <a:prstGeom prst="ellipse">
            <a:avLst/>
          </a:prstGeom>
          <a:noFill/>
          <a:ln w="1397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32688" y="2212848"/>
            <a:ext cx="228600" cy="896112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61288" y="2286000"/>
            <a:ext cx="210312" cy="822960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1600" y="2286000"/>
            <a:ext cx="201168" cy="768096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72768" y="2377440"/>
            <a:ext cx="182880" cy="676656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55648" y="2377440"/>
            <a:ext cx="164591" cy="548640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920239" y="2542032"/>
            <a:ext cx="146304" cy="384048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66543" y="2542032"/>
            <a:ext cx="128017" cy="237744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194560" y="2651760"/>
            <a:ext cx="109728" cy="128016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304288" y="2651760"/>
            <a:ext cx="54864" cy="36576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68680" y="2148840"/>
            <a:ext cx="128016" cy="128016"/>
          </a:xfrm>
          <a:prstGeom prst="ellipse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Oval 20"/>
          <p:cNvSpPr/>
          <p:nvPr/>
        </p:nvSpPr>
        <p:spPr>
          <a:xfrm>
            <a:off x="2290572" y="2619756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2304288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início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19072" y="3346704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mínimo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3712463"/>
            <a:ext cx="2871216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muitos passos corrigindo o eixo íngreme — avanço lento no eixo útil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59936" y="1554480"/>
            <a:ext cx="3163824" cy="2743200"/>
          </a:xfrm>
          <a:prstGeom prst="roundRect">
            <a:avLst>
              <a:gd name="adj" fmla="val 3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9664" y="1655064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ED145B"/>
                </a:solidFill>
                <a:latin typeface="Calibri"/>
              </a:rPr>
              <a:t>COM MOMENTUM  β = 0,9</a:t>
            </a:r>
          </a:p>
        </p:txBody>
      </p:sp>
      <p:sp>
        <p:nvSpPr>
          <p:cNvPr id="27" name="Oval 26"/>
          <p:cNvSpPr/>
          <p:nvPr/>
        </p:nvSpPr>
        <p:spPr>
          <a:xfrm>
            <a:off x="4526280" y="2093976"/>
            <a:ext cx="2468880" cy="1188720"/>
          </a:xfrm>
          <a:prstGeom prst="ellipse">
            <a:avLst/>
          </a:prstGeom>
          <a:noFill/>
          <a:ln w="1397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46320" y="2258568"/>
            <a:ext cx="1828800" cy="859536"/>
          </a:xfrm>
          <a:prstGeom prst="ellipse">
            <a:avLst/>
          </a:prstGeom>
          <a:noFill/>
          <a:ln w="1397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66360" y="2414016"/>
            <a:ext cx="1188720" cy="548640"/>
          </a:xfrm>
          <a:prstGeom prst="ellipse">
            <a:avLst/>
          </a:prstGeom>
          <a:noFill/>
          <a:ln w="1397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77256" y="2560320"/>
            <a:ext cx="566928" cy="256032"/>
          </a:xfrm>
          <a:prstGeom prst="ellipse">
            <a:avLst/>
          </a:prstGeom>
          <a:noFill/>
          <a:ln w="1397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4334256" y="2212848"/>
            <a:ext cx="292608" cy="237743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626864" y="2450591"/>
            <a:ext cx="301752" cy="164593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928616" y="2615184"/>
            <a:ext cx="301752" cy="109728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230368" y="2724912"/>
            <a:ext cx="274320" cy="18288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504688" y="2715768"/>
            <a:ext cx="164592" cy="27432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669280" y="2688336"/>
            <a:ext cx="91440" cy="27432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4270248" y="2148840"/>
            <a:ext cx="128016" cy="128016"/>
          </a:xfrm>
          <a:prstGeom prst="ellipse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8" name="Oval 37"/>
          <p:cNvSpPr/>
          <p:nvPr/>
        </p:nvSpPr>
        <p:spPr>
          <a:xfrm>
            <a:off x="5692140" y="2619756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2304288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início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3346704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mínimo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3712463"/>
            <a:ext cx="2871216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a velocidade acumulada cancela o zigue-zague e acelera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498848"/>
            <a:ext cx="6565392" cy="1115568"/>
          </a:xfrm>
          <a:prstGeom prst="roundRect">
            <a:avLst>
              <a:gd name="adj" fmla="val 7377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pic>
        <p:nvPicPr>
          <p:cNvPr id="43" name="Picture 42" descr="b291f56da5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683" y="4791456"/>
            <a:ext cx="1778923" cy="286789"/>
          </a:xfrm>
          <a:prstGeom prst="rect">
            <a:avLst/>
          </a:prstGeom>
        </p:spPr>
      </p:pic>
      <p:pic>
        <p:nvPicPr>
          <p:cNvPr id="44" name="Picture 43" descr="0d66e18094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494" y="4791456"/>
            <a:ext cx="1620981" cy="28678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41247" y="523036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velocidade: média móvel do gradiente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61104" y="523036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o passo segue a velocidade, não o gradiente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779008"/>
            <a:ext cx="6565392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β = 0,9 → memória de ~10 passos: suaviza o ruído do mini-batch sem custo de memória extra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RMSprop e Adam:</a:t>
            </a:r>
            <a:r>
              <a:rPr sz="2700" b="1">
                <a:solidFill>
                  <a:srgbClr val="ED145B"/>
                </a:solidFill>
                <a:latin typeface="Calibri"/>
              </a:rPr>
              <a:t> um passo por parâmetro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RMSprop escala o passo pela média do gradiente ao quadrado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Adam (Kingma &amp; Ba, 2015) combina momentum + escala de 2ª ordem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Correção de viés nos primeiros passos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β₁ = 0,9 · β₂ = 0,999 · ε = 1e-8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 padrão que “funciona fora da caixa”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17904"/>
            <a:ext cx="6217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ADAM = MOMENTUM (1ª ORDEM) + ESCALA ADAPTATIVA (2ª ORDEM)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04288"/>
            <a:ext cx="1005840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gₜ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gradiente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38528" y="1773936"/>
            <a:ext cx="2066543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mₜ  ·  média do gradiente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→ PARA ONDE ir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737360" y="2075688"/>
            <a:ext cx="164592" cy="512064"/>
          </a:xfrm>
          <a:prstGeom prst="line">
            <a:avLst/>
          </a:prstGeom>
          <a:ln w="1778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41648" y="2075688"/>
            <a:ext cx="219456" cy="512064"/>
          </a:xfrm>
          <a:prstGeom prst="line">
            <a:avLst/>
          </a:prstGeom>
          <a:ln w="1778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38528" y="2798064"/>
            <a:ext cx="2066543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vₜ  ·  média do gradiente²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→ QUANTO andar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0" y="2587752"/>
            <a:ext cx="164592" cy="512064"/>
          </a:xfrm>
          <a:prstGeom prst="line">
            <a:avLst/>
          </a:prstGeom>
          <a:ln w="17780">
            <a:solidFill>
              <a:srgbClr val="9B51E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041648" y="2587752"/>
            <a:ext cx="219456" cy="512064"/>
          </a:xfrm>
          <a:prstGeom prst="line">
            <a:avLst/>
          </a:prstGeom>
          <a:ln w="17780">
            <a:solidFill>
              <a:srgbClr val="9B51E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97680" y="2286000"/>
            <a:ext cx="1298448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correção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 viés  m̂, v̂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32704" y="2587752"/>
            <a:ext cx="219456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888736" y="2231136"/>
            <a:ext cx="1335024" cy="713232"/>
          </a:xfrm>
          <a:prstGeom prst="roundRect">
            <a:avLst>
              <a:gd name="adj" fmla="val 11538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passo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η · m̂ / (√v̂ + ε)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584448"/>
            <a:ext cx="2029968" cy="1298448"/>
          </a:xfrm>
          <a:prstGeom prst="roundRect">
            <a:avLst>
              <a:gd name="adj" fmla="val 6338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685032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D9CDB"/>
                </a:solidFill>
                <a:latin typeface="Calibri"/>
              </a:rPr>
              <a:t>1 · momento de 1ª ordem</a:t>
            </a:r>
          </a:p>
        </p:txBody>
      </p:sp>
      <p:pic>
        <p:nvPicPr>
          <p:cNvPr id="18" name="Picture 17" descr="ae08312c81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041648"/>
            <a:ext cx="1664208" cy="22189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2926080" y="3584448"/>
            <a:ext cx="2029968" cy="1298448"/>
          </a:xfrm>
          <a:prstGeom prst="roundRect">
            <a:avLst>
              <a:gd name="adj" fmla="val 6338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685032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9B51E0"/>
                </a:solidFill>
                <a:latin typeface="Calibri"/>
              </a:rPr>
              <a:t>2 · momento de 2ª ordem</a:t>
            </a:r>
          </a:p>
        </p:txBody>
      </p:sp>
      <p:pic>
        <p:nvPicPr>
          <p:cNvPr id="21" name="Picture 20" descr="cd22a5d49d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4041648"/>
            <a:ext cx="1664208" cy="269477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5193792" y="3584448"/>
            <a:ext cx="2029968" cy="1298448"/>
          </a:xfrm>
          <a:prstGeom prst="roundRect">
            <a:avLst>
              <a:gd name="adj" fmla="val 6338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685032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D145B"/>
                </a:solidFill>
                <a:latin typeface="Calibri"/>
              </a:rPr>
              <a:t>3 · atualização</a:t>
            </a:r>
          </a:p>
        </p:txBody>
      </p:sp>
      <p:pic>
        <p:nvPicPr>
          <p:cNvPr id="24" name="Picture 23" descr="5b039bf12c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944" y="4041648"/>
            <a:ext cx="1479665" cy="41148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58368" y="5084064"/>
            <a:ext cx="6565392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RMSprop usa só vₜ  ·  Adam soma a memória de direção mₜ  ·  β₁ = 0,9   β₂ = 0,999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760720"/>
            <a:ext cx="6565392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cada parâmetro ganha seu próprio passo efetivo — por isso Adam “funciona fora da caixa”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AdamW e Lion:</a:t>
            </a:r>
            <a:r>
              <a:rPr sz="2700" b="1">
                <a:solidFill>
                  <a:srgbClr val="ED145B"/>
                </a:solidFill>
                <a:latin typeface="Calibri"/>
              </a:rPr>
              <a:t> o padrão de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AdamW (Loshchilov &amp; Hutter, 2019): weight decay desacoplado do gradiente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Padrão em Transformers e LLMs em 2026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Lion (Chen et al., 2023): só sinal do gradiente; menos memória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3163824" cy="2432304"/>
          </a:xfrm>
          <a:prstGeom prst="roundRect">
            <a:avLst>
              <a:gd name="adj" fmla="val 3383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655064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2994A"/>
                </a:solidFill>
                <a:latin typeface="Calibri"/>
              </a:rPr>
              <a:t>ADAM + L2  ·  acoplado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2011680"/>
            <a:ext cx="0" cy="1261872"/>
          </a:xfrm>
          <a:prstGeom prst="line">
            <a:avLst/>
          </a:prstGeom>
          <a:ln w="17780">
            <a:solidFill>
              <a:srgbClr val="2A2A3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78992" y="1956816"/>
            <a:ext cx="2523744" cy="384048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F2994A"/>
                </a:solidFill>
                <a:latin typeface="Calibri"/>
              </a:rPr>
              <a:t>∇L(θ) + λθ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359152"/>
            <a:ext cx="252374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a penalidade entra no gradiente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8992" y="2596896"/>
            <a:ext cx="2523744" cy="384048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÷ √v̂  (escala adaptativa)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999232"/>
            <a:ext cx="252374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e é DIVIDIDA pela escala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3236976"/>
            <a:ext cx="2523744" cy="384048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θ ← θ − η · passo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39312"/>
            <a:ext cx="252374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decay efetivo vira desigual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59936" y="1554480"/>
            <a:ext cx="3163824" cy="2432304"/>
          </a:xfrm>
          <a:prstGeom prst="roundRect">
            <a:avLst>
              <a:gd name="adj" fmla="val 3383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9664" y="1655064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7AE60"/>
                </a:solidFill>
                <a:latin typeface="Calibri"/>
              </a:rPr>
              <a:t>ADAMW  ·  desacoplado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34256" y="2011680"/>
            <a:ext cx="0" cy="1261872"/>
          </a:xfrm>
          <a:prstGeom prst="line">
            <a:avLst/>
          </a:prstGeom>
          <a:ln w="17780">
            <a:solidFill>
              <a:srgbClr val="2A2A3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480560" y="1956816"/>
            <a:ext cx="2523744" cy="384048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2D9CDB"/>
                </a:solidFill>
                <a:latin typeface="Calibri"/>
              </a:rPr>
              <a:t>∇L(θ)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359152"/>
            <a:ext cx="252374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só o gradiente da perda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2596896"/>
            <a:ext cx="2523744" cy="384048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÷ √v̂  (escala adaptativa)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999232"/>
            <a:ext cx="252374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escala só o que veio da perda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236976"/>
            <a:ext cx="2523744" cy="384048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27AE60"/>
                </a:solidFill>
                <a:latin typeface="Calibri"/>
              </a:rPr>
              <a:t>θ ← θ − η · passo − ηλθ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639312"/>
            <a:ext cx="252374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decay aplicado direto em 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169663"/>
            <a:ext cx="2029968" cy="1207008"/>
          </a:xfrm>
          <a:prstGeom prst="roundRect">
            <a:avLst>
              <a:gd name="adj" fmla="val 6818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2D9CDB"/>
                </a:solidFill>
                <a:latin typeface="Calibri"/>
              </a:rPr>
              <a:t>Adam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2 estados por parâmetro
baseline adaptativo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26080" y="4169663"/>
            <a:ext cx="2029968" cy="1207008"/>
          </a:xfrm>
          <a:prstGeom prst="roundRect">
            <a:avLst>
              <a:gd name="adj" fmla="val 6818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ED145B"/>
                </a:solidFill>
                <a:latin typeface="Calibri"/>
              </a:rPr>
              <a:t>AdamW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2 estados · decay correto
padrão em Transformers e LLMs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93792" y="4169663"/>
            <a:ext cx="2029968" cy="1207008"/>
          </a:xfrm>
          <a:prstGeom prst="roundRect">
            <a:avLst>
              <a:gd name="adj" fmla="val 6818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9B51E0"/>
                </a:solidFill>
                <a:latin typeface="Calibri"/>
              </a:rPr>
              <a:t>Lion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1 estado · só o SINAL
do gradiente — menos memória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669280"/>
            <a:ext cx="6565392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Loshchilov &amp; Hutter (2019): separar weight decay do gradiente recuperou a generalização do Adam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Regime de treino:</a:t>
            </a:r>
            <a:r>
              <a:rPr sz="2700" b="1">
                <a:solidFill>
                  <a:srgbClr val="ED145B"/>
                </a:solidFill>
                <a:latin typeface="Calibri"/>
              </a:rPr>
              <a:t> um sistema acoplado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LR, batch size, otimizador, normalização e regularização formam um sistema acoplado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 melhor configuração não é apenas a que maximiza a métrica média, mas a que mantém baixa variância entre sementes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Mesma arquitetura, mesmos dados: regimes de treino diferentes podem mudar convergência, generalização e custo experimental em ordem de grandeza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00784" y="1719072"/>
            <a:ext cx="1389888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learning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87860" y="2654187"/>
            <a:ext cx="1389888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batch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96240" y="4167236"/>
            <a:ext cx="1389888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otimizador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327" y="4167236"/>
            <a:ext cx="1389888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normalização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3707" y="2654187"/>
            <a:ext cx="1389888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regularização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95728" y="1956816"/>
            <a:ext cx="1287076" cy="935115"/>
          </a:xfrm>
          <a:prstGeom prst="line">
            <a:avLst/>
          </a:prstGeom>
          <a:ln w="1143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95728" y="1956816"/>
            <a:ext cx="795456" cy="2448164"/>
          </a:xfrm>
          <a:prstGeom prst="line">
            <a:avLst/>
          </a:prstGeom>
          <a:ln w="1143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600271" y="1956816"/>
            <a:ext cx="795457" cy="2448164"/>
          </a:xfrm>
          <a:prstGeom prst="line">
            <a:avLst/>
          </a:prstGeom>
          <a:ln w="1143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108651" y="1956816"/>
            <a:ext cx="1287077" cy="935115"/>
          </a:xfrm>
          <a:prstGeom prst="line">
            <a:avLst/>
          </a:prstGeom>
          <a:ln w="1143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191184" y="2891931"/>
            <a:ext cx="491620" cy="1513049"/>
          </a:xfrm>
          <a:prstGeom prst="line">
            <a:avLst/>
          </a:prstGeom>
          <a:ln w="1143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600271" y="2891931"/>
            <a:ext cx="2082533" cy="1513049"/>
          </a:xfrm>
          <a:prstGeom prst="line">
            <a:avLst/>
          </a:prstGeom>
          <a:ln w="1143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108651" y="2891931"/>
            <a:ext cx="2574153" cy="0"/>
          </a:xfrm>
          <a:prstGeom prst="line">
            <a:avLst/>
          </a:prstGeom>
          <a:ln w="1143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600271" y="4404980"/>
            <a:ext cx="1590913" cy="0"/>
          </a:xfrm>
          <a:prstGeom prst="line">
            <a:avLst/>
          </a:prstGeom>
          <a:ln w="1143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108651" y="2891931"/>
            <a:ext cx="2082533" cy="1513049"/>
          </a:xfrm>
          <a:prstGeom prst="line">
            <a:avLst/>
          </a:prstGeom>
          <a:ln w="1143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1108651" y="2891931"/>
            <a:ext cx="491620" cy="1513049"/>
          </a:xfrm>
          <a:prstGeom prst="line">
            <a:avLst/>
          </a:prstGeom>
          <a:ln w="1143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883664" y="2798064"/>
            <a:ext cx="1024128" cy="1024128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regime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de treino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1536192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UM SISTEMA ACOPLADO, NÃO CINCO BOTÕES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18304" y="1920240"/>
            <a:ext cx="2505456" cy="3072384"/>
          </a:xfrm>
          <a:prstGeom prst="roundRect">
            <a:avLst>
              <a:gd name="adj" fmla="val 3284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2020824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9AA0A6"/>
                </a:solidFill>
                <a:latin typeface="Calibri"/>
              </a:rPr>
              <a:t>5 SEMENTES, 2 CONFIGURAÇÕES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1184" y="2340864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acurácia val ↑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0" y="4315968"/>
            <a:ext cx="1938528" cy="0"/>
          </a:xfrm>
          <a:prstGeom prst="line">
            <a:avLst/>
          </a:prstGeom>
          <a:ln w="1397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029200" y="2633472"/>
            <a:ext cx="0" cy="1682496"/>
          </a:xfrm>
          <a:prstGeom prst="line">
            <a:avLst/>
          </a:prstGeom>
          <a:ln w="1397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372100" y="2841040"/>
            <a:ext cx="118872" cy="11887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8" name="Oval 27"/>
          <p:cNvSpPr/>
          <p:nvPr/>
        </p:nvSpPr>
        <p:spPr>
          <a:xfrm>
            <a:off x="5454396" y="3301898"/>
            <a:ext cx="118872" cy="11887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5536692" y="2725826"/>
            <a:ext cx="118872" cy="11887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Oval 29"/>
          <p:cNvSpPr/>
          <p:nvPr/>
        </p:nvSpPr>
        <p:spPr>
          <a:xfrm>
            <a:off x="5618988" y="3598164"/>
            <a:ext cx="118872" cy="11887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5701283" y="3071469"/>
            <a:ext cx="118872" cy="11887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285232" y="3163824"/>
            <a:ext cx="621792" cy="0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138928" y="4370831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2994A"/>
                </a:solidFill>
                <a:latin typeface="Calibri"/>
              </a:rPr>
              <a:t>config A</a:t>
            </a:r>
          </a:p>
        </p:txBody>
      </p:sp>
      <p:sp>
        <p:nvSpPr>
          <p:cNvPr id="34" name="Oval 33"/>
          <p:cNvSpPr/>
          <p:nvPr/>
        </p:nvSpPr>
        <p:spPr>
          <a:xfrm>
            <a:off x="6249924" y="3268979"/>
            <a:ext cx="118872" cy="1188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Oval 34"/>
          <p:cNvSpPr/>
          <p:nvPr/>
        </p:nvSpPr>
        <p:spPr>
          <a:xfrm>
            <a:off x="6332220" y="3170224"/>
            <a:ext cx="118872" cy="1188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6414516" y="3071469"/>
            <a:ext cx="118872" cy="1188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7" name="Oval 36"/>
          <p:cNvSpPr/>
          <p:nvPr/>
        </p:nvSpPr>
        <p:spPr>
          <a:xfrm>
            <a:off x="6496812" y="3219602"/>
            <a:ext cx="118872" cy="1188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8" name="Oval 37"/>
          <p:cNvSpPr/>
          <p:nvPr/>
        </p:nvSpPr>
        <p:spPr>
          <a:xfrm>
            <a:off x="6579107" y="3120847"/>
            <a:ext cx="118872" cy="1188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63056" y="3229660"/>
            <a:ext cx="621792" cy="0"/>
          </a:xfrm>
          <a:prstGeom prst="line">
            <a:avLst/>
          </a:prstGeom>
          <a:ln w="2286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016752" y="4370831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config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82896" y="462686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B é a configuração confiável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138928"/>
            <a:ext cx="6565392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 melhor configuração não é só a de maior média: é a de menor variância entre sementes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797296"/>
            <a:ext cx="6565392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mesma arquitetura, mesmos dados — o regime de treino move convergência, generalização e custo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Learning rate:</a:t>
            </a:r>
            <a:r>
              <a:rPr sz="2700" b="1">
                <a:solidFill>
                  <a:srgbClr val="ED145B"/>
                </a:solidFill>
                <a:latin typeface="Calibri"/>
              </a:rPr>
              <a:t> o hiperparâmetro nº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Muito alto → diverge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Muito baixo → lento, preso em platôs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LR finder (Smith, 2017): varre LR em escala log e procura a queda mais íngreme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LR FINDER · VARRE O LR EM ESCALA LOG E OLHA A QUEDA DA LOSS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3950208"/>
            <a:ext cx="5943600" cy="0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960120" y="2176272"/>
            <a:ext cx="0" cy="1773936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60120" y="4279392"/>
            <a:ext cx="5943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learning rate  (escala log) 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1847088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loss 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2609331"/>
            <a:ext cx="566928" cy="34382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64208" y="2643713"/>
            <a:ext cx="566928" cy="51572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31136" y="2695285"/>
            <a:ext cx="566927" cy="120335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98063" y="2815620"/>
            <a:ext cx="566929" cy="240670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64992" y="3056290"/>
            <a:ext cx="566928" cy="275052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31920" y="3331342"/>
            <a:ext cx="566928" cy="240670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98848" y="3572012"/>
            <a:ext cx="340156" cy="103144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39004" y="3675156"/>
            <a:ext cx="340157" cy="34381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179161" y="3606393"/>
            <a:ext cx="340157" cy="103144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519318" y="3228197"/>
            <a:ext cx="340157" cy="378196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859475" y="2712476"/>
            <a:ext cx="340157" cy="515721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199632" y="2299898"/>
            <a:ext cx="340156" cy="412578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" y="3886200"/>
            <a:ext cx="0" cy="128016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19" y="4041648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1e-6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14600" y="3886200"/>
            <a:ext cx="0" cy="128016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148840" y="4041648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1e-5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931920" y="3886200"/>
            <a:ext cx="0" cy="128016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566160" y="4041648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1e-4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49240" y="3886200"/>
            <a:ext cx="0" cy="128016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983480" y="4041648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1e-3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66560" y="3886200"/>
            <a:ext cx="0" cy="128016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0" y="4041648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1e-2</a:t>
            </a:r>
          </a:p>
        </p:txBody>
      </p:sp>
      <p:sp>
        <p:nvSpPr>
          <p:cNvPr id="32" name="Oval 31"/>
          <p:cNvSpPr/>
          <p:nvPr/>
        </p:nvSpPr>
        <p:spPr>
          <a:xfrm>
            <a:off x="3854196" y="3253618"/>
            <a:ext cx="155448" cy="15544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3657600" y="3441070"/>
            <a:ext cx="219456" cy="274320"/>
          </a:xfrm>
          <a:prstGeom prst="line">
            <a:avLst/>
          </a:prstGeom>
          <a:ln w="2032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234440" y="3657600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queda mais íngreme → escolha este LR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5295" y="2286000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2994A"/>
                </a:solidFill>
                <a:latin typeface="Calibri"/>
              </a:rPr>
              <a:t>loss não cai: LR baixo demais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22860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D145B"/>
                </a:solidFill>
                <a:latin typeface="Calibri"/>
              </a:rPr>
              <a:t>loss explode:</a:t>
            </a:r>
          </a:p>
          <a:p>
            <a:pPr algn="r"/>
            <a:r>
              <a:rPr sz="1000" b="1" i="0">
                <a:solidFill>
                  <a:srgbClr val="ED145B"/>
                </a:solidFill>
                <a:latin typeface="Calibri"/>
              </a:rPr>
              <a:t>LR alto demais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626864"/>
            <a:ext cx="2029968" cy="1042415"/>
          </a:xfrm>
          <a:prstGeom prst="roundRect">
            <a:avLst>
              <a:gd name="adj" fmla="val 7894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F2994A"/>
                </a:solidFill>
                <a:latin typeface="Calibri"/>
              </a:rPr>
              <a:t>muito baixo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converge, mas fica preso
em platôs por épocas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26080" y="4626864"/>
            <a:ext cx="2029968" cy="1042415"/>
          </a:xfrm>
          <a:prstGeom prst="roundRect">
            <a:avLst>
              <a:gd name="adj" fmla="val 7894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27AE60"/>
                </a:solidFill>
                <a:latin typeface="Calibri"/>
              </a:rPr>
              <a:t>adequado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desce rápido e permite
schedule agressivo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93792" y="4626864"/>
            <a:ext cx="2029968" cy="1042415"/>
          </a:xfrm>
          <a:prstGeom prst="roundRect">
            <a:avLst>
              <a:gd name="adj" fmla="val 7894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ED145B"/>
                </a:solidFill>
                <a:latin typeface="Calibri"/>
              </a:rPr>
              <a:t>muito alto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oscila, diverge
e vira NaN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833872"/>
            <a:ext cx="6565392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Smith (2017): uma varredura de poucos minutos substitui dias de tentativa e erro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LR schedulers:</a:t>
            </a:r>
            <a:r>
              <a:rPr sz="2700" b="1">
                <a:solidFill>
                  <a:srgbClr val="ED145B"/>
                </a:solidFill>
                <a:latin typeface="Calibri"/>
              </a:rPr>
              <a:t> o passo muda ao longo do treino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Step decay: divide LR a cada N épocas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Cosine: curva suave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OneCycle (Smith): warmup + descida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Warmup + Cosine: padrão em Transformers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27632"/>
            <a:ext cx="3145536" cy="1609344"/>
          </a:xfrm>
          <a:prstGeom prst="roundRect">
            <a:avLst>
              <a:gd name="adj" fmla="val 5113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2821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9CDB"/>
                </a:solidFill>
                <a:latin typeface="Calibri"/>
              </a:rPr>
              <a:t>STEP DECAY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2816352"/>
            <a:ext cx="2724912" cy="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32688" y="1993392"/>
            <a:ext cx="0" cy="82296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24128" y="2029968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66800" y="2029968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09472" y="2029968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52144" y="2029968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94816" y="2029968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37488" y="2029968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80160" y="2029968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22832" y="2029968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65504" y="2029968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08176" y="2029968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50848" y="2029968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93520" y="2029968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536192" y="2029968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578864" y="2029968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21536" y="2029968"/>
            <a:ext cx="42672" cy="393192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64208" y="2423160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06880" y="2423160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49552" y="2423160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792224" y="2423160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34896" y="2423160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77568" y="2423160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20240" y="2423160"/>
            <a:ext cx="42671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962911" y="2423160"/>
            <a:ext cx="42673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005584" y="2423160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048256" y="2423160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090928" y="2423160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133600" y="2423160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176272" y="2423160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218944" y="2423160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261616" y="2423160"/>
            <a:ext cx="42672" cy="196596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304288" y="2619756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346960" y="2619756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389632" y="2619756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432304" y="2619756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474976" y="2619756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517648" y="2619756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560320" y="2619756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602992" y="2619756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645664" y="2619756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688336" y="2619756"/>
            <a:ext cx="42671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731007" y="2619756"/>
            <a:ext cx="42673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773680" y="2619756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816352" y="2619756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859024" y="2619756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901696" y="2619756"/>
            <a:ext cx="42672" cy="98298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944368" y="2718054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987040" y="2718054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029712" y="2718054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072384" y="2718054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115056" y="2718054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157728" y="2718054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200400" y="2718054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243072" y="2718054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285744" y="2718054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328416" y="2718054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371088" y="2718054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413760" y="2718054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456432" y="2718054"/>
            <a:ext cx="42672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499104" y="2718054"/>
            <a:ext cx="42671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541775" y="2718054"/>
            <a:ext cx="42673" cy="49149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04672" y="2907792"/>
            <a:ext cx="2852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divide o LR a cada N épocas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6384" y="199339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LR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80944" y="283464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0A6"/>
                </a:solidFill>
                <a:latin typeface="Calibri"/>
              </a:rPr>
              <a:t>época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078224" y="1627632"/>
            <a:ext cx="3145536" cy="1609344"/>
          </a:xfrm>
          <a:prstGeom prst="roundRect">
            <a:avLst>
              <a:gd name="adj" fmla="val 5113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87952" y="172821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B51E0"/>
                </a:solidFill>
                <a:latin typeface="Calibri"/>
              </a:rPr>
              <a:t>COSINE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352544" y="2816352"/>
            <a:ext cx="2724912" cy="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352544" y="1993392"/>
            <a:ext cx="0" cy="82296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443984" y="2029968"/>
            <a:ext cx="42672" cy="538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486656" y="2030506"/>
            <a:ext cx="42672" cy="1615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529328" y="2032121"/>
            <a:ext cx="42672" cy="2687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572000" y="2034808"/>
            <a:ext cx="42672" cy="3752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614672" y="2038560"/>
            <a:ext cx="42672" cy="4805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657344" y="2043365"/>
            <a:ext cx="42672" cy="5847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700016" y="2049212"/>
            <a:ext cx="42672" cy="6871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742688" y="2056083"/>
            <a:ext cx="42672" cy="7878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785360" y="2063961"/>
            <a:ext cx="42672" cy="8862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828032" y="2072823"/>
            <a:ext cx="42672" cy="9822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870704" y="2082645"/>
            <a:ext cx="42672" cy="10756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913376" y="2093401"/>
            <a:ext cx="42672" cy="11659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956048" y="2105060"/>
            <a:ext cx="42672" cy="12532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998720" y="2117592"/>
            <a:ext cx="42672" cy="13369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041392" y="2130961"/>
            <a:ext cx="42672" cy="14170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084064" y="2145131"/>
            <a:ext cx="42672" cy="14932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126736" y="2160063"/>
            <a:ext cx="42672" cy="15653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169408" y="2175716"/>
            <a:ext cx="42672" cy="16331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212080" y="2192047"/>
            <a:ext cx="42672" cy="16965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254752" y="2209012"/>
            <a:ext cx="42672" cy="17552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5297424" y="2226564"/>
            <a:ext cx="42672" cy="18090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5340096" y="2244654"/>
            <a:ext cx="42672" cy="18580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5382768" y="2263234"/>
            <a:ext cx="42672" cy="19018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5425440" y="2282252"/>
            <a:ext cx="42672" cy="19404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5468112" y="2301656"/>
            <a:ext cx="42672" cy="19738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5510784" y="2321394"/>
            <a:ext cx="42672" cy="20016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5553456" y="2341410"/>
            <a:ext cx="42672" cy="20241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5596128" y="2361651"/>
            <a:ext cx="42672" cy="20409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5638800" y="2382060"/>
            <a:ext cx="42672" cy="20521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5681472" y="2402581"/>
            <a:ext cx="42672" cy="20579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724144" y="2423160"/>
            <a:ext cx="42672" cy="20578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5766816" y="2443738"/>
            <a:ext cx="42672" cy="20521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809488" y="2464259"/>
            <a:ext cx="42672" cy="20409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5852160" y="2484668"/>
            <a:ext cx="42672" cy="20241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5894832" y="2504909"/>
            <a:ext cx="42672" cy="20016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5937504" y="2524925"/>
            <a:ext cx="42672" cy="19738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5980176" y="2544663"/>
            <a:ext cx="42672" cy="19404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022848" y="2564067"/>
            <a:ext cx="42672" cy="19018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6065520" y="2583085"/>
            <a:ext cx="42672" cy="18580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6108192" y="2601665"/>
            <a:ext cx="42672" cy="18091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6150864" y="2619756"/>
            <a:ext cx="42672" cy="17551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6193536" y="2637307"/>
            <a:ext cx="42672" cy="16965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6236208" y="2654272"/>
            <a:ext cx="42672" cy="16331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278880" y="2670603"/>
            <a:ext cx="42672" cy="15653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6321552" y="2686256"/>
            <a:ext cx="42672" cy="14932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6364224" y="2701188"/>
            <a:ext cx="42672" cy="14170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6406896" y="2715358"/>
            <a:ext cx="42672" cy="13369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6449568" y="2728727"/>
            <a:ext cx="42672" cy="12532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6492240" y="2741259"/>
            <a:ext cx="42672" cy="11659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6534912" y="2752918"/>
            <a:ext cx="42672" cy="10756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6577584" y="2763674"/>
            <a:ext cx="42672" cy="9822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6620256" y="2773496"/>
            <a:ext cx="42672" cy="8862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6662928" y="2782358"/>
            <a:ext cx="42672" cy="7878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6705600" y="2790236"/>
            <a:ext cx="42672" cy="6871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6748272" y="2797107"/>
            <a:ext cx="42672" cy="5847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6790944" y="2802954"/>
            <a:ext cx="42672" cy="4805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6833616" y="2807759"/>
            <a:ext cx="42672" cy="3752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6876288" y="2811511"/>
            <a:ext cx="42672" cy="2687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6918960" y="2814198"/>
            <a:ext cx="42672" cy="1615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6961632" y="2815813"/>
            <a:ext cx="42672" cy="539"/>
          </a:xfrm>
          <a:prstGeom prst="line">
            <a:avLst/>
          </a:prstGeom>
          <a:ln w="254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4224528" y="2907792"/>
            <a:ext cx="2852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descida suave até ~0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206240" y="199339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LR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400800" y="283464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0A6"/>
                </a:solidFill>
                <a:latin typeface="Calibri"/>
              </a:rPr>
              <a:t>época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658368" y="3474720"/>
            <a:ext cx="3145536" cy="1609344"/>
          </a:xfrm>
          <a:prstGeom prst="roundRect">
            <a:avLst>
              <a:gd name="adj" fmla="val 5113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68096" y="3575303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2994A"/>
                </a:solidFill>
                <a:latin typeface="Calibri"/>
              </a:rPr>
              <a:t>ONECYCLE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932688" y="4663440"/>
            <a:ext cx="2724912" cy="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32688" y="3840480"/>
            <a:ext cx="0" cy="82296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024128" y="4486066"/>
            <a:ext cx="42672" cy="3582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066800" y="4450242"/>
            <a:ext cx="42672" cy="3582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109472" y="4414418"/>
            <a:ext cx="42672" cy="3582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152144" y="4378594"/>
            <a:ext cx="42672" cy="3582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194816" y="4342770"/>
            <a:ext cx="42672" cy="3582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237488" y="4306945"/>
            <a:ext cx="42672" cy="35825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280160" y="4271121"/>
            <a:ext cx="42672" cy="3582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322832" y="4235297"/>
            <a:ext cx="42672" cy="3582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365504" y="4199473"/>
            <a:ext cx="42672" cy="3582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408176" y="4163649"/>
            <a:ext cx="42672" cy="3582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450848" y="4127825"/>
            <a:ext cx="42672" cy="3582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493520" y="4092000"/>
            <a:ext cx="42672" cy="35825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536192" y="4056176"/>
            <a:ext cx="42672" cy="3582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578864" y="4020352"/>
            <a:ext cx="42672" cy="3582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621536" y="3984528"/>
            <a:ext cx="42672" cy="3582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664208" y="3948704"/>
            <a:ext cx="42672" cy="3582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706880" y="3912880"/>
            <a:ext cx="42672" cy="3582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749552" y="3877056"/>
            <a:ext cx="42672" cy="3582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792224" y="3877056"/>
            <a:ext cx="42672" cy="901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834896" y="3877957"/>
            <a:ext cx="42672" cy="2700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877568" y="3880657"/>
            <a:ext cx="42672" cy="4482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920240" y="3885139"/>
            <a:ext cx="42671" cy="6241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962911" y="3891380"/>
            <a:ext cx="42673" cy="7963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2005584" y="3899343"/>
            <a:ext cx="42672" cy="9642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2048256" y="3908985"/>
            <a:ext cx="42672" cy="11266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2090928" y="3920251"/>
            <a:ext cx="42672" cy="12828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2133600" y="3933079"/>
            <a:ext cx="42672" cy="14318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2176272" y="3947397"/>
            <a:ext cx="42672" cy="15727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2218944" y="3963124"/>
            <a:ext cx="42672" cy="17049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2261616" y="3980173"/>
            <a:ext cx="42672" cy="18276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2304288" y="3998449"/>
            <a:ext cx="42672" cy="19400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2346960" y="4017849"/>
            <a:ext cx="42672" cy="20415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2389632" y="4038264"/>
            <a:ext cx="42672" cy="21317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2432304" y="4059581"/>
            <a:ext cx="42672" cy="22100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2474976" y="4081681"/>
            <a:ext cx="42672" cy="22758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2517648" y="4104439"/>
            <a:ext cx="42672" cy="23289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2560320" y="4127728"/>
            <a:ext cx="42672" cy="23691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2602992" y="4151419"/>
            <a:ext cx="42672" cy="23960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2645664" y="4175379"/>
            <a:ext cx="42672" cy="2409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2688336" y="4199473"/>
            <a:ext cx="42671" cy="2409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2731007" y="4223567"/>
            <a:ext cx="42673" cy="23960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2773680" y="4247527"/>
            <a:ext cx="42672" cy="23691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2816352" y="4271218"/>
            <a:ext cx="42672" cy="23289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2859024" y="4294507"/>
            <a:ext cx="42672" cy="22758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2901696" y="4317265"/>
            <a:ext cx="42672" cy="22100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2944368" y="4339365"/>
            <a:ext cx="42672" cy="21317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2987040" y="4360682"/>
            <a:ext cx="42672" cy="20415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3029712" y="4381097"/>
            <a:ext cx="42672" cy="19400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3072384" y="4400497"/>
            <a:ext cx="42672" cy="18275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3115056" y="4418772"/>
            <a:ext cx="42672" cy="17050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3157728" y="4435822"/>
            <a:ext cx="42672" cy="15727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3200400" y="4451549"/>
            <a:ext cx="42672" cy="14318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3243072" y="4465867"/>
            <a:ext cx="42672" cy="12828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3285744" y="4478695"/>
            <a:ext cx="42672" cy="11266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3328416" y="4489961"/>
            <a:ext cx="42672" cy="9642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3371088" y="4499603"/>
            <a:ext cx="42672" cy="7963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3413760" y="4507566"/>
            <a:ext cx="42672" cy="6241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3456432" y="4513807"/>
            <a:ext cx="42672" cy="4482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3499104" y="4518289"/>
            <a:ext cx="42671" cy="2700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3541775" y="4520989"/>
            <a:ext cx="42673" cy="901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804672" y="4754879"/>
            <a:ext cx="2852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sobe, depois desce (Smith)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86384" y="38404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LR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2980944" y="4681727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0A6"/>
                </a:solidFill>
                <a:latin typeface="Calibri"/>
              </a:rPr>
              <a:t>época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4078224" y="3474720"/>
            <a:ext cx="3145536" cy="1609344"/>
          </a:xfrm>
          <a:prstGeom prst="roundRect">
            <a:avLst>
              <a:gd name="adj" fmla="val 5113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187952" y="3575303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WARMUP + COSINE</a:t>
            </a:r>
          </a:p>
        </p:txBody>
      </p:sp>
      <p:cxnSp>
        <p:nvCxnSpPr>
          <p:cNvPr id="208" name="Connector 207"/>
          <p:cNvCxnSpPr/>
          <p:nvPr/>
        </p:nvCxnSpPr>
        <p:spPr>
          <a:xfrm>
            <a:off x="4352544" y="4663440"/>
            <a:ext cx="2724912" cy="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4352544" y="3840480"/>
            <a:ext cx="0" cy="82296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4443984" y="4532375"/>
            <a:ext cx="42672" cy="131065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4486656" y="4401312"/>
            <a:ext cx="42672" cy="131063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4529328" y="4270248"/>
            <a:ext cx="42672" cy="131064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4572000" y="4139183"/>
            <a:ext cx="42672" cy="131065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4614672" y="4008120"/>
            <a:ext cx="42672" cy="131063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4657344" y="3877056"/>
            <a:ext cx="42672" cy="131064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4700016" y="3877056"/>
            <a:ext cx="42672" cy="665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4742688" y="3877721"/>
            <a:ext cx="42672" cy="1993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4785360" y="3879714"/>
            <a:ext cx="42672" cy="3315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4828032" y="3883029"/>
            <a:ext cx="42672" cy="4625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4870704" y="3887654"/>
            <a:ext cx="42672" cy="5920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4913376" y="3893574"/>
            <a:ext cx="42672" cy="7194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4956048" y="3900768"/>
            <a:ext cx="42672" cy="8444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4998720" y="3909212"/>
            <a:ext cx="42672" cy="9666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5041392" y="3918878"/>
            <a:ext cx="42672" cy="10855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5084064" y="3929733"/>
            <a:ext cx="42672" cy="12007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5126736" y="3941740"/>
            <a:ext cx="42672" cy="13119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5169408" y="3954859"/>
            <a:ext cx="42672" cy="14186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5212080" y="3969045"/>
            <a:ext cx="42672" cy="15205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5254752" y="3984250"/>
            <a:ext cx="42672" cy="16173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5297424" y="4000423"/>
            <a:ext cx="42672" cy="17086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5340096" y="4017509"/>
            <a:ext cx="42672" cy="17941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5382768" y="4035450"/>
            <a:ext cx="42672" cy="18735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5425440" y="4054185"/>
            <a:ext cx="42672" cy="19467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5468112" y="4073652"/>
            <a:ext cx="42672" cy="20131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5510784" y="4093783"/>
            <a:ext cx="42672" cy="20729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5553456" y="4114512"/>
            <a:ext cx="42672" cy="21256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5596128" y="4135768"/>
            <a:ext cx="42672" cy="21711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5638800" y="4157479"/>
            <a:ext cx="42672" cy="22092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5681472" y="4179571"/>
            <a:ext cx="42672" cy="22399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5724144" y="4201970"/>
            <a:ext cx="42672" cy="22631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5766816" y="4224601"/>
            <a:ext cx="42672" cy="22784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5809488" y="4247385"/>
            <a:ext cx="42672" cy="22863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5852160" y="4270248"/>
            <a:ext cx="42672" cy="22862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5894832" y="4293110"/>
            <a:ext cx="42672" cy="22784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5937504" y="4315894"/>
            <a:ext cx="42672" cy="22631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5980176" y="4338525"/>
            <a:ext cx="42672" cy="22399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6022848" y="4360924"/>
            <a:ext cx="42672" cy="22092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6065520" y="4383016"/>
            <a:ext cx="42672" cy="21711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6108192" y="4404727"/>
            <a:ext cx="42672" cy="21256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6150864" y="4425983"/>
            <a:ext cx="42672" cy="20729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6193536" y="4446712"/>
            <a:ext cx="42672" cy="20132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6236208" y="4466844"/>
            <a:ext cx="42672" cy="19466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6278880" y="4486310"/>
            <a:ext cx="42672" cy="18735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6321552" y="4505045"/>
            <a:ext cx="42672" cy="17941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6364224" y="4522986"/>
            <a:ext cx="42672" cy="17086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6406896" y="4540072"/>
            <a:ext cx="42672" cy="16173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6449568" y="4556245"/>
            <a:ext cx="42672" cy="15205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6492240" y="4571450"/>
            <a:ext cx="42672" cy="14186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6534912" y="4585636"/>
            <a:ext cx="42672" cy="13119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6577584" y="4598755"/>
            <a:ext cx="42672" cy="12007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6620256" y="4610762"/>
            <a:ext cx="42672" cy="10855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6662928" y="4621617"/>
            <a:ext cx="42672" cy="9666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6705600" y="4631283"/>
            <a:ext cx="42672" cy="8444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6748272" y="4639727"/>
            <a:ext cx="42672" cy="7194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6790944" y="4646921"/>
            <a:ext cx="42672" cy="5920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6833616" y="4652841"/>
            <a:ext cx="42672" cy="4625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6876288" y="4657466"/>
            <a:ext cx="42672" cy="3315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6918960" y="4660781"/>
            <a:ext cx="42672" cy="1993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6961632" y="4662774"/>
            <a:ext cx="42672" cy="666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4700016" y="3858768"/>
            <a:ext cx="0" cy="804672"/>
          </a:xfrm>
          <a:prstGeom prst="line">
            <a:avLst/>
          </a:prstGeom>
          <a:ln w="15240">
            <a:solidFill>
              <a:srgbClr val="27AE6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" name="TextBox 270"/>
          <p:cNvSpPr txBox="1"/>
          <p:nvPr/>
        </p:nvSpPr>
        <p:spPr>
          <a:xfrm>
            <a:off x="4736592" y="3730752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warmup 5–10 %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224528" y="4754879"/>
            <a:ext cx="2852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padrão em Transformers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4206240" y="38404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LR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6400800" y="4681727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0A6"/>
                </a:solidFill>
                <a:latin typeface="Calibri"/>
              </a:rPr>
              <a:t>época</a:t>
            </a:r>
          </a:p>
        </p:txBody>
      </p:sp>
      <p:sp>
        <p:nvSpPr>
          <p:cNvPr id="275" name="Rounded Rectangle 274"/>
          <p:cNvSpPr/>
          <p:nvPr/>
        </p:nvSpPr>
        <p:spPr>
          <a:xfrm>
            <a:off x="658368" y="5230368"/>
            <a:ext cx="6565392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LR alto no começo explora; LR baixo no fim refina — o schedule automatiza essa transição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658368" y="5833872"/>
            <a:ext cx="6565392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warmup evita passos enormes enquanto as estatísticas do Adam ainda são ruidosas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3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Regularização: o que impede o modelo de decorar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L2, dropout e normalização de ativações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Data augmentation e early stopping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Sharpness-Aware Minimization e mínimos planos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2704962" y="1444752"/>
            <a:ext cx="2472205" cy="842910"/>
          </a:xfrm>
          <a:prstGeom prst="roundRect">
            <a:avLst/>
          </a:prstGeom>
          <a:solidFill>
            <a:srgbClr val="17171F"/>
          </a:solidFill>
          <a:ln w="1524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Regularização L2:</a:t>
            </a:r>
            <a:r>
              <a:rPr sz="2700" b="1">
                <a:solidFill>
                  <a:srgbClr val="ED145B"/>
                </a:solidFill>
                <a:latin typeface="Calibri"/>
              </a:rPr>
              <a:t> penalizar pesos grandes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Penaliza pesos grandes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Em AdamW, desacoplado do gradiente (mais correto)</a:t>
            </a:r>
          </a:p>
        </p:txBody>
      </p:sp>
      <p:pic>
        <p:nvPicPr>
          <p:cNvPr id="5" name="Picture 4" descr="577bb55424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130" y="1645920"/>
            <a:ext cx="2069869" cy="44057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2542032"/>
            <a:ext cx="3145536" cy="2670048"/>
          </a:xfrm>
          <a:prstGeom prst="roundRect">
            <a:avLst>
              <a:gd name="adj" fmla="val 3082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642615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9AA0A6"/>
                </a:solidFill>
                <a:latin typeface="Calibri"/>
              </a:rPr>
              <a:t>O QUE A PENALIDADE FAZ</a:t>
            </a:r>
          </a:p>
        </p:txBody>
      </p:sp>
      <p:sp>
        <p:nvSpPr>
          <p:cNvPr id="9" name="Oval 8"/>
          <p:cNvSpPr/>
          <p:nvPr/>
        </p:nvSpPr>
        <p:spPr>
          <a:xfrm>
            <a:off x="2606040" y="3319272"/>
            <a:ext cx="457200" cy="347472"/>
          </a:xfrm>
          <a:prstGeom prst="ellipse">
            <a:avLst/>
          </a:prstGeom>
          <a:noFill/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377440" y="3145536"/>
            <a:ext cx="914400" cy="694944"/>
          </a:xfrm>
          <a:prstGeom prst="ellipse">
            <a:avLst/>
          </a:prstGeom>
          <a:noFill/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57984" y="2978749"/>
            <a:ext cx="1353312" cy="1028517"/>
          </a:xfrm>
          <a:prstGeom prst="ellipse">
            <a:avLst/>
          </a:prstGeom>
          <a:noFill/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56816" y="2825861"/>
            <a:ext cx="1755648" cy="1334292"/>
          </a:xfrm>
          <a:prstGeom prst="ellipse">
            <a:avLst/>
          </a:prstGeom>
          <a:noFill/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19" y="3931920"/>
            <a:ext cx="1188720" cy="1188720"/>
          </a:xfrm>
          <a:prstGeom prst="ellipse">
            <a:avLst/>
          </a:prstGeom>
          <a:noFill/>
          <a:ln w="17780">
            <a:solidFill>
              <a:srgbClr val="ED14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71016" y="4471416"/>
            <a:ext cx="109728" cy="109728"/>
          </a:xfrm>
          <a:prstGeom prst="ellipse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θ =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962656"/>
            <a:ext cx="120700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ED145B"/>
                </a:solidFill>
                <a:latin typeface="Calibri"/>
              </a:rPr>
              <a:t>orçamento</a:t>
            </a:r>
          </a:p>
          <a:p>
            <a:pPr algn="ctr"/>
            <a:r>
              <a:rPr sz="1000" b="1" i="0">
                <a:solidFill>
                  <a:srgbClr val="ED145B"/>
                </a:solidFill>
                <a:latin typeface="Calibri"/>
              </a:rPr>
              <a:t>‖θ‖₂ ≤ 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25880" y="3438144"/>
            <a:ext cx="0" cy="475488"/>
          </a:xfrm>
          <a:prstGeom prst="line">
            <a:avLst/>
          </a:prstGeom>
          <a:ln w="12700">
            <a:solidFill>
              <a:srgbClr val="ED145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766060" y="3424427"/>
            <a:ext cx="137160" cy="137160"/>
          </a:xfrm>
          <a:prstGeom prst="ellipse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2926080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mínimo sem</a:t>
            </a:r>
          </a:p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penalidade</a:t>
            </a:r>
          </a:p>
        </p:txBody>
      </p:sp>
      <p:sp>
        <p:nvSpPr>
          <p:cNvPr id="20" name="Oval 19"/>
          <p:cNvSpPr/>
          <p:nvPr/>
        </p:nvSpPr>
        <p:spPr>
          <a:xfrm>
            <a:off x="1723644" y="4091939"/>
            <a:ext cx="137160" cy="13716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901952" y="3621024"/>
            <a:ext cx="822960" cy="411480"/>
          </a:xfrm>
          <a:prstGeom prst="line">
            <a:avLst/>
          </a:prstGeom>
          <a:ln w="1905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139696" y="4224528"/>
            <a:ext cx="157276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D145B"/>
                </a:solidFill>
                <a:latin typeface="Calibri"/>
              </a:rPr>
              <a:t>solução</a:t>
            </a:r>
          </a:p>
          <a:p>
            <a:pPr algn="l"/>
            <a:r>
              <a:rPr sz="1000" b="1" i="0">
                <a:solidFill>
                  <a:srgbClr val="ED145B"/>
                </a:solidFill>
                <a:latin typeface="Calibri"/>
              </a:rPr>
              <a:t>regularizada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78224" y="2542032"/>
            <a:ext cx="3145536" cy="2670048"/>
          </a:xfrm>
          <a:prstGeom prst="roundRect">
            <a:avLst>
              <a:gd name="adj" fmla="val 3082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7952" y="2642615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9AA0A6"/>
                </a:solidFill>
                <a:latin typeface="Calibri"/>
              </a:rPr>
              <a:t>DISTRIBUIÇÃO DOS PESOS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2816" y="3035808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2994A"/>
                </a:solidFill>
                <a:latin typeface="Calibri"/>
              </a:rPr>
              <a:t>sem L2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44568" y="3758184"/>
            <a:ext cx="237744" cy="118872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4873752" y="3666744"/>
            <a:ext cx="237744" cy="210312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5202936" y="3557016"/>
            <a:ext cx="237744" cy="320040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5532120" y="3465576"/>
            <a:ext cx="237744" cy="411480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5861304" y="3547872"/>
            <a:ext cx="237744" cy="329184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3639312"/>
            <a:ext cx="237744" cy="237744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6519672" y="3749040"/>
            <a:ext cx="237744" cy="12801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34840" y="3877056"/>
            <a:ext cx="2432304" cy="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242816" y="4078224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7AE60"/>
                </a:solidFill>
                <a:latin typeface="Calibri"/>
              </a:rPr>
              <a:t>com L2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44568" y="4873752"/>
            <a:ext cx="237744" cy="457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4873752" y="4809744"/>
            <a:ext cx="237744" cy="1097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5202936" y="4626864"/>
            <a:ext cx="237744" cy="2926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5532120" y="4352544"/>
            <a:ext cx="237744" cy="5669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5861304" y="4617720"/>
            <a:ext cx="237744" cy="30175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6190488" y="4809744"/>
            <a:ext cx="237744" cy="1097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6519672" y="4873752"/>
            <a:ext cx="237744" cy="457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434840" y="4919472"/>
            <a:ext cx="2432304" cy="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434840" y="4956048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valor do peso  (0 no centro)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340096"/>
            <a:ext cx="6565392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pesos menores → fronteira mais suave → menos capacidade de decorar ruído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5870448"/>
            <a:ext cx="6565392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em SGD, L2 ≡ weight decay; em Adam NÃO — é exatamente isso que o AdamW corrige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Dropout:</a:t>
            </a:r>
            <a:r>
              <a:rPr sz="2700" b="1">
                <a:solidFill>
                  <a:srgbClr val="ED145B"/>
                </a:solidFill>
                <a:latin typeface="Calibri"/>
              </a:rPr>
              <a:t> um ensemble implícito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Durante treino, desativa aleatoriamente fração p de neurônios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Em inferência, todos ativos (escala por 1-p)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Reduz co-adaptação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163824" cy="2926080"/>
          </a:xfrm>
          <a:prstGeom prst="roundRect">
            <a:avLst>
              <a:gd name="adj" fmla="val 2812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673352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ED145B"/>
                </a:solidFill>
                <a:latin typeface="Calibri"/>
              </a:rPr>
              <a:t>TREINO  ·  p = 0,3 desativado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277874" y="2331720"/>
            <a:ext cx="507492" cy="36576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77874" y="2697480"/>
            <a:ext cx="507492" cy="36576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77874" y="2697480"/>
            <a:ext cx="507492" cy="73152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77874" y="2331720"/>
            <a:ext cx="507492" cy="73152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77874" y="3063240"/>
            <a:ext cx="507492" cy="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77874" y="3063240"/>
            <a:ext cx="507492" cy="36576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277874" y="2331720"/>
            <a:ext cx="507492" cy="109728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77874" y="3063240"/>
            <a:ext cx="507492" cy="36576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77874" y="3429000"/>
            <a:ext cx="507492" cy="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986534" y="2331720"/>
            <a:ext cx="507492" cy="36576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986534" y="2331720"/>
            <a:ext cx="507492" cy="73152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986534" y="2331720"/>
            <a:ext cx="507492" cy="146304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86534" y="2697480"/>
            <a:ext cx="507492" cy="36576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986534" y="3063240"/>
            <a:ext cx="507492" cy="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986534" y="3063240"/>
            <a:ext cx="507492" cy="73152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986534" y="2697480"/>
            <a:ext cx="507492" cy="73152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986534" y="3063240"/>
            <a:ext cx="507492" cy="36576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986534" y="3429000"/>
            <a:ext cx="507492" cy="36576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695194" y="2697480"/>
            <a:ext cx="507492" cy="18288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95194" y="2697480"/>
            <a:ext cx="507492" cy="54864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695194" y="2880360"/>
            <a:ext cx="507492" cy="18288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95194" y="3063240"/>
            <a:ext cx="507492" cy="18288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695194" y="2880360"/>
            <a:ext cx="507492" cy="91440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695194" y="3246120"/>
            <a:ext cx="507492" cy="54864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76705" y="259689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1076705" y="296265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3" name="Oval 32"/>
          <p:cNvSpPr/>
          <p:nvPr/>
        </p:nvSpPr>
        <p:spPr>
          <a:xfrm>
            <a:off x="1076705" y="332841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4" name="Oval 33"/>
          <p:cNvSpPr/>
          <p:nvPr/>
        </p:nvSpPr>
        <p:spPr>
          <a:xfrm>
            <a:off x="1785366" y="223113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Oval 34"/>
          <p:cNvSpPr/>
          <p:nvPr/>
        </p:nvSpPr>
        <p:spPr>
          <a:xfrm>
            <a:off x="1785366" y="2596896"/>
            <a:ext cx="201168" cy="201168"/>
          </a:xfrm>
          <a:prstGeom prst="ellipse">
            <a:avLst/>
          </a:prstGeom>
          <a:solidFill>
            <a:srgbClr val="1E1E28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9AA0A6"/>
                </a:solidFill>
                <a:latin typeface="Calibri"/>
              </a:rPr>
              <a:t>×</a:t>
            </a:r>
          </a:p>
        </p:txBody>
      </p:sp>
      <p:sp>
        <p:nvSpPr>
          <p:cNvPr id="36" name="Oval 35"/>
          <p:cNvSpPr/>
          <p:nvPr/>
        </p:nvSpPr>
        <p:spPr>
          <a:xfrm>
            <a:off x="1785366" y="296265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7" name="Oval 36"/>
          <p:cNvSpPr/>
          <p:nvPr/>
        </p:nvSpPr>
        <p:spPr>
          <a:xfrm>
            <a:off x="1785366" y="332841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8" name="Oval 37"/>
          <p:cNvSpPr/>
          <p:nvPr/>
        </p:nvSpPr>
        <p:spPr>
          <a:xfrm>
            <a:off x="1785366" y="3694176"/>
            <a:ext cx="201168" cy="201168"/>
          </a:xfrm>
          <a:prstGeom prst="ellipse">
            <a:avLst/>
          </a:prstGeom>
          <a:solidFill>
            <a:srgbClr val="1E1E28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9AA0A6"/>
                </a:solidFill>
                <a:latin typeface="Calibri"/>
              </a:rPr>
              <a:t>×</a:t>
            </a:r>
          </a:p>
        </p:txBody>
      </p:sp>
      <p:sp>
        <p:nvSpPr>
          <p:cNvPr id="39" name="Oval 38"/>
          <p:cNvSpPr/>
          <p:nvPr/>
        </p:nvSpPr>
        <p:spPr>
          <a:xfrm>
            <a:off x="2494026" y="2231136"/>
            <a:ext cx="201168" cy="201168"/>
          </a:xfrm>
          <a:prstGeom prst="ellipse">
            <a:avLst/>
          </a:prstGeom>
          <a:solidFill>
            <a:srgbClr val="1E1E28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9AA0A6"/>
                </a:solidFill>
                <a:latin typeface="Calibri"/>
              </a:rPr>
              <a:t>×</a:t>
            </a:r>
          </a:p>
        </p:txBody>
      </p:sp>
      <p:sp>
        <p:nvSpPr>
          <p:cNvPr id="40" name="Oval 39"/>
          <p:cNvSpPr/>
          <p:nvPr/>
        </p:nvSpPr>
        <p:spPr>
          <a:xfrm>
            <a:off x="2494026" y="259689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1" name="Oval 40"/>
          <p:cNvSpPr/>
          <p:nvPr/>
        </p:nvSpPr>
        <p:spPr>
          <a:xfrm>
            <a:off x="2494026" y="296265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2" name="Oval 41"/>
          <p:cNvSpPr/>
          <p:nvPr/>
        </p:nvSpPr>
        <p:spPr>
          <a:xfrm>
            <a:off x="2494026" y="3328416"/>
            <a:ext cx="201168" cy="201168"/>
          </a:xfrm>
          <a:prstGeom prst="ellipse">
            <a:avLst/>
          </a:prstGeom>
          <a:solidFill>
            <a:srgbClr val="1E1E28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9AA0A6"/>
                </a:solidFill>
                <a:latin typeface="Calibri"/>
              </a:rPr>
              <a:t>×</a:t>
            </a:r>
          </a:p>
        </p:txBody>
      </p:sp>
      <p:sp>
        <p:nvSpPr>
          <p:cNvPr id="43" name="Oval 42"/>
          <p:cNvSpPr/>
          <p:nvPr/>
        </p:nvSpPr>
        <p:spPr>
          <a:xfrm>
            <a:off x="2494026" y="369417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4" name="Oval 43"/>
          <p:cNvSpPr/>
          <p:nvPr/>
        </p:nvSpPr>
        <p:spPr>
          <a:xfrm>
            <a:off x="3202686" y="2779776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5" name="Oval 44"/>
          <p:cNvSpPr/>
          <p:nvPr/>
        </p:nvSpPr>
        <p:spPr>
          <a:xfrm>
            <a:off x="3202686" y="3145536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" y="4169663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ED145B"/>
                </a:solidFill>
                <a:latin typeface="Calibri"/>
              </a:rPr>
              <a:t>a cada mini-batch, uma SUB-REDE diferente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059936" y="1572768"/>
            <a:ext cx="3163824" cy="2926080"/>
          </a:xfrm>
          <a:prstGeom prst="roundRect">
            <a:avLst>
              <a:gd name="adj" fmla="val 2812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69664" y="1673352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7AE60"/>
                </a:solidFill>
                <a:latin typeface="Calibri"/>
              </a:rPr>
              <a:t>INFERÊNCIA  ·  rede completa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4679442" y="2331720"/>
            <a:ext cx="507492" cy="36576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79442" y="2697480"/>
            <a:ext cx="507492" cy="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679442" y="2697480"/>
            <a:ext cx="507492" cy="36576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679442" y="2697480"/>
            <a:ext cx="507492" cy="73152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679442" y="2697480"/>
            <a:ext cx="507492" cy="109728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679442" y="2331720"/>
            <a:ext cx="507492" cy="73152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679442" y="2697480"/>
            <a:ext cx="507492" cy="36576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679442" y="3063240"/>
            <a:ext cx="507492" cy="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679442" y="3063240"/>
            <a:ext cx="507492" cy="36576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679442" y="3063240"/>
            <a:ext cx="507492" cy="73152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679442" y="2331720"/>
            <a:ext cx="507492" cy="109728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679442" y="2697480"/>
            <a:ext cx="507492" cy="73152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679442" y="3063240"/>
            <a:ext cx="507492" cy="36576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679442" y="3429000"/>
            <a:ext cx="507492" cy="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679442" y="3429000"/>
            <a:ext cx="507492" cy="36576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388102" y="2331720"/>
            <a:ext cx="507492" cy="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388102" y="2331720"/>
            <a:ext cx="507492" cy="36576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388102" y="2331720"/>
            <a:ext cx="507492" cy="73152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388102" y="2331720"/>
            <a:ext cx="507492" cy="109728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388102" y="2331720"/>
            <a:ext cx="507492" cy="146304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388102" y="2331720"/>
            <a:ext cx="507492" cy="36576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388102" y="2697480"/>
            <a:ext cx="507492" cy="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388102" y="2697480"/>
            <a:ext cx="507492" cy="36576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388102" y="2697480"/>
            <a:ext cx="507492" cy="73152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388102" y="2697480"/>
            <a:ext cx="507492" cy="109728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388102" y="2331720"/>
            <a:ext cx="507492" cy="73152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388102" y="2697480"/>
            <a:ext cx="507492" cy="36576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388102" y="3063240"/>
            <a:ext cx="507492" cy="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388102" y="3063240"/>
            <a:ext cx="507492" cy="36576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388102" y="3063240"/>
            <a:ext cx="507492" cy="73152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388102" y="2331720"/>
            <a:ext cx="507492" cy="109728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388102" y="2697480"/>
            <a:ext cx="507492" cy="73152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5388102" y="3063240"/>
            <a:ext cx="507492" cy="36576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388102" y="3429000"/>
            <a:ext cx="507492" cy="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5388102" y="3429000"/>
            <a:ext cx="507492" cy="36576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5388102" y="2331720"/>
            <a:ext cx="507492" cy="146304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5388102" y="2697480"/>
            <a:ext cx="507492" cy="109728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388102" y="3063240"/>
            <a:ext cx="507492" cy="73152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388102" y="3429000"/>
            <a:ext cx="507492" cy="36576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388102" y="3794760"/>
            <a:ext cx="507492" cy="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096762" y="2331720"/>
            <a:ext cx="507491" cy="54864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096762" y="2331720"/>
            <a:ext cx="507491" cy="91440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096762" y="2697480"/>
            <a:ext cx="507491" cy="18288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096762" y="2697480"/>
            <a:ext cx="507491" cy="54864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096762" y="2880360"/>
            <a:ext cx="507491" cy="18288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096762" y="3063240"/>
            <a:ext cx="507491" cy="18288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6096762" y="2880360"/>
            <a:ext cx="507491" cy="54864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096762" y="3246120"/>
            <a:ext cx="507491" cy="18288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096762" y="2880360"/>
            <a:ext cx="507491" cy="91440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096762" y="3246120"/>
            <a:ext cx="507491" cy="548640"/>
          </a:xfrm>
          <a:prstGeom prst="line">
            <a:avLst/>
          </a:prstGeom>
          <a:ln w="9525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4478274" y="259689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0" name="Oval 99"/>
          <p:cNvSpPr/>
          <p:nvPr/>
        </p:nvSpPr>
        <p:spPr>
          <a:xfrm>
            <a:off x="4478274" y="296265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1" name="Oval 100"/>
          <p:cNvSpPr/>
          <p:nvPr/>
        </p:nvSpPr>
        <p:spPr>
          <a:xfrm>
            <a:off x="4478274" y="332841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2" name="Oval 101"/>
          <p:cNvSpPr/>
          <p:nvPr/>
        </p:nvSpPr>
        <p:spPr>
          <a:xfrm>
            <a:off x="5186934" y="223113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3" name="Oval 102"/>
          <p:cNvSpPr/>
          <p:nvPr/>
        </p:nvSpPr>
        <p:spPr>
          <a:xfrm>
            <a:off x="5186934" y="259689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4" name="Oval 103"/>
          <p:cNvSpPr/>
          <p:nvPr/>
        </p:nvSpPr>
        <p:spPr>
          <a:xfrm>
            <a:off x="5186934" y="296265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5" name="Oval 104"/>
          <p:cNvSpPr/>
          <p:nvPr/>
        </p:nvSpPr>
        <p:spPr>
          <a:xfrm>
            <a:off x="5186934" y="332841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6" name="Oval 105"/>
          <p:cNvSpPr/>
          <p:nvPr/>
        </p:nvSpPr>
        <p:spPr>
          <a:xfrm>
            <a:off x="5186934" y="369417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7" name="Oval 106"/>
          <p:cNvSpPr/>
          <p:nvPr/>
        </p:nvSpPr>
        <p:spPr>
          <a:xfrm>
            <a:off x="5895594" y="223113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8" name="Oval 107"/>
          <p:cNvSpPr/>
          <p:nvPr/>
        </p:nvSpPr>
        <p:spPr>
          <a:xfrm>
            <a:off x="5895594" y="259689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9" name="Oval 108"/>
          <p:cNvSpPr/>
          <p:nvPr/>
        </p:nvSpPr>
        <p:spPr>
          <a:xfrm>
            <a:off x="5895594" y="296265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0" name="Oval 109"/>
          <p:cNvSpPr/>
          <p:nvPr/>
        </p:nvSpPr>
        <p:spPr>
          <a:xfrm>
            <a:off x="5895594" y="332841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1" name="Oval 110"/>
          <p:cNvSpPr/>
          <p:nvPr/>
        </p:nvSpPr>
        <p:spPr>
          <a:xfrm>
            <a:off x="5895594" y="369417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2" name="Oval 111"/>
          <p:cNvSpPr/>
          <p:nvPr/>
        </p:nvSpPr>
        <p:spPr>
          <a:xfrm>
            <a:off x="6604253" y="2779776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3" name="Oval 112"/>
          <p:cNvSpPr/>
          <p:nvPr/>
        </p:nvSpPr>
        <p:spPr>
          <a:xfrm>
            <a:off x="6604253" y="3145536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06240" y="4169663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todos ativos, saída escalada por (1 − p)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58368" y="4663440"/>
            <a:ext cx="2029968" cy="1097280"/>
          </a:xfrm>
          <a:prstGeom prst="roundRect">
            <a:avLst>
              <a:gd name="adj" fmla="val 75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2D9CDB"/>
                </a:solidFill>
                <a:latin typeface="Calibri"/>
              </a:rPr>
              <a:t>ensemble implícito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2ⁿ sub-redes compartilhando
os mesmos pesos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926080" y="4663440"/>
            <a:ext cx="2029968" cy="1097280"/>
          </a:xfrm>
          <a:prstGeom prst="roundRect">
            <a:avLst>
              <a:gd name="adj" fmla="val 75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9B51E0"/>
                </a:solidFill>
                <a:latin typeface="Calibri"/>
              </a:rPr>
              <a:t>sem co-adaptação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nenhum neurônio pode
depender de um vizinho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5193792" y="4663440"/>
            <a:ext cx="2029968" cy="1097280"/>
          </a:xfrm>
          <a:prstGeom prst="roundRect">
            <a:avLst>
              <a:gd name="adj" fmla="val 75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27AE60"/>
                </a:solidFill>
                <a:latin typeface="Calibri"/>
              </a:rPr>
              <a:t>onde usar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0,1–0,3 em camadas densas
e no Transformer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04088" y="5961888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Srivastava et al., 2014 — cuidado ao empilhar dropout forte com BatchNorm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Normalização:</a:t>
            </a:r>
            <a:r>
              <a:rPr sz="2700" b="1">
                <a:solidFill>
                  <a:srgbClr val="ED145B"/>
                </a:solidFill>
                <a:latin typeface="Calibri"/>
              </a:rPr>
              <a:t> BatchNorm, LayerNorm e GroupNorm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Normaliza ativações por mini-batch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Acelera o treino e permite LR maior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x̂ = (x − μ) / √(σ² + ε), depois y = γ x̂ + β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Batch pequeno complica → LayerNorm (Transformers) / GroupNorm (CV)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63040"/>
            <a:ext cx="6217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MESMO TENSOR DO MINI-BATCH — EIXOS DIFERENTES DE NORMALIZAÇÃO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92224"/>
            <a:ext cx="3163824" cy="2084831"/>
          </a:xfrm>
          <a:prstGeom prst="roundRect">
            <a:avLst>
              <a:gd name="adj" fmla="val 3947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892807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D9CDB"/>
                </a:solidFill>
                <a:latin typeface="Calibri"/>
              </a:rPr>
              <a:t>BATCHNORM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2039112" y="2505456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95144" y="2505456"/>
            <a:ext cx="256032" cy="256032"/>
          </a:xfrm>
          <a:prstGeom prst="rect">
            <a:avLst/>
          </a:prstGeom>
          <a:solidFill>
            <a:srgbClr val="2D9CD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1176" y="2505456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07208" y="2505456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39112" y="2761488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95144" y="2761488"/>
            <a:ext cx="256032" cy="256032"/>
          </a:xfrm>
          <a:prstGeom prst="rect">
            <a:avLst/>
          </a:prstGeom>
          <a:solidFill>
            <a:srgbClr val="2D9CD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51176" y="2761488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07208" y="2761488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39112" y="3017520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95144" y="3017520"/>
            <a:ext cx="256032" cy="256032"/>
          </a:xfrm>
          <a:prstGeom prst="rect">
            <a:avLst/>
          </a:prstGeom>
          <a:solidFill>
            <a:srgbClr val="2D9CD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51176" y="3017520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07208" y="3017520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39112" y="3273552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95144" y="3273552"/>
            <a:ext cx="256032" cy="256032"/>
          </a:xfrm>
          <a:prstGeom prst="rect">
            <a:avLst/>
          </a:prstGeom>
          <a:solidFill>
            <a:srgbClr val="2D9CD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51176" y="3273552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07208" y="3273552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39112" y="2231136"/>
            <a:ext cx="10241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features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" y="2761488"/>
            <a:ext cx="1115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0A6"/>
                </a:solidFill>
                <a:latin typeface="Calibri"/>
              </a:rPr>
              <a:t>exemplos</a:t>
            </a:r>
          </a:p>
          <a:p>
            <a:pPr algn="r"/>
            <a:r>
              <a:rPr sz="1000" b="0" i="0">
                <a:solidFill>
                  <a:srgbClr val="9AA0A6"/>
                </a:solidFill>
                <a:latin typeface="Calibri"/>
              </a:rPr>
              <a:t>do batch 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3584448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D9CDB"/>
                </a:solidFill>
                <a:latin typeface="Calibri"/>
              </a:rPr>
              <a:t>cada FEATURE, ao longo do batch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59936" y="1792224"/>
            <a:ext cx="3163824" cy="2084831"/>
          </a:xfrm>
          <a:prstGeom prst="roundRect">
            <a:avLst>
              <a:gd name="adj" fmla="val 3947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9664" y="1892807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9B51E0"/>
                </a:solidFill>
                <a:latin typeface="Calibri"/>
              </a:rPr>
              <a:t>LAYERNORM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40680" y="2505456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96712" y="2505456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52744" y="2505456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8776" y="2505456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0680" y="2761488"/>
            <a:ext cx="256032" cy="256032"/>
          </a:xfrm>
          <a:prstGeom prst="rect">
            <a:avLst/>
          </a:prstGeom>
          <a:solidFill>
            <a:srgbClr val="9B51E0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96712" y="2761488"/>
            <a:ext cx="256032" cy="256032"/>
          </a:xfrm>
          <a:prstGeom prst="rect">
            <a:avLst/>
          </a:prstGeom>
          <a:solidFill>
            <a:srgbClr val="9B51E0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52744" y="2761488"/>
            <a:ext cx="256032" cy="256032"/>
          </a:xfrm>
          <a:prstGeom prst="rect">
            <a:avLst/>
          </a:prstGeom>
          <a:solidFill>
            <a:srgbClr val="9B51E0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08776" y="2761488"/>
            <a:ext cx="256032" cy="256032"/>
          </a:xfrm>
          <a:prstGeom prst="rect">
            <a:avLst/>
          </a:prstGeom>
          <a:solidFill>
            <a:srgbClr val="9B51E0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40680" y="3017520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96712" y="3017520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52744" y="3017520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08776" y="3017520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40680" y="3273552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96712" y="3273552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52744" y="3273552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8776" y="3273552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40680" y="2231136"/>
            <a:ext cx="10241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features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33672" y="2761488"/>
            <a:ext cx="1115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0A6"/>
                </a:solidFill>
                <a:latin typeface="Calibri"/>
              </a:rPr>
              <a:t>exemplos</a:t>
            </a:r>
          </a:p>
          <a:p>
            <a:pPr algn="r"/>
            <a:r>
              <a:rPr sz="1000" b="0" i="0">
                <a:solidFill>
                  <a:srgbClr val="9AA0A6"/>
                </a:solidFill>
                <a:latin typeface="Calibri"/>
              </a:rPr>
              <a:t>do batch 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3584448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9B51E0"/>
                </a:solidFill>
                <a:latin typeface="Calibri"/>
              </a:rPr>
              <a:t>cada EXEMPLO, ao longo das features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4059936"/>
            <a:ext cx="1932432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ativações x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do mini-batch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618232" y="4389120"/>
            <a:ext cx="32918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2974848" y="4059936"/>
            <a:ext cx="1932432" cy="658368"/>
          </a:xfrm>
          <a:prstGeom prst="roundRect">
            <a:avLst>
              <a:gd name="adj" fmla="val 12500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normaliza pela média e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desvio do batch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934712" y="4389120"/>
            <a:ext cx="32918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5291328" y="4059936"/>
            <a:ext cx="1932432" cy="658368"/>
          </a:xfrm>
          <a:prstGeom prst="roundRect">
            <a:avLst>
              <a:gd name="adj" fmla="val 12500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reescala com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γ e β aprendidos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" y="4882896"/>
            <a:ext cx="6565392" cy="877824"/>
          </a:xfrm>
          <a:prstGeom prst="roundRect">
            <a:avLst>
              <a:gd name="adj" fmla="val 9375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pic>
        <p:nvPicPr>
          <p:cNvPr id="54" name="Picture 53" descr="5b425e5aae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311" y="5029200"/>
            <a:ext cx="910243" cy="428105"/>
          </a:xfrm>
          <a:prstGeom prst="rect">
            <a:avLst/>
          </a:prstGeom>
        </p:spPr>
      </p:pic>
      <p:pic>
        <p:nvPicPr>
          <p:cNvPr id="55" name="Picture 54" descr="e54062adeb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3184" y="5120640"/>
            <a:ext cx="931025" cy="299258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658368" y="5870448"/>
            <a:ext cx="6565392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batch pequeno → estatísticas ruidosas: LayerNorm em Transformers, GroupNorm em visão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Data augmentation:</a:t>
            </a:r>
            <a:r>
              <a:rPr sz="2700" b="1">
                <a:solidFill>
                  <a:srgbClr val="ED145B"/>
                </a:solidFill>
                <a:latin typeface="Calibri"/>
              </a:rPr>
              <a:t> mais dados sem coletar dados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Em CV: random crop, flip, color jitter, RandAugment (Cubuk, 2020)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MixUp (Zhang, 2018): combinação convexa de pares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CutMix (Yun, 2019): recorta e cola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Em NLP: back-translation, dropout em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17904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VISÃO · UMA IMAGEM VIRA MUITAS AMOSTRAS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810512"/>
            <a:ext cx="786384" cy="786384"/>
          </a:xfrm>
          <a:prstGeom prst="rect">
            <a:avLst/>
          </a:prstGeom>
          <a:solidFill>
            <a:srgbClr val="1E1E28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Oval 6"/>
          <p:cNvSpPr/>
          <p:nvPr/>
        </p:nvSpPr>
        <p:spPr>
          <a:xfrm>
            <a:off x="1005840" y="1938528"/>
            <a:ext cx="274320" cy="274320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969264" y="2249424"/>
            <a:ext cx="365760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651760"/>
            <a:ext cx="12252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original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82496" y="2203704"/>
            <a:ext cx="292608" cy="0"/>
          </a:xfrm>
          <a:prstGeom prst="line">
            <a:avLst/>
          </a:prstGeom>
          <a:ln w="17780">
            <a:solidFill>
              <a:srgbClr val="2A2A3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029968" y="1810512"/>
            <a:ext cx="786384" cy="786384"/>
          </a:xfrm>
          <a:prstGeom prst="rect">
            <a:avLst/>
          </a:prstGeom>
          <a:solidFill>
            <a:srgbClr val="1E1E28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2286000" y="1865376"/>
            <a:ext cx="384048" cy="38404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651760"/>
            <a:ext cx="12252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random crop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71216" y="2203704"/>
            <a:ext cx="292608" cy="0"/>
          </a:xfrm>
          <a:prstGeom prst="line">
            <a:avLst/>
          </a:prstGeom>
          <a:ln w="17780">
            <a:solidFill>
              <a:srgbClr val="2A2A3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218688" y="1810512"/>
            <a:ext cx="786384" cy="786384"/>
          </a:xfrm>
          <a:prstGeom prst="rect">
            <a:avLst/>
          </a:prstGeom>
          <a:solidFill>
            <a:srgbClr val="1E1E28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3547872" y="1938528"/>
            <a:ext cx="274320" cy="274320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3493008" y="2249424"/>
            <a:ext cx="365760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2651760"/>
            <a:ext cx="12252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flip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9936" y="2203704"/>
            <a:ext cx="292608" cy="0"/>
          </a:xfrm>
          <a:prstGeom prst="line">
            <a:avLst/>
          </a:prstGeom>
          <a:ln w="17780">
            <a:solidFill>
              <a:srgbClr val="2A2A3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407408" y="1810512"/>
            <a:ext cx="786384" cy="786384"/>
          </a:xfrm>
          <a:prstGeom prst="rect">
            <a:avLst/>
          </a:prstGeom>
          <a:solidFill>
            <a:srgbClr val="1E1E28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Oval 20"/>
          <p:cNvSpPr/>
          <p:nvPr/>
        </p:nvSpPr>
        <p:spPr>
          <a:xfrm>
            <a:off x="4572000" y="1938528"/>
            <a:ext cx="274320" cy="274320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4535424" y="2249424"/>
            <a:ext cx="365760" cy="201168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87952" y="2651760"/>
            <a:ext cx="12252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color jitter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248656" y="2203704"/>
            <a:ext cx="292608" cy="0"/>
          </a:xfrm>
          <a:prstGeom prst="line">
            <a:avLst/>
          </a:prstGeom>
          <a:ln w="17780">
            <a:solidFill>
              <a:srgbClr val="2A2A3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596128" y="1810512"/>
            <a:ext cx="786384" cy="786384"/>
          </a:xfrm>
          <a:prstGeom prst="rect">
            <a:avLst/>
          </a:prstGeom>
          <a:solidFill>
            <a:srgbClr val="1E1E28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Oval 25"/>
          <p:cNvSpPr/>
          <p:nvPr/>
        </p:nvSpPr>
        <p:spPr>
          <a:xfrm>
            <a:off x="5852160" y="1865376"/>
            <a:ext cx="384048" cy="38404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6672" y="2651760"/>
            <a:ext cx="12252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RandAugment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054096"/>
            <a:ext cx="3163824" cy="1755648"/>
          </a:xfrm>
          <a:prstGeom prst="roundRect">
            <a:avLst>
              <a:gd name="adj" fmla="val 4687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3154679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B51E0"/>
                </a:solidFill>
                <a:latin typeface="Calibri"/>
              </a:rPr>
              <a:t>MIXUP  (Zhang, 2018)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9264" y="3456432"/>
            <a:ext cx="713232" cy="713232"/>
          </a:xfrm>
          <a:prstGeom prst="rect">
            <a:avLst/>
          </a:prstGeom>
          <a:solidFill>
            <a:srgbClr val="1E1E28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1133856" y="3584448"/>
            <a:ext cx="274320" cy="274320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" y="3895344"/>
            <a:ext cx="365760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3639312"/>
            <a:ext cx="274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0A6"/>
                </a:solidFill>
                <a:latin typeface="Calibri"/>
              </a:rPr>
              <a:t>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48256" y="3456432"/>
            <a:ext cx="713232" cy="713232"/>
          </a:xfrm>
          <a:prstGeom prst="rect">
            <a:avLst/>
          </a:prstGeom>
          <a:solidFill>
            <a:srgbClr val="1E1E28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Oval 34"/>
          <p:cNvSpPr/>
          <p:nvPr/>
        </p:nvSpPr>
        <p:spPr>
          <a:xfrm>
            <a:off x="2212848" y="3584448"/>
            <a:ext cx="274320" cy="274320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2176272" y="3895344"/>
            <a:ext cx="365760" cy="201168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16352" y="3639312"/>
            <a:ext cx="274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0A6"/>
                </a:solidFill>
                <a:latin typeface="Calibri"/>
              </a:rPr>
              <a:t>=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54096" y="3456432"/>
            <a:ext cx="713232" cy="713232"/>
          </a:xfrm>
          <a:prstGeom prst="rect">
            <a:avLst/>
          </a:prstGeom>
          <a:solidFill>
            <a:srgbClr val="1E1E28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9" name="Oval 38"/>
          <p:cNvSpPr/>
          <p:nvPr/>
        </p:nvSpPr>
        <p:spPr>
          <a:xfrm>
            <a:off x="3218688" y="3584448"/>
            <a:ext cx="274320" cy="274320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0" name="Oval 39"/>
          <p:cNvSpPr/>
          <p:nvPr/>
        </p:nvSpPr>
        <p:spPr>
          <a:xfrm>
            <a:off x="3401568" y="3767328"/>
            <a:ext cx="274320" cy="274320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" y="4261104"/>
            <a:ext cx="28712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combinação convexa de duas imagens</a:t>
            </a:r>
          </a:p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e dos dois rótulos: 0,7 / 0,3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59936" y="3054096"/>
            <a:ext cx="3163824" cy="1755648"/>
          </a:xfrm>
          <a:prstGeom prst="roundRect">
            <a:avLst>
              <a:gd name="adj" fmla="val 4687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9664" y="3154679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2994A"/>
                </a:solidFill>
                <a:latin typeface="Calibri"/>
              </a:rPr>
              <a:t>CUTMIX  (Yun, 2019)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70832" y="3456432"/>
            <a:ext cx="713232" cy="713232"/>
          </a:xfrm>
          <a:prstGeom prst="rect">
            <a:avLst/>
          </a:prstGeom>
          <a:solidFill>
            <a:srgbClr val="1E1E28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5" name="Oval 44"/>
          <p:cNvSpPr/>
          <p:nvPr/>
        </p:nvSpPr>
        <p:spPr>
          <a:xfrm>
            <a:off x="4535424" y="3584448"/>
            <a:ext cx="274320" cy="274320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4498848" y="3895344"/>
            <a:ext cx="365760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38928" y="3639312"/>
            <a:ext cx="274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0A6"/>
                </a:solidFill>
                <a:latin typeface="Calibri"/>
              </a:rPr>
              <a:t>+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49824" y="3456432"/>
            <a:ext cx="713232" cy="713232"/>
          </a:xfrm>
          <a:prstGeom prst="rect">
            <a:avLst/>
          </a:prstGeom>
          <a:solidFill>
            <a:srgbClr val="1E1E28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9" name="Oval 48"/>
          <p:cNvSpPr/>
          <p:nvPr/>
        </p:nvSpPr>
        <p:spPr>
          <a:xfrm>
            <a:off x="5614416" y="3584448"/>
            <a:ext cx="274320" cy="274320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5577840" y="3895344"/>
            <a:ext cx="365760" cy="201168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639312"/>
            <a:ext cx="274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0A6"/>
                </a:solidFill>
                <a:latin typeface="Calibri"/>
              </a:rPr>
              <a:t>=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55664" y="3456432"/>
            <a:ext cx="713232" cy="713232"/>
          </a:xfrm>
          <a:prstGeom prst="rect">
            <a:avLst/>
          </a:prstGeom>
          <a:solidFill>
            <a:srgbClr val="1E1E28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3" name="Oval 52"/>
          <p:cNvSpPr/>
          <p:nvPr/>
        </p:nvSpPr>
        <p:spPr>
          <a:xfrm>
            <a:off x="6620256" y="3584448"/>
            <a:ext cx="274320" cy="274320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6821424" y="3822191"/>
            <a:ext cx="329184" cy="329184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06240" y="4261104"/>
            <a:ext cx="28712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recorta e cola um bloco; o rótulo</a:t>
            </a:r>
          </a:p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segue a ÁREA de cada imagem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4974336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NLP · AUMENTAR SEM QUEBRAR O SENTIDO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8368" y="5248656"/>
            <a:ext cx="1194815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texto pt-BR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880615" y="5504688"/>
            <a:ext cx="256033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2164079" y="5248656"/>
            <a:ext cx="1194815" cy="512064"/>
          </a:xfrm>
          <a:prstGeom prst="roundRect">
            <a:avLst>
              <a:gd name="adj" fmla="val 16000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tradução → EN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386327" y="5504688"/>
            <a:ext cx="256032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3669791" y="5248656"/>
            <a:ext cx="1194815" cy="512064"/>
          </a:xfrm>
          <a:prstGeom prst="roundRect">
            <a:avLst>
              <a:gd name="adj" fmla="val 1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volta → pt-BR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138928" y="5248656"/>
            <a:ext cx="2084831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dropout de tokens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4088" y="5980176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augmentation é conhecimento do domínio virando dado: só vale se preserva o rótulo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Early stopping:</a:t>
            </a:r>
            <a:r>
              <a:rPr sz="2700" b="1">
                <a:solidFill>
                  <a:srgbClr val="ED145B"/>
                </a:solidFill>
                <a:latin typeface="Calibri"/>
              </a:rPr>
              <a:t> saber a hora de parar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Monitora loss de validação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Para quando não melhora por k épocas (paciência)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Salva "best"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63040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O PONTO EM QUE MEMORIZAR COMEÇA A CUSTAR GENERALIZAÇÃO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399" y="4279392"/>
            <a:ext cx="5989321" cy="0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914399" y="2194560"/>
            <a:ext cx="0" cy="2084832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399" y="4370831"/>
            <a:ext cx="5989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épocas 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5" y="186537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loss 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51560" y="2350922"/>
            <a:ext cx="571500" cy="466893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23060" y="2817815"/>
            <a:ext cx="571500" cy="324794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194560" y="3142609"/>
            <a:ext cx="571500" cy="243597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66060" y="3386206"/>
            <a:ext cx="571500" cy="182697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37560" y="3568903"/>
            <a:ext cx="571500" cy="142097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09060" y="3711000"/>
            <a:ext cx="571500" cy="121799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80560" y="3832799"/>
            <a:ext cx="571500" cy="101498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52060" y="3934297"/>
            <a:ext cx="571500" cy="81199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23560" y="4015496"/>
            <a:ext cx="571500" cy="60899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95060" y="4076395"/>
            <a:ext cx="571500" cy="40599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51560" y="2310323"/>
            <a:ext cx="571500" cy="385693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623060" y="2696016"/>
            <a:ext cx="571500" cy="304496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194560" y="3000512"/>
            <a:ext cx="571500" cy="202996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66060" y="3203508"/>
            <a:ext cx="571500" cy="142098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337560" y="3345606"/>
            <a:ext cx="457200" cy="60899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794760" y="3386206"/>
            <a:ext cx="400050" cy="20299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194810" y="3284707"/>
            <a:ext cx="571500" cy="101499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766310" y="3122310"/>
            <a:ext cx="571500" cy="162397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337810" y="2939613"/>
            <a:ext cx="571500" cy="182697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909310" y="2696016"/>
            <a:ext cx="857250" cy="243597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40680" y="3785615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D9CDB"/>
                </a:solidFill>
                <a:latin typeface="Calibri"/>
              </a:rPr>
              <a:t>train loss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2395728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D145B"/>
                </a:solidFill>
                <a:latin typeface="Calibri"/>
              </a:rPr>
              <a:t>val loss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3145536"/>
            <a:ext cx="1463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D145B"/>
                </a:solidFill>
                <a:latin typeface="Calibri"/>
              </a:rPr>
              <a:t>overfitting:</a:t>
            </a:r>
          </a:p>
          <a:p>
            <a:pPr algn="l"/>
            <a:r>
              <a:rPr sz="1000" b="1" i="0">
                <a:solidFill>
                  <a:srgbClr val="ED145B"/>
                </a:solidFill>
                <a:latin typeface="Calibri"/>
              </a:rPr>
              <a:t>treino cai, val sobe</a:t>
            </a:r>
          </a:p>
        </p:txBody>
      </p:sp>
      <p:sp>
        <p:nvSpPr>
          <p:cNvPr id="33" name="Oval 32"/>
          <p:cNvSpPr/>
          <p:nvPr/>
        </p:nvSpPr>
        <p:spPr>
          <a:xfrm>
            <a:off x="3717036" y="3328781"/>
            <a:ext cx="155448" cy="15544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3794760" y="2231136"/>
            <a:ext cx="0" cy="1083929"/>
          </a:xfrm>
          <a:prstGeom prst="line">
            <a:avLst/>
          </a:prstGeom>
          <a:ln w="15240">
            <a:solidFill>
              <a:srgbClr val="27AE6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240280" y="1975104"/>
            <a:ext cx="14813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27AE60"/>
                </a:solidFill>
                <a:latin typeface="Calibri"/>
              </a:rPr>
              <a:t>melhor checkpoint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5337810" y="2231136"/>
            <a:ext cx="0" cy="2048256"/>
          </a:xfrm>
          <a:prstGeom prst="line">
            <a:avLst/>
          </a:prstGeom>
          <a:ln w="15240">
            <a:solidFill>
              <a:srgbClr val="F2994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29250" y="1975104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2994A"/>
                </a:solidFill>
                <a:latin typeface="Calibri"/>
              </a:rPr>
              <a:t>parada (k = 10)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849624" y="2377440"/>
            <a:ext cx="1433322" cy="0"/>
          </a:xfrm>
          <a:prstGeom prst="line">
            <a:avLst/>
          </a:prstGeom>
          <a:ln w="17780">
            <a:solidFill>
              <a:srgbClr val="F2994A"/>
            </a:solidFill>
            <a:tailEnd type="arrow" w="med" len="med"/>
            <a:head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794760" y="2432304"/>
            <a:ext cx="154305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2994A"/>
                </a:solidFill>
                <a:latin typeface="Calibri"/>
              </a:rPr>
              <a:t>paciência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663440"/>
            <a:ext cx="2029968" cy="1060704"/>
          </a:xfrm>
          <a:prstGeom prst="roundRect">
            <a:avLst>
              <a:gd name="adj" fmla="val 7758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2D9CDB"/>
                </a:solidFill>
                <a:latin typeface="Calibri"/>
              </a:rPr>
              <a:t>monitorar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val_loss (ou a métrica
que importa ao negócio)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26080" y="4663440"/>
            <a:ext cx="2029968" cy="1060704"/>
          </a:xfrm>
          <a:prstGeom prst="roundRect">
            <a:avLst>
              <a:gd name="adj" fmla="val 7758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F2994A"/>
                </a:solidFill>
                <a:latin typeface="Calibri"/>
              </a:rPr>
              <a:t>paciência k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épocas sem melhora
antes de parar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93792" y="4663440"/>
            <a:ext cx="2029968" cy="1060704"/>
          </a:xfrm>
          <a:prstGeom prst="roundRect">
            <a:avLst>
              <a:gd name="adj" fmla="val 7758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27AE60"/>
                </a:solidFill>
                <a:latin typeface="Calibri"/>
              </a:rPr>
              <a:t>restaurar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voltar aos pesos do
melhor checkpoint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870448"/>
            <a:ext cx="6565392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“Regularização gratuita” — não muda o modelo, só escolhe quando parar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4" name="Rounded Rectangle 143"/>
          <p:cNvSpPr/>
          <p:nvPr/>
        </p:nvSpPr>
        <p:spPr>
          <a:xfrm>
            <a:off x="2794324" y="4023360"/>
            <a:ext cx="2293481" cy="872005"/>
          </a:xfrm>
          <a:prstGeom prst="roundRect">
            <a:avLst/>
          </a:prstGeom>
          <a:solidFill>
            <a:srgbClr val="17171F"/>
          </a:solidFill>
          <a:ln w="1524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SAM:</a:t>
            </a:r>
            <a:r>
              <a:rPr sz="2700" b="1">
                <a:solidFill>
                  <a:srgbClr val="ED145B"/>
                </a:solidFill>
                <a:latin typeface="Calibri"/>
              </a:rPr>
              <a:t> procurar mínimos planos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SAM (Foret et al., 2021): busca mínimos "planos"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Empiricamente generaliza melhor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Custa ~2× forward/backward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163824" cy="2395728"/>
          </a:xfrm>
          <a:prstGeom prst="roundRect">
            <a:avLst>
              <a:gd name="adj" fmla="val 3435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673352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2994A"/>
                </a:solidFill>
                <a:latin typeface="Calibri"/>
              </a:rPr>
              <a:t>MÍNIMO AGUDO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77824" y="3236976"/>
            <a:ext cx="2724912" cy="0"/>
          </a:xfrm>
          <a:prstGeom prst="line">
            <a:avLst/>
          </a:prstGeom>
          <a:ln w="1270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69264" y="2029968"/>
            <a:ext cx="42367" cy="79126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11631" y="2109094"/>
            <a:ext cx="42367" cy="76443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53998" y="2185537"/>
            <a:ext cx="42367" cy="73762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6365" y="2259299"/>
            <a:ext cx="42367" cy="71079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38732" y="2330378"/>
            <a:ext cx="42368" cy="68398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81100" y="2398776"/>
            <a:ext cx="42367" cy="6571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23467" y="2464490"/>
            <a:ext cx="42367" cy="63033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65834" y="2527523"/>
            <a:ext cx="42367" cy="60350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08201" y="2587873"/>
            <a:ext cx="42367" cy="57669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50568" y="2645542"/>
            <a:ext cx="42368" cy="54986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92936" y="2700528"/>
            <a:ext cx="42367" cy="52303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35303" y="2752831"/>
            <a:ext cx="42367" cy="49622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77670" y="2802453"/>
            <a:ext cx="42367" cy="46939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520037" y="2849392"/>
            <a:ext cx="42367" cy="44257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562404" y="2893649"/>
            <a:ext cx="42368" cy="41575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04772" y="2935224"/>
            <a:ext cx="42367" cy="38892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47139" y="2974116"/>
            <a:ext cx="42367" cy="36210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689506" y="3010326"/>
            <a:ext cx="42367" cy="33528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31873" y="3043854"/>
            <a:ext cx="42367" cy="30846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774240" y="3074700"/>
            <a:ext cx="42368" cy="2816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16608" y="3102864"/>
            <a:ext cx="42367" cy="25481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58975" y="3128345"/>
            <a:ext cx="42367" cy="22799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01342" y="3151144"/>
            <a:ext cx="42367" cy="20117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943709" y="3171261"/>
            <a:ext cx="42367" cy="1743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986076" y="3188695"/>
            <a:ext cx="42368" cy="14753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028444" y="3203448"/>
            <a:ext cx="42367" cy="12070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070811" y="3215518"/>
            <a:ext cx="42367" cy="9387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113178" y="3224905"/>
            <a:ext cx="42367" cy="6706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155545" y="3231611"/>
            <a:ext cx="42367" cy="4023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197912" y="3235634"/>
            <a:ext cx="42368" cy="1342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240280" y="3235634"/>
            <a:ext cx="42367" cy="1342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282647" y="3231611"/>
            <a:ext cx="42367" cy="4023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325014" y="3224905"/>
            <a:ext cx="42367" cy="6706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367381" y="3215518"/>
            <a:ext cx="42367" cy="9387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409748" y="3203448"/>
            <a:ext cx="42368" cy="12070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452116" y="3188695"/>
            <a:ext cx="42367" cy="14753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494483" y="3171261"/>
            <a:ext cx="42367" cy="1743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536850" y="3151144"/>
            <a:ext cx="42367" cy="20117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579217" y="3128345"/>
            <a:ext cx="42367" cy="22799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621584" y="3102864"/>
            <a:ext cx="42368" cy="25481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63952" y="3074700"/>
            <a:ext cx="42367" cy="2816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706319" y="3043854"/>
            <a:ext cx="42367" cy="30846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748686" y="3010326"/>
            <a:ext cx="42367" cy="33528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91053" y="2974116"/>
            <a:ext cx="42367" cy="36210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833420" y="2935224"/>
            <a:ext cx="42368" cy="38892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875788" y="2893649"/>
            <a:ext cx="42367" cy="41575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918155" y="2849392"/>
            <a:ext cx="42367" cy="44257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960522" y="2802453"/>
            <a:ext cx="42367" cy="46939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002889" y="2752831"/>
            <a:ext cx="42367" cy="49622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045256" y="2700528"/>
            <a:ext cx="42368" cy="52303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087624" y="2645542"/>
            <a:ext cx="42367" cy="54986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129991" y="2587873"/>
            <a:ext cx="42367" cy="57669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172358" y="2527523"/>
            <a:ext cx="42367" cy="60350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214725" y="2464490"/>
            <a:ext cx="42367" cy="63033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257092" y="2398776"/>
            <a:ext cx="42367" cy="65714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299459" y="2330378"/>
            <a:ext cx="42368" cy="68398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341827" y="2259299"/>
            <a:ext cx="42367" cy="71079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384194" y="2185537"/>
            <a:ext cx="42367" cy="73762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26561" y="2109094"/>
            <a:ext cx="42367" cy="76443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468928" y="2029968"/>
            <a:ext cx="42368" cy="79126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2176272" y="3172968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856232" y="3401568"/>
            <a:ext cx="768096" cy="0"/>
          </a:xfrm>
          <a:prstGeom prst="line">
            <a:avLst/>
          </a:prstGeom>
          <a:ln w="16510">
            <a:solidFill>
              <a:srgbClr val="9AA0A6"/>
            </a:solidFill>
            <a:tailEnd type="arrow" w="med" len="med"/>
            <a:head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697480" y="327355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AA0A6"/>
                </a:solidFill>
                <a:latin typeface="Calibri"/>
              </a:rPr>
              <a:t>ε</a:t>
            </a:r>
          </a:p>
        </p:txBody>
      </p:sp>
      <p:sp>
        <p:nvSpPr>
          <p:cNvPr id="71" name="Oval 70"/>
          <p:cNvSpPr/>
          <p:nvPr/>
        </p:nvSpPr>
        <p:spPr>
          <a:xfrm>
            <a:off x="2564892" y="3067340"/>
            <a:ext cx="118872" cy="11887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2624328" y="3126776"/>
            <a:ext cx="0" cy="110200"/>
          </a:xfrm>
          <a:prstGeom prst="line">
            <a:avLst/>
          </a:prstGeom>
          <a:ln w="13970">
            <a:solidFill>
              <a:srgbClr val="F2994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04672" y="3602736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2994A"/>
                </a:solidFill>
                <a:latin typeface="Calibri"/>
              </a:rPr>
              <a:t>pequeno deslocamento → perda dispara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059936" y="1572768"/>
            <a:ext cx="3163824" cy="2395728"/>
          </a:xfrm>
          <a:prstGeom prst="roundRect">
            <a:avLst>
              <a:gd name="adj" fmla="val 3435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69664" y="1673352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7AE60"/>
                </a:solidFill>
                <a:latin typeface="Calibri"/>
              </a:rPr>
              <a:t>MÍNIMO PLANO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4279392" y="3236976"/>
            <a:ext cx="2724912" cy="0"/>
          </a:xfrm>
          <a:prstGeom prst="line">
            <a:avLst/>
          </a:prstGeom>
          <a:ln w="1270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370832" y="2029968"/>
            <a:ext cx="42367" cy="222156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413199" y="2252124"/>
            <a:ext cx="42367" cy="186984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455566" y="2439108"/>
            <a:ext cx="42367" cy="156414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497933" y="2595522"/>
            <a:ext cx="42367" cy="129981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540300" y="2725503"/>
            <a:ext cx="42368" cy="107248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582668" y="2832751"/>
            <a:ext cx="42367" cy="87815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625035" y="2920566"/>
            <a:ext cx="42367" cy="71306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667402" y="2991872"/>
            <a:ext cx="42367" cy="57380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709769" y="3049252"/>
            <a:ext cx="42367" cy="45720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752136" y="3094972"/>
            <a:ext cx="42368" cy="36038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794504" y="3131010"/>
            <a:ext cx="42367" cy="28071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836871" y="3159081"/>
            <a:ext cx="42367" cy="21580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879238" y="3180661"/>
            <a:ext cx="42367" cy="16350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921605" y="3197011"/>
            <a:ext cx="42367" cy="12186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963972" y="3209197"/>
            <a:ext cx="42368" cy="8919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006340" y="3218116"/>
            <a:ext cx="42367" cy="6393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048707" y="3224509"/>
            <a:ext cx="42367" cy="4475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091074" y="3228984"/>
            <a:ext cx="42367" cy="3048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133441" y="3232032"/>
            <a:ext cx="42367" cy="2010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5175808" y="3234042"/>
            <a:ext cx="42368" cy="1278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5218176" y="3235320"/>
            <a:ext cx="42367" cy="776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5260543" y="3236096"/>
            <a:ext cx="42367" cy="445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5302910" y="3236541"/>
            <a:ext cx="42367" cy="240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5345277" y="3236781"/>
            <a:ext cx="42367" cy="117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5387644" y="3236898"/>
            <a:ext cx="42368" cy="52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5430012" y="3236950"/>
            <a:ext cx="42367" cy="19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5472379" y="3236969"/>
            <a:ext cx="42367" cy="5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5514746" y="3236974"/>
            <a:ext cx="42367" cy="1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5557113" y="3236975"/>
            <a:ext cx="42367" cy="0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599480" y="3236975"/>
            <a:ext cx="42368" cy="1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641848" y="3236975"/>
            <a:ext cx="42367" cy="1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684215" y="3236975"/>
            <a:ext cx="42367" cy="0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726582" y="3236974"/>
            <a:ext cx="42367" cy="1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768949" y="3236969"/>
            <a:ext cx="42367" cy="5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811316" y="3236950"/>
            <a:ext cx="42368" cy="19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5853684" y="3236898"/>
            <a:ext cx="42367" cy="52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5896051" y="3236781"/>
            <a:ext cx="42367" cy="117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5938418" y="3236541"/>
            <a:ext cx="42367" cy="240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5980785" y="3236096"/>
            <a:ext cx="42367" cy="445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6023152" y="3235320"/>
            <a:ext cx="42368" cy="776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065520" y="3234042"/>
            <a:ext cx="42367" cy="1278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107887" y="3232032"/>
            <a:ext cx="42367" cy="2010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150254" y="3228984"/>
            <a:ext cx="42367" cy="3048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192621" y="3224509"/>
            <a:ext cx="42367" cy="4475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234988" y="3218116"/>
            <a:ext cx="42368" cy="6393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277356" y="3209197"/>
            <a:ext cx="42367" cy="8919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319723" y="3197011"/>
            <a:ext cx="42367" cy="12186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362090" y="3180661"/>
            <a:ext cx="42367" cy="16350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404457" y="3159081"/>
            <a:ext cx="42367" cy="21580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6446824" y="3131010"/>
            <a:ext cx="42368" cy="28071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6489192" y="3094972"/>
            <a:ext cx="42367" cy="36038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6531559" y="3049252"/>
            <a:ext cx="42367" cy="45720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6573926" y="2991872"/>
            <a:ext cx="42367" cy="57380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6616293" y="2920566"/>
            <a:ext cx="42367" cy="71306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6658660" y="2832751"/>
            <a:ext cx="42368" cy="87815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6701028" y="2725503"/>
            <a:ext cx="42367" cy="107248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6743395" y="2595522"/>
            <a:ext cx="42367" cy="129981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6785762" y="2439108"/>
            <a:ext cx="42367" cy="156414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6828129" y="2252124"/>
            <a:ext cx="42367" cy="186984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6870496" y="2029968"/>
            <a:ext cx="42368" cy="222156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Oval 136"/>
          <p:cNvSpPr/>
          <p:nvPr/>
        </p:nvSpPr>
        <p:spPr>
          <a:xfrm>
            <a:off x="5577840" y="3172968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5257800" y="3401568"/>
            <a:ext cx="768096" cy="0"/>
          </a:xfrm>
          <a:prstGeom prst="line">
            <a:avLst/>
          </a:prstGeom>
          <a:ln w="16510">
            <a:solidFill>
              <a:srgbClr val="9AA0A6"/>
            </a:solidFill>
            <a:tailEnd type="arrow" w="med" len="med"/>
            <a:head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6099048" y="327355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AA0A6"/>
                </a:solidFill>
                <a:latin typeface="Calibri"/>
              </a:rPr>
              <a:t>ε</a:t>
            </a:r>
          </a:p>
        </p:txBody>
      </p:sp>
      <p:sp>
        <p:nvSpPr>
          <p:cNvPr id="140" name="Oval 139"/>
          <p:cNvSpPr/>
          <p:nvPr/>
        </p:nvSpPr>
        <p:spPr>
          <a:xfrm>
            <a:off x="5966459" y="3176621"/>
            <a:ext cx="118872" cy="1188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6025896" y="3236057"/>
            <a:ext cx="0" cy="919"/>
          </a:xfrm>
          <a:prstGeom prst="line">
            <a:avLst/>
          </a:prstGeom>
          <a:ln w="13970">
            <a:solidFill>
              <a:srgbClr val="27AE6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4206240" y="3602736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a vizinhança inteira tem perda baixa</a:t>
            </a:r>
          </a:p>
        </p:txBody>
      </p:sp>
      <p:pic>
        <p:nvPicPr>
          <p:cNvPr id="143" name="Picture 142" descr="3e465ef5c4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492" y="4224528"/>
            <a:ext cx="1891145" cy="469669"/>
          </a:xfrm>
          <a:prstGeom prst="rect">
            <a:avLst/>
          </a:prstGeom>
        </p:spPr>
      </p:pic>
      <p:sp>
        <p:nvSpPr>
          <p:cNvPr id="145" name="Rounded Rectangle 144"/>
          <p:cNvSpPr/>
          <p:nvPr/>
        </p:nvSpPr>
        <p:spPr>
          <a:xfrm>
            <a:off x="658368" y="5047488"/>
            <a:ext cx="1932432" cy="713232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1 · sobe até o PIOR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ponto da vizinhança ε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2618232" y="5404103"/>
            <a:ext cx="32918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ounded Rectangle 146"/>
          <p:cNvSpPr/>
          <p:nvPr/>
        </p:nvSpPr>
        <p:spPr>
          <a:xfrm>
            <a:off x="2974848" y="5047488"/>
            <a:ext cx="1932432" cy="713232"/>
          </a:xfrm>
          <a:prstGeom prst="roundRect">
            <a:avLst>
              <a:gd name="adj" fmla="val 11538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2 · calcula o gradiente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LÁ, não em θ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4934712" y="5404103"/>
            <a:ext cx="32918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ounded Rectangle 148"/>
          <p:cNvSpPr/>
          <p:nvPr/>
        </p:nvSpPr>
        <p:spPr>
          <a:xfrm>
            <a:off x="5291328" y="5047488"/>
            <a:ext cx="1932432" cy="713232"/>
          </a:xfrm>
          <a:prstGeom prst="roundRect">
            <a:avLst>
              <a:gd name="adj" fmla="val 11538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3 · atualiza θ com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esse gradiente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58368" y="5888736"/>
            <a:ext cx="6565392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2994A"/>
                </a:solidFill>
                <a:latin typeface="Calibri"/>
              </a:rPr>
              <a:t>SAM (Foret et al., 2021): ~2× forward/backward — use quando generalização vale mais que tempo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4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Execução e discussão: HPO, caso real e checklist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Optuna: busca guiada de hiperparâmetros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Olist: 12 % de ganho em MAE só mudando o treino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O protocolo do notebook e o checklist de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HPO com Optuna:</a:t>
            </a:r>
            <a:r>
              <a:rPr sz="2700" b="1">
                <a:solidFill>
                  <a:srgbClr val="ED145B"/>
                </a:solidFill>
                <a:latin typeface="Calibri"/>
              </a:rPr>
              <a:t> busca guiada, não grade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objective(trial) devolve a métrica de validação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suggest_ declara o espaço de busca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TPE amostra onde a loss caiu — não em grade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Pruner interrompe trials ruins cedo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30 trials guiados rendem mais que centenas em grid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6565392" cy="2268352"/>
          </a:xfrm>
          <a:prstGeom prst="roundRect">
            <a:avLst>
              <a:gd name="adj" fmla="val 3045"/>
            </a:avLst>
          </a:prstGeom>
          <a:solidFill>
            <a:srgbClr val="121218"/>
          </a:solidFill>
          <a:ln w="12700">
            <a:solidFill>
              <a:srgbClr val="333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73152" tIns="109728" bIns="91440"/>
          <a:lstStyle/>
          <a:p>
            <a:pPr algn="l"/>
            <a:r>
              <a:rPr sz="1000" b="1">
                <a:solidFill>
                  <a:srgbClr val="ED145B"/>
                </a:solidFill>
                <a:latin typeface="Calibri"/>
              </a:rPr>
              <a:t>exemplo didático  ·  Optuna não está no notebook (que usa itertools.product)</a:t>
            </a:r>
          </a:p>
          <a:p>
            <a:pPr algn="l"/>
            <a:r>
              <a:rPr sz="1100">
                <a:solidFill>
                  <a:srgbClr val="ED145B"/>
                </a:solidFill>
                <a:latin typeface="Consolas"/>
              </a:rPr>
              <a:t>import</a:t>
            </a:r>
            <a:r>
              <a:rPr sz="1100">
                <a:solidFill>
                  <a:srgbClr val="E4E4EA"/>
                </a:solidFill>
                <a:latin typeface="Consolas"/>
              </a:rPr>
              <a:t> optuna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ED145B"/>
                </a:solidFill>
                <a:latin typeface="Consolas"/>
              </a:rPr>
              <a:t>def</a:t>
            </a:r>
            <a:r>
              <a:rPr sz="1100">
                <a:solidFill>
                  <a:srgbClr val="E4E4EA"/>
                </a:solidFill>
                <a:latin typeface="Consolas"/>
              </a:rPr>
              <a:t> objective(trial):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lr = trial.suggest_loguniform('lr', 1e-5, 1e-2)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dropout = trial.suggest_float('dropout', 0.0, 0.5)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batch = trial.suggest_categorical('batch', [32, 64, 128])</a:t>
            </a:r>
          </a:p>
          <a:p>
            <a:pPr algn="l"/>
            <a:r>
              <a:rPr sz="1100">
                <a:solidFill>
                  <a:srgbClr val="6B7280"/>
                </a:solidFill>
                <a:latin typeface="Consolas"/>
              </a:rPr>
              <a:t>    # ... treinar e retornar val_mae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</a:t>
            </a:r>
            <a:r>
              <a:rPr sz="1100">
                <a:solidFill>
                  <a:srgbClr val="ED145B"/>
                </a:solidFill>
                <a:latin typeface="Consolas"/>
              </a:rPr>
              <a:t>return</a:t>
            </a:r>
            <a:r>
              <a:rPr sz="1100">
                <a:solidFill>
                  <a:srgbClr val="E4E4EA"/>
                </a:solidFill>
                <a:latin typeface="Consolas"/>
              </a:rPr>
              <a:t> val_mae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study = optuna.create_study(direction='minimize')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study.optimize(objective, n_trials=30)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33087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O CICLO DO STUDY · 30 TRIALS GUIADOS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425696"/>
            <a:ext cx="1367028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TPE sugere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hiperparâmetros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52827" y="4791456"/>
            <a:ext cx="310897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91156" y="4425696"/>
            <a:ext cx="1367028" cy="731520"/>
          </a:xfrm>
          <a:prstGeom prst="roundRect">
            <a:avLst>
              <a:gd name="adj" fmla="val 11249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treina o modelo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com esse trial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85616" y="4791456"/>
            <a:ext cx="310896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23944" y="4425696"/>
            <a:ext cx="1367028" cy="731520"/>
          </a:xfrm>
          <a:prstGeom prst="roundRect">
            <a:avLst>
              <a:gd name="adj" fmla="val 11249"/>
            </a:avLst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reporta val_mae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por época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18404" y="4791456"/>
            <a:ext cx="310896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56732" y="4425696"/>
            <a:ext cx="1367028" cy="731520"/>
          </a:xfrm>
          <a:prstGeom prst="roundRect">
            <a:avLst>
              <a:gd name="adj" fmla="val 11249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pruner corta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trials ruins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40246" y="5157216"/>
            <a:ext cx="0" cy="256032"/>
          </a:xfrm>
          <a:prstGeom prst="line">
            <a:avLst/>
          </a:prstGeom>
          <a:ln w="1778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341882" y="5413248"/>
            <a:ext cx="5198364" cy="0"/>
          </a:xfrm>
          <a:prstGeom prst="line">
            <a:avLst/>
          </a:prstGeom>
          <a:ln w="1778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41882" y="5212080"/>
            <a:ext cx="0" cy="201168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386584" y="543153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o próximo trial já nasce informado pelos anteriores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815584"/>
            <a:ext cx="6565392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busca guiada &gt; grid search: o TPE concentra as amostras na região onde a loss cai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Caso de negócio:</a:t>
            </a:r>
            <a:r>
              <a:rPr sz="2700" b="1">
                <a:solidFill>
                  <a:srgbClr val="ED145B"/>
                </a:solidFill>
                <a:latin typeface="Calibri"/>
              </a:rPr>
              <a:t> Olist e a previsão de demanda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Problema: forecasting de demanda em 75 categorias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Features: histórico 2 anos; sazonalidade; feriados BR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Desafios: HPO com Optuna encontrou Adam+OneCycle+dropout 0.2 como ótimo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Ganho de 12% em MAE vs. baseline com SGD fixo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91056"/>
            <a:ext cx="1408176" cy="749808"/>
          </a:xfrm>
          <a:prstGeom prst="roundRect">
            <a:avLst>
              <a:gd name="adj" fmla="val 10975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histórico de 2 anos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75 categorias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93975" y="1965960"/>
            <a:ext cx="256033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77440" y="1591056"/>
            <a:ext cx="1408176" cy="749808"/>
          </a:xfrm>
          <a:prstGeom prst="roundRect">
            <a:avLst>
              <a:gd name="adj" fmla="val 10975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features: sazonalidade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+ feriados BR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13048" y="1965960"/>
            <a:ext cx="256032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96512" y="1591056"/>
            <a:ext cx="1408176" cy="749808"/>
          </a:xfrm>
          <a:prstGeom prst="roundRect">
            <a:avLst>
              <a:gd name="adj" fmla="val 10975"/>
            </a:avLst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MLP + HPO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com Optuna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32120" y="1965960"/>
            <a:ext cx="256032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815584" y="1591056"/>
            <a:ext cx="1408176" cy="749808"/>
          </a:xfrm>
          <a:prstGeom prst="roundRect">
            <a:avLst>
              <a:gd name="adj" fmla="val 10975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previsão semanal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 demanda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15184"/>
            <a:ext cx="3163824" cy="1700784"/>
          </a:xfrm>
          <a:prstGeom prst="roundRect">
            <a:avLst>
              <a:gd name="adj" fmla="val 4838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715768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9AA0A6"/>
                </a:solidFill>
                <a:latin typeface="Calibri"/>
              </a:rPr>
              <a:t>BASELINE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2962656"/>
            <a:ext cx="2688336" cy="347472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9AA0A6"/>
                </a:solidFill>
                <a:latin typeface="Calibri"/>
              </a:rPr>
              <a:t>SGD com LR fixo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3383280"/>
            <a:ext cx="2688336" cy="347472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9AA0A6"/>
                </a:solidFill>
                <a:latin typeface="Calibri"/>
              </a:rPr>
              <a:t>sem scheduler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3803904"/>
            <a:ext cx="2688336" cy="347472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9AA0A6"/>
                </a:solidFill>
                <a:latin typeface="Calibri"/>
              </a:rPr>
              <a:t>sem dropout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59936" y="2615184"/>
            <a:ext cx="3163824" cy="1700784"/>
          </a:xfrm>
          <a:prstGeom prst="roundRect">
            <a:avLst>
              <a:gd name="adj" fmla="val 4838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9664" y="2715768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ED145B"/>
                </a:solidFill>
                <a:latin typeface="Calibri"/>
              </a:rPr>
              <a:t>APÓS 30 TRIALS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962656"/>
            <a:ext cx="2688336" cy="347472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Adam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383280"/>
            <a:ext cx="2688336" cy="347472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OneCycle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803904"/>
            <a:ext cx="2688336" cy="347472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dropout 0,2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498848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MAE NA VALIDAÇÃO  (menor é melhor)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86460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baseline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4809744"/>
            <a:ext cx="3017520" cy="384048"/>
          </a:xfrm>
          <a:prstGeom prst="rect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1" y="4864607"/>
            <a:ext cx="640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41324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D145B"/>
                </a:solidFill>
                <a:latin typeface="Calibri"/>
              </a:rPr>
              <a:t>otimizado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7360" y="5358383"/>
            <a:ext cx="2651760" cy="384048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5413247"/>
            <a:ext cx="640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D145B"/>
                </a:solidFill>
                <a:latin typeface="Calibri"/>
              </a:rPr>
              <a:t>88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394960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ED145B"/>
                </a:solidFill>
                <a:latin typeface="Calibri"/>
              </a:rPr>
              <a:t>− 12 % de MAE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779008"/>
            <a:ext cx="6565392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 arquitetura não mudou: o ganho veio inteiro do REGIME DE TREINO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Notebook-first:</a:t>
            </a:r>
            <a:r>
              <a:rPr sz="2700" b="1">
                <a:solidFill>
                  <a:srgbClr val="ED145B"/>
                </a:solidFill>
                <a:latin typeface="Calibri"/>
              </a:rPr>
              <a:t> isolando o efeito do treino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Notebook da aula: handson/hands-on.ipynb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Pergunta experimental: mantendo a mesma MLP fixa, quanto otimizador, scheduler e regularização alteram convergência e generalização?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Hipótese: SGD puro é o baseline mínimo; AdamW com regularização leve e scheduler deve combinar melhor desempenho e menor variância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Baseline: SGD sem momentum, sem scheduler e sem regularização explícita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Métricas centrais: train loss, val loss, acurácia, macro-F1, gap de generalização e dispersão entre sementes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 que o notebook demonstra: 3 regimes (sgd_base, sgd_momentum, adamw_cosine) × 3 sementes no load_digits, isolando o efeito do treino da arquitetura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6565392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PERGUNTA:  com a MESMA MLP, quanto otimizador, scheduler e regularização movem convergência e generalização?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20824" y="2286000"/>
            <a:ext cx="3840480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load_digits  ·  mesma arquitetura  ·  mesmo split  ·  3 sementes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212848" y="2779776"/>
            <a:ext cx="722376" cy="27432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946904" y="2779776"/>
            <a:ext cx="704088" cy="27432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8368" y="3072384"/>
            <a:ext cx="3163824" cy="1773936"/>
          </a:xfrm>
          <a:prstGeom prst="roundRect">
            <a:avLst>
              <a:gd name="adj" fmla="val 4639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172968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9CDB"/>
                </a:solidFill>
                <a:latin typeface="Calibri"/>
              </a:rPr>
              <a:t>BASELINE  ·  sgd_base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3419856"/>
            <a:ext cx="2798064" cy="365760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SGD lr 0,05, sem momentum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7" y="3858768"/>
            <a:ext cx="2798064" cy="365760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sem scheduler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7" y="4297680"/>
            <a:ext cx="2798064" cy="365760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sem regularização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59936" y="3072384"/>
            <a:ext cx="3163824" cy="1773936"/>
          </a:xfrm>
          <a:prstGeom prst="roundRect">
            <a:avLst>
              <a:gd name="adj" fmla="val 4639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9664" y="3172968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TRATAMENTO  ·  adamw_cosine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42816" y="3419856"/>
            <a:ext cx="2798064" cy="365760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AdamW  ·  lr 0,003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2816" y="3858768"/>
            <a:ext cx="2798064" cy="365760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scheduler cosine (sem warmup)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4297680"/>
            <a:ext cx="2798064" cy="365760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dropout 0,2  ·  weight decay 1e-4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40280" y="4882896"/>
            <a:ext cx="1152144" cy="237744"/>
          </a:xfrm>
          <a:prstGeom prst="line">
            <a:avLst/>
          </a:prstGeom>
          <a:ln w="1778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489704" y="4882896"/>
            <a:ext cx="1133856" cy="237744"/>
          </a:xfrm>
          <a:prstGeom prst="line">
            <a:avLst/>
          </a:prstGeom>
          <a:ln w="1778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368" y="5138928"/>
            <a:ext cx="6565392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MESMAS MÉTRICAS:  train loss  ·  val loss  ·  acurácia  ·  macro-F1  ·  gap  ·  dispersão entre sementes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760720"/>
            <a:ext cx="6565392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9AA0A6"/>
                </a:solidFill>
                <a:latin typeface="Calibri"/>
              </a:rPr>
              <a:t>hipótese: AdamW com regularização leve entrega mais desempenho E menos variância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Checklist prático:</a:t>
            </a:r>
            <a:r>
              <a:rPr sz="2700" b="1">
                <a:solidFill>
                  <a:srgbClr val="ED145B"/>
                </a:solidFill>
                <a:latin typeface="Calibri"/>
              </a:rPr>
              <a:t> como treinar em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Adam/AdamW com LR baseado em LR finder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Warmup de 5-10% + cosine decay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LayerNorm em Transformers, BatchNorm em CNNs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Weight decay 0.01-0.1 (AdamW)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Dropout 0.1-0.3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Early stopping (paciência 10)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Augmentation apropriada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Optuna ou Ray Tune para HPO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27632"/>
            <a:ext cx="3145536" cy="1426464"/>
          </a:xfrm>
          <a:prstGeom prst="roundRect">
            <a:avLst>
              <a:gd name="adj" fmla="val 5769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2821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OTIMIZADOR E LR</a:t>
            </a:r>
          </a:p>
        </p:txBody>
      </p:sp>
      <p:sp>
        <p:nvSpPr>
          <p:cNvPr id="7" name="Oval 6"/>
          <p:cNvSpPr/>
          <p:nvPr/>
        </p:nvSpPr>
        <p:spPr>
          <a:xfrm>
            <a:off x="859536" y="2121408"/>
            <a:ext cx="173736" cy="173736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112264"/>
            <a:ext cx="2633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Adam/AdamW com LR do LR finder</a:t>
            </a:r>
          </a:p>
        </p:txBody>
      </p:sp>
      <p:sp>
        <p:nvSpPr>
          <p:cNvPr id="9" name="Oval 8"/>
          <p:cNvSpPr/>
          <p:nvPr/>
        </p:nvSpPr>
        <p:spPr>
          <a:xfrm>
            <a:off x="859536" y="2578608"/>
            <a:ext cx="173736" cy="173736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569464"/>
            <a:ext cx="2633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weight decay 0,01–0,1 (AdamW)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78224" y="1627632"/>
            <a:ext cx="3145536" cy="1426464"/>
          </a:xfrm>
          <a:prstGeom prst="roundRect">
            <a:avLst>
              <a:gd name="adj" fmla="val 5769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952" y="172821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9CDB"/>
                </a:solidFill>
                <a:latin typeface="Calibri"/>
              </a:rPr>
              <a:t>SCHEDULE</a:t>
            </a:r>
          </a:p>
        </p:txBody>
      </p:sp>
      <p:sp>
        <p:nvSpPr>
          <p:cNvPr id="13" name="Oval 12"/>
          <p:cNvSpPr/>
          <p:nvPr/>
        </p:nvSpPr>
        <p:spPr>
          <a:xfrm>
            <a:off x="4279392" y="2121408"/>
            <a:ext cx="173736" cy="173736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112264"/>
            <a:ext cx="2633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warmup de 5–10 % das etapas</a:t>
            </a:r>
          </a:p>
        </p:txBody>
      </p:sp>
      <p:sp>
        <p:nvSpPr>
          <p:cNvPr id="15" name="Oval 14"/>
          <p:cNvSpPr/>
          <p:nvPr/>
        </p:nvSpPr>
        <p:spPr>
          <a:xfrm>
            <a:off x="4279392" y="2578608"/>
            <a:ext cx="173736" cy="173736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569464"/>
            <a:ext cx="2633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cosine decay até o fim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3145536" cy="1426464"/>
          </a:xfrm>
          <a:prstGeom prst="roundRect">
            <a:avLst>
              <a:gd name="adj" fmla="val 5769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39242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REGULARIZAÇÃO</a:t>
            </a:r>
          </a:p>
        </p:txBody>
      </p:sp>
      <p:sp>
        <p:nvSpPr>
          <p:cNvPr id="19" name="Oval 18"/>
          <p:cNvSpPr/>
          <p:nvPr/>
        </p:nvSpPr>
        <p:spPr>
          <a:xfrm>
            <a:off x="859536" y="3785616"/>
            <a:ext cx="173736" cy="173736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776472"/>
            <a:ext cx="2633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LayerNorm (Transformers) · BatchNorm (CNNs)</a:t>
            </a:r>
          </a:p>
        </p:txBody>
      </p:sp>
      <p:sp>
        <p:nvSpPr>
          <p:cNvPr id="21" name="Oval 20"/>
          <p:cNvSpPr/>
          <p:nvPr/>
        </p:nvSpPr>
        <p:spPr>
          <a:xfrm>
            <a:off x="859536" y="4242816"/>
            <a:ext cx="173736" cy="173736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233672"/>
            <a:ext cx="2633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dropout 0,1–0,3 e augmentation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78224" y="3291840"/>
            <a:ext cx="3145536" cy="1426464"/>
          </a:xfrm>
          <a:prstGeom prst="roundRect">
            <a:avLst>
              <a:gd name="adj" fmla="val 5769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7952" y="339242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B51E0"/>
                </a:solidFill>
                <a:latin typeface="Calibri"/>
              </a:rPr>
              <a:t>PARADA E BUSCA</a:t>
            </a:r>
          </a:p>
        </p:txBody>
      </p:sp>
      <p:sp>
        <p:nvSpPr>
          <p:cNvPr id="25" name="Oval 24"/>
          <p:cNvSpPr/>
          <p:nvPr/>
        </p:nvSpPr>
        <p:spPr>
          <a:xfrm>
            <a:off x="4279392" y="3785616"/>
            <a:ext cx="173736" cy="173736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3776472"/>
            <a:ext cx="2633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early stopping com paciência 10</a:t>
            </a:r>
          </a:p>
        </p:txBody>
      </p:sp>
      <p:sp>
        <p:nvSpPr>
          <p:cNvPr id="27" name="Oval 26"/>
          <p:cNvSpPr/>
          <p:nvPr/>
        </p:nvSpPr>
        <p:spPr>
          <a:xfrm>
            <a:off x="4279392" y="4242816"/>
            <a:ext cx="173736" cy="173736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4233672"/>
            <a:ext cx="2633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Optuna ou Ray Tune para o HPO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846320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ORDEM DE ATAQUE QUANDO O TREINO NÃO VAI BEM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120640"/>
            <a:ext cx="1408176" cy="548640"/>
          </a:xfrm>
          <a:prstGeom prst="roundRect">
            <a:avLst>
              <a:gd name="adj" fmla="val 15000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1 · learning rate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093975" y="5394959"/>
            <a:ext cx="256033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377440" y="5120640"/>
            <a:ext cx="1408176" cy="548640"/>
          </a:xfrm>
          <a:prstGeom prst="roundRect">
            <a:avLst>
              <a:gd name="adj" fmla="val 15000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2 · schedule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813048" y="5394959"/>
            <a:ext cx="256032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096512" y="5120640"/>
            <a:ext cx="1408176" cy="54864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3 · regularização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532120" y="5394959"/>
            <a:ext cx="256032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815584" y="5120640"/>
            <a:ext cx="1408176" cy="548640"/>
          </a:xfrm>
          <a:prstGeom prst="roundRect">
            <a:avLst>
              <a:gd name="adj" fmla="val 15000"/>
            </a:avLst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4 · HPO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870448"/>
            <a:ext cx="6565392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9AA0A6"/>
                </a:solidFill>
                <a:latin typeface="Calibri"/>
              </a:rPr>
              <a:t>mexa em um eixo por vez e compare sempre com sementes fixas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 que vem aí:</a:t>
            </a:r>
            <a:r>
              <a:rPr sz="2700" b="1">
                <a:solidFill>
                  <a:srgbClr val="ED145B"/>
                </a:solidFill>
                <a:latin typeface="Calibri"/>
              </a:rPr>
              <a:t> Aula 8 — MLOps e deploy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MLOps para DL: MLflow, ONNX, TorchServe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Deploy, monitoramento, drift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Tendências 2026: SSMs, multimodal, frontier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9344"/>
            <a:ext cx="1408176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modelo treinado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93975" y="1975104"/>
            <a:ext cx="256033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77440" y="1609344"/>
            <a:ext cx="1408176" cy="731520"/>
          </a:xfrm>
          <a:prstGeom prst="roundRect">
            <a:avLst>
              <a:gd name="adj" fmla="val 11249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MLflow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tracking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13048" y="1975104"/>
            <a:ext cx="256032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96512" y="1609344"/>
            <a:ext cx="1408176" cy="731520"/>
          </a:xfrm>
          <a:prstGeom prst="roundRect">
            <a:avLst>
              <a:gd name="adj" fmla="val 11249"/>
            </a:avLst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ONNX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portabilidade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32120" y="1975104"/>
            <a:ext cx="256032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815584" y="1609344"/>
            <a:ext cx="1408176" cy="731520"/>
          </a:xfrm>
          <a:prstGeom prst="roundRect">
            <a:avLst>
              <a:gd name="adj" fmla="val 11249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TorchServe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serving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06624"/>
            <a:ext cx="3163824" cy="2304288"/>
          </a:xfrm>
          <a:prstGeom prst="roundRect">
            <a:avLst>
              <a:gd name="adj" fmla="val 3571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807208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9AA0A6"/>
                </a:solidFill>
                <a:latin typeface="Calibri"/>
              </a:rPr>
              <a:t>O CICLO DE OPERAÇÃO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127248"/>
            <a:ext cx="1225296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59152" y="3127248"/>
            <a:ext cx="1225296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monitorar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59152" y="4169663"/>
            <a:ext cx="1225296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detectar drift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169663"/>
            <a:ext cx="1225296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retreinar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94560" y="3364992"/>
            <a:ext cx="128016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971800" y="3639312"/>
            <a:ext cx="0" cy="493775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194560" y="4407408"/>
            <a:ext cx="128016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45336" y="3639312"/>
            <a:ext cx="0" cy="493775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04672" y="4718304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o modelo em produção envelhece com os dados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59936" y="2706624"/>
            <a:ext cx="3163824" cy="2304288"/>
          </a:xfrm>
          <a:prstGeom prst="roundRect">
            <a:avLst>
              <a:gd name="adj" fmla="val 3571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9664" y="2807208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D145B"/>
                </a:solidFill>
                <a:latin typeface="Calibri"/>
              </a:rPr>
              <a:t>TENDÊNCIAS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42816" y="3108960"/>
            <a:ext cx="2798064" cy="512064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2" y="3154679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B51E0"/>
                </a:solidFill>
                <a:latin typeface="Calibri"/>
              </a:rPr>
              <a:t>SSMs / Mamba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3364991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custo linear no contexto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42816" y="3712463"/>
            <a:ext cx="2798064" cy="512064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3758183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D9CDB"/>
                </a:solidFill>
                <a:latin typeface="Calibri"/>
              </a:rPr>
              <a:t>multimodal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3968496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texto, imagem e áudio juntos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42816" y="4315968"/>
            <a:ext cx="2798064" cy="512064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0832" y="4361688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D145B"/>
                </a:solidFill>
                <a:latin typeface="Calibri"/>
              </a:rPr>
              <a:t>frontier models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2" y="4572000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capacidade via escala e alinhamento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193792"/>
            <a:ext cx="6565392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 Aula 7 fez o modelo aprender; a Aula 8 faz ele sobreviver em produção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5907024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o mesmo checklist de treino vira parte do pipeline de retreino automático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Referências:</a:t>
            </a:r>
            <a:r>
              <a:rPr sz="2700" b="1">
                <a:solidFill>
                  <a:srgbClr val="ED145B"/>
                </a:solidFill>
                <a:latin typeface="Calibri"/>
              </a:rPr>
              <a:t> sete anos de padrões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Kingma &amp; Ba. Adam. ICLR, 2015.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Loshchilov &amp; Hutter. AdamW. ICLR, 2019.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Srivastava et al. Dropout. JMLR, 2014.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Ioffe &amp; Szegedy. BatchNorm. ICML, 2015.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Smith. Cyclical Learning Rates / OneCycle. 2017.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Foret et al. SAM. ICLR, 2021.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17904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SETE ANOS QUE VIRARAM O PADRÃO DE TREINO QUE VOCÊ USA HOJE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3547872"/>
            <a:ext cx="5943600" cy="0"/>
          </a:xfrm>
          <a:prstGeom prst="line">
            <a:avLst/>
          </a:prstGeom>
          <a:ln w="1905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281684" y="3465576"/>
            <a:ext cx="164592" cy="164592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363980" y="3127248"/>
            <a:ext cx="0" cy="320040"/>
          </a:xfrm>
          <a:prstGeom prst="line">
            <a:avLst/>
          </a:prstGeom>
          <a:ln w="1524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1292" y="3072384"/>
            <a:ext cx="18653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2014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292" y="2816352"/>
            <a:ext cx="18653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9B51E0"/>
                </a:solidFill>
                <a:latin typeface="Calibri"/>
              </a:rPr>
              <a:t>Dropout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139" y="2578608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Srivastava et al. · JMLR</a:t>
            </a:r>
          </a:p>
        </p:txBody>
      </p:sp>
      <p:sp>
        <p:nvSpPr>
          <p:cNvPr id="12" name="Oval 11"/>
          <p:cNvSpPr/>
          <p:nvPr/>
        </p:nvSpPr>
        <p:spPr>
          <a:xfrm>
            <a:off x="2272284" y="3465576"/>
            <a:ext cx="164592" cy="164592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54580" y="3648456"/>
            <a:ext cx="0" cy="320040"/>
          </a:xfrm>
          <a:prstGeom prst="line">
            <a:avLst/>
          </a:prstGeom>
          <a:ln w="1524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21892" y="3986783"/>
            <a:ext cx="18653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2015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1892" y="4224528"/>
            <a:ext cx="18653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D9CDB"/>
                </a:solidFill>
                <a:latin typeface="Calibri"/>
              </a:rPr>
              <a:t>BatchNorm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8740" y="4462272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Ioffe &amp; Szegedy · ICML</a:t>
            </a:r>
          </a:p>
        </p:txBody>
      </p:sp>
      <p:sp>
        <p:nvSpPr>
          <p:cNvPr id="17" name="Oval 16"/>
          <p:cNvSpPr/>
          <p:nvPr/>
        </p:nvSpPr>
        <p:spPr>
          <a:xfrm>
            <a:off x="3262884" y="3465576"/>
            <a:ext cx="164592" cy="16459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345180" y="3127248"/>
            <a:ext cx="0" cy="320040"/>
          </a:xfrm>
          <a:prstGeom prst="line">
            <a:avLst/>
          </a:prstGeom>
          <a:ln w="152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412492" y="3072384"/>
            <a:ext cx="18653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2015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12492" y="2816352"/>
            <a:ext cx="18653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D145B"/>
                </a:solidFill>
                <a:latin typeface="Calibri"/>
              </a:rPr>
              <a:t>Adam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9340" y="2578608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Kingma &amp; Ba · ICLR</a:t>
            </a:r>
          </a:p>
        </p:txBody>
      </p:sp>
      <p:sp>
        <p:nvSpPr>
          <p:cNvPr id="22" name="Oval 21"/>
          <p:cNvSpPr/>
          <p:nvPr/>
        </p:nvSpPr>
        <p:spPr>
          <a:xfrm>
            <a:off x="4253484" y="3465576"/>
            <a:ext cx="164592" cy="16459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35780" y="3648456"/>
            <a:ext cx="0" cy="320040"/>
          </a:xfrm>
          <a:prstGeom prst="line">
            <a:avLst/>
          </a:prstGeom>
          <a:ln w="1524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03091" y="3986783"/>
            <a:ext cx="18653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2017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3091" y="4224528"/>
            <a:ext cx="18653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2994A"/>
                </a:solidFill>
                <a:latin typeface="Calibri"/>
              </a:rPr>
              <a:t>OneCycle / CLR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29939" y="4462272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Smith · Cyclical LR</a:t>
            </a:r>
          </a:p>
        </p:txBody>
      </p:sp>
      <p:sp>
        <p:nvSpPr>
          <p:cNvPr id="27" name="Oval 26"/>
          <p:cNvSpPr/>
          <p:nvPr/>
        </p:nvSpPr>
        <p:spPr>
          <a:xfrm>
            <a:off x="5244084" y="3465576"/>
            <a:ext cx="164592" cy="16459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5326380" y="3127248"/>
            <a:ext cx="0" cy="320040"/>
          </a:xfrm>
          <a:prstGeom prst="line">
            <a:avLst/>
          </a:prstGeom>
          <a:ln w="152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393692" y="3072384"/>
            <a:ext cx="18653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2019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3692" y="2816352"/>
            <a:ext cx="18653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D145B"/>
                </a:solidFill>
                <a:latin typeface="Calibri"/>
              </a:rPr>
              <a:t>AdamW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0540" y="2578608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Loshchilov &amp; Hutter · ICLR</a:t>
            </a:r>
          </a:p>
        </p:txBody>
      </p:sp>
      <p:sp>
        <p:nvSpPr>
          <p:cNvPr id="32" name="Oval 31"/>
          <p:cNvSpPr/>
          <p:nvPr/>
        </p:nvSpPr>
        <p:spPr>
          <a:xfrm>
            <a:off x="6234684" y="3465576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316980" y="3648456"/>
            <a:ext cx="0" cy="320040"/>
          </a:xfrm>
          <a:prstGeom prst="line">
            <a:avLst/>
          </a:prstGeom>
          <a:ln w="1524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84292" y="3986783"/>
            <a:ext cx="18653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2021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84292" y="4224528"/>
            <a:ext cx="18653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  <a:latin typeface="Calibri"/>
              </a:rPr>
              <a:t>SAM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1140" y="4462272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Foret et al. · ICLR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956048"/>
            <a:ext cx="3145536" cy="1024128"/>
          </a:xfrm>
          <a:prstGeom prst="roundRect">
            <a:avLst>
              <a:gd name="adj" fmla="val 8035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ED145B"/>
                </a:solidFill>
                <a:latin typeface="Calibri"/>
              </a:rPr>
              <a:t>o que virou padrão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AdamW + cosine + warmup
dropout e norm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78224" y="4956048"/>
            <a:ext cx="3145536" cy="1024128"/>
          </a:xfrm>
          <a:prstGeom prst="roundRect">
            <a:avLst>
              <a:gd name="adj" fmla="val 8035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F2994A"/>
                </a:solidFill>
                <a:latin typeface="Calibri"/>
              </a:rPr>
              <a:t>o que é caso a caso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SAM, Lion, augmentation
agressiva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" y="6089904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nada aqui é novo — o que muda é saber quando cada peça vale o custo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