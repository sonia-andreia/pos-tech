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AA0A6"/>
                </a:solidFill>
                <a:latin typeface="Calibri"/>
              </a:rPr>
              <a:t>REDES NEURAIS E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D145B"/>
                </a:solidFill>
                <a:latin typeface="Calibri"/>
              </a:rPr>
              <a:t>AULA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95728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MLP e Backpropagation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4224528"/>
            <a:ext cx="1463040" cy="6400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Prof. Flavio Padilha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19472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0A6"/>
                </a:solidFill>
                <a:latin typeface="Calibri"/>
              </a:rPr>
              <a:t>FIAP Pós-Tech · AI Engineering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1  ·  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Introdução teórica: empilhar perceptrons resolve o XOR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Onde a Aula 1 parou: o limite da fronteira linear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Duas retas bastam — a camada oculta em ação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MLP: a definição formal, camada a camada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Onde estamos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1 ✓ Perceptron — 1 camada — só linearmente separável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2 — MLP + Backpropagation ← aqui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3–4 CNN · Aula 5 RNN · Aula 6 Attention · Aula 7 Otim · Aula 8 MLOps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697480"/>
            <a:ext cx="6400800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22376" y="2523744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7" y="303580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Perceptron</a:t>
            </a:r>
          </a:p>
        </p:txBody>
      </p:sp>
      <p:sp>
        <p:nvSpPr>
          <p:cNvPr id="8" name="Oval 7"/>
          <p:cNvSpPr/>
          <p:nvPr/>
        </p:nvSpPr>
        <p:spPr>
          <a:xfrm>
            <a:off x="1581912" y="2487168"/>
            <a:ext cx="420624" cy="42062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3580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MLP +</a:t>
            </a:r>
          </a:p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Backprop</a:t>
            </a:r>
          </a:p>
        </p:txBody>
      </p:sp>
      <p:sp>
        <p:nvSpPr>
          <p:cNvPr id="10" name="Oval 9"/>
          <p:cNvSpPr/>
          <p:nvPr/>
        </p:nvSpPr>
        <p:spPr>
          <a:xfrm>
            <a:off x="2496312" y="250545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303580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CNN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fundamentos</a:t>
            </a:r>
          </a:p>
        </p:txBody>
      </p:sp>
      <p:sp>
        <p:nvSpPr>
          <p:cNvPr id="12" name="Oval 11"/>
          <p:cNvSpPr/>
          <p:nvPr/>
        </p:nvSpPr>
        <p:spPr>
          <a:xfrm>
            <a:off x="3392424" y="250545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303580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CNN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avançado</a:t>
            </a:r>
          </a:p>
        </p:txBody>
      </p:sp>
      <p:sp>
        <p:nvSpPr>
          <p:cNvPr id="14" name="Oval 13"/>
          <p:cNvSpPr/>
          <p:nvPr/>
        </p:nvSpPr>
        <p:spPr>
          <a:xfrm>
            <a:off x="4288536" y="250545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303580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RNN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e LSTM</a:t>
            </a:r>
          </a:p>
        </p:txBody>
      </p:sp>
      <p:sp>
        <p:nvSpPr>
          <p:cNvPr id="16" name="Oval 15"/>
          <p:cNvSpPr/>
          <p:nvPr/>
        </p:nvSpPr>
        <p:spPr>
          <a:xfrm>
            <a:off x="5184648" y="250545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303580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Attention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Transformers</a:t>
            </a:r>
          </a:p>
        </p:txBody>
      </p:sp>
      <p:sp>
        <p:nvSpPr>
          <p:cNvPr id="18" name="Oval 17"/>
          <p:cNvSpPr/>
          <p:nvPr/>
        </p:nvSpPr>
        <p:spPr>
          <a:xfrm>
            <a:off x="6080759" y="250545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19" y="303580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Otimização</a:t>
            </a:r>
          </a:p>
        </p:txBody>
      </p:sp>
      <p:sp>
        <p:nvSpPr>
          <p:cNvPr id="20" name="Oval 19"/>
          <p:cNvSpPr/>
          <p:nvPr/>
        </p:nvSpPr>
        <p:spPr>
          <a:xfrm>
            <a:off x="6976872" y="250545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1" y="303580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MLOps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e deploy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92224" y="2121408"/>
            <a:ext cx="0" cy="283464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23544" y="179222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você está aqui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639312"/>
            <a:ext cx="6547104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AULA 1 ✓   perceptron — uma camada, só o que é linearmente separável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462272"/>
            <a:ext cx="6547104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AULA 2 ← aqui   MLP + backpropagation — profundidade e como treiná-la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285232"/>
            <a:ext cx="6547104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9AA0A6"/>
                </a:solidFill>
                <a:latin typeface="Calibri"/>
              </a:rPr>
              <a:t>AULAS 3–8   CNN · RNN · Attention · Otimização · MLOps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071616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tudo o que vem depois usa o algoritmo de hoje para aprender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XOR vencido:</a:t>
            </a:r>
            <a:r>
              <a:rPr sz="2700" b="1">
                <a:solidFill>
                  <a:srgbClr val="ED145B"/>
                </a:solidFill>
                <a:latin typeface="Calibri"/>
              </a:rPr>
              <a:t> duas retas bastam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2 neurônios na camada oculta resolvem XOR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Backpropagation aprende os pesos automaticamente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9105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9CDB"/>
                </a:solidFill>
                <a:latin typeface="Calibri"/>
              </a:rPr>
              <a:t>NO PLANO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01952"/>
            <a:ext cx="2999232" cy="2395728"/>
          </a:xfrm>
          <a:prstGeom prst="roundRect">
            <a:avLst>
              <a:gd name="adj" fmla="val 3435"/>
            </a:avLst>
          </a:prstGeom>
          <a:noFill/>
          <a:ln w="1778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2834640"/>
            <a:ext cx="1581912" cy="1389888"/>
          </a:xfrm>
          <a:prstGeom prst="line">
            <a:avLst/>
          </a:prstGeom>
          <a:ln w="279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10512" y="1965960"/>
            <a:ext cx="1801368" cy="1581912"/>
          </a:xfrm>
          <a:prstGeom prst="line">
            <a:avLst/>
          </a:prstGeom>
          <a:ln w="2794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43000" y="3831336"/>
            <a:ext cx="237744" cy="237744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8313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11" name="Oval 10"/>
          <p:cNvSpPr/>
          <p:nvPr/>
        </p:nvSpPr>
        <p:spPr>
          <a:xfrm>
            <a:off x="3008376" y="2185416"/>
            <a:ext cx="237744" cy="237744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2696" y="218541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D9CDB"/>
                </a:solidFill>
                <a:latin typeface="Calibri"/>
              </a:rPr>
              <a:t>0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2185416"/>
            <a:ext cx="237744" cy="23774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218541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008376" y="3831336"/>
            <a:ext cx="237744" cy="23774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696" y="38313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334256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  <a:latin typeface="Calibri"/>
              </a:rPr>
              <a:t>──  h₁ (OR)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272" y="433425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B51E0"/>
                </a:solidFill>
                <a:latin typeface="Calibri"/>
              </a:rPr>
              <a:t>──  h₂ (NAND)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159105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D145B"/>
                </a:solidFill>
                <a:latin typeface="Calibri"/>
              </a:rPr>
              <a:t>NA REDE  2 – 2 –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41648" y="1901952"/>
            <a:ext cx="3182112" cy="2395728"/>
          </a:xfrm>
          <a:prstGeom prst="roundRect">
            <a:avLst>
              <a:gd name="adj" fmla="val 3435"/>
            </a:avLst>
          </a:prstGeom>
          <a:noFill/>
          <a:ln w="1778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63440" y="2514600"/>
            <a:ext cx="786384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63440" y="2514600"/>
            <a:ext cx="786384" cy="91440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663440" y="2514600"/>
            <a:ext cx="786384" cy="91440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663440" y="3429000"/>
            <a:ext cx="786384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15584" y="2514600"/>
            <a:ext cx="786384" cy="45720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815584" y="2971800"/>
            <a:ext cx="786384" cy="45720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297680" y="2331720"/>
            <a:ext cx="365760" cy="365760"/>
          </a:xfrm>
          <a:prstGeom prst="ellipse">
            <a:avLst/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x₁</a:t>
            </a:r>
          </a:p>
        </p:txBody>
      </p:sp>
      <p:sp>
        <p:nvSpPr>
          <p:cNvPr id="28" name="Oval 27"/>
          <p:cNvSpPr/>
          <p:nvPr/>
        </p:nvSpPr>
        <p:spPr>
          <a:xfrm>
            <a:off x="4297680" y="3246120"/>
            <a:ext cx="365760" cy="365760"/>
          </a:xfrm>
          <a:prstGeom prst="ellipse">
            <a:avLst/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x₂</a:t>
            </a:r>
          </a:p>
        </p:txBody>
      </p:sp>
      <p:sp>
        <p:nvSpPr>
          <p:cNvPr id="29" name="Oval 28"/>
          <p:cNvSpPr/>
          <p:nvPr/>
        </p:nvSpPr>
        <p:spPr>
          <a:xfrm>
            <a:off x="5449824" y="2331720"/>
            <a:ext cx="365760" cy="36576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h₁</a:t>
            </a:r>
          </a:p>
        </p:txBody>
      </p:sp>
      <p:sp>
        <p:nvSpPr>
          <p:cNvPr id="30" name="Oval 29"/>
          <p:cNvSpPr/>
          <p:nvPr/>
        </p:nvSpPr>
        <p:spPr>
          <a:xfrm>
            <a:off x="5449824" y="3246120"/>
            <a:ext cx="365760" cy="36576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h₂</a:t>
            </a:r>
          </a:p>
        </p:txBody>
      </p:sp>
      <p:sp>
        <p:nvSpPr>
          <p:cNvPr id="31" name="Oval 30"/>
          <p:cNvSpPr/>
          <p:nvPr/>
        </p:nvSpPr>
        <p:spPr>
          <a:xfrm>
            <a:off x="6601968" y="278892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395020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entrada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395020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oculta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95020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saída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41648" y="433425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2 neurônios ocultos = 2 retas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892040"/>
            <a:ext cx="1914144" cy="777240"/>
          </a:xfrm>
          <a:prstGeom prst="roundRect">
            <a:avLst>
              <a:gd name="adj" fmla="val 10588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 camada oculta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traça 2 retas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654807" y="5280659"/>
            <a:ext cx="32918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011423" y="4892040"/>
            <a:ext cx="1914144" cy="777240"/>
          </a:xfrm>
          <a:prstGeom prst="roundRect">
            <a:avLst>
              <a:gd name="adj" fmla="val 10588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 camada de saída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combina as regiões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953000" y="5280659"/>
            <a:ext cx="32918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309616" y="4892040"/>
            <a:ext cx="1914144" cy="777240"/>
          </a:xfrm>
          <a:prstGeom prst="roundRect">
            <a:avLst>
              <a:gd name="adj" fmla="val 10588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XOR resolvido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870448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 classe 1 fica entre as duas retas — e backpropagation aprende esses pesos sozinho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1896549" y="1499616"/>
            <a:ext cx="4134750" cy="859536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MLP:</a:t>
            </a:r>
            <a:r>
              <a:rPr sz="2700" b="1">
                <a:solidFill>
                  <a:srgbClr val="ED145B"/>
                </a:solidFill>
                <a:latin typeface="Calibri"/>
              </a:rPr>
              <a:t> definição formal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h⁽⁰⁾ = x — a entrada da rede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ŷ = h</a:t>
            </a:r>
            <a:r>
              <a:rPr sz="1250" baseline="30000">
                <a:solidFill>
                  <a:srgbClr val="E4E4EA"/>
                </a:solidFill>
                <a:latin typeface="Calibri"/>
              </a:rPr>
              <a:t>(L)</a:t>
            </a:r>
            <a:r>
              <a:rPr sz="1250">
                <a:solidFill>
                  <a:srgbClr val="E4E4EA"/>
                </a:solidFill>
                <a:latin typeface="Calibri"/>
              </a:rPr>
              <a:t> — a saída da última camada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φ⁽ˡ⁾ — ativação da camada 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W⁽ˡ⁾, b⁽ˡ⁾ — parâmetros aprendíveis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forma é recursiva: a saída de uma camada é a entrada da seguinte</a:t>
            </a:r>
          </a:p>
        </p:txBody>
      </p:sp>
      <p:pic>
        <p:nvPicPr>
          <p:cNvPr id="5" name="Picture 4" descr="7e0313246a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717" y="1700784"/>
            <a:ext cx="3732414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615184"/>
            <a:ext cx="6547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AA0A6"/>
                </a:solidFill>
                <a:latin typeface="Calibri"/>
              </a:rPr>
              <a:t>para l = 1, …, 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127248"/>
            <a:ext cx="713232" cy="786384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x = h⁽⁰⁾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80744" y="3520440"/>
            <a:ext cx="91440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81328" y="3127248"/>
            <a:ext cx="1170432" cy="786384"/>
          </a:xfrm>
          <a:prstGeom prst="roundRect">
            <a:avLst>
              <a:gd name="adj" fmla="val 10465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camada 1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W⁽¹⁾, b⁽¹⁾, 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60904" y="3520440"/>
            <a:ext cx="91440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61488" y="3127248"/>
            <a:ext cx="603504" cy="78638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h⁽¹⁾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74136" y="3520440"/>
            <a:ext cx="91440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4720" y="3127248"/>
            <a:ext cx="1170432" cy="786384"/>
          </a:xfrm>
          <a:prstGeom prst="roundRect">
            <a:avLst>
              <a:gd name="adj" fmla="val 10465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camada 2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W⁽²⁾, b⁽²⁾, 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54296" y="3520440"/>
            <a:ext cx="91440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54880" y="3127248"/>
            <a:ext cx="603504" cy="78638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h⁽²⁾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67528" y="3520440"/>
            <a:ext cx="91440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68112" y="3127248"/>
            <a:ext cx="1170432" cy="786384"/>
          </a:xfrm>
          <a:prstGeom prst="roundRect">
            <a:avLst>
              <a:gd name="adj" fmla="val 10465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camada L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W</a:t>
            </a:r>
            <a:r>
              <a:rPr sz="1000" b="0" baseline="30000">
                <a:solidFill>
                  <a:srgbClr val="FFFFFF"/>
                </a:solidFill>
                <a:latin typeface="Calibri"/>
              </a:rPr>
              <a:t>(L)</a:t>
            </a:r>
            <a:r>
              <a:rPr sz="1000" b="0">
                <a:solidFill>
                  <a:srgbClr val="FFFFFF"/>
                </a:solidFill>
                <a:latin typeface="Calibri"/>
              </a:rPr>
              <a:t>, b</a:t>
            </a:r>
            <a:r>
              <a:rPr sz="1000" b="0" baseline="30000">
                <a:solidFill>
                  <a:srgbClr val="FFFFFF"/>
                </a:solidFill>
                <a:latin typeface="Calibri"/>
              </a:rPr>
              <a:t>(L)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47688" y="3520440"/>
            <a:ext cx="91440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748272" y="3127248"/>
            <a:ext cx="1024128" cy="786384"/>
          </a:xfrm>
          <a:prstGeom prst="roundRect">
            <a:avLst>
              <a:gd name="adj" fmla="val 10465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ŷ = h</a:t>
            </a:r>
            <a:r>
              <a:rPr sz="1100" b="0" baseline="30000">
                <a:solidFill>
                  <a:srgbClr val="FFFFFF"/>
                </a:solidFill>
                <a:latin typeface="Calibri"/>
              </a:rPr>
              <a:t>(L)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023360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cada camada é uma transformação afim seguida de uma não-linearidade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17136"/>
            <a:ext cx="2011679" cy="932688"/>
          </a:xfrm>
          <a:prstGeom prst="roundRect">
            <a:avLst>
              <a:gd name="adj" fmla="val 8823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400" b="1">
                <a:solidFill>
                  <a:srgbClr val="ED145B"/>
                </a:solidFill>
                <a:latin typeface="Calibri"/>
              </a:rPr>
              <a:t>W, b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aprendidos pelo treino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53511" y="4517136"/>
            <a:ext cx="2011679" cy="932688"/>
          </a:xfrm>
          <a:prstGeom prst="roundRect">
            <a:avLst>
              <a:gd name="adj" fmla="val 882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400" b="1">
                <a:solidFill>
                  <a:srgbClr val="9B51E0"/>
                </a:solidFill>
                <a:latin typeface="Calibri"/>
              </a:rPr>
              <a:t>φ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escolha de projeto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21223" y="4517136"/>
            <a:ext cx="2011679" cy="932688"/>
          </a:xfrm>
          <a:prstGeom prst="roundRect">
            <a:avLst>
              <a:gd name="adj" fmla="val 882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400" b="1">
                <a:solidFill>
                  <a:srgbClr val="2D9CDB"/>
                </a:solidFill>
                <a:latin typeface="Calibri"/>
              </a:rPr>
              <a:t>L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profundidade da rede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6928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sem φ, a composição de camadas colapsa em uma única matriz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2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Fundamentos: aproximação universal, loss e gradiente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que o Teorema da Aproximação Universal garante — e o que não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 loss como único sinal de erro do modelo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Descida do gradiente e a ideia do backpropagation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Teorema da Aproximação Universal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Mas: o teorema não diz quantos neurônios.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Na prática, redes profundas são mais eficientes em parâmetros que redes rasas largas.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D145B"/>
                </a:solidFill>
                <a:latin typeface="Calibri"/>
              </a:rPr>
              <a:t>CYBENKO (1989) · HORNIK (1991)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6547104" cy="969264"/>
          </a:xfrm>
          <a:prstGeom prst="roundRect">
            <a:avLst>
              <a:gd name="adj" fmla="val 849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“Um MLP de uma camada oculta com ativação não-constante, limitada e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monotonicamente crescente aproxima qualquer função contínua em um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compacto com precisão arbitrária — dado neurônios suficientes.”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7AE60"/>
                </a:solidFill>
                <a:latin typeface="Calibri"/>
              </a:rPr>
              <a:t>O QUE ELE GARANTE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6112" y="4956048"/>
            <a:ext cx="2715768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96112" y="3255264"/>
            <a:ext cx="0" cy="1700784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69264" y="4005072"/>
            <a:ext cx="402336" cy="676656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4005072"/>
            <a:ext cx="411480" cy="219456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783080" y="3547872"/>
            <a:ext cx="457200" cy="676656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40280" y="3547872"/>
            <a:ext cx="457200" cy="310896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697480" y="3346704"/>
            <a:ext cx="457200" cy="512064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154680" y="3346704"/>
            <a:ext cx="411480" cy="109728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9264" y="4334256"/>
            <a:ext cx="402336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71600" y="4114800"/>
            <a:ext cx="411480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71600" y="4114800"/>
            <a:ext cx="0" cy="219456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83080" y="3895344"/>
            <a:ext cx="457200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783080" y="3895344"/>
            <a:ext cx="0" cy="219456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40280" y="3694176"/>
            <a:ext cx="457200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40280" y="3694176"/>
            <a:ext cx="0" cy="201168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97480" y="3584448"/>
            <a:ext cx="457200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97480" y="3584448"/>
            <a:ext cx="0" cy="109728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154680" y="3401568"/>
            <a:ext cx="411480" cy="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154680" y="3401568"/>
            <a:ext cx="0" cy="18288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87168" y="292608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D145B"/>
                </a:solidFill>
                <a:latin typeface="Calibri"/>
              </a:rPr>
              <a:t>f(x) contínua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99262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D9CDB"/>
                </a:solidFill>
                <a:latin typeface="Calibri"/>
              </a:rPr>
              <a:t>soma de sigmoides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92608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2994A"/>
                </a:solidFill>
                <a:latin typeface="Calibri"/>
              </a:rPr>
              <a:t>MAS A QUE CUSTO?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3255264"/>
            <a:ext cx="1481328" cy="1353312"/>
          </a:xfrm>
          <a:prstGeom prst="roundRect">
            <a:avLst>
              <a:gd name="adj" fmla="val 6081"/>
            </a:avLst>
          </a:prstGeom>
          <a:noFill/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4233672" y="3831336"/>
            <a:ext cx="164592" cy="164592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4773168" y="3456432"/>
            <a:ext cx="137160" cy="13716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Oval 32"/>
          <p:cNvSpPr/>
          <p:nvPr/>
        </p:nvSpPr>
        <p:spPr>
          <a:xfrm>
            <a:off x="4773168" y="3611879"/>
            <a:ext cx="137160" cy="13716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4773168" y="3767328"/>
            <a:ext cx="137160" cy="13716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Oval 34"/>
          <p:cNvSpPr/>
          <p:nvPr/>
        </p:nvSpPr>
        <p:spPr>
          <a:xfrm>
            <a:off x="4773168" y="3922776"/>
            <a:ext cx="137160" cy="13716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4773168" y="4078224"/>
            <a:ext cx="137160" cy="13716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4773168" y="4233672"/>
            <a:ext cx="137160" cy="13716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4773168" y="4389120"/>
            <a:ext cx="137160" cy="137160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4398264" y="3520439"/>
            <a:ext cx="374904" cy="393193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910328" y="3520439"/>
            <a:ext cx="411480" cy="393193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398264" y="3913632"/>
            <a:ext cx="374904" cy="73152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910328" y="3913632"/>
            <a:ext cx="411480" cy="73152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98264" y="3913632"/>
            <a:ext cx="374904" cy="5394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10328" y="3913632"/>
            <a:ext cx="411480" cy="539496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321808" y="3831336"/>
            <a:ext cx="164592" cy="164592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645152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2994A"/>
                </a:solidFill>
                <a:latin typeface="Calibri"/>
              </a:rPr>
              <a:t>1 camada · N enorme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42432" y="3255264"/>
            <a:ext cx="1481328" cy="1353312"/>
          </a:xfrm>
          <a:prstGeom prst="roundRect">
            <a:avLst>
              <a:gd name="adj" fmla="val 6081"/>
            </a:avLst>
          </a:prstGeom>
          <a:noFill/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Oval 47"/>
          <p:cNvSpPr/>
          <p:nvPr/>
        </p:nvSpPr>
        <p:spPr>
          <a:xfrm>
            <a:off x="5943600" y="3602736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Oval 48"/>
          <p:cNvSpPr/>
          <p:nvPr/>
        </p:nvSpPr>
        <p:spPr>
          <a:xfrm>
            <a:off x="5943600" y="3895344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0" name="Oval 49"/>
          <p:cNvSpPr/>
          <p:nvPr/>
        </p:nvSpPr>
        <p:spPr>
          <a:xfrm>
            <a:off x="5943600" y="4187952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80760" y="3959352"/>
            <a:ext cx="210312" cy="0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6291072" y="3602736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6291072" y="3895344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4" name="Oval 53"/>
          <p:cNvSpPr/>
          <p:nvPr/>
        </p:nvSpPr>
        <p:spPr>
          <a:xfrm>
            <a:off x="6291072" y="4187952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28232" y="3959352"/>
            <a:ext cx="210312" cy="0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6638544" y="3602736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6638544" y="3895344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8" name="Oval 57"/>
          <p:cNvSpPr/>
          <p:nvPr/>
        </p:nvSpPr>
        <p:spPr>
          <a:xfrm>
            <a:off x="6638544" y="4187952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75704" y="3959352"/>
            <a:ext cx="210312" cy="0"/>
          </a:xfrm>
          <a:prstGeom prst="line">
            <a:avLst/>
          </a:prstGeom>
          <a:ln w="9525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986016" y="3602736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1" name="Oval 60"/>
          <p:cNvSpPr/>
          <p:nvPr/>
        </p:nvSpPr>
        <p:spPr>
          <a:xfrm>
            <a:off x="6986016" y="3895344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2" name="Oval 61"/>
          <p:cNvSpPr/>
          <p:nvPr/>
        </p:nvSpPr>
        <p:spPr>
          <a:xfrm>
            <a:off x="6986016" y="4187952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42432" y="4645152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7AE60"/>
                </a:solidFill>
                <a:latin typeface="Calibri"/>
              </a:rPr>
              <a:t>L camadas · menos parâmetros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5800" y="5175504"/>
            <a:ext cx="6547104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existência ≠ eficiência: o teorema não diz quantos neurônios, nem como encontrá-los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980176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profundidade troca largura por composição — quase sempre um bom negócio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que o teorema não garante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resultado é de existência, não de eficiência computacional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Ele não garante otimização fácil, boa generalização ou número razoável de parâmetros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 problemas reais, profundidade útil depende de ativação, inicialização, loss e regime numérico do gradiente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GARANTE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78224" y="157276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994A"/>
                </a:solidFill>
                <a:latin typeface="Calibri"/>
              </a:rPr>
              <a:t>NÃO GARANTE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3154680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existe uma rede que aproxima 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78224" y="1901952"/>
            <a:ext cx="3154680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que o treino encontre essa rede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88336"/>
            <a:ext cx="3154680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erro arbitrariamente pequeno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em um conjunto compacto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78224" y="2688336"/>
            <a:ext cx="3154680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que ela generalize fora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dos dados vistos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74720"/>
            <a:ext cx="3154680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…com neurônios suficientes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78224" y="3474720"/>
            <a:ext cx="3154680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que o nº de parâmetros seja viável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121408"/>
            <a:ext cx="274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AA0A6"/>
                </a:solidFill>
                <a:latin typeface="Calibri"/>
              </a:rPr>
              <a:t>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6547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0A6"/>
                </a:solidFill>
                <a:latin typeface="Calibri"/>
              </a:rPr>
              <a:t>na prática, a profundidade útil depende de: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608576"/>
            <a:ext cx="15361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B51E0"/>
                </a:solidFill>
                <a:latin typeface="Calibri"/>
              </a:rPr>
              <a:t>ativação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54580" y="4608576"/>
            <a:ext cx="15361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D9CDB"/>
                </a:solidFill>
                <a:latin typeface="Calibri"/>
              </a:rPr>
              <a:t>inicialização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4608576"/>
            <a:ext cx="15361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ED145B"/>
                </a:solidFill>
                <a:latin typeface="Calibri"/>
              </a:rPr>
              <a:t>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92140" y="4608576"/>
            <a:ext cx="15361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regime numérico</a:t>
            </a:r>
          </a:p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do gradiente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394960"/>
            <a:ext cx="6547104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“Capacidade de representar não implica capacidade de treinar nem de generalizar.”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12648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o teorema é um resultado de existência — não uma receita de engenharia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Loss:</a:t>
            </a:r>
            <a:r>
              <a:rPr sz="2700" b="1">
                <a:solidFill>
                  <a:srgbClr val="ED145B"/>
                </a:solidFill>
                <a:latin typeface="Calibri"/>
              </a:rPr>
              <a:t> a função objetivo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Regressão: L = 1/NΣ (y - ŷ)² (MSE)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Classificação binária: L = -1/NΣ [ylogŷ + (1-y)log(1-ŷ)] (BCE)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Classificação multiclasse: Cross-entropy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27632"/>
            <a:ext cx="129844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ŷ  predição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67712"/>
            <a:ext cx="129844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y  rótulo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773936"/>
            <a:ext cx="1463040" cy="859536"/>
          </a:xfrm>
          <a:prstGeom prst="roundRect">
            <a:avLst>
              <a:gd name="adj" fmla="val 9574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ℒ(y, ŷ)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66543" y="1883664"/>
            <a:ext cx="640081" cy="201167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066543" y="2322576"/>
            <a:ext cx="640081" cy="201168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42816" y="2203704"/>
            <a:ext cx="475488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1773936"/>
            <a:ext cx="1371600" cy="859536"/>
          </a:xfrm>
          <a:prstGeom prst="roundRect">
            <a:avLst>
              <a:gd name="adj" fmla="val 9574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9B51E0"/>
                </a:solidFill>
                <a:latin typeface="Calibri"/>
              </a:rPr>
              <a:t>∇θ 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63056" y="2203704"/>
            <a:ext cx="292608" cy="0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92240" y="1773936"/>
            <a:ext cx="731520" cy="859536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AA0A6"/>
                </a:solidFill>
                <a:latin typeface="Calibri"/>
              </a:rPr>
              <a:t>treino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9504"/>
            <a:ext cx="6547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AA0A6"/>
                </a:solidFill>
                <a:latin typeface="Calibri"/>
              </a:rPr>
              <a:t>a loss é o único ponto onde o modelo sabe que errou — é ela que define o gradiente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64992"/>
            <a:ext cx="6547104" cy="822960"/>
          </a:xfrm>
          <a:prstGeom prst="roundRect">
            <a:avLst>
              <a:gd name="adj" fmla="val 10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29584"/>
            <a:ext cx="16459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D9CDB"/>
                </a:solidFill>
                <a:latin typeface="Calibri"/>
              </a:rPr>
              <a:t>REGRESSÃO</a:t>
            </a:r>
          </a:p>
          <a:p>
            <a:pPr algn="l"/>
            <a:r>
              <a:rPr sz="1100" b="1" i="0">
                <a:solidFill>
                  <a:srgbClr val="2D9CDB"/>
                </a:solidFill>
                <a:latin typeface="Calibri"/>
              </a:rPr>
              <a:t>MSE</a:t>
            </a:r>
          </a:p>
        </p:txBody>
      </p:sp>
      <p:pic>
        <p:nvPicPr>
          <p:cNvPr id="17" name="Picture 16" descr="f6b1f6b4a1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858" y="3529168"/>
            <a:ext cx="1558636" cy="49460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85800" y="4297680"/>
            <a:ext cx="6547104" cy="822960"/>
          </a:xfrm>
          <a:prstGeom prst="roundRect">
            <a:avLst>
              <a:gd name="adj" fmla="val 10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462272"/>
            <a:ext cx="16459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D145B"/>
                </a:solidFill>
                <a:latin typeface="Calibri"/>
              </a:rPr>
              <a:t>BINÁRIA</a:t>
            </a:r>
          </a:p>
          <a:p>
            <a:pPr algn="l"/>
            <a:r>
              <a:rPr sz="1100" b="1" i="0">
                <a:solidFill>
                  <a:srgbClr val="ED145B"/>
                </a:solidFill>
                <a:latin typeface="Calibri"/>
              </a:rPr>
              <a:t>BCE</a:t>
            </a:r>
          </a:p>
        </p:txBody>
      </p:sp>
      <p:pic>
        <p:nvPicPr>
          <p:cNvPr id="20" name="Picture 19" descr="5a752e1e0f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553" y="4474325"/>
            <a:ext cx="3329247" cy="469669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85800" y="5230368"/>
            <a:ext cx="6547104" cy="822960"/>
          </a:xfrm>
          <a:prstGeom prst="roundRect">
            <a:avLst>
              <a:gd name="adj" fmla="val 10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5394960"/>
            <a:ext cx="16459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MULTICLASSE</a:t>
            </a:r>
          </a:p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cross-entropy</a:t>
            </a:r>
          </a:p>
        </p:txBody>
      </p:sp>
      <p:pic>
        <p:nvPicPr>
          <p:cNvPr id="23" name="Picture 22" descr="b7ef6217f0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180" y="5394544"/>
            <a:ext cx="2019992" cy="4946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800" y="6144768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no PyTorch: BCEWithLogitsLoss e CrossEntropyLoss já embutem a sigmoide/softmax de forma estável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2285169" y="1444752"/>
            <a:ext cx="3357510" cy="805503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Descida do gradiente:</a:t>
            </a:r>
            <a:r>
              <a:rPr sz="2700" b="1">
                <a:solidFill>
                  <a:srgbClr val="ED145B"/>
                </a:solidFill>
                <a:latin typeface="Calibri"/>
              </a:rPr>
              <a:t> como a rede aprende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θ — todos os parâmetros da rede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η — taxa de aprendizado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∇θ ℒ — gradiente da loss em relação a θ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SGD (estocástico): usa mini-batches para escalabilidade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Variantes como Adam e AdamW vêm na aula 7</a:t>
            </a:r>
          </a:p>
        </p:txBody>
      </p:sp>
      <p:pic>
        <p:nvPicPr>
          <p:cNvPr id="5" name="Picture 4" descr="2cd9631d6a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337" y="1645920"/>
            <a:ext cx="2955174" cy="403167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822960" y="5285232"/>
            <a:ext cx="3291840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22960" y="2743200"/>
            <a:ext cx="0" cy="2542032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8680" y="3007351"/>
            <a:ext cx="155447" cy="394216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4127" y="3401567"/>
            <a:ext cx="155449" cy="351935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79576" y="3753502"/>
            <a:ext cx="155448" cy="309652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35024" y="4063154"/>
            <a:ext cx="155448" cy="267371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90472" y="4330525"/>
            <a:ext cx="155448" cy="225088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45920" y="4555613"/>
            <a:ext cx="155448" cy="182807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01368" y="4738420"/>
            <a:ext cx="155448" cy="140525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56816" y="4878945"/>
            <a:ext cx="155448" cy="98243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12264" y="4977188"/>
            <a:ext cx="155448" cy="55962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67712" y="5033150"/>
            <a:ext cx="155448" cy="13679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23160" y="5018227"/>
            <a:ext cx="155448" cy="28602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578608" y="4947342"/>
            <a:ext cx="155448" cy="70885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734056" y="4834176"/>
            <a:ext cx="155448" cy="113166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889504" y="4678728"/>
            <a:ext cx="155448" cy="155448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044952" y="4480998"/>
            <a:ext cx="155448" cy="197730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200400" y="4240987"/>
            <a:ext cx="155448" cy="240011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355848" y="3958693"/>
            <a:ext cx="155448" cy="282294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511296" y="3634118"/>
            <a:ext cx="155448" cy="324575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666744" y="3267260"/>
            <a:ext cx="155448" cy="366858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22192" y="2858121"/>
            <a:ext cx="155448" cy="409139"/>
          </a:xfrm>
          <a:prstGeom prst="line">
            <a:avLst/>
          </a:prstGeom>
          <a:ln w="279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248716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0A6"/>
                </a:solidFill>
                <a:latin typeface="Calibri"/>
              </a:rPr>
              <a:t>ℒ(θ)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321808"/>
            <a:ext cx="548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AA0A6"/>
                </a:solidFill>
                <a:latin typeface="Calibri"/>
              </a:rPr>
              <a:t>θ</a:t>
            </a:r>
          </a:p>
        </p:txBody>
      </p:sp>
      <p:sp>
        <p:nvSpPr>
          <p:cNvPr id="31" name="Oval 30"/>
          <p:cNvSpPr/>
          <p:nvPr/>
        </p:nvSpPr>
        <p:spPr>
          <a:xfrm>
            <a:off x="850392" y="3092500"/>
            <a:ext cx="164592" cy="16459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1545336" y="4449031"/>
            <a:ext cx="164592" cy="16459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05840" y="3229660"/>
            <a:ext cx="548640" cy="1283379"/>
          </a:xfrm>
          <a:prstGeom prst="line">
            <a:avLst/>
          </a:prstGeom>
          <a:ln w="2032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2002536" y="4880628"/>
            <a:ext cx="164592" cy="16459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700784" y="4586191"/>
            <a:ext cx="310895" cy="358445"/>
          </a:xfrm>
          <a:prstGeom prst="line">
            <a:avLst/>
          </a:prstGeom>
          <a:ln w="2032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249424" y="4961607"/>
            <a:ext cx="164592" cy="16459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157984" y="5017788"/>
            <a:ext cx="100584" cy="7827"/>
          </a:xfrm>
          <a:prstGeom prst="line">
            <a:avLst/>
          </a:prstGeom>
          <a:ln w="2032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578608" y="50109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  <a:latin typeface="Calibri"/>
              </a:rPr>
              <a:t>θ*  mínimo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274320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D145B"/>
                </a:solidFill>
                <a:latin typeface="Calibri"/>
              </a:rPr>
              <a:t>cada passo desce</a:t>
            </a:r>
          </a:p>
          <a:p>
            <a:pPr algn="l"/>
            <a:r>
              <a:rPr sz="950" b="0" i="0">
                <a:solidFill>
                  <a:srgbClr val="ED145B"/>
                </a:solidFill>
                <a:latin typeface="Calibri"/>
              </a:rPr>
              <a:t>na direção −∇ℒ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2798064"/>
            <a:ext cx="2889504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D9CDB"/>
                </a:solidFill>
                <a:latin typeface="Calibri"/>
              </a:rPr>
              <a:t>η muito pequeno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converge devagar demais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3767328"/>
            <a:ext cx="2889504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7AE60"/>
                </a:solidFill>
                <a:latin typeface="Calibri"/>
              </a:rPr>
              <a:t>η adequado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desce em poucos passos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4736592"/>
            <a:ext cx="2889504" cy="749808"/>
          </a:xfrm>
          <a:prstGeom prst="roundRect">
            <a:avLst>
              <a:gd name="adj" fmla="val 10975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F2994A"/>
                </a:solidFill>
                <a:latin typeface="Calibri"/>
              </a:rPr>
              <a:t>η muito grande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oscila ou diverge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541264"/>
            <a:ext cx="6547104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SGD: o gradiente é estimado em mini-batches — escalável, e o ruído ajuda a escapar de mínimos rasos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ounded Rectangle 22"/>
          <p:cNvSpPr/>
          <p:nvPr/>
        </p:nvSpPr>
        <p:spPr>
          <a:xfrm>
            <a:off x="2765229" y="3675888"/>
            <a:ext cx="2397390" cy="926037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Backpropagation:</a:t>
            </a:r>
            <a:r>
              <a:rPr sz="2700" b="1">
                <a:solidFill>
                  <a:srgbClr val="ED145B"/>
                </a:solidFill>
                <a:latin typeface="Calibri"/>
              </a:rPr>
              <a:t> a ideia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Forward: calcula predições ŷ e loss 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Backward: aplica regra da cadeia, camada a camada, para obter ∇θ 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Cada camada calcula seu gradiente local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Gradientes se propagam do output para o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47088"/>
            <a:ext cx="1133856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65376" y="2203704"/>
            <a:ext cx="173736" cy="0"/>
          </a:xfrm>
          <a:prstGeom prst="line">
            <a:avLst/>
          </a:prstGeom>
          <a:ln w="2540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57400" y="1847088"/>
            <a:ext cx="1133856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h⁽¹⁾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9544" y="2203704"/>
            <a:ext cx="173736" cy="0"/>
          </a:xfrm>
          <a:prstGeom prst="line">
            <a:avLst/>
          </a:prstGeom>
          <a:ln w="2540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01568" y="1847088"/>
            <a:ext cx="1133856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h⁽²⁾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53712" y="2203704"/>
            <a:ext cx="173736" cy="0"/>
          </a:xfrm>
          <a:prstGeom prst="line">
            <a:avLst/>
          </a:prstGeom>
          <a:ln w="2540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45736" y="1847088"/>
            <a:ext cx="1133856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97880" y="2203704"/>
            <a:ext cx="173736" cy="0"/>
          </a:xfrm>
          <a:prstGeom prst="line">
            <a:avLst/>
          </a:prstGeom>
          <a:ln w="2540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9904" y="1847088"/>
            <a:ext cx="1133856" cy="713232"/>
          </a:xfrm>
          <a:prstGeom prst="roundRect">
            <a:avLst>
              <a:gd name="adj" fmla="val 11538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155448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D9CDB"/>
                </a:solidFill>
                <a:latin typeface="Calibri"/>
              </a:rPr>
              <a:t>FORWARD  →  calcula ŷ e 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55448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2994A"/>
                </a:solidFill>
                <a:latin typeface="Calibri"/>
              </a:rPr>
              <a:t>propaga o gradiente  ←  BACKWARD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56832" y="2578608"/>
            <a:ext cx="0" cy="54864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280160" y="3127248"/>
            <a:ext cx="5376672" cy="0"/>
          </a:xfrm>
          <a:prstGeom prst="line">
            <a:avLst/>
          </a:prstGeom>
          <a:ln w="254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80160" y="2596896"/>
            <a:ext cx="0" cy="530352"/>
          </a:xfrm>
          <a:prstGeom prst="line">
            <a:avLst/>
          </a:prstGeom>
          <a:ln w="2540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57884" y="318211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2994A"/>
                </a:solidFill>
                <a:latin typeface="Calibri"/>
              </a:rPr>
              <a:t>∂ℒ/∂W⁽¹⁾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2052" y="318211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2994A"/>
                </a:solidFill>
                <a:latin typeface="Calibri"/>
              </a:rPr>
              <a:t>∂ℒ/∂W⁽²⁾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6220" y="318211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2994A"/>
                </a:solidFill>
                <a:latin typeface="Calibri"/>
              </a:rPr>
              <a:t>∂ℒ/∂W</a:t>
            </a:r>
            <a:r>
              <a:rPr sz="950" b="0" i="0" baseline="30000">
                <a:solidFill>
                  <a:srgbClr val="F2994A"/>
                </a:solidFill>
                <a:latin typeface="Calibri"/>
              </a:rPr>
              <a:t>(L)</a:t>
            </a:r>
          </a:p>
        </p:txBody>
      </p:sp>
      <p:pic>
        <p:nvPicPr>
          <p:cNvPr id="22" name="Picture 21" descr="8bdfb2c388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397" y="3877056"/>
            <a:ext cx="1995054" cy="523701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85800" y="5029200"/>
            <a:ext cx="3145536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D9CDB"/>
                </a:solidFill>
                <a:latin typeface="Calibri"/>
              </a:rPr>
              <a:t>regra da cadeia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o gradiente de fora multiplica o gradiente local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87368" y="5029200"/>
            <a:ext cx="3145536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7AE60"/>
                </a:solidFill>
                <a:latin typeface="Calibri"/>
              </a:rPr>
              <a:t>um passe só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custo do backward ≈ custo do forward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94360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Rumelhart, Hinton &amp; Williams (1986), Nature 323 — o artigo que destravou o treino de redes profundas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3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Demonstração em código: backprop, autograd e gradientes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Backpropagation passo a passo em uma rede de 2 camadas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Autograd do PyTorch e o grafo computacional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Vanishing gradient: por que o gradiente some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5102352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056632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Notebook-first e o MLP em PyTorch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Backprop passo a passo:</a:t>
            </a:r>
            <a:r>
              <a:rPr sz="2700" b="1">
                <a:solidFill>
                  <a:srgbClr val="ED145B"/>
                </a:solidFill>
                <a:latin typeface="Calibri"/>
              </a:rPr>
              <a:t> rede de 2 camadas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forward guarda z⁽¹⁾ e h⁽¹⁾ — o backward precisa deles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δ⁽²⁾ é o erro medido na saída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δ⁽¹⁾ retropropaga δ⁽²⁾ pela transposta de W⁽²⁾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φ′(z⁽¹⁾) diz quanto de sinal cada neurônio deixa passar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gradiente de um peso é o produto externo δ · h</a:t>
            </a:r>
            <a:r>
              <a:rPr sz="1250" baseline="30000">
                <a:solidFill>
                  <a:srgbClr val="E4E4EA"/>
                </a:solidFill>
                <a:latin typeface="Calibri"/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D9CDB"/>
                </a:solidFill>
                <a:latin typeface="Calibri"/>
              </a:rPr>
              <a:t>A REDE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901952"/>
            <a:ext cx="2157984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2423160"/>
            <a:ext cx="0" cy="201168"/>
          </a:xfrm>
          <a:prstGeom prst="line">
            <a:avLst/>
          </a:prstGeom>
          <a:ln w="2032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32688" y="2633472"/>
            <a:ext cx="2157984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z⁽¹⁾ = W⁽¹⁾x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3154679"/>
            <a:ext cx="0" cy="201169"/>
          </a:xfrm>
          <a:prstGeom prst="line">
            <a:avLst/>
          </a:prstGeom>
          <a:ln w="2032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32688" y="3364991"/>
            <a:ext cx="2157984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h⁽¹⁾ = φ(z⁽¹⁾)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3886200"/>
            <a:ext cx="0" cy="201168"/>
          </a:xfrm>
          <a:prstGeom prst="line">
            <a:avLst/>
          </a:prstGeom>
          <a:ln w="2032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2688" y="4096511"/>
            <a:ext cx="2157984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ŷ = W⁽²⁾h⁽¹⁾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4617720"/>
            <a:ext cx="0" cy="201168"/>
          </a:xfrm>
          <a:prstGeom prst="line">
            <a:avLst/>
          </a:prstGeom>
          <a:ln w="2032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" y="4828031"/>
            <a:ext cx="2157984" cy="512064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ℒ(ŷ, y)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86384" y="2194560"/>
            <a:ext cx="0" cy="2724912"/>
          </a:xfrm>
          <a:prstGeom prst="line">
            <a:avLst/>
          </a:prstGeom>
          <a:ln w="2286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86384" y="2048256"/>
            <a:ext cx="0" cy="146304"/>
          </a:xfrm>
          <a:prstGeom prst="line">
            <a:avLst/>
          </a:prstGeom>
          <a:ln w="2286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6384" y="4919472"/>
            <a:ext cx="128016" cy="0"/>
          </a:xfrm>
          <a:prstGeom prst="line">
            <a:avLst/>
          </a:prstGeom>
          <a:ln w="2286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6384" y="546811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2994A"/>
                </a:solidFill>
                <a:latin typeface="Calibri"/>
              </a:rPr>
              <a:t>o erro volta pelo mesmo caminho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847088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D145B"/>
                </a:solidFill>
                <a:latin typeface="Calibri"/>
              </a:rPr>
              <a:t>ERRO NA SAÍDA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2103120"/>
            <a:ext cx="3703320" cy="841248"/>
          </a:xfrm>
          <a:prstGeom prst="roundRect">
            <a:avLst>
              <a:gd name="adj" fmla="val 978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pic>
        <p:nvPicPr>
          <p:cNvPr id="21" name="Picture 20" descr="bda7a4a065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864" y="2340864"/>
            <a:ext cx="1288472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20440" y="3127248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2994A"/>
                </a:solidFill>
                <a:latin typeface="Calibri"/>
              </a:rPr>
              <a:t>ERRO RETROPROPAGADO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3383280"/>
            <a:ext cx="3703320" cy="841248"/>
          </a:xfrm>
          <a:prstGeom prst="roundRect">
            <a:avLst>
              <a:gd name="adj" fmla="val 9782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pic>
        <p:nvPicPr>
          <p:cNvPr id="24" name="Picture 23" descr="c4faf4bf65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315" y="3635571"/>
            <a:ext cx="2593570" cy="33666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20440" y="4407408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  <a:latin typeface="Calibri"/>
              </a:rPr>
              <a:t>GRADIENTE DO PESO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663440"/>
            <a:ext cx="3703320" cy="841248"/>
          </a:xfrm>
          <a:prstGeom prst="roundRect">
            <a:avLst>
              <a:gd name="adj" fmla="val 978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pic>
        <p:nvPicPr>
          <p:cNvPr id="27" name="Picture 26" descr="d282a5e00a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573" y="4915731"/>
            <a:ext cx="1995054" cy="336665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520440" y="5541264"/>
            <a:ext cx="3703320" cy="603504"/>
          </a:xfrm>
          <a:prstGeom prst="roundRect">
            <a:avLst>
              <a:gd name="adj" fmla="val 13636"/>
            </a:avLst>
          </a:prstGeom>
          <a:noFill/>
          <a:ln w="1778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AA0A6"/>
                </a:solidFill>
                <a:latin typeface="Calibri"/>
              </a:rPr>
              <a:t>⊙ = produto elemento a elemento (Hadamard)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Autograd:</a:t>
            </a:r>
            <a:r>
              <a:rPr sz="2700" b="1">
                <a:solidFill>
                  <a:srgbClr val="ED145B"/>
                </a:solidFill>
                <a:latin typeface="Calibri"/>
              </a:rPr>
              <a:t> o milagre do PyTorch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Cada operação registra uma entrada no grafo computacional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.backward() percorre o grafo aplicando regra da cadeia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Todo framework moderno faz isso: PyTorch, JAX, TF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2768" y="1609344"/>
            <a:ext cx="4754880" cy="1204036"/>
          </a:xfrm>
          <a:prstGeom prst="roundRect">
            <a:avLst>
              <a:gd name="adj" fmla="val 5070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exemplo didático (não está no notebook)</a:t>
            </a:r>
          </a:p>
          <a:p>
            <a:pPr algn="l"/>
            <a:r>
              <a:rPr sz="1050">
                <a:solidFill>
                  <a:srgbClr val="ED145B"/>
                </a:solidFill>
                <a:latin typeface="Consolas"/>
              </a:rPr>
              <a:t>import</a:t>
            </a:r>
            <a:r>
              <a:rPr sz="1050">
                <a:solidFill>
                  <a:srgbClr val="E4E4EA"/>
                </a:solidFill>
                <a:latin typeface="Consolas"/>
              </a:rPr>
              <a:t> torch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x = torch.tensor([2.0], requires_grad=</a:t>
            </a:r>
            <a:r>
              <a:rPr sz="1050">
                <a:solidFill>
                  <a:srgbClr val="ED145B"/>
                </a:solidFill>
                <a:latin typeface="Consolas"/>
              </a:rPr>
              <a:t>True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y = x**3 + 2*x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y.backward()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print(x.grad)   # tensor([14.])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75887"/>
            <a:ext cx="84124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x =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7984" y="3017520"/>
            <a:ext cx="1024128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x³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∂/∂x = 3x²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57984" y="4206240"/>
            <a:ext cx="1024128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2·x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∂/∂x =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176" y="3675887"/>
            <a:ext cx="65836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4608" y="3675887"/>
            <a:ext cx="786384" cy="512064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700784" y="3429000"/>
            <a:ext cx="420624" cy="374904"/>
          </a:xfrm>
          <a:prstGeom prst="line">
            <a:avLst/>
          </a:prstGeom>
          <a:ln w="2032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700784" y="4059936"/>
            <a:ext cx="420624" cy="374904"/>
          </a:xfrm>
          <a:prstGeom prst="line">
            <a:avLst/>
          </a:prstGeom>
          <a:ln w="2032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18688" y="3429000"/>
            <a:ext cx="438912" cy="374904"/>
          </a:xfrm>
          <a:prstGeom prst="line">
            <a:avLst/>
          </a:prstGeom>
          <a:ln w="2032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218688" y="4059936"/>
            <a:ext cx="438912" cy="374904"/>
          </a:xfrm>
          <a:prstGeom prst="line">
            <a:avLst/>
          </a:prstGeom>
          <a:ln w="2032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89120" y="3931920"/>
            <a:ext cx="438912" cy="0"/>
          </a:xfrm>
          <a:prstGeom prst="line">
            <a:avLst/>
          </a:prstGeom>
          <a:ln w="2032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3310128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D9CDB"/>
                </a:solidFill>
                <a:latin typeface="Calibri"/>
              </a:rPr>
              <a:t>FORWARD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57800" y="4224528"/>
            <a:ext cx="0" cy="731520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243584" y="4956048"/>
            <a:ext cx="4014216" cy="0"/>
          </a:xfrm>
          <a:prstGeom prst="line">
            <a:avLst/>
          </a:prstGeom>
          <a:ln w="2286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3584" y="4224528"/>
            <a:ext cx="0" cy="731520"/>
          </a:xfrm>
          <a:prstGeom prst="line">
            <a:avLst/>
          </a:prstGeom>
          <a:ln w="2286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83080" y="4992624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2994A"/>
                </a:solidFill>
                <a:latin typeface="Calibri"/>
              </a:rPr>
              <a:t>BACKWARD  ·  soma dos caminhos: 12 + 2 = 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0448" y="3621024"/>
            <a:ext cx="1353312" cy="640080"/>
          </a:xfrm>
          <a:prstGeom prst="roundRect">
            <a:avLst>
              <a:gd name="adj" fmla="val 12857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x.grad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= 14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87568" y="3931920"/>
            <a:ext cx="146304" cy="0"/>
          </a:xfrm>
          <a:prstGeom prst="line">
            <a:avLst/>
          </a:prstGeom>
          <a:ln w="2032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2960" y="5358384"/>
            <a:ext cx="2066543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PyTorch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loss.backward()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35808" y="5358384"/>
            <a:ext cx="2066543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JAX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jax.grad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48656" y="5358384"/>
            <a:ext cx="2066543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TensorFlow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GradientTape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você não vai derivar backprop à mão em produção — mas precisa entender o grafo para depurar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Vanishing gradient:</a:t>
            </a:r>
            <a:r>
              <a:rPr sz="2700" b="1">
                <a:solidFill>
                  <a:srgbClr val="ED145B"/>
                </a:solidFill>
                <a:latin typeface="Calibri"/>
              </a:rPr>
              <a:t> o gradiente que some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Sigmoid saturada → σ'(z) ≈ 0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 rede profunda, gradiente ∝ Πₗ φ'(z⁽ˡ⁾)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Produto de pequenos números → desaparece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Ativação ReLU / GELU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Inicialização Kaiming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BatchNorm (aula 7)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Conexões residuais (aula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5448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D145B"/>
                </a:solidFill>
                <a:latin typeface="Calibri"/>
              </a:rPr>
              <a:t>SIGMOIDE SATURA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57276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D145B"/>
                </a:solidFill>
                <a:latin typeface="Calibri"/>
              </a:rPr>
              <a:t>σ′ máx = 0,25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3639312"/>
            <a:ext cx="2697480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12848" y="1920240"/>
            <a:ext cx="0" cy="1847088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68680" y="3632985"/>
            <a:ext cx="112394" cy="2483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81074" y="3628908"/>
            <a:ext cx="112396" cy="4077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3470" y="3622233"/>
            <a:ext cx="112395" cy="6675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05865" y="3611352"/>
            <a:ext cx="112395" cy="10881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18260" y="3593746"/>
            <a:ext cx="112395" cy="17606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30655" y="3565589"/>
            <a:ext cx="112395" cy="28157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43050" y="3521391"/>
            <a:ext cx="112395" cy="44198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5445" y="3454013"/>
            <a:ext cx="112395" cy="67378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7840" y="3355735"/>
            <a:ext cx="112395" cy="98278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0235" y="3221247"/>
            <a:ext cx="112395" cy="134488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92630" y="3052432"/>
            <a:ext cx="112395" cy="168815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05025" y="2862072"/>
            <a:ext cx="112395" cy="190360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17420" y="2671711"/>
            <a:ext cx="112395" cy="190361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329815" y="2502896"/>
            <a:ext cx="112395" cy="168815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442210" y="2368408"/>
            <a:ext cx="112395" cy="134488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554605" y="2270130"/>
            <a:ext cx="112395" cy="98278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667000" y="2202752"/>
            <a:ext cx="112395" cy="67378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779395" y="2158554"/>
            <a:ext cx="112394" cy="44198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891789" y="2130397"/>
            <a:ext cx="112396" cy="28157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004185" y="2112791"/>
            <a:ext cx="112395" cy="17606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116580" y="2101910"/>
            <a:ext cx="112395" cy="10881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228975" y="2095235"/>
            <a:ext cx="112395" cy="6675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341370" y="2091158"/>
            <a:ext cx="112395" cy="4077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453765" y="2088675"/>
            <a:ext cx="112395" cy="2483"/>
          </a:xfrm>
          <a:prstGeom prst="line">
            <a:avLst/>
          </a:prstGeom>
          <a:ln w="3048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68680" y="2084831"/>
            <a:ext cx="713232" cy="1554480"/>
          </a:xfrm>
          <a:prstGeom prst="roundRect">
            <a:avLst>
              <a:gd name="adj" fmla="val 11538"/>
            </a:avLst>
          </a:prstGeom>
          <a:noFill/>
          <a:ln w="17780">
            <a:solidFill>
              <a:srgbClr val="F299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52928" y="2084831"/>
            <a:ext cx="713232" cy="1554480"/>
          </a:xfrm>
          <a:prstGeom prst="roundRect">
            <a:avLst>
              <a:gd name="adj" fmla="val 11538"/>
            </a:avLst>
          </a:prstGeom>
          <a:noFill/>
          <a:ln w="17780">
            <a:solidFill>
              <a:srgbClr val="F299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369417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2994A"/>
                </a:solidFill>
                <a:latin typeface="Calibri"/>
              </a:rPr>
              <a:t>σ′ ≈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1488" y="369417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2994A"/>
                </a:solidFill>
                <a:latin typeface="Calibri"/>
              </a:rPr>
              <a:t>σ′ ≈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155448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994A"/>
                </a:solidFill>
                <a:latin typeface="Calibri"/>
              </a:rPr>
              <a:t>O PRODUTO ENCOLHE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31920" y="3675887"/>
            <a:ext cx="3310128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023360" y="2258568"/>
            <a:ext cx="475488" cy="1417320"/>
          </a:xfrm>
          <a:prstGeom prst="roundRect">
            <a:avLst>
              <a:gd name="adj" fmla="val 16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77056" y="2002535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0,25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77056" y="3730751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L1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72584" y="2930190"/>
            <a:ext cx="475488" cy="745697"/>
          </a:xfrm>
          <a:prstGeom prst="roundRect">
            <a:avLst>
              <a:gd name="adj" fmla="val 16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2674158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0,06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3730751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L2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21808" y="3264502"/>
            <a:ext cx="475488" cy="411385"/>
          </a:xfrm>
          <a:prstGeom prst="roundRect">
            <a:avLst>
              <a:gd name="adj" fmla="val 16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4" y="3008470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0,016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5504" y="3730751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L3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71032" y="3455432"/>
            <a:ext cx="475488" cy="220455"/>
          </a:xfrm>
          <a:prstGeom prst="roundRect">
            <a:avLst>
              <a:gd name="adj" fmla="val 16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24728" y="3199400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0,004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24728" y="3730751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L4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0256" y="3557748"/>
            <a:ext cx="475488" cy="118139"/>
          </a:xfrm>
          <a:prstGeom prst="roundRect">
            <a:avLst>
              <a:gd name="adj" fmla="val 1600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3952" y="3301716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0,001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3952" y="3730751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L5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0" y="402336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2994A"/>
                </a:solidFill>
                <a:latin typeface="Calibri"/>
              </a:rPr>
              <a:t>gradiente ∝ Π φ′(z⁽ˡ⁾) — camadas iniciais param de aprender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4443984"/>
            <a:ext cx="6547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SOLUÇÕES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3232" y="4754880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ReLU / GELU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derivada 1 na região ativa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404872" y="4754880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init. Kaiming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variância preservada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96511" y="4754880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BatchNorm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aula 7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788152" y="4754880"/>
            <a:ext cx="1554480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conexões residuais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aula 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3232" y="5596128"/>
            <a:ext cx="6547104" cy="566928"/>
          </a:xfrm>
          <a:prstGeom prst="roundRect">
            <a:avLst>
              <a:gd name="adj" fmla="val 14516"/>
            </a:avLst>
          </a:prstGeom>
          <a:noFill/>
          <a:ln w="1778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AA0A6"/>
                </a:solidFill>
                <a:latin typeface="Calibri"/>
              </a:rPr>
              <a:t>Hochreiter (1991) — o problema que motivou LSTM (aula 5) e ResNet (aula 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Notebook-first:</a:t>
            </a:r>
            <a:r>
              <a:rPr sz="2700" b="1">
                <a:solidFill>
                  <a:srgbClr val="ED145B"/>
                </a:solidFill>
                <a:latin typeface="Calibri"/>
              </a:rPr>
              <a:t> como testamos backpropagation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Notebook da aula: handson/hands-on.ipynb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Pergunta experimental: em um problema visual multiclasse pequeno, um MLP já produz ganho mensurável sobre um baseline linear quando treinado com backpropagation?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Hipótese: regressão logística é um baseline forte; o MLP deve ganhar ao modelar combinações não lineares entre pixels sem colapsar o gradiente cedo demais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Baseline: regressão logística multinomial sobre pixels achatados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Métricas centrais: cross-entropy, acurácia, macro-F1, matriz de confusão e normas de gradiente por camada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que o notebook demonstra: comparação controlada no load_digits, sob a mesma partição e mesma semente, para separar ganho de representação de estabilidade de treino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91056"/>
            <a:ext cx="6547104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PERGUNTA: em um problema visual multiclasse pequeno, o MLP treinado com backprop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ganha de um baseline linear — e o gradiente se mantém saudável?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42032"/>
            <a:ext cx="3063240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BASELINE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regressão logística multinomial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sobre pixels achatados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9663" y="2542032"/>
            <a:ext cx="3063240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MODELO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MLP com camadas ocultas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 ativação não linear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871216"/>
            <a:ext cx="3840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9AA0A6"/>
                </a:solidFill>
                <a:latin typeface="Calibri"/>
              </a:rP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675887"/>
            <a:ext cx="6547104" cy="548640"/>
          </a:xfrm>
          <a:prstGeom prst="roundRect">
            <a:avLst>
              <a:gd name="adj" fmla="val 15000"/>
            </a:avLst>
          </a:prstGeom>
          <a:noFill/>
          <a:ln w="17780">
            <a:solidFill>
              <a:srgbClr val="27AE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27AE60"/>
                </a:solidFill>
                <a:latin typeface="Calibri"/>
              </a:rPr>
              <a:t>CONTROLE: mesma partição · mesma semente · mesmo pré-processamento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70832"/>
            <a:ext cx="6547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MÉTRICAS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681728"/>
            <a:ext cx="1225296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cross-entropy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25395" y="4681728"/>
            <a:ext cx="1225296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acurácia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4681728"/>
            <a:ext cx="1225296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macro-F1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4588" y="4681728"/>
            <a:ext cx="1225296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matriz de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confusão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4184" y="4681728"/>
            <a:ext cx="1225296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norma do gradiente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por camada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522976"/>
            <a:ext cx="6547104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dataset: load_digits (8×8, 10 classes) — barato de treinar e suficiente para separar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ganho de representação de estabilidade de treino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Hands-on:</a:t>
            </a:r>
            <a:r>
              <a:rPr sz="2700" b="1">
                <a:solidFill>
                  <a:srgbClr val="ED145B"/>
                </a:solidFill>
                <a:latin typeface="Calibri"/>
              </a:rPr>
              <a:t> MLP em PyTorch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nn.Sequential empilha as camadas na ordem do forward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digits.data já chega achatado: 64 pixels por imagem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ReLU entre as camadas — sem ela, tudo colapsa em uma matriz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última camada devolve logits: a loss aplica o softmax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Dropout(0.1) só após o 1º bloco — regulariza a camada mais larga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9344"/>
            <a:ext cx="4224528" cy="2166076"/>
          </a:xfrm>
          <a:prstGeom prst="roundRect">
            <a:avLst>
              <a:gd name="adj" fmla="val 2825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hands-on.ipynb · DigitsMLP (resumo)</a:t>
            </a:r>
          </a:p>
          <a:p>
            <a:pPr algn="l"/>
            <a:r>
              <a:rPr sz="1050">
                <a:solidFill>
                  <a:srgbClr val="ED145B"/>
                </a:solidFill>
                <a:latin typeface="Consolas"/>
              </a:rPr>
              <a:t>class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DigitsMLP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nn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Module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  <a:r>
              <a:rPr sz="1050">
                <a:solidFill>
                  <a:srgbClr val="E4E4EA"/>
                </a:solidFill>
                <a:latin typeface="Consolas"/>
              </a:rPr>
              <a:t>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D145B"/>
                </a:solidFill>
                <a:latin typeface="Consolas"/>
              </a:rPr>
              <a:t>def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__init__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dropout</a:t>
            </a:r>
            <a:r>
              <a:rPr sz="1050">
                <a:solidFill>
                  <a:srgbClr val="E4E4EA"/>
                </a:solidFill>
                <a:latin typeface="Consolas"/>
              </a:rPr>
              <a:t>=</a:t>
            </a:r>
            <a:r>
              <a:rPr sz="1050">
                <a:solidFill>
                  <a:srgbClr val="E4E4EA"/>
                </a:solidFill>
                <a:latin typeface="Consolas"/>
              </a:rPr>
              <a:t>0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1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  <a:r>
              <a:rPr sz="1050">
                <a:solidFill>
                  <a:srgbClr val="E4E4EA"/>
                </a:solidFill>
                <a:latin typeface="Consolas"/>
              </a:rPr>
              <a:t>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D145B"/>
                </a:solidFill>
                <a:latin typeface="Consolas"/>
              </a:rPr>
              <a:t>super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__init__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net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=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nn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Sequential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nn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Linear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64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128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nn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ReLU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nn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Dropout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dropout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nn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Linear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128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64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nn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ReLU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nn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Linear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64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10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D145B"/>
                </a:solidFill>
                <a:latin typeface="Consolas"/>
              </a:rPr>
              <a:t>def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forward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x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  <a:r>
              <a:rPr sz="1050">
                <a:solidFill>
                  <a:srgbClr val="E4E4EA"/>
                </a:solidFill>
                <a:latin typeface="Consolas"/>
              </a:rPr>
              <a:t>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D145B"/>
                </a:solidFill>
                <a:latin typeface="Consolas"/>
              </a:rPr>
              <a:t>return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D145B"/>
                </a:solidFill>
                <a:latin typeface="Consolas"/>
              </a:rPr>
              <a:t>self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net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x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64208"/>
            <a:ext cx="210312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entrada 8×8 = 64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72200" y="2240280"/>
            <a:ext cx="0" cy="201168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20640" y="2450592"/>
            <a:ext cx="2103120" cy="566928"/>
          </a:xfrm>
          <a:prstGeom prst="roundRect">
            <a:avLst>
              <a:gd name="adj" fmla="val 14516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Linear 64 → 128 + ReLU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72200" y="3026664"/>
            <a:ext cx="0" cy="201168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0640" y="3236976"/>
            <a:ext cx="2103120" cy="566928"/>
          </a:xfrm>
          <a:prstGeom prst="roundRect">
            <a:avLst>
              <a:gd name="adj" fmla="val 14516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Linear 128 → 64 + ReLU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72200" y="3813048"/>
            <a:ext cx="0" cy="201167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20640" y="4023360"/>
            <a:ext cx="2103120" cy="566928"/>
          </a:xfrm>
          <a:prstGeom prst="roundRect">
            <a:avLst>
              <a:gd name="adj" fmla="val 14516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Linear 64 → 10  (logits)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70001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3 camadas · Dropout 0,1 na 1ª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86784"/>
            <a:ext cx="4224528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≈ 17 mil parâmetros — todos aprendidos por backpropagation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29200"/>
            <a:ext cx="6547104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 rede devolve logits: CrossEntropyLoss aplica o softmax internamente (numericamente estável)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70448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sem ReLU entre as camadas, as três matrizes colapsariam em uma só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4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Execução e discussão: treino, overfitting e negócio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laço de treino canônico, linha a linha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Overfitting e as mitigações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Caso de negócio: churn em telecom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5102352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056632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que vem na Aula 3 e as referências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Laço de treino canônico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zero_grad() limpa gradientes acumulados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backward() preenche .grad via autograd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step() atualiza parâmetros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8448" y="1609344"/>
            <a:ext cx="5074920" cy="1524716"/>
          </a:xfrm>
          <a:prstGeom prst="roundRect">
            <a:avLst>
              <a:gd name="adj" fmla="val 4008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hands-on.ipynb · train_mlp (trecho)</a:t>
            </a:r>
          </a:p>
          <a:p>
            <a:pPr algn="l"/>
            <a:r>
              <a:rPr sz="1050">
                <a:solidFill>
                  <a:srgbClr val="ED145B"/>
                </a:solidFill>
                <a:latin typeface="Consolas"/>
              </a:rPr>
              <a:t>for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epoch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D145B"/>
                </a:solidFill>
                <a:latin typeface="Consolas"/>
              </a:rPr>
              <a:t>in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range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1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epochs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+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1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  <a:r>
              <a:rPr sz="1050">
                <a:solidFill>
                  <a:srgbClr val="E4E4EA"/>
                </a:solidFill>
                <a:latin typeface="Consolas"/>
              </a:rPr>
              <a:t>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D145B"/>
                </a:solidFill>
                <a:latin typeface="Consolas"/>
              </a:rPr>
              <a:t>for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xb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yb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D145B"/>
                </a:solidFill>
                <a:latin typeface="Consolas"/>
              </a:rPr>
              <a:t>in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train_loader</a:t>
            </a:r>
            <a:r>
              <a:rPr sz="1050">
                <a:solidFill>
                  <a:srgbClr val="E4E4EA"/>
                </a:solidFill>
                <a:latin typeface="Consolas"/>
              </a:rPr>
              <a:t>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optimizer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zero_grad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logits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=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model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xb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loss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=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criterion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logits</a:t>
            </a:r>
            <a:r>
              <a:rPr sz="1050">
                <a:solidFill>
                  <a:srgbClr val="E4E4EA"/>
                </a:solidFill>
                <a:latin typeface="Consolas"/>
              </a:rPr>
              <a:t>,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yb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loss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backward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 </a:t>
            </a:r>
            <a:r>
              <a:rPr sz="1050">
                <a:solidFill>
                  <a:srgbClr val="E4E4EA"/>
                </a:solidFill>
                <a:latin typeface="Consolas"/>
              </a:rPr>
              <a:t>optimizer</a:t>
            </a:r>
            <a:r>
              <a:rPr sz="1050">
                <a:solidFill>
                  <a:srgbClr val="E4E4EA"/>
                </a:solidFill>
                <a:latin typeface="Consolas"/>
              </a:rPr>
              <a:t>.</a:t>
            </a:r>
            <a:r>
              <a:rPr sz="1050">
                <a:solidFill>
                  <a:srgbClr val="E4E4EA"/>
                </a:solidFill>
                <a:latin typeface="Consolas"/>
              </a:rPr>
              <a:t>step</a:t>
            </a:r>
            <a:r>
              <a:rPr sz="1050">
                <a:solidFill>
                  <a:srgbClr val="E4E4EA"/>
                </a:solidFill>
                <a:latin typeface="Consolas"/>
              </a:rPr>
              <a:t>(</a:t>
            </a:r>
            <a:r>
              <a:rPr sz="1050">
                <a:solidFill>
                  <a:srgbClr val="E4E4EA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547872"/>
            <a:ext cx="1082649" cy="731520"/>
          </a:xfrm>
          <a:prstGeom prst="roundRect">
            <a:avLst>
              <a:gd name="adj" fmla="val 11249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0B0B0F"/>
                </a:solidFill>
                <a:latin typeface="Calibri"/>
              </a:rPr>
              <a:t>opt.zero_grad()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14169" y="3913632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70201" y="3547872"/>
            <a:ext cx="1082649" cy="731520"/>
          </a:xfrm>
          <a:prstGeom prst="roundRect">
            <a:avLst>
              <a:gd name="adj" fmla="val 11249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logits = model(x)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71139" y="3913632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7171" y="3547872"/>
            <a:ext cx="1082649" cy="731520"/>
          </a:xfrm>
          <a:prstGeom prst="roundRect">
            <a:avLst>
              <a:gd name="adj" fmla="val 11249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loss = loss_fn(...)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28108" y="3913632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84140" y="3547872"/>
            <a:ext cx="1082649" cy="731520"/>
          </a:xfrm>
          <a:prstGeom prst="roundRect">
            <a:avLst>
              <a:gd name="adj" fmla="val 11249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loss.backward()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85078" y="3913632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41110" y="3547872"/>
            <a:ext cx="1082649" cy="731520"/>
          </a:xfrm>
          <a:prstGeom prst="roundRect">
            <a:avLst>
              <a:gd name="adj" fmla="val 11249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opt.step()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82435" y="4297680"/>
            <a:ext cx="0" cy="329184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254556" y="4626864"/>
            <a:ext cx="5427879" cy="0"/>
          </a:xfrm>
          <a:prstGeom prst="line">
            <a:avLst/>
          </a:prstGeom>
          <a:ln w="2286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54556" y="4315968"/>
            <a:ext cx="0" cy="310896"/>
          </a:xfrm>
          <a:prstGeom prst="line">
            <a:avLst/>
          </a:prstGeom>
          <a:ln w="2286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94560" y="468172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D145B"/>
                </a:solidFill>
                <a:latin typeface="Calibri"/>
              </a:rPr>
              <a:t>repete a cada mini-batch, época após época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5138928"/>
            <a:ext cx="1999488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F2994A"/>
                </a:solidFill>
                <a:latin typeface="Calibri"/>
              </a:rPr>
              <a:t>zero_grad()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limpa gradientes acumulados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68752" y="5138928"/>
            <a:ext cx="1999488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9B51E0"/>
                </a:solidFill>
                <a:latin typeface="Calibri"/>
              </a:rPr>
              <a:t>backward()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preenche .grad via autograd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24272" y="5138928"/>
            <a:ext cx="1999488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7AE60"/>
                </a:solidFill>
                <a:latin typeface="Calibri"/>
              </a:rPr>
              <a:t>step()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atualiza os parâmetros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53328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esse laço reaparece em todas as aulas seguintes — memorize a ordem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Overfitting:</a:t>
            </a:r>
            <a:r>
              <a:rPr sz="2700" b="1">
                <a:solidFill>
                  <a:srgbClr val="ED145B"/>
                </a:solidFill>
                <a:latin typeface="Calibri"/>
              </a:rPr>
              <a:t> o segundo inimigo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Rede decora o treino, falha no teste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Sinal: loss de treino cai, loss de validação sobe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Gráfico clássico da curva de aprendizado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Regularização L2 / Dropout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Early stopping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Mais dados / augmentation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4681728"/>
            <a:ext cx="3977640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960120" y="1847088"/>
            <a:ext cx="0" cy="283464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57276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4718304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épocas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1560" y="2057400"/>
            <a:ext cx="205740" cy="368896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7300" y="2426296"/>
            <a:ext cx="205739" cy="310534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63039" y="2736830"/>
            <a:ext cx="205740" cy="261405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68779" y="2998235"/>
            <a:ext cx="205740" cy="220049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74519" y="3218284"/>
            <a:ext cx="205741" cy="185236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80260" y="3403520"/>
            <a:ext cx="205740" cy="155929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86000" y="3559449"/>
            <a:ext cx="205739" cy="131261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91739" y="3690710"/>
            <a:ext cx="205740" cy="110494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697479" y="3801204"/>
            <a:ext cx="205741" cy="93013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03220" y="3894217"/>
            <a:ext cx="205740" cy="78297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08960" y="3972514"/>
            <a:ext cx="205740" cy="65910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314700" y="4038424"/>
            <a:ext cx="205739" cy="55483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20439" y="4093907"/>
            <a:ext cx="205740" cy="46705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26179" y="4140612"/>
            <a:ext cx="205741" cy="39316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31920" y="4179928"/>
            <a:ext cx="205740" cy="33096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37660" y="4213024"/>
            <a:ext cx="205740" cy="27859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43400" y="4240883"/>
            <a:ext cx="205740" cy="23453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49140" y="4264336"/>
            <a:ext cx="205739" cy="19741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51560" y="2103120"/>
            <a:ext cx="205740" cy="390107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57300" y="2493227"/>
            <a:ext cx="205739" cy="308921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463039" y="2802148"/>
            <a:ext cx="205740" cy="244632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668779" y="3046780"/>
            <a:ext cx="205740" cy="193722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74519" y="3240502"/>
            <a:ext cx="205741" cy="153406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80260" y="3393908"/>
            <a:ext cx="205740" cy="121481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86000" y="3515389"/>
            <a:ext cx="205739" cy="96199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491739" y="3611588"/>
            <a:ext cx="205740" cy="66727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97479" y="3678315"/>
            <a:ext cx="205741" cy="22935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903220" y="3700403"/>
            <a:ext cx="205740" cy="847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108960" y="3681917"/>
            <a:ext cx="205740" cy="18486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314700" y="3649451"/>
            <a:ext cx="205739" cy="32466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520439" y="3605593"/>
            <a:ext cx="205740" cy="43858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726179" y="3552286"/>
            <a:ext cx="205741" cy="53307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931920" y="3491029"/>
            <a:ext cx="205740" cy="61257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137660" y="3422999"/>
            <a:ext cx="205740" cy="68030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343400" y="3349132"/>
            <a:ext cx="205740" cy="73867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549140" y="3270177"/>
            <a:ext cx="205739" cy="78955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06954" y="1874519"/>
            <a:ext cx="0" cy="2788921"/>
          </a:xfrm>
          <a:prstGeom prst="line">
            <a:avLst/>
          </a:prstGeom>
          <a:ln w="2032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948586" y="1572768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early stopping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431596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D9CDB"/>
                </a:solidFill>
                <a:latin typeface="Calibri"/>
              </a:rPr>
              <a:t>treino 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2761488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2994A"/>
                </a:solidFill>
                <a:latin typeface="Calibri"/>
              </a:rPr>
              <a:t>validação 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4882896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underfit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5474" y="488289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7AE60"/>
                </a:solidFill>
                <a:latin typeface="Calibri"/>
              </a:rPr>
              <a:t>ponto ideal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488289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2994A"/>
                </a:solidFill>
                <a:latin typeface="Calibri"/>
              </a:rPr>
              <a:t>overfit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30368" y="1874519"/>
            <a:ext cx="2002536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00" b="1">
                <a:solidFill>
                  <a:srgbClr val="9B51E0"/>
                </a:solidFill>
                <a:latin typeface="Calibri"/>
              </a:rPr>
              <a:t>L2 / Dropout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penaliza ou desliga pesos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230368" y="2862072"/>
            <a:ext cx="2002536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00" b="1">
                <a:solidFill>
                  <a:srgbClr val="27AE60"/>
                </a:solidFill>
                <a:latin typeface="Calibri"/>
              </a:rPr>
              <a:t>Early stopping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para no ponto ideal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30368" y="3849624"/>
            <a:ext cx="2002536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00" b="1">
                <a:solidFill>
                  <a:srgbClr val="2D9CDB"/>
                </a:solidFill>
                <a:latin typeface="Calibri"/>
              </a:rPr>
              <a:t>Mais dados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augmentation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0368" y="4754880"/>
            <a:ext cx="20025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aprofundado na aula 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3232" y="5248656"/>
            <a:ext cx="6528816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sinal de alarme: a loss de treino continua caindo enquanto a loss de validação sobe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03504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a rede decorou o treino — capacidade sobrando, dados de menos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Caso de negócio:</a:t>
            </a:r>
            <a:r>
              <a:rPr sz="2700" b="1">
                <a:solidFill>
                  <a:srgbClr val="ED145B"/>
                </a:solidFill>
                <a:latin typeface="Calibri"/>
              </a:rPr>
              <a:t> churn em telecom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Operadora com ~60 M de linhas ativas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Problema: prever clientes que cancelarão em 30 dias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Abordagem: MLP com features comportamentais + demográficas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Por que não regressão logística? Interações não-lineares entre uso de dados, reclamações e tempo de contrato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654710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operadora com ~60 milhões de linhas ativas · prever quem cancela em 30 dias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04288"/>
            <a:ext cx="1481328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features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comportamentais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+ demográficas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85416" y="2752344"/>
            <a:ext cx="173736" cy="0"/>
          </a:xfrm>
          <a:prstGeom prst="line">
            <a:avLst/>
          </a:prstGeom>
          <a:ln w="2286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304288"/>
            <a:ext cx="1481328" cy="896112"/>
          </a:xfrm>
          <a:prstGeom prst="roundRect">
            <a:avLst>
              <a:gd name="adj" fmla="val 9183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MLP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camadas ocultas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+ ReLU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77056" y="2752344"/>
            <a:ext cx="173736" cy="0"/>
          </a:xfrm>
          <a:prstGeom prst="line">
            <a:avLst/>
          </a:prstGeom>
          <a:ln w="2286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69080" y="2304288"/>
            <a:ext cx="1481328" cy="896112"/>
          </a:xfrm>
          <a:prstGeom prst="roundRect">
            <a:avLst>
              <a:gd name="adj" fmla="val 918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p(churn)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em 30 dias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68696" y="2752344"/>
            <a:ext cx="173736" cy="0"/>
          </a:xfrm>
          <a:prstGeom prst="line">
            <a:avLst/>
          </a:prstGeom>
          <a:ln w="2286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60720" y="2304288"/>
            <a:ext cx="1481328" cy="896112"/>
          </a:xfrm>
          <a:prstGeom prst="roundRect">
            <a:avLst>
              <a:gd name="adj" fmla="val 9183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ação de retenção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oferta dirigida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38144"/>
            <a:ext cx="65471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994A"/>
                </a:solidFill>
                <a:latin typeface="Calibri"/>
              </a:rPr>
              <a:t>POR QUE NÃO REGRESSÃO LOGÍSTICA?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85615"/>
            <a:ext cx="1609344" cy="585216"/>
          </a:xfrm>
          <a:prstGeom prst="roundRect">
            <a:avLst>
              <a:gd name="adj" fmla="val 1406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uso de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39684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2994A"/>
                </a:solidFill>
                <a:latin typeface="Calibri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785615"/>
            <a:ext cx="1609344" cy="585216"/>
          </a:xfrm>
          <a:prstGeom prst="roundRect">
            <a:avLst>
              <a:gd name="adj" fmla="val 1406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reclamações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1" y="396849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2994A"/>
                </a:solidFill>
                <a:latin typeface="Calibri"/>
              </a:rPr>
              <a:t>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3785615"/>
            <a:ext cx="1609344" cy="585216"/>
          </a:xfrm>
          <a:prstGeom prst="roundRect">
            <a:avLst>
              <a:gd name="adj" fmla="val 1406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tempo de contrato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59352" y="4407408"/>
            <a:ext cx="0" cy="274320"/>
          </a:xfrm>
          <a:prstGeom prst="line">
            <a:avLst/>
          </a:prstGeom>
          <a:ln w="2286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371600" y="4718304"/>
            <a:ext cx="5175504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 risco só aparece na interação — a rede aprende isso sem feature engineering manual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596128"/>
            <a:ext cx="6547104" cy="566928"/>
          </a:xfrm>
          <a:prstGeom prst="roundRect">
            <a:avLst>
              <a:gd name="adj" fmla="val 14516"/>
            </a:avLst>
          </a:prstGeom>
          <a:noFill/>
          <a:ln w="17780">
            <a:solidFill>
              <a:srgbClr val="27AE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27AE60"/>
                </a:solidFill>
                <a:latin typeface="Calibri"/>
              </a:rPr>
              <a:t>métrica de negócio: recall na base de alto valor &gt; acurácia global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que vem aí:</a:t>
            </a:r>
            <a:r>
              <a:rPr sz="2700" b="1">
                <a:solidFill>
                  <a:srgbClr val="ED145B"/>
                </a:solidFill>
                <a:latin typeface="Calibri"/>
              </a:rPr>
              <a:t> Aula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Dados são imagens — cada pixel é uma feature?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Explosão de parâmetros → Convolução como solução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Arquiteturas clássicas: LeNet, AlexNet, VGG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7276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2994A"/>
                </a:solidFill>
                <a:latin typeface="Calibri"/>
              </a:rPr>
              <a:t>O PROBLEMA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20240"/>
            <a:ext cx="3108960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imagem 224 × 224 × 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67712" y="2487168"/>
            <a:ext cx="0" cy="219456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13232" y="2724912"/>
            <a:ext cx="3108960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150.528 features achatadas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67712" y="3291840"/>
            <a:ext cx="0" cy="219456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3232" y="3529584"/>
            <a:ext cx="3108960" cy="822960"/>
          </a:xfrm>
          <a:prstGeom prst="roundRect">
            <a:avLst>
              <a:gd name="adj" fmla="val 1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0B0B0F"/>
                </a:solidFill>
                <a:latin typeface="Calibri"/>
              </a:rPr>
              <a:t>camada densa de 1.000 neurônios →</a:t>
            </a:r>
          </a:p>
          <a:p>
            <a:pPr algn="ctr"/>
            <a:r>
              <a:rPr sz="1050" b="0">
                <a:solidFill>
                  <a:srgbClr val="0B0B0F"/>
                </a:solidFill>
                <a:latin typeface="Calibri"/>
              </a:rPr>
              <a:t>150 milhões de pesos — e ainda ignora</a:t>
            </a:r>
          </a:p>
          <a:p>
            <a:pPr algn="ctr"/>
            <a:r>
              <a:rPr sz="1050" b="0">
                <a:solidFill>
                  <a:srgbClr val="0B0B0F"/>
                </a:solidFill>
                <a:latin typeface="Calibri"/>
              </a:rPr>
              <a:t>a vizinhança dos pixels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157276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7AE60"/>
                </a:solidFill>
                <a:latin typeface="Calibri"/>
              </a:rPr>
              <a:t>A SOLUÇÃO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92024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192024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73168" y="192024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47488" y="192024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1808" y="192024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219456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98848" y="2194560"/>
            <a:ext cx="274320" cy="274320"/>
          </a:xfrm>
          <a:prstGeom prst="rect">
            <a:avLst/>
          </a:prstGeom>
          <a:solidFill>
            <a:srgbClr val="27AE6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73168" y="2194560"/>
            <a:ext cx="274320" cy="274320"/>
          </a:xfrm>
          <a:prstGeom prst="rect">
            <a:avLst/>
          </a:prstGeom>
          <a:solidFill>
            <a:srgbClr val="27AE6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7488" y="2194560"/>
            <a:ext cx="274320" cy="274320"/>
          </a:xfrm>
          <a:prstGeom prst="rect">
            <a:avLst/>
          </a:prstGeom>
          <a:solidFill>
            <a:srgbClr val="27AE6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1808" y="219456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246888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2468880"/>
            <a:ext cx="274320" cy="274320"/>
          </a:xfrm>
          <a:prstGeom prst="rect">
            <a:avLst/>
          </a:prstGeom>
          <a:solidFill>
            <a:srgbClr val="27AE6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73168" y="2468880"/>
            <a:ext cx="274320" cy="274320"/>
          </a:xfrm>
          <a:prstGeom prst="rect">
            <a:avLst/>
          </a:prstGeom>
          <a:solidFill>
            <a:srgbClr val="27AE6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7488" y="2468880"/>
            <a:ext cx="274320" cy="274320"/>
          </a:xfrm>
          <a:prstGeom prst="rect">
            <a:avLst/>
          </a:prstGeom>
          <a:solidFill>
            <a:srgbClr val="27AE6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21808" y="246888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24528" y="274320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98848" y="2743200"/>
            <a:ext cx="274320" cy="274320"/>
          </a:xfrm>
          <a:prstGeom prst="rect">
            <a:avLst/>
          </a:prstGeom>
          <a:solidFill>
            <a:srgbClr val="27AE6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73168" y="2743200"/>
            <a:ext cx="274320" cy="274320"/>
          </a:xfrm>
          <a:prstGeom prst="rect">
            <a:avLst/>
          </a:prstGeom>
          <a:solidFill>
            <a:srgbClr val="27AE6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47488" y="2743200"/>
            <a:ext cx="274320" cy="274320"/>
          </a:xfrm>
          <a:prstGeom prst="rect">
            <a:avLst/>
          </a:prstGeom>
          <a:solidFill>
            <a:srgbClr val="27AE60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21808" y="274320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24528" y="301752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98848" y="301752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73168" y="301752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47488" y="301752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21808" y="3017520"/>
            <a:ext cx="274320" cy="274320"/>
          </a:xfrm>
          <a:prstGeom prst="rect">
            <a:avLst/>
          </a:prstGeom>
          <a:solidFill>
            <a:srgbClr val="17171F"/>
          </a:solidFill>
          <a:ln w="9525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5687568" y="2606040"/>
            <a:ext cx="274320" cy="0"/>
          </a:xfrm>
          <a:prstGeom prst="line">
            <a:avLst/>
          </a:prstGeom>
          <a:ln w="2286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998464" y="2286000"/>
            <a:ext cx="1225296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kernel 3×3</a:t>
            </a:r>
          </a:p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9 pesos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33087" y="3456432"/>
            <a:ext cx="3108960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os mesmos 9 pesos deslizam por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toda a imagem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" y="4901184"/>
            <a:ext cx="6126480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636775" y="4800600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4498848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1998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02920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LeNet-5</a:t>
            </a:r>
          </a:p>
        </p:txBody>
      </p:sp>
      <p:sp>
        <p:nvSpPr>
          <p:cNvPr id="44" name="Oval 43"/>
          <p:cNvSpPr/>
          <p:nvPr/>
        </p:nvSpPr>
        <p:spPr>
          <a:xfrm>
            <a:off x="3831335" y="4800600"/>
            <a:ext cx="201168" cy="201168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39" y="4498848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2012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39" y="502920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AlexNet</a:t>
            </a:r>
          </a:p>
        </p:txBody>
      </p:sp>
      <p:sp>
        <p:nvSpPr>
          <p:cNvPr id="47" name="Oval 46"/>
          <p:cNvSpPr/>
          <p:nvPr/>
        </p:nvSpPr>
        <p:spPr>
          <a:xfrm>
            <a:off x="6025896" y="4800600"/>
            <a:ext cx="201168" cy="201168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4498848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9B51E0"/>
                </a:solidFill>
                <a:latin typeface="Calibri"/>
              </a:rPr>
              <a:t>2014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502920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VGG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232" y="5541264"/>
            <a:ext cx="6528816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Aula 3: convolução, pooling e as arquiteturas clássicas de visão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Referências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RUMELHART, HINTON, WILLIAMS. Learning representations by back-propagating errors. Nature 323, 1986.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CYBENKO (1989); HORNIK (1991) — universal approximation.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HOCHREITER (1991) — vanishing gradient (Diplomarbeit, TU München).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GOODFELLOW et al. (2016), cap. 6 e 8.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PRINCE (2023), cap. 3–7.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ZHANG et al. (2023), cap. 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47088"/>
            <a:ext cx="4041648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ED145B"/>
                </a:solidFill>
                <a:latin typeface="Calibri"/>
              </a:rPr>
              <a:t>FUNDAÇÃO · 1986–1991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47088"/>
            <a:ext cx="2194560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D9CDB"/>
                </a:solidFill>
                <a:latin typeface="Calibri"/>
              </a:rPr>
              <a:t>LIVROS-TEXTO · 2016–2023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3310128"/>
            <a:ext cx="6309360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5839" y="3218688"/>
            <a:ext cx="182880" cy="18288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81635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ED145B"/>
                </a:solidFill>
                <a:latin typeface="Calibri"/>
              </a:rPr>
              <a:t>1986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" y="3474720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RUMELHART, HINTON</a:t>
            </a:r>
          </a:p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&amp; WILLIAMS · Nature</a:t>
            </a:r>
          </a:p>
        </p:txBody>
      </p:sp>
      <p:sp>
        <p:nvSpPr>
          <p:cNvPr id="11" name="Oval 10"/>
          <p:cNvSpPr/>
          <p:nvPr/>
        </p:nvSpPr>
        <p:spPr>
          <a:xfrm>
            <a:off x="2103120" y="3218688"/>
            <a:ext cx="182880" cy="18288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1" y="281635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ED145B"/>
                </a:solidFill>
                <a:latin typeface="Calibri"/>
              </a:rPr>
              <a:t>1989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94560" y="3419856"/>
            <a:ext cx="0" cy="438912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72767" y="3895344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CYBENKO</a:t>
            </a:r>
          </a:p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aproximação universal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218688"/>
            <a:ext cx="182880" cy="18288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81635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ED145B"/>
                </a:solidFill>
                <a:latin typeface="Calibri"/>
              </a:rPr>
              <a:t>1991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3474720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HORNIK</a:t>
            </a:r>
          </a:p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redes multicamada</a:t>
            </a:r>
          </a:p>
        </p:txBody>
      </p:sp>
      <p:sp>
        <p:nvSpPr>
          <p:cNvPr id="18" name="Oval 17"/>
          <p:cNvSpPr/>
          <p:nvPr/>
        </p:nvSpPr>
        <p:spPr>
          <a:xfrm>
            <a:off x="4297680" y="3218688"/>
            <a:ext cx="182880" cy="18288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1" y="281635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ED145B"/>
                </a:solidFill>
                <a:latin typeface="Calibri"/>
              </a:rPr>
              <a:t>1991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89120" y="3419856"/>
            <a:ext cx="0" cy="438912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67328" y="3895344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HOCHREITER</a:t>
            </a:r>
          </a:p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vanishing gradient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3218688"/>
            <a:ext cx="182880" cy="18288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281635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D9CDB"/>
                </a:solidFill>
                <a:latin typeface="Calibri"/>
              </a:rPr>
              <a:t>2016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3474720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GOODFELLOW et al.</a:t>
            </a:r>
          </a:p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cap. 6 e 8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218688"/>
            <a:ext cx="182880" cy="182880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281635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D9CDB"/>
                </a:solidFill>
                <a:latin typeface="Calibri"/>
              </a:rPr>
              <a:t>2023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75120" y="3419856"/>
            <a:ext cx="0" cy="438912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53328" y="3895344"/>
            <a:ext cx="12435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PRINCE cap. 3–7</a:t>
            </a:r>
          </a:p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ZHANG et al. cap.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709160"/>
            <a:ext cx="6400800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leia primeiro: RUMELHART, HINTON &amp; WILLIAMS (1986) — quatro páginas na Nature que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destravaram o treino de redes profundas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532120"/>
            <a:ext cx="6400800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9AA0A6"/>
                </a:solidFill>
                <a:latin typeface="Calibri"/>
              </a:rPr>
              <a:t>para aprofundar: GOODFELLOW et al. (2016), cap. 6 e 8 · PRINCE (2023), cap. 3–7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