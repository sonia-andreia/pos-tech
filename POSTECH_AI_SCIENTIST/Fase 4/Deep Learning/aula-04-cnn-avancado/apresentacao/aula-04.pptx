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1732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AA0A6"/>
                </a:solidFill>
                <a:latin typeface="Calibri"/>
              </a:rPr>
              <a:t>REDES NEURAIS E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D145B"/>
                </a:solidFill>
                <a:latin typeface="Calibri"/>
              </a:rPr>
              <a:t>AULA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95728"/>
            <a:ext cx="102412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CNN — Arquiteturas avançadas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1" y="4224528"/>
            <a:ext cx="1463040" cy="64008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5262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"/>
              </a:rPr>
              <a:t>Prof. Flavio Padilha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919472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9AA0A6"/>
                </a:solidFill>
                <a:latin typeface="Calibri"/>
              </a:rPr>
              <a:t>FIAP Pós-Tech · AI Engineering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1  · 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Introdução teórica: o problema da profundidade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empilhar camadas deixou de funcionar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 equação do bloco residual, termo a termo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Onde a Aula 4 se encaixa na trilha da disciplina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Onde estamos:</a:t>
            </a:r>
            <a:r>
              <a:rPr sz="2700" b="1">
                <a:solidFill>
                  <a:srgbClr val="ED145B"/>
                </a:solidFill>
                <a:latin typeface="Calibri"/>
              </a:rPr>
              <a:t> da CNN clássica à prática industrial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3 ✓ CNN fundamentos, arquiteturas clássicas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Aula 4 — ResNet + Transfer Learning + Grad-CAM ← aqui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partir daqui, visão computacional sai da academia e vira prática industrial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743200"/>
            <a:ext cx="640080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722376" y="25694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7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Perceptron</a:t>
            </a:r>
          </a:p>
        </p:txBody>
      </p:sp>
      <p:sp>
        <p:nvSpPr>
          <p:cNvPr id="8" name="Oval 7"/>
          <p:cNvSpPr/>
          <p:nvPr/>
        </p:nvSpPr>
        <p:spPr>
          <a:xfrm>
            <a:off x="1618488" y="25694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MLP +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Backprop</a:t>
            </a:r>
          </a:p>
        </p:txBody>
      </p:sp>
      <p:sp>
        <p:nvSpPr>
          <p:cNvPr id="10" name="Oval 9"/>
          <p:cNvSpPr/>
          <p:nvPr/>
        </p:nvSpPr>
        <p:spPr>
          <a:xfrm>
            <a:off x="2514600" y="2569464"/>
            <a:ext cx="347472" cy="347472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6272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CNN</a:t>
            </a:r>
          </a:p>
          <a:p>
            <a:pPr algn="ctr"/>
            <a:r>
              <a:rPr sz="900" b="1" i="0">
                <a:solidFill>
                  <a:srgbClr val="27AE60"/>
                </a:solidFill>
                <a:latin typeface="Calibri"/>
              </a:rPr>
              <a:t>fundamentos</a:t>
            </a:r>
          </a:p>
        </p:txBody>
      </p:sp>
      <p:sp>
        <p:nvSpPr>
          <p:cNvPr id="12" name="Oval 11"/>
          <p:cNvSpPr/>
          <p:nvPr/>
        </p:nvSpPr>
        <p:spPr>
          <a:xfrm>
            <a:off x="3374136" y="2532888"/>
            <a:ext cx="420624" cy="42062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CNN</a:t>
            </a:r>
          </a:p>
          <a:p>
            <a:pPr algn="ctr"/>
            <a:r>
              <a:rPr sz="900" b="1" i="0">
                <a:solidFill>
                  <a:srgbClr val="ED145B"/>
                </a:solidFill>
                <a:latin typeface="Calibri"/>
              </a:rPr>
              <a:t>avançado</a:t>
            </a:r>
          </a:p>
        </p:txBody>
      </p:sp>
      <p:sp>
        <p:nvSpPr>
          <p:cNvPr id="14" name="Oval 13"/>
          <p:cNvSpPr/>
          <p:nvPr/>
        </p:nvSpPr>
        <p:spPr>
          <a:xfrm>
            <a:off x="4288536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RNN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LSTM</a:t>
            </a:r>
          </a:p>
        </p:txBody>
      </p:sp>
      <p:sp>
        <p:nvSpPr>
          <p:cNvPr id="16" name="Oval 15"/>
          <p:cNvSpPr/>
          <p:nvPr/>
        </p:nvSpPr>
        <p:spPr>
          <a:xfrm>
            <a:off x="5184648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Attention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Transformers</a:t>
            </a:r>
          </a:p>
        </p:txBody>
      </p:sp>
      <p:sp>
        <p:nvSpPr>
          <p:cNvPr id="18" name="Oval 17"/>
          <p:cNvSpPr/>
          <p:nvPr/>
        </p:nvSpPr>
        <p:spPr>
          <a:xfrm>
            <a:off x="6080759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19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Otimização</a:t>
            </a:r>
          </a:p>
        </p:txBody>
      </p:sp>
      <p:sp>
        <p:nvSpPr>
          <p:cNvPr id="20" name="Oval 19"/>
          <p:cNvSpPr/>
          <p:nvPr/>
        </p:nvSpPr>
        <p:spPr>
          <a:xfrm>
            <a:off x="6976872" y="2551176"/>
            <a:ext cx="384048" cy="3840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9AA0A6"/>
                </a:solidFill>
                <a:latin typeface="Calibri"/>
              </a:rPr>
              <a:t>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6831" y="3081528"/>
            <a:ext cx="10241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MLOps</a:t>
            </a:r>
          </a:p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e deploy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584448" y="2167128"/>
            <a:ext cx="0" cy="283464"/>
          </a:xfrm>
          <a:prstGeom prst="line">
            <a:avLst/>
          </a:prstGeom>
          <a:ln w="2540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15768" y="1837943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você está aqui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703320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AULA 3 ✓   convolução, pooling, LeNet · AlexNet · VGG · Inception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07992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AULA 4 ← aqui   ResNet · transfer learning · Grad-CAM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12664"/>
            <a:ext cx="6547104" cy="694944"/>
          </a:xfrm>
          <a:prstGeom prst="roundRect">
            <a:avLst>
              <a:gd name="adj" fmla="val 11842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9AA0A6"/>
                </a:solidFill>
                <a:latin typeface="Calibri"/>
              </a:rPr>
              <a:t>AULAS 5–8   RNN · Attention · Otimização · MLOps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108192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daqui em diante a visão computacional sai da academia e vira prática industrial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problema:</a:t>
            </a:r>
            <a:r>
              <a:rPr sz="2700" b="1">
                <a:solidFill>
                  <a:srgbClr val="ED145B"/>
                </a:solidFill>
                <a:latin typeface="Calibri"/>
              </a:rPr>
              <a:t> mais camadas, pior desempenho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He et al. (2016) observaram: ResNet-34 sem conexão residual = pior que ResNet-18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Não é overfitting (loss de treino também é pior)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É um problema de otimização, não de capacidade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3840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ERRO DE TREINO · CIFAR-10 SEM RESIDUAL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097280" y="1975104"/>
            <a:ext cx="0" cy="246888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97280" y="4443984"/>
            <a:ext cx="3200399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1810512"/>
            <a:ext cx="457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erro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9" y="4535424"/>
            <a:ext cx="10972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épocas →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70432" y="2212848"/>
            <a:ext cx="521208" cy="62179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691640" y="2834640"/>
            <a:ext cx="576072" cy="420624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267712" y="3255264"/>
            <a:ext cx="658368" cy="25603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926080" y="3511296"/>
            <a:ext cx="685800" cy="109728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11880" y="3621024"/>
            <a:ext cx="594360" cy="54863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70432" y="2322576"/>
            <a:ext cx="521208" cy="804672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91640" y="3127248"/>
            <a:ext cx="576072" cy="457200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267712" y="3584448"/>
            <a:ext cx="658368" cy="292608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926080" y="3877056"/>
            <a:ext cx="685800" cy="128016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611880" y="4005072"/>
            <a:ext cx="594360" cy="54864"/>
          </a:xfrm>
          <a:prstGeom prst="line">
            <a:avLst/>
          </a:prstGeom>
          <a:ln w="3048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88920" y="321868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56 camadas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096512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D9CDB"/>
                </a:solidFill>
                <a:latin typeface="Calibri"/>
              </a:rPr>
              <a:t>20 camadas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61104" y="3675887"/>
            <a:ext cx="0" cy="384049"/>
          </a:xfrm>
          <a:prstGeom prst="line">
            <a:avLst/>
          </a:prstGeom>
          <a:ln w="17780">
            <a:solidFill>
              <a:srgbClr val="ED145B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352544" y="3730752"/>
            <a:ext cx="9144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ED145B"/>
                </a:solidFill>
                <a:latin typeface="Calibri"/>
              </a:rPr>
              <a:t>a rede mais</a:t>
            </a:r>
          </a:p>
          <a:p>
            <a:pPr algn="l"/>
            <a:r>
              <a:rPr sz="900" b="1" i="0">
                <a:solidFill>
                  <a:srgbClr val="ED145B"/>
                </a:solidFill>
                <a:latin typeface="Calibri"/>
              </a:rPr>
              <a:t>funda erra mais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0368" y="1975104"/>
            <a:ext cx="1993392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não é overfitting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 erro de TREINO já é pior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0368" y="2962656"/>
            <a:ext cx="1993392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não é capacidade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 rede funda contém a rasa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3950208"/>
            <a:ext cx="1993392" cy="841248"/>
          </a:xfrm>
          <a:prstGeom prst="roundRect">
            <a:avLst>
              <a:gd name="adj" fmla="val 9782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é OTIMIZAÇÃO</a:t>
            </a:r>
          </a:p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SGD não acha a solução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56048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empilhar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mais camadas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21408" y="5349240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368296" y="4956048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sinal e gradiente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se degradam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831336" y="5349240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078224" y="4956048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B0B0F"/>
                </a:solidFill>
                <a:latin typeface="Calibri"/>
              </a:rPr>
              <a:t>aprender a identidade</a:t>
            </a:r>
          </a:p>
          <a:p>
            <a:pPr algn="ctr"/>
            <a:r>
              <a:rPr sz="1000" b="0">
                <a:solidFill>
                  <a:srgbClr val="0B0B0F"/>
                </a:solidFill>
                <a:latin typeface="Calibri"/>
              </a:rPr>
              <a:t>vira difícil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541264" y="5349240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788151" y="4956048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degradação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erro sobe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07024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He et al. (2016): o problema não é o modelo, é chegar até a solução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245684" y="1499616"/>
            <a:ext cx="3436481" cy="826285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 ideia residual:</a:t>
            </a:r>
            <a:r>
              <a:rPr sz="2700" b="1">
                <a:solidFill>
                  <a:srgbClr val="ED145B"/>
                </a:solidFill>
                <a:latin typeface="Calibri"/>
              </a:rPr>
              <a:t> aprender o resíduo, não a função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h⁽ˡ⁾ = ℱ(h⁽ˡ⁻¹⁾) + h⁽ˡ⁻¹⁾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ℱ é o bloco convolucional (conv + BN + ReLU)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soma cria um atalho (skip connection)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bloco aprende só o resíduo — a diferença em relação à entrada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O fluxo do gradiente não depende mais da profundidade</a:t>
            </a:r>
          </a:p>
        </p:txBody>
      </p:sp>
      <p:pic>
        <p:nvPicPr>
          <p:cNvPr id="5" name="Picture 4" descr="8134fbd98ab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852" y="1700784"/>
            <a:ext cx="3034145" cy="423949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49808" y="3401568"/>
            <a:ext cx="475488" cy="47548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2D9CDB"/>
                </a:solidFill>
                <a:latin typeface="Calibri"/>
              </a:rPr>
              <a:t>h⁽ˡ⁻¹⁾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236976"/>
            <a:ext cx="1188720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BN + ReLU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7248" y="3236976"/>
            <a:ext cx="1188720" cy="804672"/>
          </a:xfrm>
          <a:prstGeom prst="roundRect">
            <a:avLst>
              <a:gd name="adj" fmla="val 1022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conv 3×3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BN</a:t>
            </a:r>
          </a:p>
        </p:txBody>
      </p:sp>
      <p:sp>
        <p:nvSpPr>
          <p:cNvPr id="10" name="Oval 9"/>
          <p:cNvSpPr/>
          <p:nvPr/>
        </p:nvSpPr>
        <p:spPr>
          <a:xfrm>
            <a:off x="4590288" y="3401568"/>
            <a:ext cx="475488" cy="475488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41264" y="3328416"/>
            <a:ext cx="1682496" cy="621792"/>
          </a:xfrm>
          <a:prstGeom prst="roundRect">
            <a:avLst>
              <a:gd name="adj" fmla="val 1323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27AE60"/>
                </a:solidFill>
                <a:latin typeface="Calibri"/>
              </a:rPr>
              <a:t>ReLU   →   h⁽ˡ⁾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243584" y="3639312"/>
            <a:ext cx="365760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852928" y="3639312"/>
            <a:ext cx="23774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334256" y="3639312"/>
            <a:ext cx="219456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84064" y="3639312"/>
            <a:ext cx="420624" cy="0"/>
          </a:xfrm>
          <a:prstGeom prst="line">
            <a:avLst/>
          </a:prstGeom>
          <a:ln w="2032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920240" y="2852928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ED145B"/>
                </a:solidFill>
                <a:latin typeface="Calibri"/>
              </a:rPr>
              <a:t>ℱ(h⁽ˡ⁻¹⁾)  ·  o resíduo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" y="3895344"/>
            <a:ext cx="0" cy="713232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7552" y="4608576"/>
            <a:ext cx="3840480" cy="0"/>
          </a:xfrm>
          <a:prstGeom prst="line">
            <a:avLst/>
          </a:prstGeom>
          <a:ln w="254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828032" y="3913632"/>
            <a:ext cx="0" cy="694944"/>
          </a:xfrm>
          <a:prstGeom prst="line">
            <a:avLst/>
          </a:prstGeom>
          <a:ln w="25400">
            <a:solidFill>
              <a:srgbClr val="27AE60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4480" y="466344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atalho (skip connection): a identidade passa direto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138928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ℱ(·)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bloco convolucional aprende só o resíduo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32175" y="5138928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7AE60"/>
                </a:solidFill>
                <a:latin typeface="Calibri"/>
              </a:rPr>
              <a:t>+ h⁽ˡ⁻¹⁾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atalho soma a entrada sem alterá-la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05983" y="5138928"/>
            <a:ext cx="2017776" cy="877824"/>
          </a:xfrm>
          <a:prstGeom prst="roundRect">
            <a:avLst>
              <a:gd name="adj" fmla="val 937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h⁽ˡ⁾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saída da camada — mesma forma da entrada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2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Do bloco residual ao transfer learning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Por que o atalho resolve o problema de otimização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Famílias pós-ResNet: DenseNet, EfficientNet, ConvNeXt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Transfer learning: duas estratégias e seus limites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ounded Rectangle 7"/>
          <p:cNvSpPr/>
          <p:nvPr/>
        </p:nvSpPr>
        <p:spPr>
          <a:xfrm>
            <a:off x="2532473" y="3090672"/>
            <a:ext cx="2862903" cy="830441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Por que funciona:</a:t>
            </a:r>
            <a:r>
              <a:rPr sz="2700" b="1">
                <a:solidFill>
                  <a:srgbClr val="ED145B"/>
                </a:solidFill>
                <a:latin typeface="Calibri"/>
              </a:rPr>
              <a:t> identidade fácil, gradiente inteiro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 vez de aprender h(x), aprende F(x) = h(x) - x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Mapa identidade é fácil: basta zerar pesos do bloco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Gradiente flui direto pelo atalho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3182112" cy="1335024"/>
          </a:xfrm>
          <a:prstGeom prst="roundRect">
            <a:avLst>
              <a:gd name="adj" fmla="val 6164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SEM ATALHO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 bloco precisa produzir H(x) inteiro — para não piorar, teria de APRENDER a identidade a partir de pesos aleatórios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41648" y="1536192"/>
            <a:ext cx="3182112" cy="1335024"/>
          </a:xfrm>
          <a:prstGeom prst="roundRect">
            <a:avLst>
              <a:gd name="adj" fmla="val 6164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COM ATALHO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o bloco só produz ℱ(x) = H(x) − x — a identidade sai de graça: basta ℱ ≈ 0, isto é, zerar os pesos</a:t>
            </a:r>
          </a:p>
        </p:txBody>
      </p:sp>
      <p:pic>
        <p:nvPicPr>
          <p:cNvPr id="7" name="Picture 6" descr="9794a75245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641" y="3291840"/>
            <a:ext cx="2460567" cy="42810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133087"/>
            <a:ext cx="656539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o “1” é o atalho: mesmo que a derivada do bloco encolha, o gradiente chega inteiro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498848"/>
            <a:ext cx="49377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AA0A6"/>
                </a:solidFill>
                <a:latin typeface="Calibri"/>
              </a:rPr>
              <a:t>MAGNITUDE DO GRADIENTE NAS PRIMEIRAS CAMADAS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05840" y="4791456"/>
            <a:ext cx="0" cy="1078992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05840" y="5870448"/>
            <a:ext cx="6035040" cy="0"/>
          </a:xfrm>
          <a:prstGeom prst="line">
            <a:avLst/>
          </a:prstGeom>
          <a:ln w="1524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8992" y="4882896"/>
            <a:ext cx="1298448" cy="18288"/>
          </a:xfrm>
          <a:prstGeom prst="line">
            <a:avLst/>
          </a:prstGeom>
          <a:ln w="3048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77440" y="4901184"/>
            <a:ext cx="1463040" cy="18288"/>
          </a:xfrm>
          <a:prstGeom prst="line">
            <a:avLst/>
          </a:prstGeom>
          <a:ln w="3048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840480" y="4919472"/>
            <a:ext cx="1463040" cy="18288"/>
          </a:xfrm>
          <a:prstGeom prst="line">
            <a:avLst/>
          </a:prstGeom>
          <a:ln w="3048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303520" y="4937760"/>
            <a:ext cx="1645920" cy="18288"/>
          </a:xfrm>
          <a:prstGeom prst="line">
            <a:avLst/>
          </a:prstGeom>
          <a:ln w="3048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78992" y="4882896"/>
            <a:ext cx="1024128" cy="34747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103120" y="5230368"/>
            <a:ext cx="1097280" cy="310896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200400" y="5541264"/>
            <a:ext cx="1280160" cy="201168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80560" y="5742432"/>
            <a:ext cx="1188720" cy="82296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9280" y="5824728"/>
            <a:ext cx="1280160" cy="27432"/>
          </a:xfrm>
          <a:prstGeom prst="line">
            <a:avLst/>
          </a:prstGeom>
          <a:ln w="3048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77840" y="4590288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27AE60"/>
                </a:solidFill>
                <a:latin typeface="Calibri"/>
              </a:rPr>
              <a:t>com atalho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35838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  <a:latin typeface="Calibri"/>
              </a:rPr>
              <a:t>sem atalho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89320" y="5925312"/>
            <a:ext cx="1234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0A6"/>
                </a:solidFill>
                <a:latin typeface="Calibri"/>
              </a:rPr>
              <a:t>profundidade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Famílias pós-ResNet:</a:t>
            </a:r>
            <a:r>
              <a:rPr sz="2700" b="1">
                <a:solidFill>
                  <a:srgbClr val="ED145B"/>
                </a:solidFill>
                <a:latin typeface="Calibri"/>
              </a:rPr>
              <a:t> somar, concatenar, escalar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ResNet-50 (2016) — residual + bottleneck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DenseNet (2017) — concatenar em vez de somar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EfficientNet (2019) — compound scaling: profundidade, largura e resolução juntas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ConvNeXt (2022) — a CNN “modernizada” para competir com o ViT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ConvNeXt-V2 (2023) — mais pré-treino MAE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377440"/>
            <a:ext cx="644652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33271" y="2267712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143000" y="2084832"/>
            <a:ext cx="0" cy="164592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5179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71907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ResNet-50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" y="192024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residual + bottleneck</a:t>
            </a:r>
          </a:p>
        </p:txBody>
      </p:sp>
      <p:sp>
        <p:nvSpPr>
          <p:cNvPr id="11" name="Oval 10"/>
          <p:cNvSpPr/>
          <p:nvPr/>
        </p:nvSpPr>
        <p:spPr>
          <a:xfrm>
            <a:off x="2221991" y="2267712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2505456"/>
            <a:ext cx="0" cy="109728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7360" y="261518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1" y="281635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1056" y="30175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concatenar</a:t>
            </a:r>
          </a:p>
        </p:txBody>
      </p:sp>
      <p:sp>
        <p:nvSpPr>
          <p:cNvPr id="16" name="Oval 15"/>
          <p:cNvSpPr/>
          <p:nvPr/>
        </p:nvSpPr>
        <p:spPr>
          <a:xfrm>
            <a:off x="3547872" y="2267712"/>
            <a:ext cx="219456" cy="219456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657600" y="2084832"/>
            <a:ext cx="0" cy="164592"/>
          </a:xfrm>
          <a:prstGeom prst="line">
            <a:avLst/>
          </a:prstGeom>
          <a:ln w="127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063240" y="15179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2019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3512" y="171907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EfficientNet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6936" y="192024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compound scaling</a:t>
            </a:r>
          </a:p>
        </p:txBody>
      </p:sp>
      <p:sp>
        <p:nvSpPr>
          <p:cNvPr id="21" name="Oval 20"/>
          <p:cNvSpPr/>
          <p:nvPr/>
        </p:nvSpPr>
        <p:spPr>
          <a:xfrm>
            <a:off x="4919472" y="2267712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0" y="2505456"/>
            <a:ext cx="0" cy="109728"/>
          </a:xfrm>
          <a:prstGeom prst="line">
            <a:avLst/>
          </a:prstGeom>
          <a:ln w="127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434840" y="261518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5112" y="281635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ConvNeXt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88536" y="301752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CNN modernizada</a:t>
            </a:r>
          </a:p>
        </p:txBody>
      </p:sp>
      <p:sp>
        <p:nvSpPr>
          <p:cNvPr id="26" name="Oval 25"/>
          <p:cNvSpPr/>
          <p:nvPr/>
        </p:nvSpPr>
        <p:spPr>
          <a:xfrm>
            <a:off x="6336792" y="2267712"/>
            <a:ext cx="219456" cy="21945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6446520" y="2084832"/>
            <a:ext cx="0" cy="164592"/>
          </a:xfrm>
          <a:prstGeom prst="line">
            <a:avLst/>
          </a:prstGeom>
          <a:ln w="127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52159" y="15179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2023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42431" y="1719072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ConvNeXt-V2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05855" y="1920240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+ MAE pretraining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3419856"/>
            <a:ext cx="2029968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351129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SOMAR · ResNet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" y="3822191"/>
            <a:ext cx="73152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2D9CDB"/>
                </a:solidFill>
                <a:latin typeface="Calibri"/>
              </a:rPr>
              <a:t>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19072" y="3822191"/>
            <a:ext cx="731520" cy="384048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ℱ(x)</a:t>
            </a:r>
          </a:p>
        </p:txBody>
      </p:sp>
      <p:sp>
        <p:nvSpPr>
          <p:cNvPr id="35" name="Oval 34"/>
          <p:cNvSpPr/>
          <p:nvPr/>
        </p:nvSpPr>
        <p:spPr>
          <a:xfrm>
            <a:off x="2121408" y="4370832"/>
            <a:ext cx="329184" cy="32918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188719" y="4224528"/>
            <a:ext cx="0" cy="7315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88719" y="4297680"/>
            <a:ext cx="1097281" cy="0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286000" y="4297680"/>
            <a:ext cx="0" cy="54864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084832" y="4224528"/>
            <a:ext cx="0" cy="73152"/>
          </a:xfrm>
          <a:prstGeom prst="line">
            <a:avLst/>
          </a:prstGeom>
          <a:ln w="1270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68096" y="4773168"/>
            <a:ext cx="1810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os canais somam: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profundidade constante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926080" y="3419856"/>
            <a:ext cx="2029968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35808" y="351129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CONCATENAR · DenseNet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10128" y="3822191"/>
            <a:ext cx="384048" cy="530352"/>
          </a:xfrm>
          <a:prstGeom prst="rect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4" name="Rectangle 43"/>
          <p:cNvSpPr/>
          <p:nvPr/>
        </p:nvSpPr>
        <p:spPr>
          <a:xfrm>
            <a:off x="3730752" y="3822191"/>
            <a:ext cx="384048" cy="530352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4151376" y="3822191"/>
            <a:ext cx="384048" cy="530352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35808" y="4407408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2D9CDB"/>
                </a:solidFill>
                <a:latin typeface="Calibri"/>
              </a:rPr>
              <a:t>[ x ‖ ℱ₁ ‖ ℱ₂ 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35808" y="4773168"/>
            <a:ext cx="1810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cada camada enxerga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todas as anteriores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193792" y="3419856"/>
            <a:ext cx="2029968" cy="1700784"/>
          </a:xfrm>
          <a:prstGeom prst="roundRect">
            <a:avLst>
              <a:gd name="adj" fmla="val 4838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3511296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ESCALAR · EfficientNet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340096" y="3803904"/>
            <a:ext cx="566928" cy="219456"/>
          </a:xfrm>
          <a:prstGeom prst="rect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0176" y="3776472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0A6"/>
                </a:solidFill>
                <a:latin typeface="Calibri"/>
              </a:rPr>
              <a:t>profundidade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40096" y="4114800"/>
            <a:ext cx="786384" cy="219456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99632" y="4087368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0A6"/>
                </a:solidFill>
                <a:latin typeface="Calibri"/>
              </a:rPr>
              <a:t>largura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40096" y="4425696"/>
            <a:ext cx="1005840" cy="219456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19088" y="4398264"/>
            <a:ext cx="84124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AA0A6"/>
                </a:solidFill>
                <a:latin typeface="Calibri"/>
              </a:rPr>
              <a:t>resolução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773168"/>
            <a:ext cx="1810512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as três dimensões crescem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juntas, em proporção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8368" y="5285232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ConvNeXt (2022): a CNN reprojetada com as receitas do ViT — convolução ainda é competitiva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035040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todas herdam o atalho residual — ele virou infraestrutura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Transfer learning: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a prática dominante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Por quê: treinar do zero em datasets pequenos quase nunca funciona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Baixar modelo pré-treinado no ImageNet (1,3 M de imagens, 1000 classes)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Substituir a cabeça (última camada) pela sua tarefa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Fine-tune parcial ou completo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As camadas iniciais são genéricas; só a cabeça é sua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1932432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ImageNet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1,3 M imagens · 1000 classes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18231" y="1947672"/>
            <a:ext cx="32918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74847" y="1554480"/>
            <a:ext cx="1932432" cy="786384"/>
          </a:xfrm>
          <a:prstGeom prst="roundRect">
            <a:avLst>
              <a:gd name="adj" fmla="val 1046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backbone pré-treinado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features genéricas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34712" y="1947672"/>
            <a:ext cx="32918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91328" y="1554480"/>
            <a:ext cx="1932432" cy="786384"/>
          </a:xfrm>
          <a:prstGeom prst="roundRect">
            <a:avLst>
              <a:gd name="adj" fmla="val 1046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sua tarefa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10 classes · poucos dados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560320"/>
            <a:ext cx="31089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D9CDB"/>
                </a:solidFill>
                <a:latin typeface="Calibri"/>
              </a:rPr>
              <a:t>O QUE SE REAPROVEITA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2871216"/>
            <a:ext cx="2432304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conv1 · bordas e cores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319272"/>
            <a:ext cx="2432304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conv2 · texturas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" y="3767328"/>
            <a:ext cx="2432304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conv3 · formas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4215384"/>
            <a:ext cx="2432304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conv4 · partes de objetos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" y="4663440"/>
            <a:ext cx="2432304" cy="365760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F2994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2994A"/>
                </a:solidFill>
                <a:latin typeface="Calibri"/>
              </a:rPr>
              <a:t>fc · 1000 classes ImageNet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85416" y="5047488"/>
            <a:ext cx="0" cy="182880"/>
          </a:xfrm>
          <a:prstGeom prst="line">
            <a:avLst/>
          </a:prstGeom>
          <a:ln w="22860">
            <a:solidFill>
              <a:srgbClr val="ED145B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69264" y="5248656"/>
            <a:ext cx="2432304" cy="384048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fc nova · 10 classes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" y="2889504"/>
            <a:ext cx="0" cy="1700784"/>
          </a:xfrm>
          <a:prstGeom prst="line">
            <a:avLst/>
          </a:prstGeom>
          <a:ln w="2032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3504" y="3584448"/>
            <a:ext cx="2194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D9CDB"/>
                </a:solidFill>
                <a:latin typeface="Calibri"/>
              </a:rPr>
              <a:t>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846320"/>
            <a:ext cx="5486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F2994A"/>
                </a:solidFill>
                <a:latin typeface="Calibri"/>
              </a:rPr>
              <a:t>trocar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2871216"/>
            <a:ext cx="3182112" cy="1170432"/>
          </a:xfrm>
          <a:prstGeom prst="roundRect">
            <a:avLst>
              <a:gd name="adj" fmla="val 7031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POR QUÊ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treinar do zero em dataset pequeno quase nunca funciona: faltam exemplos para descobrir bordas e texturas outra vez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41648" y="4187952"/>
            <a:ext cx="3182112" cy="1444752"/>
          </a:xfrm>
          <a:prstGeom prst="roundRect">
            <a:avLst>
              <a:gd name="adj" fmla="val 5696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O QUE MUDA E O QUE FICA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as primeiras camadas são quase iguais em qualquer domínio visual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só a cabeça é específica da tarefa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· o custo cai de dias para minutos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742432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baixar  →  trocar a cabeça  →  fine-tune parcial ou completo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Duas estratégias: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congelar ou destravar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Feature extraction — backbone congelado, treina só a cabeça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Rápido, ~1 min de treino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Só funciona se o domínio for próximo do ImageNet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Fine-tuning — descongela últimas camadas (ou todas)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LR menor para as camadas pré-treinadas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Melhor acurácia, mais tempo e mais risco de sobreajuste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36192"/>
            <a:ext cx="3182112" cy="3163824"/>
          </a:xfrm>
          <a:prstGeom prst="roundRect">
            <a:avLst>
              <a:gd name="adj" fmla="val 260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62763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</a:rPr>
              <a:t>FEATURE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1051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backbone congelado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2415" y="2103120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5" y="2487168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2415" y="2871215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5" y="3255263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5" y="3657600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✎  cabeça nova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407822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+  rápido: ~1 min de treino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+  quase não sobreajusta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−  só funciona se o domínio for próximo do ImageNet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41648" y="1536192"/>
            <a:ext cx="3182112" cy="3163824"/>
          </a:xfrm>
          <a:prstGeom prst="roundRect">
            <a:avLst>
              <a:gd name="adj" fmla="val 260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162763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7AE60"/>
                </a:solidFill>
                <a:latin typeface="Calibri"/>
              </a:rPr>
              <a:t>FINE-TUNING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1376" y="181051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últimas camadas (ou todas) destravadas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5696" y="2103120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2487168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9AA0A6"/>
                </a:solidFill>
                <a:latin typeface="Calibri"/>
              </a:rPr>
              <a:t>❄  conv2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2871215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✎  conv3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25696" y="3255263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✎  conv4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657600"/>
            <a:ext cx="2414016" cy="310896"/>
          </a:xfrm>
          <a:prstGeom prst="roundRect">
            <a:avLst>
              <a:gd name="adj" fmla="val 16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</a:rPr>
              <a:t>✎  cabeça nova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4078224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+  melhor acurácia potencial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−  mais tempo e mais risco de sobreajuste</a:t>
            </a:r>
          </a:p>
          <a:p>
            <a:pPr algn="l"/>
            <a:r>
              <a:rPr sz="950" b="0" i="0">
                <a:solidFill>
                  <a:srgbClr val="9AA0A6"/>
                </a:solidFill>
                <a:latin typeface="Calibri"/>
              </a:rPr>
              <a:t>!  LR menor nas camadas pré-treinadas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882896"/>
            <a:ext cx="3931920" cy="723016"/>
          </a:xfrm>
          <a:prstGeom prst="roundRect">
            <a:avLst>
              <a:gd name="adj" fmla="val 8411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congelar o backbone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for</a:t>
            </a:r>
            <a:r>
              <a:rPr sz="1050">
                <a:solidFill>
                  <a:srgbClr val="E4E4EA"/>
                </a:solidFill>
                <a:latin typeface="Consolas"/>
              </a:rPr>
              <a:t> p </a:t>
            </a:r>
            <a:r>
              <a:rPr sz="1050">
                <a:solidFill>
                  <a:srgbClr val="ED145B"/>
                </a:solidFill>
                <a:latin typeface="Consolas"/>
              </a:rPr>
              <a:t>in</a:t>
            </a:r>
            <a:r>
              <a:rPr sz="1050">
                <a:solidFill>
                  <a:srgbClr val="E4E4EA"/>
                </a:solidFill>
                <a:latin typeface="Consolas"/>
              </a:rPr>
              <a:t> backbone.parameters():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    p.requires_grad = </a:t>
            </a:r>
            <a:r>
              <a:rPr sz="1050">
                <a:solidFill>
                  <a:srgbClr val="ED145B"/>
                </a:solidFill>
                <a:latin typeface="Consolas"/>
              </a:rPr>
              <a:t>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9744" y="5029200"/>
            <a:ext cx="2414016" cy="676656"/>
          </a:xfrm>
          <a:prstGeom prst="roundRect">
            <a:avLst>
              <a:gd name="adj" fmla="val 12162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descongele de trás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para frente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7044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 escolha não é estética: depende do tamanho do dado e da distância entre domínios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Transfer learning:</a:t>
            </a:r>
            <a:r>
              <a:rPr sz="2700" b="1">
                <a:solidFill>
                  <a:srgbClr val="ED145B"/>
                </a:solidFill>
                <a:latin typeface="Calibri"/>
              </a:rPr>
              <a:t> não é gratuito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Funciona melhor quando domínio-fonte e domínio-alvo compartilham padrões visuais de baixo e médio nível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Backbone congelado reduz variância e custo, mas limita adaptação semântica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Fine-tuning completo aumenta desempenho potencial, porém também risco de sobreajuste e de má calibração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 a distância entre domínios é grande, surge o risco de negative transfer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5486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 ESTRATÉGIA DEPENDE DE DUAS COISAS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36192" y="1883664"/>
            <a:ext cx="2615184" cy="1389888"/>
          </a:xfrm>
          <a:prstGeom prst="roundRect">
            <a:avLst>
              <a:gd name="adj" fmla="val 592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19" y="201168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CONGELAR O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7" y="2322576"/>
            <a:ext cx="23591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poucos dados e domínio próximo: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troque só a cabeça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83664"/>
            <a:ext cx="2615184" cy="1389888"/>
          </a:xfrm>
          <a:prstGeom prst="roundRect">
            <a:avLst>
              <a:gd name="adj" fmla="val 5921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011680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RISCO DE NEGATIVE TRANSFER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322576"/>
            <a:ext cx="23591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poucos dados e domínio distante: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talvez a transferência atrapalhe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36192" y="3419856"/>
            <a:ext cx="2615184" cy="1389888"/>
          </a:xfrm>
          <a:prstGeom prst="roundRect">
            <a:avLst>
              <a:gd name="adj" fmla="val 592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19" y="3547872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FINE-TUNING COMPLETO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7" y="3858768"/>
            <a:ext cx="23591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muitos dados e domínio próximo: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destrave tudo, LR baixo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419856"/>
            <a:ext cx="2615184" cy="1389888"/>
          </a:xfrm>
          <a:prstGeom prst="roundRect">
            <a:avLst>
              <a:gd name="adj" fmla="val 5921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3547872"/>
            <a:ext cx="23957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FINE-TUNE OU TREINAR DO 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25696" y="3858768"/>
            <a:ext cx="2359152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muitos dados e domínio distante:</a:t>
            </a:r>
          </a:p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compare os dois honestamente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359152"/>
            <a:ext cx="74980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DADO</a:t>
            </a:r>
          </a:p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ALVO</a:t>
            </a:r>
          </a:p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pequeno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895344"/>
            <a:ext cx="749808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DADO</a:t>
            </a:r>
          </a:p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ALVO</a:t>
            </a:r>
          </a:p>
          <a:p>
            <a:pPr algn="r"/>
            <a:r>
              <a:rPr sz="900" b="1" i="0">
                <a:solidFill>
                  <a:srgbClr val="9AA0A6"/>
                </a:solidFill>
                <a:latin typeface="Calibri"/>
              </a:rPr>
              <a:t>grande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44752" y="1883664"/>
            <a:ext cx="0" cy="2980944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536192" y="4864608"/>
            <a:ext cx="26151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domínio PRÓXIMO do ImageNet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864608"/>
            <a:ext cx="261518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domínio DISTANTE (raio-X, satélite)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36192" y="5138928"/>
            <a:ext cx="5504688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5358384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transferência é uma HIPÓTESE a testar — não um atalho automático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backbone congelado reduz variância; fine-tuning aumenta potencial e risco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3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Demonstração em código: da ResNet ao Grad-CAM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ResNet-50 pré-treinada em três linhas de PyTorch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Augmentation moderno com torchvision.transforms.v2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Grad-CAM: da fórmula ao torchcam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ResNet em PyTorch:</a:t>
            </a:r>
            <a:r>
              <a:rPr sz="2700" b="1">
                <a:solidFill>
                  <a:srgbClr val="ED145B"/>
                </a:solidFill>
                <a:latin typeface="Calibri"/>
              </a:rPr>
              <a:t> três linhas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Weights v2: treinados em ImageNet com augmentation moderno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Top-1: 80,9 % (vs. 76 % do v1)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model.fc é a única camada que você troca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in_features = 2048 na ResNet-50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565392" cy="1043696"/>
          </a:xfrm>
          <a:prstGeom prst="roundRect">
            <a:avLst>
              <a:gd name="adj" fmla="val 6315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· torchvision</a:t>
            </a:r>
          </a:p>
          <a:p>
            <a:pPr algn="l"/>
            <a:r>
              <a:rPr sz="1050">
                <a:solidFill>
                  <a:srgbClr val="ED145B"/>
                </a:solidFill>
                <a:latin typeface="Consolas"/>
              </a:rPr>
              <a:t>from</a:t>
            </a:r>
            <a:r>
              <a:rPr sz="1050">
                <a:solidFill>
                  <a:srgbClr val="E4E4EA"/>
                </a:solidFill>
                <a:latin typeface="Consolas"/>
              </a:rPr>
              <a:t> torchvision.models </a:t>
            </a:r>
            <a:r>
              <a:rPr sz="1050">
                <a:solidFill>
                  <a:srgbClr val="ED145B"/>
                </a:solidFill>
                <a:latin typeface="Consolas"/>
              </a:rPr>
              <a:t>import</a:t>
            </a:r>
            <a:r>
              <a:rPr sz="1050">
                <a:solidFill>
                  <a:srgbClr val="E4E4EA"/>
                </a:solidFill>
                <a:latin typeface="Consolas"/>
              </a:rPr>
              <a:t> resnet50, ResNet50_Weights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model = resnet50(weights=ResNet50_Weights.IMAGENET1K_V2)</a:t>
            </a:r>
          </a:p>
          <a:p>
            <a:pPr algn="l"/>
            <a:r>
              <a:rPr sz="1050">
                <a:solidFill>
                  <a:srgbClr val="E4E4EA"/>
                </a:solidFill>
                <a:latin typeface="Consolas"/>
              </a:rPr>
              <a:t>model.fc = nn.Linear(model.fc.in_features, 10)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34640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resnet50(weights=…)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pesos do ImageNet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21408" y="3227832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68296" y="2834640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backbone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2048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31336" y="3227832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078224" y="2834640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model.fc trocada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Linear(2048, 10)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541264" y="3227832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788151" y="2834640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logits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da sua tarefa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87705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ACURÁCIA TOP-1 NO IMAGENET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22452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AA0A6"/>
                </a:solidFill>
                <a:latin typeface="Calibri"/>
              </a:rPr>
              <a:t>IMAGENET1K_V1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94560" y="4187952"/>
            <a:ext cx="2606040" cy="365760"/>
          </a:xfrm>
          <a:prstGeom prst="rect">
            <a:avLst/>
          </a:prstGeom>
          <a:solidFill>
            <a:srgbClr val="9A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422452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9AA0A6"/>
                </a:solidFill>
                <a:latin typeface="Calibri"/>
              </a:rPr>
              <a:t>76,1 %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791456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ED145B"/>
                </a:solidFill>
                <a:latin typeface="Calibri"/>
              </a:rPr>
              <a:t>IMAGENET1K_V2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4754880"/>
            <a:ext cx="2770632" cy="36576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79145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ED145B"/>
                </a:solidFill>
                <a:latin typeface="Calibri"/>
              </a:rPr>
              <a:t>80,9 %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358384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mesma arquitetura, treino moderno: +4,8 pontos sem trocar o modelo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confira sempre qual enum de weights você está baixando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Augmentation moderno:</a:t>
            </a:r>
            <a:r>
              <a:rPr sz="2700" b="1">
                <a:solidFill>
                  <a:srgbClr val="ED145B"/>
                </a:solidFill>
                <a:latin typeface="Calibri"/>
              </a:rPr>
              <a:t> torchvision.transforms.v2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RandAugment e AugMix viraram padrão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Crop e flip mudam a geometria; jitter muda a fotometria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Normalização com as estatísticas do ImageNet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validação usa só resize + center crop + normalize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3877056" cy="1998101"/>
          </a:xfrm>
          <a:prstGeom prst="roundRect">
            <a:avLst>
              <a:gd name="adj" fmla="val 2931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· transforms v2</a:t>
            </a:r>
          </a:p>
          <a:p>
            <a:pPr algn="l"/>
            <a:r>
              <a:rPr sz="950">
                <a:solidFill>
                  <a:srgbClr val="ED145B"/>
                </a:solidFill>
                <a:latin typeface="Consolas"/>
              </a:rPr>
              <a:t>from</a:t>
            </a:r>
            <a:r>
              <a:rPr sz="950">
                <a:solidFill>
                  <a:srgbClr val="E4E4EA"/>
                </a:solidFill>
                <a:latin typeface="Consolas"/>
              </a:rPr>
              <a:t> torchvision.transforms </a:t>
            </a:r>
            <a:r>
              <a:rPr sz="950">
                <a:solidFill>
                  <a:srgbClr val="ED145B"/>
                </a:solidFill>
                <a:latin typeface="Consolas"/>
              </a:rPr>
              <a:t>import</a:t>
            </a:r>
            <a:r>
              <a:rPr sz="950">
                <a:solidFill>
                  <a:srgbClr val="E4E4EA"/>
                </a:solidFill>
                <a:latin typeface="Consolas"/>
              </a:rPr>
              <a:t> v2 </a:t>
            </a:r>
            <a:r>
              <a:rPr sz="950">
                <a:solidFill>
                  <a:srgbClr val="ED145B"/>
                </a:solidFill>
                <a:latin typeface="Consolas"/>
              </a:rPr>
              <a:t>as</a:t>
            </a:r>
            <a:r>
              <a:rPr sz="950">
                <a:solidFill>
                  <a:srgbClr val="E4E4EA"/>
                </a:solidFill>
                <a:latin typeface="Consolas"/>
              </a:rPr>
              <a:t> T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train_tf = T.Compose([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T.RandomResizedCrop(224),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T.RandomHorizontalFlip(),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T.ColorJitter(0.4, 0.4, 0.4),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T.RandAugment(),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T.ToTensor(),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T.Normalize(mean=[0.485, 0.456, 0.406],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                std=[0.229, 0.224, 0.225]),</a:t>
            </a:r>
          </a:p>
          <a:p>
            <a:pPr algn="l"/>
            <a:r>
              <a:rPr sz="950">
                <a:solidFill>
                  <a:srgbClr val="E4E4EA"/>
                </a:solidFill>
                <a:latin typeface="Consolas"/>
              </a:rPr>
              <a:t>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0016" y="1554480"/>
            <a:ext cx="2523744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AA0A6"/>
                </a:solidFill>
                <a:latin typeface="Calibri"/>
              </a:rPr>
              <a:t>UMA IMAGEM, VÁRIAS VISTAS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36592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56048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75504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94959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14416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36592" y="2103120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56048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75504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94959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14416" y="2103120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6592" y="2322576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56048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75504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94959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14416" y="2322576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6592" y="254203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56048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75504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94959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14416" y="254203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36592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56048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175504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94959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14416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576" y="3017520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original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53327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72783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92240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11695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31151" y="188366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53327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72783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11695" y="2103120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931151" y="2103120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053327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72783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11695" y="232257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31151" y="2322576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53327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72783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92240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711695" y="2542032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31151" y="254203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53327" y="2761488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72783" y="2761488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92240" y="2761488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711695" y="2761488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31151" y="276148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25312" y="3017520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crop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36592" y="331012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56048" y="331012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75504" y="331012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94959" y="331012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14416" y="3310128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736592" y="352958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56048" y="3529584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175504" y="3529584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94959" y="3529584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614416" y="3529584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736592" y="3749039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56048" y="3749039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75504" y="3749039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394959" y="3749039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14416" y="3749039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736592" y="3968496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56048" y="396849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175504" y="396849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94959" y="3968496"/>
            <a:ext cx="219456" cy="219456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614416" y="3968496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36592" y="418795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956048" y="418795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175504" y="418795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394959" y="418795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614416" y="4187952"/>
            <a:ext cx="219456" cy="219456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608576" y="4443984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flip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53327" y="3310128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272783" y="3310128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492240" y="3310128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711695" y="3310128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31151" y="3310128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053327" y="3529584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272783" y="3529584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492240" y="3529584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711695" y="3529584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31151" y="3529584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53327" y="3749039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272783" y="3749039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492240" y="3749039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11695" y="3749039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31151" y="3749039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053327" y="3968496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72783" y="3968496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492240" y="3968496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711695" y="3968496"/>
            <a:ext cx="219456" cy="219456"/>
          </a:xfrm>
          <a:prstGeom prst="rect">
            <a:avLst/>
          </a:prstGeom>
          <a:solidFill>
            <a:srgbClr val="9B51E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931151" y="3968496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053327" y="4187952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72783" y="4187952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92240" y="4187952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711695" y="4187952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31151" y="4187952"/>
            <a:ext cx="219456" cy="219456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925312" y="4443984"/>
            <a:ext cx="13533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jitter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658368" y="4700016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imagem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original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2121408" y="5093207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ounded Rectangle 112"/>
          <p:cNvSpPr/>
          <p:nvPr/>
        </p:nvSpPr>
        <p:spPr>
          <a:xfrm>
            <a:off x="2368296" y="4700016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crop + flip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geometria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3831336" y="5093207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ounded Rectangle 114"/>
          <p:cNvSpPr/>
          <p:nvPr/>
        </p:nvSpPr>
        <p:spPr>
          <a:xfrm>
            <a:off x="4078224" y="4700016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jitter + RandAugment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fotometria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5541264" y="5093207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788151" y="4700016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Normalize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μ, σ do ImageNet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58368" y="5669280"/>
            <a:ext cx="6565392" cy="566928"/>
          </a:xfrm>
          <a:prstGeom prst="roundRect">
            <a:avLst>
              <a:gd name="adj" fmla="val 14516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a normalização precisa ser a MESMA usada no pré-treino — senão o backbone vê outra distribuição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Rounded Rectangle 5"/>
          <p:cNvSpPr/>
          <p:nvPr/>
        </p:nvSpPr>
        <p:spPr>
          <a:xfrm>
            <a:off x="2127227" y="1499616"/>
            <a:ext cx="3673394" cy="1025790"/>
          </a:xfrm>
          <a:prstGeom prst="roundRect">
            <a:avLst/>
          </a:prstGeom>
          <a:solidFill>
            <a:srgbClr val="17171F"/>
          </a:solidFill>
          <a:ln w="1524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Explicabilidade:</a:t>
            </a:r>
            <a:r>
              <a:rPr sz="2700" b="1">
                <a:solidFill>
                  <a:srgbClr val="ED145B"/>
                </a:solidFill>
                <a:latin typeface="Calibri"/>
              </a:rPr>
              <a:t> a matemática do Grad-CAM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Aᵏ = feature map da última Conv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αᵏᶜ = média do gradiente da classe c em relação a Aᵏ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Lᶜ = ReLU( Σₖ αᵏᶜ Aᵏ 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ReLU descarta a evidência contrária à classe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Resultado: mapa de calor das regiões importantes</a:t>
            </a:r>
          </a:p>
        </p:txBody>
      </p:sp>
      <p:pic>
        <p:nvPicPr>
          <p:cNvPr id="5" name="Picture 4" descr="9f19e05ddc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395" y="1700784"/>
            <a:ext cx="3271058" cy="6234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58368" y="2889504"/>
            <a:ext cx="1152144" cy="932688"/>
          </a:xfrm>
          <a:prstGeom prst="roundRect">
            <a:avLst>
              <a:gd name="adj" fmla="val 8823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forward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Aᵏ · mapas da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última conv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37943" y="3355848"/>
            <a:ext cx="14630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11680" y="2889504"/>
            <a:ext cx="1152144" cy="932688"/>
          </a:xfrm>
          <a:prstGeom prst="roundRect">
            <a:avLst>
              <a:gd name="adj" fmla="val 8823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backward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∂yᶜ / ∂Aᵏ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91256" y="3355848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364991" y="2889504"/>
            <a:ext cx="1152144" cy="932688"/>
          </a:xfrm>
          <a:prstGeom prst="roundRect">
            <a:avLst>
              <a:gd name="adj" fmla="val 8823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0B0B0F"/>
                </a:solidFill>
                <a:latin typeface="Calibri"/>
              </a:rPr>
              <a:t>média espacial</a:t>
            </a:r>
          </a:p>
          <a:p>
            <a:pPr algn="ctr"/>
            <a:r>
              <a:rPr sz="900" b="0">
                <a:solidFill>
                  <a:srgbClr val="0B0B0F"/>
                </a:solidFill>
                <a:latin typeface="Calibri"/>
              </a:rPr>
              <a:t>αᵏᶜ · peso de</a:t>
            </a:r>
          </a:p>
          <a:p>
            <a:pPr algn="ctr"/>
            <a:r>
              <a:rPr sz="900" b="0">
                <a:solidFill>
                  <a:srgbClr val="0B0B0F"/>
                </a:solidFill>
                <a:latin typeface="Calibri"/>
              </a:rPr>
              <a:t>cada mapa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44568" y="3355848"/>
            <a:ext cx="14630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18303" y="2889504"/>
            <a:ext cx="1152144" cy="932688"/>
          </a:xfrm>
          <a:prstGeom prst="roundRect">
            <a:avLst>
              <a:gd name="adj" fmla="val 8823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soma ponderada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Σ αᵏᶜ Aᵏ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97879" y="3355848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071616" y="2889504"/>
            <a:ext cx="1152144" cy="932688"/>
          </a:xfrm>
          <a:prstGeom prst="roundRect">
            <a:avLst>
              <a:gd name="adj" fmla="val 8823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ReLU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mapa de calor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04164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RESULTADO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315968"/>
            <a:ext cx="2029968" cy="1682496"/>
          </a:xfrm>
          <a:prstGeom prst="roundRect">
            <a:avLst>
              <a:gd name="adj" fmla="val 489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407407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entrada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9848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71016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472184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673352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4519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75688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69848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71016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72184" y="4828031"/>
            <a:ext cx="201168" cy="201168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73352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74519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75688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69848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271016" y="5029200"/>
            <a:ext cx="201168" cy="201168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472184" y="5029200"/>
            <a:ext cx="201168" cy="201168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673352" y="5029200"/>
            <a:ext cx="201168" cy="201168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874519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75688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9848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271016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472184" y="5230368"/>
            <a:ext cx="201168" cy="201168"/>
          </a:xfrm>
          <a:prstGeom prst="rect">
            <a:avLst/>
          </a:prstGeom>
          <a:solidFill>
            <a:srgbClr val="244A6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673352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74519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075688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9848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71016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472184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673352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74519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75688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69848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271016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472184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73352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874519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75688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2715768" y="5157216"/>
            <a:ext cx="182880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2926080" y="4315968"/>
            <a:ext cx="2029968" cy="1682496"/>
          </a:xfrm>
          <a:prstGeom prst="roundRect">
            <a:avLst>
              <a:gd name="adj" fmla="val 4891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35808" y="4407407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Lᶜ · Grad-CAM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38728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739896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41064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42232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43400" y="462686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337560" y="482803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38728" y="4828031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39896" y="4828031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941064" y="4828031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142232" y="482803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43400" y="4828031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337560" y="502920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38728" y="5029200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739896" y="5029200"/>
            <a:ext cx="201168" cy="201168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941064" y="5029200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142232" y="502920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343400" y="5029200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337560" y="523036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538728" y="5230368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739896" y="5230368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941064" y="5230368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42232" y="523036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343400" y="5230368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37560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538728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39896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941064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42232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343400" y="5431536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37560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38728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39896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41064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42232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343400" y="5632704"/>
            <a:ext cx="201168" cy="201168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4" name="Connector 93"/>
          <p:cNvCxnSpPr/>
          <p:nvPr/>
        </p:nvCxnSpPr>
        <p:spPr>
          <a:xfrm>
            <a:off x="4983480" y="5157216"/>
            <a:ext cx="182880" cy="0"/>
          </a:xfrm>
          <a:prstGeom prst="line">
            <a:avLst/>
          </a:prstGeom>
          <a:ln w="1778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5193792" y="4315968"/>
            <a:ext cx="2029968" cy="1682496"/>
          </a:xfrm>
          <a:prstGeom prst="roundRect">
            <a:avLst>
              <a:gd name="adj" fmla="val 4891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303520" y="4407407"/>
            <a:ext cx="18105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sobreposição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605272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806440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007608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08776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409944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611112" y="462686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05272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06440" y="4828031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007608" y="4828031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208776" y="4828031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409944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611112" y="4828031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605272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806440" y="5029200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007608" y="5029200"/>
            <a:ext cx="201168" cy="201168"/>
          </a:xfrm>
          <a:prstGeom prst="rect">
            <a:avLst/>
          </a:prstGeom>
          <a:solidFill>
            <a:srgbClr val="ED145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208776" y="5029200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409944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611112" y="5029200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605272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806440" y="5230368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007608" y="5230368"/>
            <a:ext cx="201168" cy="201168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208776" y="5230368"/>
            <a:ext cx="201168" cy="201168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409944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611112" y="5230368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605272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806440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007608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208776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409944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611112" y="5431536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05272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806440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007608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208776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409944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611112" y="5632704"/>
            <a:ext cx="201168" cy="201168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Selvaraju et al. (2017) · a ReLU descarta a evidência contrária à classe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Grad-CAM em código:</a:t>
            </a:r>
            <a:r>
              <a:rPr sz="2700" b="1">
                <a:solidFill>
                  <a:srgbClr val="ED145B"/>
                </a:solidFill>
                <a:latin typeface="Calibri"/>
              </a:rPr>
              <a:t> torchcam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torchcam é a biblioteca padrão em 2026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target_layer: a última conv (layer4 na ResNet)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 máscara sai em 7×7 e é redimensionada para a imagem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 notebook, o mesmo cálculo na mão: hooks em block2.conv2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6565392" cy="1165860"/>
          </a:xfrm>
          <a:prstGeom prst="roundRect">
            <a:avLst>
              <a:gd name="adj" fmla="val 5421"/>
            </a:avLst>
          </a:prstGeom>
          <a:solidFill>
            <a:srgbClr val="121218"/>
          </a:solidFill>
          <a:ln w="12700">
            <a:solidFill>
              <a:srgbClr val="3333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46304" rIns="73152" tIns="109728" bIns="91440"/>
          <a:lstStyle/>
          <a:p>
            <a:pPr algn="l"/>
            <a:r>
              <a:rPr sz="1000" b="1">
                <a:solidFill>
                  <a:srgbClr val="ED145B"/>
                </a:solidFill>
                <a:latin typeface="Calibri"/>
              </a:rPr>
              <a:t>exemplo didático · torchcam</a:t>
            </a:r>
          </a:p>
          <a:p>
            <a:pPr algn="l"/>
            <a:r>
              <a:rPr sz="1000">
                <a:solidFill>
                  <a:srgbClr val="ED145B"/>
                </a:solidFill>
                <a:latin typeface="Consolas"/>
              </a:rPr>
              <a:t>from</a:t>
            </a:r>
            <a:r>
              <a:rPr sz="1000">
                <a:solidFill>
                  <a:srgbClr val="E4E4EA"/>
                </a:solidFill>
                <a:latin typeface="Consolas"/>
              </a:rPr>
              <a:t> torchcam.methods </a:t>
            </a:r>
            <a:r>
              <a:rPr sz="1000">
                <a:solidFill>
                  <a:srgbClr val="ED145B"/>
                </a:solidFill>
                <a:latin typeface="Consolas"/>
              </a:rPr>
              <a:t>import</a:t>
            </a:r>
            <a:r>
              <a:rPr sz="1000">
                <a:solidFill>
                  <a:srgbClr val="E4E4EA"/>
                </a:solidFill>
                <a:latin typeface="Consolas"/>
              </a:rPr>
              <a:t> GradCAM</a:t>
            </a:r>
          </a:p>
          <a:p>
            <a:pPr algn="l"/>
            <a:r>
              <a:rPr sz="1000">
                <a:solidFill>
                  <a:srgbClr val="E4E4EA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E4E4EA"/>
                </a:solidFill>
                <a:latin typeface="Consolas"/>
              </a:rPr>
              <a:t>cam = GradCAM(model, target_layer="layer4")</a:t>
            </a:r>
          </a:p>
          <a:p>
            <a:pPr algn="l"/>
            <a:r>
              <a:rPr sz="1000">
                <a:solidFill>
                  <a:srgbClr val="E4E4EA"/>
                </a:solidFill>
                <a:latin typeface="Consolas"/>
              </a:rPr>
              <a:t>output = model(input_img.unsqueeze(0))</a:t>
            </a:r>
          </a:p>
          <a:p>
            <a:pPr algn="l"/>
            <a:r>
              <a:rPr sz="1000">
                <a:solidFill>
                  <a:srgbClr val="E4E4EA"/>
                </a:solidFill>
                <a:latin typeface="Consolas"/>
              </a:rPr>
              <a:t>mask = cam(class_idx=output.argmax().item(), scores=output)[0]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3127248"/>
            <a:ext cx="329184" cy="329184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3182112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registra hooks na camada alvo — normalmente a última conv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657600"/>
            <a:ext cx="329184" cy="329184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712463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forward: os mapas Aᵏ ficam guardados pelo hook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4187952"/>
            <a:ext cx="329184" cy="329184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4242816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backward na classe escolhida: chegam os gradientes ∂yᶜ/∂Aᵏ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718304"/>
            <a:ext cx="329184" cy="329184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4773168"/>
            <a:ext cx="59893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máscara 7×7 normalizada — depois é só redimensionar e sobrepor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358384"/>
            <a:ext cx="1435607" cy="566928"/>
          </a:xfrm>
          <a:prstGeom prst="roundRect">
            <a:avLst>
              <a:gd name="adj" fmla="val 14516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imagem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21408" y="5641848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68296" y="5358384"/>
            <a:ext cx="1435607" cy="566928"/>
          </a:xfrm>
          <a:prstGeom prst="roundRect">
            <a:avLst>
              <a:gd name="adj" fmla="val 14516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forward + backward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31336" y="5641848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078224" y="5358384"/>
            <a:ext cx="1435607" cy="566928"/>
          </a:xfrm>
          <a:prstGeom prst="roundRect">
            <a:avLst>
              <a:gd name="adj" fmla="val 14516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máscara 7×7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541264" y="5641848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788151" y="5358384"/>
            <a:ext cx="1435607" cy="566928"/>
          </a:xfrm>
          <a:prstGeom prst="roundRect">
            <a:avLst>
              <a:gd name="adj" fmla="val 14516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overlay 224×224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05332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torchcam funciona com qualquer CNN e também com ViT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96596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D145B"/>
                </a:solidFill>
                <a:latin typeface="Calibri"/>
              </a:rPr>
              <a:t>PARTE 4  · 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2395728"/>
            <a:ext cx="9692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300" b="1" i="0">
                <a:solidFill>
                  <a:srgbClr val="FFFFFF"/>
                </a:solidFill>
                <a:latin typeface="Calibri"/>
              </a:rPr>
              <a:t>Execução e discussão: vieses, negócio e notebook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3840480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Quando o Grad-CAM expõe atalhos espúrios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4261104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15384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Busca visual no varejo: o caso Magalu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681728"/>
            <a:ext cx="118872" cy="118872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4636008"/>
            <a:ext cx="8686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9AA0A6"/>
                </a:solidFill>
                <a:latin typeface="Calibri"/>
              </a:rPr>
              <a:t>O experimento do notebook e a ponte para a Aula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Auditoria visual:</a:t>
            </a:r>
            <a:r>
              <a:rPr sz="2700" b="1">
                <a:solidFill>
                  <a:srgbClr val="ED145B"/>
                </a:solidFill>
                <a:latin typeface="Calibri"/>
              </a:rPr>
              <a:t> quando o Grad-CAM expõe vieses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Modelo aprende atalhos espúrios (ex.: "é cachorro porque tem grama ao fundo")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Grad-CAM permite diagnosticar antes de deploy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Vital em domínios regulados (saúde, crédito)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5852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MESMA PREDIÇÃO “CACHORRO”, EVIDÊNCIAS DIFERENTES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3182112" cy="2322576"/>
          </a:xfrm>
          <a:prstGeom prst="roundRect">
            <a:avLst>
              <a:gd name="adj" fmla="val 3543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2994A"/>
                </a:solidFill>
                <a:latin typeface="Calibri"/>
              </a:rPr>
              <a:t>ATALHO ESPÚRIO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6192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73936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49424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7168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24912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536192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73936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011680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9424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7168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24912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36192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73936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011680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249424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87168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24912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36192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73936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11680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49424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87168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24912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36192" y="3090672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773936" y="3090672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11680" y="3090672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9424" y="3090672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87168" y="3090672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24912" y="3090672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36192" y="3328415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73936" y="3328415"/>
            <a:ext cx="237744" cy="237744"/>
          </a:xfrm>
          <a:prstGeom prst="rect">
            <a:avLst/>
          </a:prstGeom>
          <a:solidFill>
            <a:srgbClr val="F2994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011680" y="3328415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49424" y="3328415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87168" y="3328415"/>
            <a:ext cx="237744" cy="237744"/>
          </a:xfrm>
          <a:prstGeom prst="rect">
            <a:avLst/>
          </a:prstGeom>
          <a:solidFill>
            <a:srgbClr val="F2994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24912" y="3328415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363931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F2994A"/>
                </a:solidFill>
                <a:latin typeface="Calibri"/>
              </a:rPr>
              <a:t>o calor está na GRAMA do fundo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" y="3840480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acerta no teste, quebra em produção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41648" y="1792224"/>
            <a:ext cx="3182112" cy="2322576"/>
          </a:xfrm>
          <a:prstGeom prst="roundRect">
            <a:avLst>
              <a:gd name="adj" fmla="val 3543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51376" y="188366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7AE60"/>
                </a:solidFill>
                <a:latin typeface="Calibri"/>
              </a:rPr>
              <a:t>EVIDÊNCIA CORRETA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19472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157216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94960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32704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870448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08192" y="2139696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19472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157216" y="2377439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94960" y="2377439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2704" y="2377439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870448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08192" y="2377439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19472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157216" y="2615184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94960" y="2615184"/>
            <a:ext cx="237744" cy="237744"/>
          </a:xfrm>
          <a:prstGeom prst="rect">
            <a:avLst/>
          </a:prstGeom>
          <a:solidFill>
            <a:srgbClr val="27AE60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32704" y="2615184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70448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08192" y="2615184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19472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57216" y="2852928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94960" y="2852928"/>
            <a:ext cx="237744" cy="237744"/>
          </a:xfrm>
          <a:prstGeom prst="rect">
            <a:avLst/>
          </a:prstGeom>
          <a:solidFill>
            <a:srgbClr val="7A2E46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632704" y="2852928"/>
            <a:ext cx="237744" cy="237744"/>
          </a:xfrm>
          <a:prstGeom prst="rect">
            <a:avLst/>
          </a:prstGeom>
          <a:solidFill>
            <a:srgbClr val="3A222E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870448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08192" y="2852928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919472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57216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394960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632704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870448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108192" y="3090672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919472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157216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394960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32704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870448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108192" y="3328415"/>
            <a:ext cx="237744" cy="237744"/>
          </a:xfrm>
          <a:prstGeom prst="rect">
            <a:avLst/>
          </a:prstGeom>
          <a:solidFill>
            <a:srgbClr val="1B2C3A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151376" y="3639312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27AE60"/>
                </a:solidFill>
                <a:latin typeface="Calibri"/>
              </a:rPr>
              <a:t>o calor está no ANIMAL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51376" y="3840480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0A6"/>
                </a:solidFill>
                <a:latin typeface="Calibri"/>
              </a:rPr>
              <a:t>a evidência sustenta a decisão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58368" y="4352544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modelo com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boa acurácia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2121408" y="4745736"/>
            <a:ext cx="219456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ounded Rectangle 87"/>
          <p:cNvSpPr/>
          <p:nvPr/>
        </p:nvSpPr>
        <p:spPr>
          <a:xfrm>
            <a:off x="2368296" y="4352544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Grad-CAM em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amostras do teste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3831336" y="4745736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4078224" y="4352544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0B0B0F"/>
                </a:solidFill>
                <a:latin typeface="Calibri"/>
              </a:rPr>
              <a:t>olha para</a:t>
            </a:r>
          </a:p>
          <a:p>
            <a:pPr algn="ctr"/>
            <a:r>
              <a:rPr sz="1000" b="0">
                <a:solidFill>
                  <a:srgbClr val="0B0B0F"/>
                </a:solidFill>
                <a:latin typeface="Calibri"/>
              </a:rPr>
              <a:t>o objeto certo?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5541264" y="4745736"/>
            <a:ext cx="21945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ounded Rectangle 91"/>
          <p:cNvSpPr/>
          <p:nvPr/>
        </p:nvSpPr>
        <p:spPr>
          <a:xfrm>
            <a:off x="5788151" y="4352544"/>
            <a:ext cx="1435607" cy="786384"/>
          </a:xfrm>
          <a:prstGeom prst="roundRect">
            <a:avLst>
              <a:gd name="adj" fmla="val 10465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só então: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8368" y="5358384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 domínios regulados (saúde, crédito) a evidência precisa ser auditável — não só a métrica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acurácia alta com evidência errada é dívida técnica esperando vencer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Caso de negócio:</a:t>
            </a:r>
            <a:r>
              <a:rPr sz="2700" b="1">
                <a:solidFill>
                  <a:srgbClr val="ED145B"/>
                </a:solidFill>
                <a:latin typeface="Calibri"/>
              </a:rPr>
              <a:t> busca visual no varejo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Problema: busca visual — "comprar pela foto" no app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Abordagem: ResNet/ConvNeXt fine-tuned em catálogo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Embeddings da penúltima camada → busca por similaridade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Luizalabs publica casos técnicos em sua engineering blog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54480"/>
            <a:ext cx="1152144" cy="914400"/>
          </a:xfrm>
          <a:prstGeom prst="roundRect">
            <a:avLst>
              <a:gd name="adj" fmla="val 9000"/>
            </a:avLst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foto do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cliente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37943" y="2011680"/>
            <a:ext cx="146305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11680" y="1554480"/>
            <a:ext cx="1152144" cy="914400"/>
          </a:xfrm>
          <a:prstGeom prst="roundRect">
            <a:avLst>
              <a:gd name="adj" fmla="val 9000"/>
            </a:avLst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ResNet / ConvNeXt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fine-tuned no catálogo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91256" y="2011680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364991" y="1554480"/>
            <a:ext cx="1152144" cy="914400"/>
          </a:xfrm>
          <a:prstGeom prst="roundRect">
            <a:avLst>
              <a:gd name="adj" fmla="val 9000"/>
            </a:avLst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embedding da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penúltima camada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544568" y="2011680"/>
            <a:ext cx="146303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18303" y="1554480"/>
            <a:ext cx="1152144" cy="914400"/>
          </a:xfrm>
          <a:prstGeom prst="roundRect">
            <a:avLst>
              <a:gd name="adj" fmla="val 9000"/>
            </a:avLst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0B0B0F"/>
                </a:solidFill>
                <a:latin typeface="Calibri"/>
              </a:rPr>
              <a:t>busca por</a:t>
            </a:r>
          </a:p>
          <a:p>
            <a:pPr algn="ctr"/>
            <a:r>
              <a:rPr sz="900" b="0">
                <a:solidFill>
                  <a:srgbClr val="0B0B0F"/>
                </a:solidFill>
                <a:latin typeface="Calibri"/>
              </a:rPr>
              <a:t>similaridade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79" y="2011680"/>
            <a:ext cx="146304" cy="0"/>
          </a:xfrm>
          <a:prstGeom prst="line">
            <a:avLst/>
          </a:prstGeom>
          <a:ln w="2540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071616" y="1554480"/>
            <a:ext cx="1152144" cy="914400"/>
          </a:xfrm>
          <a:prstGeom prst="roundRect">
            <a:avLst>
              <a:gd name="adj" fmla="val 9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top-k produtos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do catálogo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9319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ESPAÇO DE EMBEDDINGS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54096"/>
            <a:ext cx="3931920" cy="2084831"/>
          </a:xfrm>
          <a:prstGeom prst="rect">
            <a:avLst/>
          </a:prstGeom>
          <a:noFill/>
          <a:ln w="17780">
            <a:solidFill>
              <a:srgbClr val="9AA0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3401568"/>
            <a:ext cx="155448" cy="1554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1481328" y="3675887"/>
            <a:ext cx="155448" cy="1554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8" name="Oval 17"/>
          <p:cNvSpPr/>
          <p:nvPr/>
        </p:nvSpPr>
        <p:spPr>
          <a:xfrm>
            <a:off x="1051560" y="3858768"/>
            <a:ext cx="155448" cy="155448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090672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D9CDB"/>
                </a:solidFill>
                <a:latin typeface="Calibri"/>
              </a:rPr>
              <a:t>sofás</a:t>
            </a:r>
          </a:p>
        </p:txBody>
      </p:sp>
      <p:sp>
        <p:nvSpPr>
          <p:cNvPr id="20" name="Oval 19"/>
          <p:cNvSpPr/>
          <p:nvPr/>
        </p:nvSpPr>
        <p:spPr>
          <a:xfrm>
            <a:off x="3611880" y="3429000"/>
            <a:ext cx="155448" cy="15544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3977639" y="3703320"/>
            <a:ext cx="155448" cy="15544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2" name="Oval 21"/>
          <p:cNvSpPr/>
          <p:nvPr/>
        </p:nvSpPr>
        <p:spPr>
          <a:xfrm>
            <a:off x="3703320" y="3977639"/>
            <a:ext cx="155448" cy="155448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11810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B51E0"/>
                </a:solidFill>
                <a:latin typeface="Calibri"/>
              </a:rPr>
              <a:t>tênis</a:t>
            </a:r>
          </a:p>
        </p:txBody>
      </p:sp>
      <p:sp>
        <p:nvSpPr>
          <p:cNvPr id="24" name="Oval 23"/>
          <p:cNvSpPr/>
          <p:nvPr/>
        </p:nvSpPr>
        <p:spPr>
          <a:xfrm>
            <a:off x="1234440" y="4617720"/>
            <a:ext cx="155448" cy="1554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5" name="Oval 24"/>
          <p:cNvSpPr/>
          <p:nvPr/>
        </p:nvSpPr>
        <p:spPr>
          <a:xfrm>
            <a:off x="1645920" y="4754880"/>
            <a:ext cx="155448" cy="1554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4828032"/>
            <a:ext cx="155448" cy="155448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306824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27AE60"/>
                </a:solidFill>
                <a:latin typeface="Calibri"/>
              </a:rPr>
              <a:t>geladeiras</a:t>
            </a:r>
          </a:p>
        </p:txBody>
      </p:sp>
      <p:sp>
        <p:nvSpPr>
          <p:cNvPr id="28" name="Oval 27"/>
          <p:cNvSpPr/>
          <p:nvPr/>
        </p:nvSpPr>
        <p:spPr>
          <a:xfrm>
            <a:off x="2212848" y="3785615"/>
            <a:ext cx="155448" cy="1554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9" name="Oval 28"/>
          <p:cNvSpPr/>
          <p:nvPr/>
        </p:nvSpPr>
        <p:spPr>
          <a:xfrm>
            <a:off x="2798064" y="3858768"/>
            <a:ext cx="155448" cy="1554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0" name="Oval 29"/>
          <p:cNvSpPr/>
          <p:nvPr/>
        </p:nvSpPr>
        <p:spPr>
          <a:xfrm>
            <a:off x="2286000" y="4370832"/>
            <a:ext cx="155448" cy="155448"/>
          </a:xfrm>
          <a:prstGeom prst="ellipse">
            <a:avLst/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1" name="Oval 30"/>
          <p:cNvSpPr/>
          <p:nvPr/>
        </p:nvSpPr>
        <p:spPr>
          <a:xfrm>
            <a:off x="2487168" y="4041648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2" name="Rectangle 31"/>
          <p:cNvSpPr/>
          <p:nvPr/>
        </p:nvSpPr>
        <p:spPr>
          <a:xfrm>
            <a:off x="2011680" y="3584448"/>
            <a:ext cx="1170432" cy="1133856"/>
          </a:xfrm>
          <a:prstGeom prst="rect">
            <a:avLst/>
          </a:prstGeom>
          <a:noFill/>
          <a:ln w="15240">
            <a:solidFill>
              <a:srgbClr val="ED14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290572" y="3863339"/>
            <a:ext cx="306324" cy="288037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2596896" y="3936491"/>
            <a:ext cx="278892" cy="214885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2363724" y="4151376"/>
            <a:ext cx="233172" cy="297180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74519" y="4791456"/>
            <a:ext cx="17373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ED145B"/>
                </a:solidFill>
                <a:latin typeface="Calibri"/>
              </a:rPr>
              <a:t>foto do cliente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73168" y="3054096"/>
            <a:ext cx="24505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2D9CDB"/>
                </a:solidFill>
                <a:latin typeface="Calibri"/>
              </a:rPr>
              <a:t>por que funciona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produtos parecidos caem perto no espaço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3168" y="3767328"/>
            <a:ext cx="24505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ED145B"/>
                </a:solidFill>
                <a:latin typeface="Calibri"/>
              </a:rPr>
              <a:t>por que fine-tune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catálogo ≠ ImageNet: roupa, móvel, embalagem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73168" y="4480560"/>
            <a:ext cx="24505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100" b="1">
                <a:solidFill>
                  <a:srgbClr val="27AE60"/>
                </a:solidFill>
                <a:latin typeface="Calibri"/>
              </a:rPr>
              <a:t>o classificador some</a:t>
            </a:r>
          </a:p>
          <a:p>
            <a:pPr algn="ctr"/>
            <a:r>
              <a:rPr sz="900">
                <a:solidFill>
                  <a:srgbClr val="9AA0A6"/>
                </a:solidFill>
                <a:latin typeface="Calibri"/>
              </a:rPr>
              <a:t>a rede vira extratora de features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376672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“comprar pela foto” no app do Magalu · Luizalabs publica casos técnicos no blog de engenharia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6053328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produto não é o classificador — é o vetor que ele produz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Notebook-first:</a:t>
            </a:r>
            <a:r>
              <a:rPr sz="2700" b="1">
                <a:solidFill>
                  <a:srgbClr val="ED145B"/>
                </a:solidFill>
                <a:latin typeface="Calibri"/>
              </a:rPr>
              <a:t> como testamos transferência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Notebook da aula: handson/hands-on.ipynb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Pergunta: em poucos dados, uma representação pré-treinada supera a mesma arquitetura treinada do zero?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Hipótese: scratch é baseline honesto; congelado estabiliza; fine-tuning controlado dá o melhor trade-off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Baseline: a mesma TinyResNet treinada do zero no domínio-alvo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Métricas: acurácia, macro-F1, balanced accuracy, cross-entropy, matriz de confusão e Grad-CAM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Entrega: pré-treino no domínio-fonte e comparação dos três braços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1790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ED145B"/>
                </a:solidFill>
                <a:latin typeface="Calibri"/>
              </a:rPr>
              <a:t>PERGUNTA EXPERIMENTAL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Em regime de poucos dados, uma representação pré-treinada supera a MESMA arquitetura treinada do zero?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2374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B51E0"/>
                </a:solidFill>
                <a:latin typeface="Calibri"/>
              </a:rPr>
              <a:t>HIPÓTESE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98064"/>
            <a:ext cx="6565392" cy="603504"/>
          </a:xfrm>
          <a:prstGeom prst="roundRect">
            <a:avLst>
              <a:gd name="adj" fmla="val 13636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Scratch é baseline honesto; backbone congelado estabiliza; fine-tuning controlado dá o melhor trade-off.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566160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TRÊS BRAÇOS · MESMA TinyResNet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840480"/>
            <a:ext cx="2029968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F299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F2994A"/>
                </a:solidFill>
                <a:latin typeface="Calibri"/>
              </a:rPr>
              <a:t>SCRATCH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treinada do zero no domínio-alvo — o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840480"/>
            <a:ext cx="2029968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D9CDB"/>
                </a:solidFill>
                <a:latin typeface="Calibri"/>
              </a:rPr>
              <a:t>CONGELADO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pré-treino no domínio-fonte, só a cabeça treina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93792" y="3840480"/>
            <a:ext cx="2029968" cy="914400"/>
          </a:xfrm>
          <a:prstGeom prst="roundRect">
            <a:avLst>
              <a:gd name="adj" fmla="val 90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00" b="1">
                <a:solidFill>
                  <a:srgbClr val="27AE60"/>
                </a:solidFill>
                <a:latin typeface="Calibri"/>
              </a:rPr>
              <a:t>FINE-TUNING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tudo destravado, LR menor (5e-4)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90118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MÉTRICAS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157216"/>
            <a:ext cx="1210665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cross-entropy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97049" y="5157216"/>
            <a:ext cx="1210665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macro-F1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5731" y="5157216"/>
            <a:ext cx="1210665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balanced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74412" y="5157216"/>
            <a:ext cx="1210665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matriz de confusão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13094" y="5157216"/>
            <a:ext cx="1210665" cy="530352"/>
          </a:xfrm>
          <a:prstGeom prst="roundRect">
            <a:avLst>
              <a:gd name="adj" fmla="val 1551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Grad-CAM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15584"/>
            <a:ext cx="6565392" cy="51206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9AA0A6"/>
                </a:solidFill>
                <a:latin typeface="Calibri"/>
              </a:rPr>
              <a:t>mesma arquitetura nos três braços · notebook: handson/hands-on.ipynb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O que vem aí:</a:t>
            </a:r>
            <a:r>
              <a:rPr sz="2700" b="1">
                <a:solidFill>
                  <a:srgbClr val="ED145B"/>
                </a:solidFill>
                <a:latin typeface="Calibri"/>
              </a:rPr>
              <a:t> Aula 5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Saímos de imagens para sequências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RNN, LSTM, GRU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Como lidar com tempo e contexto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99616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9AA0A6"/>
                </a:solidFill>
                <a:latin typeface="Calibri"/>
              </a:rPr>
              <a:t>O EIXO MUDA: DE ESPAÇO PARA TEMPO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92224"/>
            <a:ext cx="3182112" cy="2212848"/>
          </a:xfrm>
          <a:prstGeom prst="roundRect">
            <a:avLst>
              <a:gd name="adj" fmla="val 3719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9CDB"/>
                </a:solidFill>
                <a:latin typeface="Calibri"/>
              </a:rPr>
              <a:t>AULA 4 · IMAGEM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9344" y="221284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65376" y="221284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21408" y="221284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77440" y="221284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33472" y="2212848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09344" y="246888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65376" y="2468880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121408" y="2468880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0" y="2468880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33472" y="2468880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09344" y="272491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65376" y="2724912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21408" y="2724912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77440" y="2724912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33472" y="2724912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609344" y="2980944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65376" y="2980944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21408" y="2980944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40" y="2980944"/>
            <a:ext cx="256032" cy="256032"/>
          </a:xfrm>
          <a:prstGeom prst="rect">
            <a:avLst/>
          </a:prstGeom>
          <a:solidFill>
            <a:srgbClr val="2D9CDB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33472" y="2980944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9344" y="323697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865376" y="323697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121408" y="323697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323697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33472" y="3236976"/>
            <a:ext cx="256032" cy="256032"/>
          </a:xfrm>
          <a:prstGeom prst="rect">
            <a:avLst/>
          </a:prstGeom>
          <a:solidFill>
            <a:srgbClr val="1E1E28"/>
          </a:solidFill>
          <a:ln w="9525">
            <a:solidFill>
              <a:srgbClr val="0B0B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" y="3566160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vizinhança espacial · tudo de uma vez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41648" y="1792224"/>
            <a:ext cx="3182112" cy="2212848"/>
          </a:xfrm>
          <a:prstGeom prst="roundRect">
            <a:avLst>
              <a:gd name="adj" fmla="val 3719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51376" y="188366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ED145B"/>
                </a:solidFill>
                <a:latin typeface="Calibri"/>
              </a:rPr>
              <a:t>AULA 5 · SEQUÊNCIA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15968" y="2651760"/>
            <a:ext cx="47548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x1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809744" y="2862072"/>
            <a:ext cx="182880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224528" y="2340864"/>
            <a:ext cx="658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t1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10912" y="2651760"/>
            <a:ext cx="47548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x2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504688" y="2862072"/>
            <a:ext cx="182880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919472" y="2340864"/>
            <a:ext cx="658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t2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05856" y="2651760"/>
            <a:ext cx="47548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x3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99632" y="2862072"/>
            <a:ext cx="182880" cy="0"/>
          </a:xfrm>
          <a:prstGeom prst="line">
            <a:avLst/>
          </a:prstGeom>
          <a:ln w="15240">
            <a:solidFill>
              <a:srgbClr val="9AA0A6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614416" y="2340864"/>
            <a:ext cx="658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0" y="2651760"/>
            <a:ext cx="475488" cy="420624"/>
          </a:xfrm>
          <a:prstGeom prst="roundRect">
            <a:avLst>
              <a:gd name="adj" fmla="val 16000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950" b="0">
                <a:solidFill>
                  <a:srgbClr val="FFFFFF"/>
                </a:solidFill>
                <a:latin typeface="Calibri"/>
              </a:rPr>
              <a:t>x4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2340864"/>
            <a:ext cx="65836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51376" y="3163824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ED145B"/>
                </a:solidFill>
                <a:latin typeface="Calibri"/>
              </a:rPr>
              <a:t>estado oculto h carrega o passado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51376" y="3566160"/>
            <a:ext cx="296265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9AA0A6"/>
                </a:solidFill>
                <a:latin typeface="Calibri"/>
              </a:rPr>
              <a:t>vizinhança temporal · um passo por vez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" y="4206240"/>
            <a:ext cx="2029968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2D9CDB"/>
                </a:solidFill>
                <a:latin typeface="Calibri"/>
              </a:rPr>
              <a:t>RNN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o estado recorrente — e o gradiente que some no tempo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4206240"/>
            <a:ext cx="2029968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ED145B"/>
                </a:solidFill>
                <a:latin typeface="Calibri"/>
              </a:rPr>
              <a:t>LSTM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portas que decidem o que guardar e o que esquecer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93792" y="4206240"/>
            <a:ext cx="2029968" cy="1005840"/>
          </a:xfrm>
          <a:prstGeom prst="roundRect">
            <a:avLst>
              <a:gd name="adj" fmla="val 8181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300" b="1">
                <a:solidFill>
                  <a:srgbClr val="9B51E0"/>
                </a:solidFill>
                <a:latin typeface="Calibri"/>
              </a:rPr>
              <a:t>GRU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a versão enxuta, com menos portas e menos parâmetros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58368" y="5504688"/>
            <a:ext cx="6565392" cy="640080"/>
          </a:xfrm>
          <a:prstGeom prst="roundRect">
            <a:avLst>
              <a:gd name="adj" fmla="val 12857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FFFFFF"/>
                </a:solidFill>
                <a:latin typeface="Calibri"/>
              </a:rPr>
              <a:t>o princípio se repete: parâmetros compartilhados ao longo de um eixo — antes o espaço, agora o tempo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Calibri"/>
              </a:rPr>
              <a:t>Referências:</a:t>
            </a:r>
            <a:r>
              <a:rPr sz="2700" b="1">
                <a:solidFill>
                  <a:srgbClr val="ED145B"/>
                </a:solidFill>
                <a:latin typeface="Calibri"/>
              </a:rPr>
              <a:t> o caminho da Aula 4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298448"/>
            <a:ext cx="960120" cy="50292"/>
          </a:xfrm>
          <a:prstGeom prst="rect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1572768"/>
            <a:ext cx="38862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He et al. Deep residual learning for image recognition. CVPR, 2016.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Huang et al. Densely connected CNNs. CVPR, 2017.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Tan, Le. EfficientNet. ICML, 2019.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Liu et al. A ConvNet for the 2020s (ConvNeXt). CVPR, 2022.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Selvaraju et al. Grad-CAM. ICCV, 2017.</a:t>
            </a:r>
          </a:p>
          <a:p>
            <a:pPr>
              <a:spcAft>
                <a:spcPts val="900"/>
              </a:spcAft>
            </a:pPr>
            <a:r>
              <a:rPr sz="1200">
                <a:solidFill>
                  <a:srgbClr val="ED145B"/>
                </a:solidFill>
                <a:latin typeface="Calibri"/>
              </a:rPr>
              <a:t>▪  </a:t>
            </a:r>
            <a:r>
              <a:rPr sz="1250">
                <a:solidFill>
                  <a:srgbClr val="E4E4EA"/>
                </a:solidFill>
                <a:latin typeface="Calibri"/>
              </a:rPr>
              <a:t>Woo et al. ConvNeXt V2. CVPR, 2023.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2706624"/>
            <a:ext cx="6446520" cy="0"/>
          </a:xfrm>
          <a:prstGeom prst="line">
            <a:avLst/>
          </a:prstGeom>
          <a:ln w="17780">
            <a:solidFill>
              <a:srgbClr val="9AA0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033271" y="2596896"/>
            <a:ext cx="219456" cy="219456"/>
          </a:xfrm>
          <a:prstGeom prst="ellipse">
            <a:avLst/>
          </a:prstGeom>
          <a:solidFill>
            <a:srgbClr val="ED1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1143000" y="2414016"/>
            <a:ext cx="0" cy="164592"/>
          </a:xfrm>
          <a:prstGeom prst="line">
            <a:avLst/>
          </a:prstGeom>
          <a:ln w="12700">
            <a:solidFill>
              <a:srgbClr val="ED145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18470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ED145B"/>
                </a:solidFill>
                <a:latin typeface="Calibri"/>
              </a:rPr>
              <a:t>2016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04825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" y="2249424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He et al., CVPR</a:t>
            </a:r>
          </a:p>
        </p:txBody>
      </p:sp>
      <p:sp>
        <p:nvSpPr>
          <p:cNvPr id="11" name="Oval 10"/>
          <p:cNvSpPr/>
          <p:nvPr/>
        </p:nvSpPr>
        <p:spPr>
          <a:xfrm>
            <a:off x="2121408" y="2596896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1136" y="2834640"/>
            <a:ext cx="0" cy="109728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636776" y="2944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14553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3346703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Huang et al., CVPR</a:t>
            </a:r>
          </a:p>
        </p:txBody>
      </p:sp>
      <p:sp>
        <p:nvSpPr>
          <p:cNvPr id="16" name="Oval 15"/>
          <p:cNvSpPr/>
          <p:nvPr/>
        </p:nvSpPr>
        <p:spPr>
          <a:xfrm>
            <a:off x="3209544" y="2596896"/>
            <a:ext cx="219456" cy="219456"/>
          </a:xfrm>
          <a:prstGeom prst="ellipse">
            <a:avLst/>
          </a:prstGeom>
          <a:solidFill>
            <a:srgbClr val="9B5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319272" y="2414016"/>
            <a:ext cx="0" cy="164592"/>
          </a:xfrm>
          <a:prstGeom prst="line">
            <a:avLst/>
          </a:prstGeom>
          <a:ln w="12700">
            <a:solidFill>
              <a:srgbClr val="9B51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24912" y="18470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9B51E0"/>
                </a:solidFill>
                <a:latin typeface="Calibri"/>
              </a:rPr>
              <a:t>2017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15184" y="204825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Grad-CAM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8608" y="2249424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Selvaraju et al., ICCV</a:t>
            </a:r>
          </a:p>
        </p:txBody>
      </p:sp>
      <p:sp>
        <p:nvSpPr>
          <p:cNvPr id="21" name="Oval 20"/>
          <p:cNvSpPr/>
          <p:nvPr/>
        </p:nvSpPr>
        <p:spPr>
          <a:xfrm>
            <a:off x="4297680" y="2596896"/>
            <a:ext cx="219456" cy="219456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407408" y="2834640"/>
            <a:ext cx="0" cy="109728"/>
          </a:xfrm>
          <a:prstGeom prst="line">
            <a:avLst/>
          </a:prstGeom>
          <a:ln w="12700">
            <a:solidFill>
              <a:srgbClr val="27AE6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813048" y="2944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7AE60"/>
                </a:solidFill>
                <a:latin typeface="Calibri"/>
              </a:rPr>
              <a:t>2019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314553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EfficientNet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66744" y="3346703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Tan &amp; Le, ICML</a:t>
            </a:r>
          </a:p>
        </p:txBody>
      </p:sp>
      <p:sp>
        <p:nvSpPr>
          <p:cNvPr id="26" name="Oval 25"/>
          <p:cNvSpPr/>
          <p:nvPr/>
        </p:nvSpPr>
        <p:spPr>
          <a:xfrm>
            <a:off x="5385816" y="2596896"/>
            <a:ext cx="219456" cy="219456"/>
          </a:xfrm>
          <a:prstGeom prst="ellipse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5495544" y="2414016"/>
            <a:ext cx="0" cy="164592"/>
          </a:xfrm>
          <a:prstGeom prst="line">
            <a:avLst/>
          </a:prstGeom>
          <a:ln w="12700">
            <a:solidFill>
              <a:srgbClr val="F299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901183" y="184708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2994A"/>
                </a:solidFill>
                <a:latin typeface="Calibri"/>
              </a:rPr>
              <a:t>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91455" y="204825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ConvNeXt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79" y="2249424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Liu et al., CVPR</a:t>
            </a:r>
          </a:p>
        </p:txBody>
      </p:sp>
      <p:sp>
        <p:nvSpPr>
          <p:cNvPr id="31" name="Oval 30"/>
          <p:cNvSpPr/>
          <p:nvPr/>
        </p:nvSpPr>
        <p:spPr>
          <a:xfrm>
            <a:off x="6473952" y="2596896"/>
            <a:ext cx="219456" cy="219456"/>
          </a:xfrm>
          <a:prstGeom prst="ellipse">
            <a:avLst/>
          </a:prstGeom>
          <a:solidFill>
            <a:srgbClr val="2D9C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583680" y="2834640"/>
            <a:ext cx="0" cy="109728"/>
          </a:xfrm>
          <a:prstGeom prst="line">
            <a:avLst/>
          </a:prstGeom>
          <a:ln w="12700">
            <a:solidFill>
              <a:srgbClr val="2D9C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89320" y="2944368"/>
            <a:ext cx="1188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9CDB"/>
                </a:solidFill>
                <a:latin typeface="Calibri"/>
              </a:rPr>
              <a:t>2023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9592" y="3145536"/>
            <a:ext cx="14081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ConvNeXt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3016" y="3346703"/>
            <a:ext cx="1481328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9AA0A6"/>
                </a:solidFill>
                <a:latin typeface="Calibri"/>
              </a:rPr>
              <a:t>Woo et al., CVPR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986784"/>
            <a:ext cx="2017776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ED1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ED145B"/>
                </a:solidFill>
                <a:latin typeface="Calibri"/>
              </a:rPr>
              <a:t>arquiteturas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ResNet · DenseNet · EfficientNet · ConvNeXt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32175" y="3986784"/>
            <a:ext cx="2017776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9B51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9B51E0"/>
                </a:solidFill>
                <a:latin typeface="Calibri"/>
              </a:rPr>
              <a:t>explicabilidade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Grad-CAM (Selvaraju et al., 2017)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05983" y="3986784"/>
            <a:ext cx="2017776" cy="1024128"/>
          </a:xfrm>
          <a:prstGeom prst="roundRect">
            <a:avLst>
              <a:gd name="adj" fmla="val 8035"/>
            </a:avLst>
          </a:prstGeom>
          <a:solidFill>
            <a:srgbClr val="17171F"/>
          </a:solidFill>
          <a:ln w="17780">
            <a:solidFill>
              <a:srgbClr val="2D9C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/>
            </a:r>
            <a:r>
              <a:rPr sz="1250" b="1">
                <a:solidFill>
                  <a:srgbClr val="2D9CDB"/>
                </a:solidFill>
                <a:latin typeface="Calibri"/>
              </a:rPr>
              <a:t>prática</a:t>
            </a:r>
          </a:p>
          <a:p>
            <a:pPr algn="ctr"/>
            <a:r>
              <a:rPr sz="950">
                <a:solidFill>
                  <a:srgbClr val="9AA0A6"/>
                </a:solidFill>
                <a:latin typeface="Calibri"/>
              </a:rPr>
              <a:t>torchvision · transforms v2 · torchcam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321808"/>
            <a:ext cx="6565392" cy="658368"/>
          </a:xfrm>
          <a:prstGeom prst="roundRect">
            <a:avLst>
              <a:gd name="adj" fmla="val 12500"/>
            </a:avLst>
          </a:prstGeom>
          <a:solidFill>
            <a:srgbClr val="17171F"/>
          </a:solidFill>
          <a:ln w="17780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leitura mínima para a Aula 5: He et al. (2016) + Selvaraju et al. (2017)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071616"/>
            <a:ext cx="6611112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A0A6"/>
                </a:solidFill>
                <a:latin typeface="Calibri"/>
              </a:rPr>
              <a:t>o atalho residual de 2016 reaparece dentro de todo Transformer da Aula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