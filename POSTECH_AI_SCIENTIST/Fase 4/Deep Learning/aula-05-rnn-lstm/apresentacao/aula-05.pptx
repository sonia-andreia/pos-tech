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A6"/>
                </a:solidFill>
                <a:latin typeface="Calibri"/>
              </a:rPr>
              <a:t>REDES NEURAIS E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AULA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Redes Recorrentes (RNN, LSTM, GRU)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224528"/>
            <a:ext cx="1463040" cy="640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Prof. Flavio Padilha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A6"/>
                </a:solidFill>
                <a:latin typeface="Calibri"/>
              </a:rPr>
              <a:t>FIAP Pós-Tech · AI Engineering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1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Introdução teórica: quando a ordem importa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Por que MLPs e CNNs não lidam com sequências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equação da RNN e o estado que atravessa o tempo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Unrolling: a recorrência é profundidade disfarçada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Onde estamos:</a:t>
            </a:r>
            <a:r>
              <a:rPr sz="2700" b="1">
                <a:solidFill>
                  <a:srgbClr val="ED145B"/>
                </a:solidFill>
                <a:latin typeface="Calibri"/>
              </a:rPr>
              <a:t> a ordem passa a importar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Aulas 1–4 ✓ do perceptron às CNNs profundas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5 ← aqui a entrada vira sequência (x₁, …, x_T)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modelo passa a precisar de memória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Próxima: attention e Transformers (aula 6)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670048"/>
            <a:ext cx="6364224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22376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Perceptron</a:t>
            </a:r>
          </a:p>
        </p:txBody>
      </p:sp>
      <p:sp>
        <p:nvSpPr>
          <p:cNvPr id="8" name="Oval 7"/>
          <p:cNvSpPr/>
          <p:nvPr/>
        </p:nvSpPr>
        <p:spPr>
          <a:xfrm>
            <a:off x="1618488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MLP +</a:t>
            </a:r>
          </a:p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Backprop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fundamentos</a:t>
            </a:r>
          </a:p>
        </p:txBody>
      </p:sp>
      <p:sp>
        <p:nvSpPr>
          <p:cNvPr id="12" name="Oval 11"/>
          <p:cNvSpPr/>
          <p:nvPr/>
        </p:nvSpPr>
        <p:spPr>
          <a:xfrm>
            <a:off x="3410712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avançado</a:t>
            </a:r>
          </a:p>
        </p:txBody>
      </p:sp>
      <p:sp>
        <p:nvSpPr>
          <p:cNvPr id="14" name="Oval 13"/>
          <p:cNvSpPr/>
          <p:nvPr/>
        </p:nvSpPr>
        <p:spPr>
          <a:xfrm>
            <a:off x="4270248" y="2459736"/>
            <a:ext cx="420624" cy="42062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RNN</a:t>
            </a:r>
          </a:p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LSTM · GRU</a:t>
            </a:r>
          </a:p>
        </p:txBody>
      </p:sp>
      <p:sp>
        <p:nvSpPr>
          <p:cNvPr id="16" name="Oval 15"/>
          <p:cNvSpPr/>
          <p:nvPr/>
        </p:nvSpPr>
        <p:spPr>
          <a:xfrm>
            <a:off x="5184648" y="2478024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Attention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Transformers</a:t>
            </a:r>
          </a:p>
        </p:txBody>
      </p:sp>
      <p:sp>
        <p:nvSpPr>
          <p:cNvPr id="18" name="Oval 17"/>
          <p:cNvSpPr/>
          <p:nvPr/>
        </p:nvSpPr>
        <p:spPr>
          <a:xfrm>
            <a:off x="6080759" y="2478024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Otimização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6976872" y="2478024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MLOps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e deploy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80560" y="2103120"/>
            <a:ext cx="0" cy="292608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11880" y="177393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você está aqui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12463"/>
            <a:ext cx="6565392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AULAS 1–4 ✓   cada exemplo é INDEPENDENTE — a ordem não existe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17136"/>
            <a:ext cx="6565392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AULA 5 ← aqui   a entrada vira SEQUÊNCIA: h₁ → h₂ → … → h_T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21808"/>
            <a:ext cx="6565392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 6   a atenção elimina a recorrência e paraleliza o tempo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614476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partir daqui o modelo precisa de MEMÓRIA — e memória é o que cria (e resolve) os problemas desta aula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problema:</a:t>
            </a:r>
            <a:r>
              <a:rPr sz="2700" b="1">
                <a:solidFill>
                  <a:srgbClr val="ED145B"/>
                </a:solidFill>
                <a:latin typeface="Calibri"/>
              </a:rPr>
              <a:t> sequências não cabem em vetor fixo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Entrada: (x₁, x₂, …, x_T) de tamanho variável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ordem importa: “não gostei do produto” ≠ “gostei, não do produto”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MLP exige vetor de tamanho fixo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CNN 1-D capta padrão local, mas não mantém estado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Precisamos de um estado que atravesse o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MESMAS PALAVRAS · ORDENS DIFERENTES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39" y="1847088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gostei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1" y="1847088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3" y="1847088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produto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97295" y="1847088"/>
            <a:ext cx="1901952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2994A"/>
                </a:solidFill>
                <a:latin typeface="Calibri"/>
              </a:rPr>
              <a:t>sentido NEGATIVO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32304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gostei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39" y="2432304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82111" y="2432304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2432304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produto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97295" y="2432304"/>
            <a:ext cx="1901952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9B51E0"/>
                </a:solidFill>
                <a:latin typeface="Calibri"/>
              </a:rPr>
              <a:t>outro sentido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62656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ED145B"/>
                </a:solidFill>
                <a:latin typeface="Calibri"/>
              </a:rPr>
              <a:t>um único token trocado de lugar inverte o rótulo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310128"/>
            <a:ext cx="6565392" cy="0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340156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E O COMPRIMENTO NÃO É FIXO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21607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D9CDB"/>
                </a:solidFill>
                <a:latin typeface="Calibri"/>
              </a:rPr>
              <a:t>tweet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2673705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2787091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900476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013862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3127248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240633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354019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3467404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3580790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3694176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3807561" y="3749039"/>
            <a:ext cx="89611" cy="89611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21607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T=12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032503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B51E0"/>
                </a:solidFill>
                <a:latin typeface="Calibri"/>
              </a:rPr>
              <a:t>review de produto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2673705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2787091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2900476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3013862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3240633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3354019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3467404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3580790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3694176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3807561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3920947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4034332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4147718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4261104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4374489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4487875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4601260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4714646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4828031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4941417" y="4059935"/>
            <a:ext cx="89611" cy="89611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032503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T=22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4343399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  <a:latin typeface="Calibri"/>
              </a:rPr>
              <a:t>série diária de vendas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2673705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787091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2900476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3013862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3127248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3240633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3354019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3467404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3580790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3694176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3807561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3920947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4034332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4147718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4261104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4374489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4487875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4601260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4714646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4828031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4941417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5054803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5168188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5281574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5394960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5508345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5621731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5735116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5848502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5961888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6075273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6188659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6302044" y="4370831"/>
            <a:ext cx="89611" cy="8961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92240" y="4343399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T=34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58368" y="4846320"/>
            <a:ext cx="2002536" cy="1005840"/>
          </a:xfrm>
          <a:prstGeom prst="roundRect">
            <a:avLst>
              <a:gd name="adj" fmla="val 8181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9AA0A6"/>
                </a:solidFill>
                <a:latin typeface="Calibri"/>
              </a:rPr>
              <a:t>MLP</a:t>
            </a:r>
          </a:p>
          <a:p>
            <a:pPr algn="ctr"/>
            <a:r>
              <a:rPr sz="1000" b="0">
                <a:solidFill>
                  <a:srgbClr val="9AA0A6"/>
                </a:solidFill>
                <a:latin typeface="Calibri"/>
              </a:rPr>
              <a:t>entrada de tamanho FIXO — a ordem só existe se você a codificar à mão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35224" y="4846320"/>
            <a:ext cx="2002536" cy="1005840"/>
          </a:xfrm>
          <a:prstGeom prst="roundRect">
            <a:avLst>
              <a:gd name="adj" fmla="val 8181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CNN 1-D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capta padrões locais, mas a janela é fixa e não há estado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212080" y="4846320"/>
            <a:ext cx="2011680" cy="1005840"/>
          </a:xfrm>
          <a:prstGeom prst="roundRect">
            <a:avLst>
              <a:gd name="adj" fmla="val 8181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RNN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um estado hₜ percorre o tempo e carrega o que já foi visto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4088" y="5989320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pergunta desta aula: como fazer a rede lembrar do que veio antes?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081507" y="1426464"/>
            <a:ext cx="3719114" cy="755626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 RNN vanilla:</a:t>
            </a:r>
            <a:r>
              <a:rPr sz="2700" b="1">
                <a:solidFill>
                  <a:srgbClr val="ED145B"/>
                </a:solidFill>
                <a:latin typeface="Calibri"/>
              </a:rPr>
              <a:t> um estado que atravessa o tempo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Estado oculto hₜ carrega a memória do passado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Mesmos pesos Wₓ, W_h em todo t (compartilhamento)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φ costuma ser tanh na formulação clássica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saída yₜ é lida a partir do estado: yₜ = W_y hₜ + b_y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Um só conjunto de pesos para sequências de qualquer T</a:t>
            </a:r>
          </a:p>
        </p:txBody>
      </p:sp>
      <p:pic>
        <p:nvPicPr>
          <p:cNvPr id="5" name="Picture 4" descr="69a009bf2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75" y="1627632"/>
            <a:ext cx="3316778" cy="353290"/>
          </a:xfrm>
          <a:prstGeom prst="rect">
            <a:avLst/>
          </a:prstGeom>
        </p:spPr>
      </p:pic>
      <p:pic>
        <p:nvPicPr>
          <p:cNvPr id="7" name="Picture 6" descr="f01d0ced67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310" y="2456410"/>
            <a:ext cx="1475509" cy="3117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0" y="3127248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Wₓ, W_h e W_y são os MESMOS em todo 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9584"/>
            <a:ext cx="731520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D9CDB"/>
                </a:solidFill>
                <a:latin typeface="Calibri"/>
              </a:rPr>
              <a:t>xₜ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81328" y="3794759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37360" y="3529584"/>
            <a:ext cx="1051560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Wₓ · xₜ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07208" y="3794759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063240" y="3529584"/>
            <a:ext cx="530352" cy="530352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11880" y="3794759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67912" y="3529584"/>
            <a:ext cx="658368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44568" y="3794759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00600" y="3529584"/>
            <a:ext cx="777240" cy="530352"/>
          </a:xfrm>
          <a:prstGeom prst="roundRect">
            <a:avLst>
              <a:gd name="adj" fmla="val 15517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hₜ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596128" y="3794759"/>
            <a:ext cx="23774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852160" y="3529584"/>
            <a:ext cx="749808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W_y 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0256" y="3794759"/>
            <a:ext cx="182880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21424" y="3529584"/>
            <a:ext cx="402336" cy="53035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7AE60"/>
                </a:solidFill>
                <a:latin typeface="Calibri"/>
              </a:rPr>
              <a:t>yₜ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4626864"/>
            <a:ext cx="1005840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9B51E0"/>
                </a:solidFill>
                <a:latin typeface="Calibri"/>
              </a:rPr>
              <a:t>hₜ₋₁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41448" y="4892040"/>
            <a:ext cx="28346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0" y="4626864"/>
            <a:ext cx="1051560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W_h · hₜ₋₁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73552" y="4096511"/>
            <a:ext cx="36576" cy="512065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184648" y="4059935"/>
            <a:ext cx="0" cy="1517905"/>
          </a:xfrm>
          <a:prstGeom prst="line">
            <a:avLst/>
          </a:prstGeom>
          <a:ln w="22860">
            <a:solidFill>
              <a:srgbClr val="ED14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920240" y="5577840"/>
            <a:ext cx="3264408" cy="0"/>
          </a:xfrm>
          <a:prstGeom prst="line">
            <a:avLst/>
          </a:prstGeom>
          <a:ln w="22860">
            <a:solidFill>
              <a:srgbClr val="ED14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920240" y="5184648"/>
            <a:ext cx="0" cy="393192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331720" y="565099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ED145B"/>
                </a:solidFill>
                <a:latin typeface="Calibri"/>
              </a:rPr>
              <a:t>o estado volta no próximo passo — é isso que chamamos de recorrência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Unrolling: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uma rede profunda no eixo do tempo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Desenrolar revela: a RNN é uma rede profunda no tempo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Profundidade = comprimento da sequência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Backprop vira BPTT (Backpropagation Through Time)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gradiente de t=1 atravessa todos os T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7860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FORMA COMPACTA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47088"/>
            <a:ext cx="114300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RNN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75688" y="2176272"/>
            <a:ext cx="320040" cy="0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395728" y="1700784"/>
            <a:ext cx="0" cy="47548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481328" y="1700784"/>
            <a:ext cx="914400" cy="0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81328" y="1700784"/>
            <a:ext cx="0" cy="128016"/>
          </a:xfrm>
          <a:prstGeom prst="line">
            <a:avLst/>
          </a:prstGeom>
          <a:ln w="2032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87168" y="2011680"/>
            <a:ext cx="960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D145B"/>
                </a:solidFill>
                <a:latin typeface="Calibri"/>
              </a:rPr>
              <a:t>laço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2176272"/>
            <a:ext cx="548640" cy="0"/>
          </a:xfrm>
          <a:prstGeom prst="line">
            <a:avLst/>
          </a:prstGeom>
          <a:ln w="27940">
            <a:solidFill>
              <a:srgbClr val="FFFFF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99232" y="1810512"/>
            <a:ext cx="1051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desenrolar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810512"/>
            <a:ext cx="324612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uma rede PROFUNDA de T camadas —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todas com os mesmos pesos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017520"/>
            <a:ext cx="7680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y1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809744"/>
            <a:ext cx="7680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D9CDB"/>
                </a:solidFill>
                <a:latin typeface="Calibri"/>
              </a:rPr>
              <a:t>x1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481328" y="4517136"/>
            <a:ext cx="0" cy="27432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81328" y="3474720"/>
            <a:ext cx="0" cy="274319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98064" y="3017520"/>
            <a:ext cx="7680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y2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98064" y="4809744"/>
            <a:ext cx="7680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D9CDB"/>
                </a:solidFill>
                <a:latin typeface="Calibri"/>
              </a:rPr>
              <a:t>x2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182112" y="4517136"/>
            <a:ext cx="0" cy="27432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82112" y="3474720"/>
            <a:ext cx="0" cy="274319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98848" y="3017520"/>
            <a:ext cx="7680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y3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98848" y="4809744"/>
            <a:ext cx="7680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D9CDB"/>
                </a:solidFill>
                <a:latin typeface="Calibri"/>
              </a:rPr>
              <a:t>x3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4882896" y="4517136"/>
            <a:ext cx="0" cy="27432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82896" y="3474720"/>
            <a:ext cx="0" cy="274319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99632" y="3017520"/>
            <a:ext cx="7680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y4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4809744"/>
            <a:ext cx="7680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D9CDB"/>
                </a:solidFill>
                <a:latin typeface="Calibri"/>
              </a:rPr>
              <a:t>x4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583680" y="4517136"/>
            <a:ext cx="0" cy="27432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583680" y="3474720"/>
            <a:ext cx="0" cy="274319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8408" y="3767328"/>
            <a:ext cx="10058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RNN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79191" y="3767328"/>
            <a:ext cx="10058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RNN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9976" y="3767328"/>
            <a:ext cx="10058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RNN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80760" y="3767328"/>
            <a:ext cx="1005840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RNN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011679" y="4133088"/>
            <a:ext cx="640081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712464" y="4133088"/>
            <a:ext cx="64008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413248" y="4133088"/>
            <a:ext cx="64008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737360" y="387705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145B"/>
                </a:solidFill>
                <a:latin typeface="Calibri"/>
              </a:rPr>
              <a:t>h1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8144" y="387705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145B"/>
                </a:solidFill>
                <a:latin typeface="Calibri"/>
              </a:rPr>
              <a:t>h2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8928" y="3877056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145B"/>
                </a:solidFill>
                <a:latin typeface="Calibri"/>
              </a:rPr>
              <a:t>h3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" y="3803904"/>
            <a:ext cx="4389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h₀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1792" y="4133087"/>
            <a:ext cx="338328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1481328" y="5577840"/>
            <a:ext cx="5102352" cy="0"/>
          </a:xfrm>
          <a:prstGeom prst="line">
            <a:avLst/>
          </a:prstGeom>
          <a:ln w="2540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81328" y="5248656"/>
            <a:ext cx="0" cy="310896"/>
          </a:xfrm>
          <a:prstGeom prst="line">
            <a:avLst/>
          </a:prstGeom>
          <a:ln w="1270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182112" y="5248656"/>
            <a:ext cx="0" cy="310896"/>
          </a:xfrm>
          <a:prstGeom prst="line">
            <a:avLst/>
          </a:prstGeom>
          <a:ln w="1270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82896" y="5248656"/>
            <a:ext cx="0" cy="310896"/>
          </a:xfrm>
          <a:prstGeom prst="line">
            <a:avLst/>
          </a:prstGeom>
          <a:ln w="1270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83680" y="5248656"/>
            <a:ext cx="0" cy="310896"/>
          </a:xfrm>
          <a:prstGeom prst="line">
            <a:avLst/>
          </a:prstGeom>
          <a:ln w="12700">
            <a:solidFill>
              <a:srgbClr val="F2994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58368" y="5705856"/>
            <a:ext cx="6565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BPTT: para corrigir o passo 1, o gradiente volta por TODOS os T passos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2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Memória com gates: da LSTM à GRU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vanishing gradient no eixo temporal (BPTT)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LSTM: três gates e a esteira do cell state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GRU: a mesma ideia com dois gates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725744" y="1371600"/>
            <a:ext cx="2430641" cy="1196201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BPTT:</a:t>
            </a:r>
            <a:r>
              <a:rPr sz="2700" b="1">
                <a:solidFill>
                  <a:srgbClr val="ED145B"/>
                </a:solidFill>
                <a:latin typeface="Calibri"/>
              </a:rPr>
              <a:t> o vanishing gradient temporal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Gradiente em t=1 a partir da loss em t=T: produto de T Jacobianos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 ‖W_h‖ &lt; 1: vanishing — o passado desaparece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 ‖W_h‖ &gt; 1: exploding — NaN no treino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Paliativo: gradient clipping resolve só o exploding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É o mesmo problema da aula 2, agora no eixo temporal</a:t>
            </a:r>
          </a:p>
        </p:txBody>
      </p:sp>
      <p:pic>
        <p:nvPicPr>
          <p:cNvPr id="5" name="Picture 4" descr="b6cc72ffb4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912" y="1572768"/>
            <a:ext cx="2028305" cy="7938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3145536"/>
            <a:ext cx="2017776" cy="2212848"/>
          </a:xfrm>
          <a:prstGeom prst="roundRect">
            <a:avLst>
              <a:gd name="adj" fmla="val 4078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246120"/>
            <a:ext cx="1798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2994A"/>
                </a:solidFill>
                <a:latin typeface="Calibri"/>
              </a:rPr>
              <a:t>‖W_h‖ &lt; 1</a:t>
            </a:r>
          </a:p>
        </p:txBody>
      </p:sp>
      <p:sp>
        <p:nvSpPr>
          <p:cNvPr id="9" name="Rectangle 8"/>
          <p:cNvSpPr/>
          <p:nvPr/>
        </p:nvSpPr>
        <p:spPr>
          <a:xfrm>
            <a:off x="935736" y="3758184"/>
            <a:ext cx="182880" cy="9601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191768" y="4215384"/>
            <a:ext cx="182880" cy="5029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1447800" y="4443984"/>
            <a:ext cx="182880" cy="2743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1703832" y="4572000"/>
            <a:ext cx="182880" cy="146304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1959864" y="4636008"/>
            <a:ext cx="182880" cy="8229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2215896" y="4672584"/>
            <a:ext cx="182880" cy="457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4672" y="4718304"/>
            <a:ext cx="1725168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" y="4773168"/>
            <a:ext cx="1834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0A6"/>
                </a:solidFill>
                <a:latin typeface="Calibri"/>
              </a:rPr>
              <a:t>t=T  →  …  →  t=1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992624"/>
            <a:ext cx="183489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2994A"/>
                </a:solidFill>
                <a:latin typeface="Calibri"/>
              </a:rPr>
              <a:t>VANISHING</a:t>
            </a:r>
          </a:p>
          <a:p>
            <a:pPr algn="ctr"/>
            <a:r>
              <a:rPr sz="950" b="1" i="0">
                <a:solidFill>
                  <a:srgbClr val="F2994A"/>
                </a:solidFill>
                <a:latin typeface="Calibri"/>
              </a:rPr>
              <a:t>o passado some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32176" y="3145536"/>
            <a:ext cx="2017776" cy="2212848"/>
          </a:xfrm>
          <a:prstGeom prst="roundRect">
            <a:avLst>
              <a:gd name="adj" fmla="val 407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1904" y="3246120"/>
            <a:ext cx="1798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‖W_h‖ ≈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9544" y="3758184"/>
            <a:ext cx="182880" cy="9601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3465576" y="3785616"/>
            <a:ext cx="182880" cy="93268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721608" y="3803904"/>
            <a:ext cx="18288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3977640" y="3840480"/>
            <a:ext cx="182880" cy="87782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3877056"/>
            <a:ext cx="182880" cy="8412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489704" y="3913632"/>
            <a:ext cx="182880" cy="80467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78480" y="4718304"/>
            <a:ext cx="1725168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23616" y="4773168"/>
            <a:ext cx="1834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0A6"/>
                </a:solidFill>
                <a:latin typeface="Calibri"/>
              </a:rPr>
              <a:t>t=T  →  volta no tempo  →  t=1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3616" y="4992624"/>
            <a:ext cx="183489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ESTÁVEL</a:t>
            </a:r>
          </a:p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regime frágil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05984" y="3145536"/>
            <a:ext cx="2017776" cy="2212848"/>
          </a:xfrm>
          <a:prstGeom prst="roundRect">
            <a:avLst>
              <a:gd name="adj" fmla="val 407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5712" y="3246120"/>
            <a:ext cx="1798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D145B"/>
                </a:solidFill>
                <a:latin typeface="Calibri"/>
              </a:rPr>
              <a:t>‖W_h‖ &gt;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3352" y="4636008"/>
            <a:ext cx="182880" cy="82296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5739384" y="4572000"/>
            <a:ext cx="182880" cy="146304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5995416" y="4462272"/>
            <a:ext cx="182880" cy="25603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6251448" y="4279392"/>
            <a:ext cx="182880" cy="43891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6507480" y="3986784"/>
            <a:ext cx="182880" cy="73152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6763512" y="3529584"/>
            <a:ext cx="182880" cy="118872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52288" y="4718304"/>
            <a:ext cx="1725168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97424" y="4773168"/>
            <a:ext cx="1834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AA0A6"/>
                </a:solidFill>
                <a:latin typeface="Calibri"/>
              </a:rPr>
              <a:t>t=T  →  …  →  t=1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7424" y="4992624"/>
            <a:ext cx="183489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EXPLODING</a:t>
            </a:r>
          </a:p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NaN no treino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2761488"/>
            <a:ext cx="6565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cada passo multiplica o gradiente por um Jacobiano — T passos, T multiplicações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41264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é o mesmo vanishing da Aula 2 — agora no eixo do TEMPO   ·   Bengio, Simard &amp; Frasconi (1994)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ounded Rectangle 29"/>
          <p:cNvSpPr/>
          <p:nvPr/>
        </p:nvSpPr>
        <p:spPr>
          <a:xfrm>
            <a:off x="1736529" y="4389120"/>
            <a:ext cx="4409070" cy="730688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LSTM (1997):</a:t>
            </a:r>
            <a:r>
              <a:rPr sz="2700" b="1">
                <a:solidFill>
                  <a:srgbClr val="ED145B"/>
                </a:solidFill>
                <a:latin typeface="Calibri"/>
              </a:rPr>
              <a:t> três válvulas sobre a memória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Hochreiter &amp; Schmidhuber (1997): gates + cell state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Cada gate é uma sigmoide sobre [hₜ₋₁, xₜ]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fₜ — o que esquecer do passado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iₜ — o que escrever agora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oₜ — o que expor como saída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Saída em (0,1): a válvula abre ou fecha por dimensão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CADA GATE LÊ O MESMO VETOR E DECIDE QUANTO DEIXA PASSAR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04288"/>
            <a:ext cx="1234440" cy="1170432"/>
          </a:xfrm>
          <a:prstGeom prst="roundRect">
            <a:avLst>
              <a:gd name="adj" fmla="val 7031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D9CDB"/>
                </a:solidFill>
                <a:latin typeface="Calibri"/>
              </a:rPr>
              <a:t>[hₜ₋₁ , xₜ]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965960" y="2167128"/>
            <a:ext cx="374904" cy="722376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2359152" y="1883664"/>
            <a:ext cx="566928" cy="56692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ED145B"/>
                </a:solidFill>
                <a:latin typeface="Calibri"/>
              </a:rPr>
              <a:t>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90195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D145B"/>
                </a:solidFill>
                <a:latin typeface="Calibri"/>
              </a:rPr>
              <a:t>fₜ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2157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forget · o que apagar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75104"/>
            <a:ext cx="1920240" cy="310896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975104"/>
            <a:ext cx="1766620" cy="310896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84248"/>
            <a:ext cx="594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0,92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65960" y="2889504"/>
            <a:ext cx="374904" cy="100584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59152" y="2706624"/>
            <a:ext cx="566928" cy="56692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2D9CDB"/>
                </a:solidFill>
                <a:latin typeface="Calibri"/>
              </a:rPr>
              <a:t>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72491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9CDB"/>
                </a:solidFill>
                <a:latin typeface="Calibri"/>
              </a:rPr>
              <a:t>iₜ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98094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input · o que escrever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798064"/>
            <a:ext cx="1920240" cy="310896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2798064"/>
            <a:ext cx="1171346" cy="310896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807208"/>
            <a:ext cx="594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0,61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65960" y="2889504"/>
            <a:ext cx="374904" cy="923544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359152" y="3529584"/>
            <a:ext cx="566928" cy="56692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2994A"/>
                </a:solidFill>
                <a:latin typeface="Calibri"/>
              </a:rPr>
              <a:t>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54096" y="354787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2994A"/>
                </a:solidFill>
                <a:latin typeface="Calibri"/>
              </a:rPr>
              <a:t>oₜ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4096" y="380390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output · o que emitir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621024"/>
            <a:ext cx="1920240" cy="310896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621024"/>
            <a:ext cx="1497787" cy="31089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630168"/>
            <a:ext cx="594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  <a:latin typeface="Calibri"/>
              </a:rPr>
              <a:t>0,78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169663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AA0A6"/>
                </a:solidFill>
                <a:latin typeface="Calibri"/>
              </a:rPr>
              <a:t>0 = fecha        1 = abre</a:t>
            </a:r>
          </a:p>
        </p:txBody>
      </p:sp>
      <p:pic>
        <p:nvPicPr>
          <p:cNvPr id="29" name="Picture 28" descr="c6166a9498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697" y="4590288"/>
            <a:ext cx="4006734" cy="32835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58368" y="5596128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os três gates têm a MESMA forma — mudam só os pesos   ·   Hochreiter &amp; Schmidhuber (1997)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ounded Rectangle 26"/>
          <p:cNvSpPr/>
          <p:nvPr/>
        </p:nvSpPr>
        <p:spPr>
          <a:xfrm>
            <a:off x="2438955" y="4297680"/>
            <a:ext cx="3004219" cy="768096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Cell state:</a:t>
            </a:r>
            <a:r>
              <a:rPr sz="2700" b="1">
                <a:solidFill>
                  <a:srgbClr val="ED145B"/>
                </a:solidFill>
                <a:latin typeface="Calibri"/>
              </a:rPr>
              <a:t> a esteira que atravessa o tempo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Cell state cₜ é uma “esteira” de memória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c̃ₜ = tanh(W_c[hₜ₋₁, xₜ] + b_c) é o candidato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cₜ = fₜ ⊙ cₜ₋₁ + iₜ ⊙ c̃ₜ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hₜ = oₜ ⊙ tanh(cₜ)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Gates decidem o que esquecer, o que somar e o que emitir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 ESTEIRA DA MEMÓRIA · o cell state atravessa o tempo quase sem obstáculo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38528"/>
            <a:ext cx="640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cₜ₋₁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938528"/>
            <a:ext cx="7863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7AE60"/>
                </a:solidFill>
                <a:latin typeface="Calibri"/>
              </a:rPr>
              <a:t>cₜ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267712"/>
            <a:ext cx="6080760" cy="0"/>
          </a:xfrm>
          <a:prstGeom prst="line">
            <a:avLst/>
          </a:prstGeom>
          <a:ln w="3810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121408" y="2039112"/>
            <a:ext cx="457200" cy="457200"/>
          </a:xfrm>
          <a:prstGeom prst="ellipse">
            <a:avLst/>
          </a:prstGeom>
          <a:solidFill>
            <a:srgbClr val="0B0B0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ED145B"/>
                </a:solidFill>
                <a:latin typeface="Calibri"/>
              </a:rPr>
              <a:t>×</a:t>
            </a:r>
          </a:p>
        </p:txBody>
      </p:sp>
      <p:sp>
        <p:nvSpPr>
          <p:cNvPr id="10" name="Oval 9"/>
          <p:cNvSpPr/>
          <p:nvPr/>
        </p:nvSpPr>
        <p:spPr>
          <a:xfrm>
            <a:off x="4005072" y="2039112"/>
            <a:ext cx="457200" cy="457200"/>
          </a:xfrm>
          <a:prstGeom prst="ellipse">
            <a:avLst/>
          </a:prstGeom>
          <a:solidFill>
            <a:srgbClr val="0B0B0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2D9CDB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1368" y="2944368"/>
            <a:ext cx="1097280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ED145B"/>
                </a:solidFill>
                <a:latin typeface="Calibri"/>
              </a:rPr>
              <a:t>fₜ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350008" y="2523744"/>
            <a:ext cx="0" cy="402336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90672" y="2944368"/>
            <a:ext cx="960120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D9CDB"/>
                </a:solidFill>
                <a:latin typeface="Calibri"/>
              </a:rPr>
              <a:t>iₜ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944368"/>
            <a:ext cx="960120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9B51E0"/>
                </a:solidFill>
                <a:latin typeface="Calibri"/>
              </a:rPr>
              <a:t>c̃ₜ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566160" y="2542032"/>
            <a:ext cx="530352" cy="384048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370832" y="2542032"/>
            <a:ext cx="493776" cy="384048"/>
          </a:xfrm>
          <a:prstGeom prst="line">
            <a:avLst/>
          </a:prstGeom>
          <a:ln w="2032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96128" y="2944368"/>
            <a:ext cx="1572768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2994A"/>
                </a:solidFill>
                <a:latin typeface="Calibri"/>
              </a:rPr>
              <a:t>oₜ ⊙ tanh(cₜ) → hₜ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82512" y="2340864"/>
            <a:ext cx="0" cy="566928"/>
          </a:xfrm>
          <a:prstGeom prst="line">
            <a:avLst/>
          </a:prstGeom>
          <a:ln w="2032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3232" y="3602736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D9CDB"/>
                </a:solidFill>
                <a:latin typeface="Calibri"/>
              </a:rPr>
              <a:t>[hₜ₋₁ , xₜ]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57400" y="3831336"/>
            <a:ext cx="4325112" cy="0"/>
          </a:xfrm>
          <a:prstGeom prst="line">
            <a:avLst/>
          </a:prstGeom>
          <a:ln w="15240">
            <a:solidFill>
              <a:srgbClr val="9AA0A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350008" y="3511296"/>
            <a:ext cx="0" cy="32004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566160" y="3511296"/>
            <a:ext cx="0" cy="32004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864608" y="3511296"/>
            <a:ext cx="0" cy="32004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382512" y="3511296"/>
            <a:ext cx="0" cy="32004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77440" y="3895344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9AA0A6"/>
                </a:solidFill>
                <a:latin typeface="Calibri"/>
              </a:rPr>
              <a:t>todos os gates leem o mesmo vetor</a:t>
            </a:r>
          </a:p>
        </p:txBody>
      </p:sp>
      <p:pic>
        <p:nvPicPr>
          <p:cNvPr id="26" name="Picture 25" descr="4be254065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123" y="4498848"/>
            <a:ext cx="2601883" cy="36576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58368" y="5431536"/>
            <a:ext cx="2017776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ED145B"/>
                </a:solidFill>
                <a:latin typeface="Calibri"/>
              </a:rPr>
              <a:t>fₜ ⊙ cₜ₋₁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que se esquece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32176" y="5431536"/>
            <a:ext cx="2017776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iₜ ⊙ c̃ₜ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que se acrescenta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05984" y="5431536"/>
            <a:ext cx="2017776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oₜ ⊙ tanh(cₜ)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que se emite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Por que a LSTM não some:</a:t>
            </a:r>
            <a:r>
              <a:rPr sz="2700" b="1">
                <a:solidFill>
                  <a:srgbClr val="ED145B"/>
                </a:solidFill>
                <a:latin typeface="Calibri"/>
              </a:rPr>
              <a:t> soma em vez de produto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Cell state flui por soma, não por produto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∂cₜ/∂cₜ₋₁ = fₜ — sem cadeia multiplicativa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 o gate fₜ ≈ 1, o gradiente preserva-se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Análogo estrutural à conexão residual da ResNet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Não elimina o problema: adia-o por centenas de passos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3200400" cy="3218688"/>
          </a:xfrm>
          <a:prstGeom prst="roundRect">
            <a:avLst>
              <a:gd name="adj" fmla="val 2571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55064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RNN · CAMINHO MULTIPLICATIVO</a:t>
            </a:r>
          </a:p>
        </p:txBody>
      </p:sp>
      <p:pic>
        <p:nvPicPr>
          <p:cNvPr id="7" name="Picture 6" descr="068164366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765" y="1956816"/>
            <a:ext cx="1637607" cy="35329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152144" y="2871216"/>
            <a:ext cx="237744" cy="11887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481328" y="3401568"/>
            <a:ext cx="237744" cy="65836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1810512" y="3694176"/>
            <a:ext cx="237744" cy="36576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139696" y="3849624"/>
            <a:ext cx="237744" cy="21031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3941064"/>
            <a:ext cx="237744" cy="11887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2798063" y="3995928"/>
            <a:ext cx="237744" cy="6400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4018788"/>
            <a:ext cx="237744" cy="4114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" y="4059936"/>
            <a:ext cx="2798064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6384" y="413308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t = T   →   volta no tempo   →   t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370832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2994A"/>
                </a:solidFill>
                <a:latin typeface="Calibri"/>
              </a:rPr>
              <a:t>cada passo encolhe o gradiente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1554480"/>
            <a:ext cx="3200400" cy="3218688"/>
          </a:xfrm>
          <a:prstGeom prst="roundRect">
            <a:avLst>
              <a:gd name="adj" fmla="val 2571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1655064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LSTM · CAMINHO ADITIVO</a:t>
            </a:r>
          </a:p>
        </p:txBody>
      </p:sp>
      <p:pic>
        <p:nvPicPr>
          <p:cNvPr id="20" name="Picture 19" descr="9d0bb44a75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019" y="1956816"/>
            <a:ext cx="773083" cy="33250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517136" y="2871216"/>
            <a:ext cx="237744" cy="118872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916936"/>
            <a:ext cx="237744" cy="1143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5175504" y="2962656"/>
            <a:ext cx="237744" cy="10972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5504688" y="3008376"/>
            <a:ext cx="237744" cy="105156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833872" y="3044952"/>
            <a:ext cx="237744" cy="101498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3081528"/>
            <a:ext cx="237744" cy="9784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118104"/>
            <a:ext cx="237744" cy="9418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24528" y="4059936"/>
            <a:ext cx="2798064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51376" y="413308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t = T   →   volta no tempo   →   t 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51376" y="4370832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com fₜ ≈ 1 o gradiente atravessa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56048"/>
            <a:ext cx="315468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27AE60"/>
                </a:solidFill>
                <a:latin typeface="Calibri"/>
              </a:rPr>
              <a:t>ResNet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h = ℱ(h) + h — atalho no ESPAÇO (profundidade)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9080" y="4956048"/>
            <a:ext cx="315468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ED145B"/>
                </a:solidFill>
                <a:latin typeface="Calibri"/>
              </a:rPr>
              <a:t>LSTM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cₜ = fₜ ⊙ cₜ₋₁ + iₜ ⊙ c̃ₜ — atalho no TEMPO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5907024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mesmo truque nas duas: dar ao gradiente um caminho que não passa por multiplicações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2116836" y="3712464"/>
            <a:ext cx="3648456" cy="801346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GRU (2014):</a:t>
            </a:r>
            <a:r>
              <a:rPr sz="2700" b="1">
                <a:solidFill>
                  <a:srgbClr val="ED145B"/>
                </a:solidFill>
                <a:latin typeface="Calibri"/>
              </a:rPr>
              <a:t> a LSTM enxuta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Cho et al. (2014): 2 gates em vez de 3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zₜ (update) interpola passado e candidato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rₜ (reset) decide quanto do passado entra no candidato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Um único estado hₜ — não há cell state separado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Acurácia similar à LSTM, ~25 % menos parâmetros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3200400" cy="2103120"/>
          </a:xfrm>
          <a:prstGeom prst="roundRect">
            <a:avLst>
              <a:gd name="adj" fmla="val 391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55064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9B51E0"/>
                </a:solidFill>
                <a:latin typeface="Calibri"/>
              </a:rPr>
              <a:t>LSTM · 1997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88392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6608" y="1920240"/>
            <a:ext cx="88392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8544" y="1920240"/>
            <a:ext cx="88392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32304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estados: cₜ  e  hₜ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4 conjuntos de pesos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072384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B51E0"/>
                </a:solidFill>
                <a:latin typeface="Calibri"/>
              </a:rPr>
              <a:t>controle fino da memória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554480"/>
            <a:ext cx="3200400" cy="2103120"/>
          </a:xfrm>
          <a:prstGeom prst="roundRect">
            <a:avLst>
              <a:gd name="adj" fmla="val 3913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1655064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D145B"/>
                </a:solidFill>
                <a:latin typeface="Calibri"/>
              </a:rPr>
              <a:t>GRU · 2014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9663" y="1920240"/>
            <a:ext cx="1389888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zₜ  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7568" y="1920240"/>
            <a:ext cx="1389888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rₜ  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3" y="2432304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estado único: hₜ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9663" y="2724912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3 conjuntos de pesos  (≈ 25 % menos)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9663" y="3072384"/>
            <a:ext cx="2907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acurácia similar, treino mais rápido</a:t>
            </a:r>
          </a:p>
        </p:txBody>
      </p:sp>
      <p:pic>
        <p:nvPicPr>
          <p:cNvPr id="20" name="Picture 19" descr="a94caa31e6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004" y="3913632"/>
            <a:ext cx="3246120" cy="3990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" y="495604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hₜ₋₁  memória antiga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95604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AA0A6"/>
                </a:solidFill>
                <a:latin typeface="Calibri"/>
              </a:rPr>
              <a:t>h̃ₜ  candidato novo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5230368"/>
            <a:ext cx="4846320" cy="274320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5230368"/>
            <a:ext cx="2907792" cy="27432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3913632" y="5138928"/>
            <a:ext cx="457200" cy="457200"/>
          </a:xfrm>
          <a:prstGeom prst="ellipse">
            <a:avLst/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D145B"/>
                </a:solidFill>
                <a:latin typeface="Calibri"/>
              </a:rPr>
              <a:t>zₜ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74243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zₜ é um interpolador: 0 mantém o passado, 1 aceita o novo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6035040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não há cell state separado — a GRU mistura memória e saída em um vetor só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Demonstração em código: arquiteturas de sequência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BiLSTM e os trade-offs de implantação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RNN, LSTM e GRU em PyTorch: a mesma API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Seq2Seq, teacher forcing e o gargalo do contexto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BiLSTM:</a:t>
            </a:r>
            <a:r>
              <a:rPr sz="2700" b="1">
                <a:solidFill>
                  <a:srgbClr val="ED145B"/>
                </a:solidFill>
                <a:latin typeface="Calibri"/>
              </a:rPr>
              <a:t> ler a sequência nos dois sentidos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LSTM forward + LSTM backward sobre a mesma sequência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Concatena os estados: [h→ₜ ; h←ₜ]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Cada posição “vê” passado e futuro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Padrão em classificação de texto (pré-Transformer)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Inviável em streaming: precisa da sequência inteira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7591" y="157276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6311" y="157276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filme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5032" y="157276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3752" y="157276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572768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ruim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FORWARD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7048" y="197510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197510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04488" y="197510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8" y="197510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97510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49423" y="2249424"/>
            <a:ext cx="438913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438143" y="2249424"/>
            <a:ext cx="438913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26864" y="2249424"/>
            <a:ext cx="438912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15584" y="2249424"/>
            <a:ext cx="438912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310896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B51E0"/>
                </a:solidFill>
                <a:latin typeface="Calibri"/>
              </a:rPr>
              <a:t>BACKWARD 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27048" y="298094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15768" y="298094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04488" y="298094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93208" y="298094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81928" y="2980944"/>
            <a:ext cx="694944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h5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249423" y="3255263"/>
            <a:ext cx="438913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675887" y="3255263"/>
            <a:ext cx="201168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626864" y="3255263"/>
            <a:ext cx="438912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815584" y="3255263"/>
            <a:ext cx="438912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51960" y="3547872"/>
            <a:ext cx="0" cy="420624"/>
          </a:xfrm>
          <a:prstGeom prst="line">
            <a:avLst/>
          </a:prstGeom>
          <a:ln w="2032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566160" y="2542032"/>
            <a:ext cx="384048" cy="182880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566160" y="2724912"/>
            <a:ext cx="0" cy="1188720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66160" y="3913632"/>
            <a:ext cx="411480" cy="91440"/>
          </a:xfrm>
          <a:prstGeom prst="line">
            <a:avLst/>
          </a:prstGeom>
          <a:ln w="2032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200400" y="3986784"/>
            <a:ext cx="210312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ED145B"/>
                </a:solidFill>
                <a:latin typeface="Calibri"/>
              </a:rPr>
              <a:t>[ h→₃ ; h←₃ 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94960" y="411480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a representação da posição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791456"/>
            <a:ext cx="3200400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h→₃ leu "o filme não"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0" y="4791456"/>
            <a:ext cx="3200400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h←₃ leu "ruim é não"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2994A"/>
                </a:solidFill>
                <a:latin typeface="Calibri"/>
              </a:rPr>
              <a:t>precisa da sequência INTEIRA: ótimo offline, impossível em serving causal/streaming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Trade-offs: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que escolher em produção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RNN vanilla: menor custo, mas memória curta e treino instável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GRU: menos parâmetros que LSTM, boa escolha quando latência importa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LSTM: melhor controle de memória, ao custo de mais gates e maior compute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BiLSTM: excelente offline, porém inadequada para serving causal em tempo real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forecasting, split cronológico e normalização ajustada só no treino são obrigatórios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9696" y="1572768"/>
            <a:ext cx="12710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memória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0712" y="1572768"/>
            <a:ext cx="12710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custo de treino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1728" y="1572768"/>
            <a:ext cx="12710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latência p/ passo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2744" y="1572768"/>
            <a:ext cx="127101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serving causal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138988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RNN vanilla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5415" y="1920240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2994A"/>
                </a:solidFill>
                <a:latin typeface="Calibri"/>
              </a:rPr>
              <a:t>curta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6432" y="1920240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baixo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7448" y="1920240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baixa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98464" y="1920240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sim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23744"/>
            <a:ext cx="138988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D145B"/>
                </a:solidFill>
                <a:latin typeface="Calibri"/>
              </a:rPr>
              <a:t>GRU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85415" y="2523744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boa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6432" y="2523744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médio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7448" y="2523744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baixa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98464" y="2523744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sim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27248"/>
            <a:ext cx="138988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9B51E0"/>
                </a:solidFill>
                <a:latin typeface="Calibri"/>
              </a:rPr>
              <a:t>LSTM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85415" y="3127248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melhor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56432" y="3127248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2994A"/>
                </a:solidFill>
                <a:latin typeface="Calibri"/>
              </a:rPr>
              <a:t>alto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27448" y="3127248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2994A"/>
                </a:solidFill>
                <a:latin typeface="Calibri"/>
              </a:rPr>
              <a:t>média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8464" y="3127248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sim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30752"/>
            <a:ext cx="138988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BiLSTM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85415" y="3730752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27AE60"/>
                </a:solidFill>
                <a:latin typeface="Calibri"/>
              </a:rPr>
              <a:t>melhor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56432" y="3730752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2994A"/>
                </a:solidFill>
                <a:latin typeface="Calibri"/>
              </a:rPr>
              <a:t>alto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27448" y="3730752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2994A"/>
                </a:solidFill>
                <a:latin typeface="Calibri"/>
              </a:rPr>
              <a:t>alta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98464" y="3730752"/>
            <a:ext cx="1179576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ED145B"/>
                </a:solidFill>
                <a:latin typeface="Calibri"/>
              </a:rPr>
              <a:t>NÃO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4498848"/>
            <a:ext cx="6565392" cy="0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4572000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E NO FORECASTING, O PROTOCOLO É PARTE DA ARQUITETURA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82896"/>
            <a:ext cx="3200400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83480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2994A"/>
                </a:solidFill>
                <a:latin typeface="Calibri"/>
              </a:rPr>
              <a:t>✗  split aleatório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" y="5358384"/>
            <a:ext cx="310896" cy="2560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1243584" y="5358384"/>
            <a:ext cx="310896" cy="25603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1591056" y="5358384"/>
            <a:ext cx="310896" cy="2560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1938528" y="5358384"/>
            <a:ext cx="310896" cy="2560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5358384"/>
            <a:ext cx="310896" cy="25603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633472" y="5358384"/>
            <a:ext cx="310896" cy="2560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980944" y="5358384"/>
            <a:ext cx="310896" cy="25603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3328416" y="5358384"/>
            <a:ext cx="310896" cy="2560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68756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2994A"/>
                </a:solidFill>
                <a:latin typeface="Calibri"/>
              </a:rPr>
              <a:t>o futuro vaza para o treino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3360" y="4882896"/>
            <a:ext cx="3200400" cy="1152144"/>
          </a:xfrm>
          <a:prstGeom prst="roundRect">
            <a:avLst>
              <a:gd name="adj" fmla="val 714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33088" y="4983480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✓  split cronológico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24528" y="5358384"/>
            <a:ext cx="1554480" cy="2560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4528" y="56327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  <a:latin typeface="Calibri"/>
              </a:rPr>
              <a:t>treino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15584" y="5358384"/>
            <a:ext cx="566928" cy="25603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5584" y="5632704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D9CDB"/>
                </a:solidFill>
                <a:latin typeface="Calibri"/>
              </a:rPr>
              <a:t>val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19088" y="5358384"/>
            <a:ext cx="603504" cy="25603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5632704"/>
            <a:ext cx="60350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ED145B"/>
                </a:solidFill>
                <a:latin typeface="Calibri"/>
              </a:rPr>
              <a:t>teste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51376" y="5852160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7AE60"/>
                </a:solidFill>
                <a:latin typeface="Calibri"/>
              </a:rPr>
              <a:t>normalização ajustada só no treino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RNN em PyTorch:</a:t>
            </a:r>
            <a:r>
              <a:rPr sz="2700" b="1">
                <a:solidFill>
                  <a:srgbClr val="ED145B"/>
                </a:solidFill>
                <a:latin typeface="Calibri"/>
              </a:rPr>
              <a:t> três linhas e um tensor 3-D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Mesma API para nn.RNN, nn.LSTM e nn.GRU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batch_first=True segue as convenções modernas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out: (batch, seq, hidden) — todos os passos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hₙ, cₙ: último estado (n_layers, batch, hidden)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nn.utils.rnn faz pack/pad de sequências variáveis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6565392" cy="1596450"/>
          </a:xfrm>
          <a:prstGeom prst="roundRect">
            <a:avLst>
              <a:gd name="adj" fmla="val 4466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mesma API para as três variantes</a:t>
            </a:r>
          </a:p>
          <a:p>
            <a:pPr algn="l"/>
            <a:r>
              <a:rPr sz="1100">
                <a:solidFill>
                  <a:srgbClr val="ED145B"/>
                </a:solidFill>
                <a:latin typeface="Consolas"/>
              </a:rPr>
              <a:t>import</a:t>
            </a:r>
            <a:r>
              <a:rPr sz="1100">
                <a:solidFill>
                  <a:srgbClr val="E4E4EA"/>
                </a:solidFill>
                <a:latin typeface="Consolas"/>
              </a:rPr>
              <a:t> torch.nn </a:t>
            </a:r>
            <a:r>
              <a:rPr sz="1100">
                <a:solidFill>
                  <a:srgbClr val="ED145B"/>
                </a:solidFill>
                <a:latin typeface="Consolas"/>
              </a:rPr>
              <a:t>as</a:t>
            </a:r>
            <a:r>
              <a:rPr sz="1100">
                <a:solidFill>
                  <a:srgbClr val="E4E4EA"/>
                </a:solidFill>
                <a:latin typeface="Consolas"/>
              </a:rPr>
              <a:t> nn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rnn  = nn.RNN(input_size=10, hidden_size=64, batch_first=</a:t>
            </a:r>
            <a:r>
              <a:rPr sz="1100">
                <a:solidFill>
                  <a:srgbClr val="ED145B"/>
                </a:solidFill>
                <a:latin typeface="Consolas"/>
              </a:rPr>
              <a:t>True</a:t>
            </a:r>
            <a:r>
              <a:rPr sz="110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lstm = nn.LSTM(input_size=10, hidden_size=64, batch_first=</a:t>
            </a:r>
            <a:r>
              <a:rPr sz="1100">
                <a:solidFill>
                  <a:srgbClr val="ED145B"/>
                </a:solidFill>
                <a:latin typeface="Consolas"/>
              </a:rPr>
              <a:t>True</a:t>
            </a:r>
            <a:r>
              <a:rPr sz="110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gru  = nn.GRU(input_size=10, hidden_size=64, batch_first=</a:t>
            </a:r>
            <a:r>
              <a:rPr sz="1100">
                <a:solidFill>
                  <a:srgbClr val="ED145B"/>
                </a:solidFill>
                <a:latin typeface="Consolas"/>
              </a:rPr>
              <a:t>True</a:t>
            </a:r>
            <a:r>
              <a:rPr sz="110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out, (h_n, c_n) = lstm(x)   # x: (batch, seq, features)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75887"/>
            <a:ext cx="1600200" cy="822960"/>
          </a:xfrm>
          <a:prstGeom prst="roundRect">
            <a:avLst>
              <a:gd name="adj" fmla="val 10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x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(batch, seq, 10)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50008" y="4087368"/>
            <a:ext cx="37490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43200" y="3675887"/>
            <a:ext cx="1645920" cy="822960"/>
          </a:xfrm>
          <a:prstGeom prst="roundRect">
            <a:avLst>
              <a:gd name="adj" fmla="val 10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nn.LSTM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hidden = 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3273551"/>
            <a:ext cx="214884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out  (batch, seq, 64)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todos os passos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4389120"/>
            <a:ext cx="2148840" cy="786384"/>
          </a:xfrm>
          <a:prstGeom prst="roundRect">
            <a:avLst>
              <a:gd name="adj" fmla="val 1046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h_n, c_n  (1, batch, 64)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último estado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425696" y="3657599"/>
            <a:ext cx="603504" cy="310897"/>
          </a:xfrm>
          <a:prstGeom prst="line">
            <a:avLst/>
          </a:prstGeom>
          <a:ln w="2032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25696" y="4224527"/>
            <a:ext cx="603504" cy="420625"/>
          </a:xfrm>
          <a:prstGeom prst="line">
            <a:avLst/>
          </a:prstGeom>
          <a:ln w="2032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86384" y="5193792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5193792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1225295" y="5193792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1444752" y="5193792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664207" y="5193792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1883664" y="5193792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5193792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2322576" y="5193792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5431536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5431536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1225295" y="5431536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1444752" y="5431536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664207" y="5431536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1883664" y="5431536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5431536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322576" y="5431536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5669279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5669279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1225295" y="5669279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1444752" y="5669279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1664207" y="5669279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1883664" y="5669279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5669279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2322576" y="5669279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" y="5907024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5907024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1225295" y="5907024"/>
            <a:ext cx="201168" cy="20116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0" name="Rectangle 39"/>
          <p:cNvSpPr/>
          <p:nvPr/>
        </p:nvSpPr>
        <p:spPr>
          <a:xfrm>
            <a:off x="1444752" y="5907024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1664207" y="5907024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1883664" y="5907024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5907024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2322576" y="5907024"/>
            <a:ext cx="201168" cy="20116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248656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batch com sequências de tamanhos diferentes: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548640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nn.utils.rnn.pack_padded_sequence faz a RNN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705856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PULAR o padding em cinza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Seq2Seq: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comprimir e expandir sequências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Encoder RNN comprime sequência em vetor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Decoder RNN expande em nova sequência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Usado em tradução (pré-Transformer)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9105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je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25880" y="1847088"/>
            <a:ext cx="0" cy="201168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48839" y="159105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suis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1847088"/>
            <a:ext cx="0" cy="201168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11880" y="159105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étudiant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51960" y="1847088"/>
            <a:ext cx="0" cy="201168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4920" y="159105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" y="1847088"/>
            <a:ext cx="0" cy="201168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59" y="2084831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2084831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40" y="2084831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2084831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56231" y="2368296"/>
            <a:ext cx="402337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319271" y="2368296"/>
            <a:ext cx="402337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82312" y="2368296"/>
            <a:ext cx="402336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0" y="2231136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ENCODER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212080" y="2670048"/>
            <a:ext cx="502920" cy="457200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788920" y="3145536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vetor de contexto  c = h_T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29184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tamanho FIXO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737360" y="3822191"/>
            <a:ext cx="1051560" cy="402337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59" y="4261104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4261104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40" y="4261104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4261104"/>
            <a:ext cx="1005840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856231" y="4544568"/>
            <a:ext cx="402337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19271" y="4544568"/>
            <a:ext cx="402337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82312" y="4544568"/>
            <a:ext cx="402336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25880" y="4846320"/>
            <a:ext cx="0" cy="201168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508406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788920" y="4846320"/>
            <a:ext cx="0" cy="201168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148839" y="508406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am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251960" y="4846320"/>
            <a:ext cx="0" cy="201168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11880" y="508406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715000" y="4846320"/>
            <a:ext cx="0" cy="201168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74920" y="508406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student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407408"/>
            <a:ext cx="822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DECODER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41264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2994A"/>
                </a:solidFill>
                <a:latin typeface="Calibri"/>
              </a:rPr>
              <a:t>GARGALO: uma frase de 40 palavras tem de caber num único vetor — a atenção (Aula 6) remove essa restrição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Teacher forcing: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o atalho que cobra depois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Durante treino, decoder recebe token verdadeiro (não sua predição)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Acelera convergência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Mas causa exposure bias em inferência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6565392" cy="1847088"/>
          </a:xfrm>
          <a:prstGeom prst="roundRect">
            <a:avLst>
              <a:gd name="adj" fmla="val 445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55064"/>
            <a:ext cx="63459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TREINO · teacher forcing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" y="1956816"/>
            <a:ext cx="113385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2706624"/>
            <a:ext cx="1133856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27AE60"/>
                </a:solidFill>
                <a:latin typeface="Calibri"/>
              </a:rPr>
              <a:t>token real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984248" y="2468880"/>
            <a:ext cx="896112" cy="457200"/>
          </a:xfrm>
          <a:prstGeom prst="line">
            <a:avLst/>
          </a:prstGeom>
          <a:ln w="1905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96312" y="1956816"/>
            <a:ext cx="113385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passo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96312" y="2706624"/>
            <a:ext cx="1133856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27AE60"/>
                </a:solidFill>
                <a:latin typeface="Calibri"/>
              </a:rPr>
              <a:t>token real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630168" y="2468880"/>
            <a:ext cx="896112" cy="457200"/>
          </a:xfrm>
          <a:prstGeom prst="line">
            <a:avLst/>
          </a:prstGeom>
          <a:ln w="1905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42232" y="1956816"/>
            <a:ext cx="113385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passo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2232" y="2706624"/>
            <a:ext cx="1133856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27AE60"/>
                </a:solidFill>
                <a:latin typeface="Calibri"/>
              </a:rPr>
              <a:t>token real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276088" y="2468880"/>
            <a:ext cx="896112" cy="457200"/>
          </a:xfrm>
          <a:prstGeom prst="line">
            <a:avLst/>
          </a:prstGeom>
          <a:ln w="1905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788152" y="1956816"/>
            <a:ext cx="113385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passo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88152" y="2706624"/>
            <a:ext cx="1133856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27AE60"/>
                </a:solidFill>
                <a:latin typeface="Calibri"/>
              </a:rPr>
              <a:t>token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6382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27AE60"/>
                </a:solidFill>
                <a:latin typeface="Calibri"/>
              </a:rPr>
              <a:t>o decoder sempre recebe a resposta certa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84448"/>
            <a:ext cx="6565392" cy="1847088"/>
          </a:xfrm>
          <a:prstGeom prst="roundRect">
            <a:avLst>
              <a:gd name="adj" fmla="val 445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685032"/>
            <a:ext cx="63459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3657600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994A"/>
                </a:solidFill>
                <a:latin typeface="Calibri"/>
              </a:rPr>
              <a:t>INFERÊNCIA · sem gabarito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" y="3986784"/>
            <a:ext cx="113385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passo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" y="4736592"/>
            <a:ext cx="1133856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2994A"/>
                </a:solidFill>
                <a:latin typeface="Calibri"/>
              </a:rPr>
              <a:t>predição ✓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984248" y="4498848"/>
            <a:ext cx="896112" cy="457200"/>
          </a:xfrm>
          <a:prstGeom prst="line">
            <a:avLst/>
          </a:prstGeom>
          <a:ln w="1905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496312" y="3986784"/>
            <a:ext cx="113385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passo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96312" y="4736592"/>
            <a:ext cx="1133856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2994A"/>
                </a:solidFill>
                <a:latin typeface="Calibri"/>
              </a:rPr>
              <a:t>predição ✓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630168" y="4498848"/>
            <a:ext cx="896112" cy="457200"/>
          </a:xfrm>
          <a:prstGeom prst="line">
            <a:avLst/>
          </a:prstGeom>
          <a:ln w="1905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142232" y="3986784"/>
            <a:ext cx="113385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passo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42232" y="4736592"/>
            <a:ext cx="1133856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ED145B"/>
                </a:solidFill>
                <a:latin typeface="Calibri"/>
              </a:rPr>
              <a:t>predição ✗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276088" y="4498848"/>
            <a:ext cx="896112" cy="457200"/>
          </a:xfrm>
          <a:prstGeom prst="line">
            <a:avLst/>
          </a:prstGeom>
          <a:ln w="1905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88152" y="3986784"/>
            <a:ext cx="1133856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passo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88152" y="4736592"/>
            <a:ext cx="1133856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ED145B"/>
                </a:solidFill>
                <a:latin typeface="Calibri"/>
              </a:rPr>
              <a:t>predição 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19379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ED145B"/>
                </a:solidFill>
                <a:latin typeface="Calibri"/>
              </a:rPr>
              <a:t>um erro alimenta o passo seguinte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614416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exposure bias: o modelo nunca treinou vendo os próprios erros   ·   mitigação: scheduled sampling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4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Execução e discussão: negócio, notebook e limites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ETA de entrega: um caso de sequência em produção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protocolo do notebook: split cronológico e MASE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Limitações das RNNs e a ponte para a Aula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Caso de negócio:</a:t>
            </a:r>
            <a:r>
              <a:rPr sz="2700" b="1">
                <a:solidFill>
                  <a:srgbClr val="ED145B"/>
                </a:solidFill>
                <a:latin typeface="Calibri"/>
              </a:rPr>
              <a:t> ETA de entrega em tempo real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Problema: prever ETA (tempo estimado de entrega) em tempo real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Features: distância, trânsito, chuva, histórico do estabelecimento, entregador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Abordagem: LSTM sobre sequência temporal de eventos + features tabulares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iFood publicou em eventos técnicos uso de RNNs híbridas para 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 SEQUÊNCIA DE EVENTOS DE UM PEDIDO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188720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pedido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aceito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56816" y="2148840"/>
            <a:ext cx="73151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48255" y="1847088"/>
            <a:ext cx="1188720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loja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confirma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55264" y="2148840"/>
            <a:ext cx="73151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46703" y="1847088"/>
            <a:ext cx="1188720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preparo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concluído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53712" y="2148840"/>
            <a:ext cx="73152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45152" y="1847088"/>
            <a:ext cx="1188720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entregador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coleta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52159" y="2148840"/>
            <a:ext cx="73153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43600" y="1847088"/>
            <a:ext cx="1188720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rota até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o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505456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tempo real · a ordem e os intervalos carregam sinal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999232"/>
            <a:ext cx="1737360" cy="621792"/>
          </a:xfrm>
          <a:prstGeom prst="roundRect">
            <a:avLst>
              <a:gd name="adj" fmla="val 1323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sequência de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eventos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05456" y="3310128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6352" y="2999232"/>
            <a:ext cx="1463040" cy="621792"/>
          </a:xfrm>
          <a:prstGeom prst="roundRect">
            <a:avLst>
              <a:gd name="adj" fmla="val 13235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913632"/>
            <a:ext cx="1737360" cy="621792"/>
          </a:xfrm>
          <a:prstGeom prst="roundRect">
            <a:avLst>
              <a:gd name="adj" fmla="val 1323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features tabulares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distância · chuva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05456" y="4224528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16352" y="3913632"/>
            <a:ext cx="1463040" cy="621792"/>
          </a:xfrm>
          <a:prstGeom prst="roundRect">
            <a:avLst>
              <a:gd name="adj" fmla="val 1323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B51E0"/>
                </a:solidFill>
                <a:latin typeface="Calibri"/>
              </a:rPr>
              <a:t>Dense</a:t>
            </a:r>
          </a:p>
        </p:txBody>
      </p:sp>
      <p:sp>
        <p:nvSpPr>
          <p:cNvPr id="22" name="Oval 21"/>
          <p:cNvSpPr/>
          <p:nvPr/>
        </p:nvSpPr>
        <p:spPr>
          <a:xfrm>
            <a:off x="4590288" y="3493008"/>
            <a:ext cx="512064" cy="512064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97680" y="3310128"/>
            <a:ext cx="274320" cy="292608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297680" y="3950208"/>
            <a:ext cx="274320" cy="27432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0" y="3749039"/>
            <a:ext cx="29260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31536" y="3438144"/>
            <a:ext cx="1005840" cy="621792"/>
          </a:xfrm>
          <a:prstGeom prst="roundRect">
            <a:avLst>
              <a:gd name="adj" fmla="val 1323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27AE60"/>
                </a:solidFill>
                <a:latin typeface="Calibri"/>
              </a:rPr>
              <a:t>MLP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55664" y="3749039"/>
            <a:ext cx="182880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56832" y="3438144"/>
            <a:ext cx="566928" cy="621792"/>
          </a:xfrm>
          <a:prstGeom prst="roundRect">
            <a:avLst>
              <a:gd name="adj" fmla="val 14516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ETA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46320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2D9CDB"/>
                </a:solidFill>
                <a:latin typeface="Calibri"/>
              </a:rPr>
              <a:t>por que sequência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 ordem dos eventos muda o tempo total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32176" y="4846320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ED145B"/>
                </a:solidFill>
                <a:latin typeface="Calibri"/>
              </a:rPr>
              <a:t>por que LSTM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cada pedido tem um número diferente de eventos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05984" y="4846320"/>
            <a:ext cx="2017776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50" b="1">
                <a:solidFill>
                  <a:srgbClr val="27AE60"/>
                </a:solidFill>
                <a:latin typeface="Calibri"/>
              </a:rPr>
              <a:t>como medir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MAE em minutos e P90 do erro, não só a média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907024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modelo híbrido: o ramo recorrente lê o tempo, o ramo denso lê o contexto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Notebook-first: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medimos memória temporal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Notebook da aula: handson/hands-on.ipynb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 experimental: quando a memória de GRU e LSTM supera baselines lineares numa série com estado latente acumulado?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Hipótese: persistência vai mal (sazonalidade semanal); Ridge é forte, mas linear; GRU e LSTM devem ficar com MASE &lt; 1 e abaixo do Ridge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Baselines: persistência, naive sazonal e Ridge autoregressivo (janela 28 × 4)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Métricas centrais: MAE, RMSE, sMAPE, MASE e erro por regime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que o notebook demonstra: comparação cronológica entre baselines, RNN, GRU e LSTM, com o erro cortado por promoção e campanha para mostrar onde a memória paga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1 · SPLIT CRONOLÓGICO — NUNCA ALEATÓRIO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65376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treino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1865376"/>
            <a:ext cx="1188720" cy="384048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4" y="230428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D9CDB"/>
                </a:solidFill>
                <a:latin typeface="Calibri"/>
              </a:rPr>
              <a:t>validação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865376"/>
            <a:ext cx="1554480" cy="38404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04288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teste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615184"/>
            <a:ext cx="6565392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60720" y="265176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tempo 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17520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2 · BRAÇOS COMPARADOS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310128"/>
            <a:ext cx="11814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persistência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naive sazonal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04364" y="3310128"/>
            <a:ext cx="11814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ridge AR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0361" y="3310128"/>
            <a:ext cx="11814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RNN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6358" y="3310128"/>
            <a:ext cx="11814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GRU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2355" y="3310128"/>
            <a:ext cx="1181404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261104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3 · MÉTRICAS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53712"/>
            <a:ext cx="1181404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04364" y="4553712"/>
            <a:ext cx="1181404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50361" y="4553712"/>
            <a:ext cx="1181404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sMAPE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96358" y="4553712"/>
            <a:ext cx="1181404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42355" y="4553712"/>
            <a:ext cx="1181404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erro por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regime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94960"/>
            <a:ext cx="6565392" cy="731520"/>
          </a:xfrm>
          <a:prstGeom prst="roundRect">
            <a:avLst>
              <a:gd name="adj" fmla="val 1124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critério de aceite: só há memória útil se o modelo recorrente bater o naive sazonal (MASE &lt; 1) e o Ridge no teste cronológico — ganho sem isso é vazamento ou ajuste cosmético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Hands-on:</a:t>
            </a:r>
            <a:r>
              <a:rPr sz="2700" b="1">
                <a:solidFill>
                  <a:srgbClr val="ED145B"/>
                </a:solidFill>
                <a:latin typeface="Calibri"/>
              </a:rPr>
              <a:t> RNN, GRU e LSTM no forecasting diário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Dataset: série sintética de 1.826 dias com regimes latentes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Janelas de 28 dias × 4 features → prever o dia seguinte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output[:, -1, :]: o estado depois de ver a janela inteira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Escalonamento ajustado só no treino, split cronológico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JANELA MÓVEL DE 28 DIAS → PREVER O DIA 29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127248"/>
            <a:ext cx="6291072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1248" y="1993392"/>
            <a:ext cx="0" cy="1133856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179222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demanda/dia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960120" y="2530967"/>
            <a:ext cx="224028" cy="212233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84148" y="2352080"/>
            <a:ext cx="224028" cy="17888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08176" y="2232773"/>
            <a:ext cx="224028" cy="11930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632204" y="2186636"/>
            <a:ext cx="224028" cy="4613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856232" y="2186636"/>
            <a:ext cx="224028" cy="2522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80260" y="2211865"/>
            <a:ext cx="224028" cy="80052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04288" y="2291917"/>
            <a:ext cx="224027" cy="107488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28315" y="2399405"/>
            <a:ext cx="224029" cy="10294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52344" y="2502354"/>
            <a:ext cx="224028" cy="6908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76372" y="2571441"/>
            <a:ext cx="224028" cy="1513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200400" y="2541392"/>
            <a:ext cx="224028" cy="45186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424428" y="2444594"/>
            <a:ext cx="224028" cy="96798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648456" y="2317938"/>
            <a:ext cx="224028" cy="126656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872484" y="2191225"/>
            <a:ext cx="224027" cy="126713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096511" y="2095472"/>
            <a:ext cx="224029" cy="95753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320540" y="2055768"/>
            <a:ext cx="224028" cy="39704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544568" y="2055768"/>
            <a:ext cx="224028" cy="29656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68596" y="2085424"/>
            <a:ext cx="224028" cy="9728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992624" y="2182711"/>
            <a:ext cx="224028" cy="148227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16652" y="2330938"/>
            <a:ext cx="224028" cy="17091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40680" y="2501857"/>
            <a:ext cx="224027" cy="159786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664707" y="2661643"/>
            <a:ext cx="224029" cy="11649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888736" y="2778133"/>
            <a:ext cx="224028" cy="49592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112764" y="2800406"/>
            <a:ext cx="224028" cy="2731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336792" y="2701797"/>
            <a:ext cx="224028" cy="98609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679191" y="2048256"/>
            <a:ext cx="3058668" cy="1078991"/>
          </a:xfrm>
          <a:prstGeom prst="rect">
            <a:avLst/>
          </a:prstGeom>
          <a:noFill/>
          <a:ln w="20320">
            <a:solidFill>
              <a:srgbClr val="F299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9191" y="3182112"/>
            <a:ext cx="30586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2994A"/>
                </a:solidFill>
                <a:latin typeface="Calibri"/>
              </a:rPr>
              <a:t>janela de entrada · 28 dias</a:t>
            </a:r>
          </a:p>
        </p:txBody>
      </p:sp>
      <p:sp>
        <p:nvSpPr>
          <p:cNvPr id="36" name="Oval 35"/>
          <p:cNvSpPr/>
          <p:nvPr/>
        </p:nvSpPr>
        <p:spPr>
          <a:xfrm>
            <a:off x="6030468" y="2635701"/>
            <a:ext cx="164592" cy="16459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56147" y="2388813"/>
            <a:ext cx="228601" cy="201168"/>
          </a:xfrm>
          <a:prstGeom prst="line">
            <a:avLst/>
          </a:prstGeom>
          <a:ln w="2032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907024" y="2187645"/>
            <a:ext cx="13167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alvo:</a:t>
            </a:r>
          </a:p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dia seguinte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419856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9AA0A6"/>
                </a:solidFill>
                <a:latin typeface="Calibri"/>
              </a:rPr>
              <a:t>a janela desliza um dia por vez — cada posição gera um exemplo (X, y)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3694176"/>
            <a:ext cx="6565392" cy="1932401"/>
          </a:xfrm>
          <a:prstGeom prst="roundRect">
            <a:avLst>
              <a:gd name="adj" fmla="val 3461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hands-on.ipynb</a:t>
            </a:r>
          </a:p>
          <a:p>
            <a:pPr algn="l"/>
            <a:r>
              <a:rPr sz="1100">
                <a:solidFill>
                  <a:srgbClr val="ED145B"/>
                </a:solidFill>
                <a:latin typeface="Consolas"/>
              </a:rPr>
              <a:t>class</a:t>
            </a:r>
            <a:r>
              <a:rPr sz="1100">
                <a:solidFill>
                  <a:srgbClr val="E4E4EA"/>
                </a:solidFill>
                <a:latin typeface="Consolas"/>
              </a:rPr>
              <a:t> RecurrentForecaster(nn.Module):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</a:t>
            </a:r>
            <a:r>
              <a:rPr sz="1100">
                <a:solidFill>
                  <a:srgbClr val="ED145B"/>
                </a:solidFill>
                <a:latin typeface="Consolas"/>
              </a:rPr>
              <a:t>def</a:t>
            </a:r>
            <a:r>
              <a:rPr sz="1100">
                <a:solidFill>
                  <a:srgbClr val="E4E4EA"/>
                </a:solidFill>
                <a:latin typeface="Consolas"/>
              </a:rPr>
              <a:t> __init__(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, cell, input_size=4, hidden_size=48):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rnn_cls = {'rnn': nn.RNN, ..., 'lstm': nn.LSTM}[cell]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.rnn = rnn_cls(input_size, ..., batch_first=</a:t>
            </a:r>
            <a:r>
              <a:rPr sz="1100">
                <a:solidFill>
                  <a:srgbClr val="ED145B"/>
                </a:solidFill>
                <a:latin typeface="Consolas"/>
              </a:rPr>
              <a:t>True</a:t>
            </a:r>
            <a:r>
              <a:rPr sz="110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.head = nn.Linear(hidden_size, 1)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</a:t>
            </a:r>
            <a:r>
              <a:rPr sz="1100">
                <a:solidFill>
                  <a:srgbClr val="ED145B"/>
                </a:solidFill>
                <a:latin typeface="Consolas"/>
              </a:rPr>
              <a:t>def</a:t>
            </a:r>
            <a:r>
              <a:rPr sz="1100">
                <a:solidFill>
                  <a:srgbClr val="E4E4EA"/>
                </a:solidFill>
                <a:latin typeface="Consolas"/>
              </a:rPr>
              <a:t> forward(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, x):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output, hidden =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.rnn(x)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return</a:t>
            </a:r>
            <a:r>
              <a:rPr sz="1100">
                <a:solidFill>
                  <a:srgbClr val="E4E4EA"/>
                </a:solidFill>
                <a:latin typeface="Consolas"/>
              </a:rPr>
              <a:t>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.head(output[:, -1, :])   # só o último passo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Limitações: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preço da recorrência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Não paralelizável no tempo (cada passo depende do anterior)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Treino lento em sequências longas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Dependências muito longas ainda desafiam LSTMs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6565392" cy="1664208"/>
          </a:xfrm>
          <a:prstGeom prst="roundRect">
            <a:avLst>
              <a:gd name="adj" fmla="val 494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55064"/>
            <a:ext cx="63459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2994A"/>
                </a:solidFill>
                <a:latin typeface="Calibri"/>
              </a:rPr>
              <a:t>RNN · T passos EM SÉRIE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" y="1938528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47088" y="1938528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938528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191" y="1938528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9744" y="1938528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97296" y="1938528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45336" y="2176272"/>
            <a:ext cx="274320" cy="0"/>
          </a:xfrm>
          <a:prstGeom prst="line">
            <a:avLst/>
          </a:prstGeom>
          <a:ln w="2032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32887" y="2176272"/>
            <a:ext cx="274321" cy="0"/>
          </a:xfrm>
          <a:prstGeom prst="line">
            <a:avLst/>
          </a:prstGeom>
          <a:ln w="2032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20439" y="2176272"/>
            <a:ext cx="274320" cy="0"/>
          </a:xfrm>
          <a:prstGeom prst="line">
            <a:avLst/>
          </a:prstGeom>
          <a:ln w="2032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07992" y="2176272"/>
            <a:ext cx="274320" cy="0"/>
          </a:xfrm>
          <a:prstGeom prst="line">
            <a:avLst/>
          </a:prstGeom>
          <a:ln w="2032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95544" y="2176272"/>
            <a:ext cx="274320" cy="0"/>
          </a:xfrm>
          <a:prstGeom prst="line">
            <a:avLst/>
          </a:prstGeom>
          <a:ln w="2032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" y="2596896"/>
            <a:ext cx="5120640" cy="25603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560320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2994A"/>
                </a:solidFill>
                <a:latin typeface="Calibri"/>
              </a:rPr>
              <a:t>tempo de</a:t>
            </a:r>
          </a:p>
          <a:p>
            <a:pPr algn="l"/>
            <a:r>
              <a:rPr sz="900" b="1" i="0">
                <a:solidFill>
                  <a:srgbClr val="F2994A"/>
                </a:solidFill>
                <a:latin typeface="Calibri"/>
              </a:rPr>
              <a:t>treino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64992"/>
            <a:ext cx="6565392" cy="1664208"/>
          </a:xfrm>
          <a:prstGeom prst="roundRect">
            <a:avLst>
              <a:gd name="adj" fmla="val 494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465576"/>
            <a:ext cx="634593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438144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ATENÇÃO · todos os passos DE UMA VEZ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" y="3749039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188720" y="4261104"/>
            <a:ext cx="0" cy="219456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47088" y="3749039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176272" y="4261104"/>
            <a:ext cx="0" cy="219456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34640" y="3749039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3163824" y="4261104"/>
            <a:ext cx="0" cy="219456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822191" y="3749039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4151376" y="4261104"/>
            <a:ext cx="0" cy="219456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09744" y="3749039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138928" y="4261104"/>
            <a:ext cx="0" cy="219456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797296" y="3749039"/>
            <a:ext cx="658368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t6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6126480" y="4261104"/>
            <a:ext cx="0" cy="219456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88720" y="4480560"/>
            <a:ext cx="4937760" cy="0"/>
          </a:xfrm>
          <a:prstGeom prst="line">
            <a:avLst/>
          </a:prstGeom>
          <a:ln w="1778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14400" y="4553712"/>
            <a:ext cx="1234440" cy="25603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517136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  <a:latin typeface="Calibri"/>
              </a:rPr>
              <a:t>tempo de</a:t>
            </a:r>
          </a:p>
          <a:p>
            <a:pPr algn="l"/>
            <a:r>
              <a:rPr sz="900" b="1" i="0">
                <a:solidFill>
                  <a:srgbClr val="27AE60"/>
                </a:solidFill>
                <a:latin typeface="Calibri"/>
              </a:rPr>
              <a:t>treino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193792"/>
            <a:ext cx="320040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sem paralelismo no tempo: a GPU fica ociosa esperando o passo anterior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5193792"/>
            <a:ext cx="3200400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dependências de centenas de passos ainda escapam até da LSTM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980176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solução é a atenção — próxima aula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State Space Models:</a:t>
            </a:r>
            <a:r>
              <a:rPr sz="2700" b="1">
                <a:solidFill>
                  <a:srgbClr val="ED145B"/>
                </a:solidFill>
                <a:latin typeface="Calibri"/>
              </a:rPr>
              <a:t> a alternativa de 2024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Alternativa moderna à RNN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Convolução + recorrência eficiente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Competitivo com Transformers em NLP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Veremos em detalhe na aula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2414016"/>
            <a:ext cx="626364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24712" y="2304288"/>
            <a:ext cx="219456" cy="21945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234440" y="2176272"/>
            <a:ext cx="0" cy="109728"/>
          </a:xfrm>
          <a:prstGeom prst="line">
            <a:avLst/>
          </a:prstGeom>
          <a:ln w="127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6093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1994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1051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vanishing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01168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Bengio et al.</a:t>
            </a:r>
          </a:p>
        </p:txBody>
      </p:sp>
      <p:sp>
        <p:nvSpPr>
          <p:cNvPr id="11" name="Oval 10"/>
          <p:cNvSpPr/>
          <p:nvPr/>
        </p:nvSpPr>
        <p:spPr>
          <a:xfrm>
            <a:off x="2496312" y="2304288"/>
            <a:ext cx="219456" cy="219456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06040" y="2542032"/>
            <a:ext cx="0" cy="73152"/>
          </a:xfrm>
          <a:prstGeom prst="line">
            <a:avLst/>
          </a:prstGeom>
          <a:ln w="127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20240" y="261518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1997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1635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01752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Hochreiter</a:t>
            </a:r>
          </a:p>
        </p:txBody>
      </p:sp>
      <p:sp>
        <p:nvSpPr>
          <p:cNvPr id="16" name="Oval 15"/>
          <p:cNvSpPr/>
          <p:nvPr/>
        </p:nvSpPr>
        <p:spPr>
          <a:xfrm>
            <a:off x="3867911" y="2304288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977639" y="2176272"/>
            <a:ext cx="0" cy="109728"/>
          </a:xfrm>
          <a:prstGeom prst="line">
            <a:avLst/>
          </a:prstGeom>
          <a:ln w="127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91839" y="16093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2014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399" y="181051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GRU · seq2seq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201168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Cho · Sutskever</a:t>
            </a:r>
          </a:p>
        </p:txBody>
      </p:sp>
      <p:sp>
        <p:nvSpPr>
          <p:cNvPr id="21" name="Oval 20"/>
          <p:cNvSpPr/>
          <p:nvPr/>
        </p:nvSpPr>
        <p:spPr>
          <a:xfrm>
            <a:off x="5239512" y="2304288"/>
            <a:ext cx="219456" cy="219456"/>
          </a:xfrm>
          <a:prstGeom prst="ellipse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49240" y="2542032"/>
            <a:ext cx="0" cy="7315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63440" y="261518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AA0A6"/>
                </a:solidFill>
                <a:latin typeface="Calibri"/>
              </a:rPr>
              <a:t>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81635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Transformer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301752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Vaswani et al.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2304288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720840" y="2176272"/>
            <a:ext cx="0" cy="109728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35040" y="1609344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810512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Mamba (SSM)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79" y="2011680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Gu &amp; Dao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474720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9B51E0"/>
                </a:solidFill>
                <a:latin typeface="Calibri"/>
              </a:rPr>
              <a:t>RNN / LSTM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O(T) sequencial
não paraleliza o treino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32176" y="3474720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9AA0A6"/>
                </a:solidFill>
                <a:latin typeface="Calibri"/>
              </a:rPr>
              <a:t>Transformer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O(T²) em memória
mas totalmente paralelo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05984" y="3474720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ED145B"/>
                </a:solidFill>
                <a:latin typeface="Calibri"/>
              </a:rPr>
              <a:t>SSM · Mamba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O(T) com varredura paralela
recorrência que escala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864608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 recorrência não morreu: voltou como state space model, com treino paralelo e inferência em estado constante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650992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Aula 8 · fronteira e tendências: SSMs, eficiência e o que vem depois do Transformer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Referências: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caminho da Aula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Hochreiter, Schmidhuber. LSTM. Neural Computation, 1997.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Cho et al. GRU. EMNLP, 2014.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Bengio, Simard, Frasconi. Learning long-term dependencies. IEEE TNN, 1994.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Sutskever, Vinyals, Le. Seq2Seq. NeurIPS, 2014.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Olah, C. Understanding LSTMs. Blog, 2015. http://colah.github.io.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Gu, Dao. Mamba: SSMs. arXiv, 2024.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3200400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804672" y="1901952"/>
            <a:ext cx="512064" cy="512064"/>
          </a:xfrm>
          <a:prstGeom prst="ellipse">
            <a:avLst/>
          </a:prstGeom>
          <a:solidFill>
            <a:srgbClr val="0B0B0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2994A"/>
                </a:solidFill>
                <a:latin typeface="Calibri"/>
              </a:rPr>
              <a:t>1994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828800"/>
            <a:ext cx="23042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Learning long-term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249424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Bengio, Simard &amp; Frasconi · IEEE TNN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627632"/>
            <a:ext cx="3200400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4169664" y="1901952"/>
            <a:ext cx="512064" cy="512064"/>
          </a:xfrm>
          <a:prstGeom prst="ellipse">
            <a:avLst/>
          </a:prstGeom>
          <a:solidFill>
            <a:srgbClr val="0B0B0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B51E0"/>
                </a:solidFill>
                <a:latin typeface="Calibri"/>
              </a:rPr>
              <a:t>1997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9744" y="1828800"/>
            <a:ext cx="23042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Long Short-Term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9744" y="2249424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Hochreiter &amp; Schmidhuber · Neural Computation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852928"/>
            <a:ext cx="3200400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127248"/>
            <a:ext cx="512064" cy="512064"/>
          </a:xfrm>
          <a:prstGeom prst="ellipse">
            <a:avLst/>
          </a:prstGeom>
          <a:solidFill>
            <a:srgbClr val="0B0B0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2D9CDB"/>
                </a:solidFill>
                <a:latin typeface="Calibri"/>
              </a:rPr>
              <a:t>2014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054096"/>
            <a:ext cx="23042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Seq2Seq com redes neurais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47472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Sutskever, Vinyals &amp; Le · NeurIPS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2852928"/>
            <a:ext cx="3200400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4169664" y="3127248"/>
            <a:ext cx="512064" cy="512064"/>
          </a:xfrm>
          <a:prstGeom prst="ellipse">
            <a:avLst/>
          </a:prstGeom>
          <a:solidFill>
            <a:srgbClr val="0B0B0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2D9CDB"/>
                </a:solidFill>
                <a:latin typeface="Calibri"/>
              </a:rPr>
              <a:t>2014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054096"/>
            <a:ext cx="23042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GRU / encoder-decoder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3474720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Cho et al. · EMNLP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78224"/>
            <a:ext cx="3200400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4352544"/>
            <a:ext cx="512064" cy="512064"/>
          </a:xfrm>
          <a:prstGeom prst="ellipse">
            <a:avLst/>
          </a:prstGeom>
          <a:solidFill>
            <a:srgbClr val="0B0B0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27AE60"/>
                </a:solidFill>
                <a:latin typeface="Calibri"/>
              </a:rPr>
              <a:t>2015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279392"/>
            <a:ext cx="23042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Understanding LSTMs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700016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Olah · colah.github.io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4078224"/>
            <a:ext cx="3200400" cy="1060704"/>
          </a:xfrm>
          <a:prstGeom prst="roundRect">
            <a:avLst>
              <a:gd name="adj" fmla="val 775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4169664" y="4352544"/>
            <a:ext cx="512064" cy="512064"/>
          </a:xfrm>
          <a:prstGeom prst="ellipse">
            <a:avLst/>
          </a:prstGeom>
          <a:solidFill>
            <a:srgbClr val="0B0B0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ED145B"/>
                </a:solidFill>
                <a:latin typeface="Calibri"/>
              </a:rP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4279392"/>
            <a:ext cx="230428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Mamba: state space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4700016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Gu &amp; Dao · arXiv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394960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trilha sugerida: Olah (intuição) → Hochreiter (a origem) → Cho (simplificação) → Gu &amp; Dao (a fronteira)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