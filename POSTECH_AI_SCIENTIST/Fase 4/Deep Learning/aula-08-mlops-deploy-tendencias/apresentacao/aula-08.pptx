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417320"/>
            <a:ext cx="9144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9AA0A6"/>
                </a:solidFill>
                <a:latin typeface="Calibri"/>
              </a:rPr>
              <a:t>REDES NEURAIS E DEEP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74519"/>
            <a:ext cx="9144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D145B"/>
                </a:solidFill>
                <a:latin typeface="Calibri"/>
              </a:rPr>
              <a:t>AULA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395728"/>
            <a:ext cx="102412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MLOps, Deploy e Tendências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271" y="4224528"/>
            <a:ext cx="1463040" cy="64008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526280"/>
            <a:ext cx="9144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Prof. Flavio Padilha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919472"/>
            <a:ext cx="9144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9AA0A6"/>
                </a:solidFill>
                <a:latin typeface="Calibri"/>
              </a:rPr>
              <a:t>FIAP Pós-Tech · AI Engineering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96596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D145B"/>
                </a:solidFill>
                <a:latin typeface="Calibri"/>
              </a:rPr>
              <a:t>PARTE 1  ·  30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395728"/>
            <a:ext cx="9692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Calibri"/>
              </a:rPr>
              <a:t>Introdução teórica: MLOps e o ciclo de vida do modelo</a:t>
            </a:r>
          </a:p>
        </p:txBody>
      </p:sp>
      <p:sp>
        <p:nvSpPr>
          <p:cNvPr id="5" name="Oval 4"/>
          <p:cNvSpPr/>
          <p:nvPr/>
        </p:nvSpPr>
        <p:spPr>
          <a:xfrm>
            <a:off x="1097280" y="3840480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794760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Por que um bom modelo offline ainda não é um sistema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4261104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215384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MLflow: tracking de experimentos e registry de modelos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4681728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636008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O mapa da aula: deploy, inferência, monitoramento e fronteira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Onde estamos:</a:t>
            </a:r>
            <a:r>
              <a:rPr sz="2700" b="1">
                <a:solidFill>
                  <a:srgbClr val="ED145B"/>
                </a:solidFill>
                <a:latin typeface="Calibri"/>
              </a:rPr>
              <a:t> do treino ao plantão 24/7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Aulas 1–7 ✓ Arquiteturas + Treinamento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Aula 8 — Fechamento ← aqui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Modelo → produção → monitoramento → evolução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2212848"/>
            <a:ext cx="6364224" cy="0"/>
          </a:xfrm>
          <a:prstGeom prst="line">
            <a:avLst/>
          </a:prstGeom>
          <a:ln w="1778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722376" y="2039112"/>
            <a:ext cx="347472" cy="347472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3" y="2542032"/>
            <a:ext cx="95097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27AE60"/>
                </a:solidFill>
                <a:latin typeface="Calibri"/>
              </a:rPr>
              <a:t>Perceptron</a:t>
            </a:r>
          </a:p>
        </p:txBody>
      </p:sp>
      <p:sp>
        <p:nvSpPr>
          <p:cNvPr id="8" name="Oval 7"/>
          <p:cNvSpPr/>
          <p:nvPr/>
        </p:nvSpPr>
        <p:spPr>
          <a:xfrm>
            <a:off x="1618488" y="2039112"/>
            <a:ext cx="347472" cy="347472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6736" y="2542032"/>
            <a:ext cx="95097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27AE60"/>
                </a:solidFill>
                <a:latin typeface="Calibri"/>
              </a:rPr>
              <a:t>MLP +</a:t>
            </a:r>
          </a:p>
          <a:p>
            <a:pPr algn="ctr"/>
            <a:r>
              <a:rPr sz="1000" b="1" i="0">
                <a:solidFill>
                  <a:srgbClr val="27AE60"/>
                </a:solidFill>
                <a:latin typeface="Calibri"/>
              </a:rPr>
              <a:t>Backprop</a:t>
            </a:r>
          </a:p>
        </p:txBody>
      </p:sp>
      <p:sp>
        <p:nvSpPr>
          <p:cNvPr id="10" name="Oval 9"/>
          <p:cNvSpPr/>
          <p:nvPr/>
        </p:nvSpPr>
        <p:spPr>
          <a:xfrm>
            <a:off x="2514600" y="2039112"/>
            <a:ext cx="347472" cy="347472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12848" y="2542032"/>
            <a:ext cx="95097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27AE60"/>
                </a:solidFill>
                <a:latin typeface="Calibri"/>
              </a:rPr>
              <a:t>CNN</a:t>
            </a:r>
          </a:p>
          <a:p>
            <a:pPr algn="ctr"/>
            <a:r>
              <a:rPr sz="1000" b="1" i="0">
                <a:solidFill>
                  <a:srgbClr val="27AE60"/>
                </a:solidFill>
                <a:latin typeface="Calibri"/>
              </a:rPr>
              <a:t>fundamentos</a:t>
            </a:r>
          </a:p>
        </p:txBody>
      </p:sp>
      <p:sp>
        <p:nvSpPr>
          <p:cNvPr id="12" name="Oval 11"/>
          <p:cNvSpPr/>
          <p:nvPr/>
        </p:nvSpPr>
        <p:spPr>
          <a:xfrm>
            <a:off x="3410712" y="2039112"/>
            <a:ext cx="347472" cy="347472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542032"/>
            <a:ext cx="95097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27AE60"/>
                </a:solidFill>
                <a:latin typeface="Calibri"/>
              </a:rPr>
              <a:t>CNN</a:t>
            </a:r>
          </a:p>
          <a:p>
            <a:pPr algn="ctr"/>
            <a:r>
              <a:rPr sz="1000" b="1" i="0">
                <a:solidFill>
                  <a:srgbClr val="27AE60"/>
                </a:solidFill>
                <a:latin typeface="Calibri"/>
              </a:rPr>
              <a:t>avançado</a:t>
            </a:r>
          </a:p>
        </p:txBody>
      </p:sp>
      <p:sp>
        <p:nvSpPr>
          <p:cNvPr id="14" name="Oval 13"/>
          <p:cNvSpPr/>
          <p:nvPr/>
        </p:nvSpPr>
        <p:spPr>
          <a:xfrm>
            <a:off x="4306824" y="2039112"/>
            <a:ext cx="347472" cy="347472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05072" y="2542032"/>
            <a:ext cx="95097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27AE60"/>
                </a:solidFill>
                <a:latin typeface="Calibri"/>
              </a:rPr>
              <a:t>RNN</a:t>
            </a:r>
          </a:p>
          <a:p>
            <a:pPr algn="ctr"/>
            <a:r>
              <a:rPr sz="1000" b="1" i="0">
                <a:solidFill>
                  <a:srgbClr val="27AE60"/>
                </a:solidFill>
                <a:latin typeface="Calibri"/>
              </a:rPr>
              <a:t>LSTM · GRU</a:t>
            </a:r>
          </a:p>
        </p:txBody>
      </p:sp>
      <p:sp>
        <p:nvSpPr>
          <p:cNvPr id="16" name="Oval 15"/>
          <p:cNvSpPr/>
          <p:nvPr/>
        </p:nvSpPr>
        <p:spPr>
          <a:xfrm>
            <a:off x="5202936" y="2039112"/>
            <a:ext cx="347472" cy="347472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01184" y="2542032"/>
            <a:ext cx="95097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27AE60"/>
                </a:solidFill>
                <a:latin typeface="Calibri"/>
              </a:rPr>
              <a:t>Attention</a:t>
            </a:r>
          </a:p>
          <a:p>
            <a:pPr algn="ctr"/>
            <a:r>
              <a:rPr sz="1000" b="1" i="0">
                <a:solidFill>
                  <a:srgbClr val="27AE60"/>
                </a:solidFill>
                <a:latin typeface="Calibri"/>
              </a:rPr>
              <a:t>Transformers</a:t>
            </a:r>
          </a:p>
        </p:txBody>
      </p:sp>
      <p:sp>
        <p:nvSpPr>
          <p:cNvPr id="18" name="Oval 17"/>
          <p:cNvSpPr/>
          <p:nvPr/>
        </p:nvSpPr>
        <p:spPr>
          <a:xfrm>
            <a:off x="6099047" y="2039112"/>
            <a:ext cx="347472" cy="347472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97296" y="2542032"/>
            <a:ext cx="95097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27AE60"/>
                </a:solidFill>
                <a:latin typeface="Calibri"/>
              </a:rPr>
              <a:t>Otimização e</a:t>
            </a:r>
          </a:p>
          <a:p>
            <a:pPr algn="ctr"/>
            <a:r>
              <a:rPr sz="1000" b="1" i="0">
                <a:solidFill>
                  <a:srgbClr val="27AE60"/>
                </a:solidFill>
                <a:latin typeface="Calibri"/>
              </a:rPr>
              <a:t>regularização</a:t>
            </a:r>
          </a:p>
        </p:txBody>
      </p:sp>
      <p:sp>
        <p:nvSpPr>
          <p:cNvPr id="20" name="Oval 19"/>
          <p:cNvSpPr/>
          <p:nvPr/>
        </p:nvSpPr>
        <p:spPr>
          <a:xfrm>
            <a:off x="6958583" y="2002536"/>
            <a:ext cx="420624" cy="420624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93408" y="2542032"/>
            <a:ext cx="95097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ED145B"/>
                </a:solidFill>
                <a:latin typeface="Calibri"/>
              </a:rPr>
              <a:t>MLOps</a:t>
            </a:r>
          </a:p>
          <a:p>
            <a:pPr algn="ctr"/>
            <a:r>
              <a:rPr sz="1000" b="1" i="0">
                <a:solidFill>
                  <a:srgbClr val="ED145B"/>
                </a:solidFill>
                <a:latin typeface="Calibri"/>
              </a:rPr>
              <a:t>e deploy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168896" y="1664208"/>
            <a:ext cx="0" cy="292608"/>
          </a:xfrm>
          <a:prstGeom prst="line">
            <a:avLst/>
          </a:prstGeom>
          <a:ln w="25400">
            <a:solidFill>
              <a:srgbClr val="ED145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980176" y="1353312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ED145B"/>
                </a:solidFill>
                <a:latin typeface="Calibri"/>
              </a:rPr>
              <a:t>você está aqui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218688"/>
            <a:ext cx="6565392" cy="603504"/>
          </a:xfrm>
          <a:prstGeom prst="roundRect">
            <a:avLst>
              <a:gd name="adj" fmla="val 13636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9AA0A6"/>
                </a:solidFill>
                <a:latin typeface="Calibri"/>
              </a:rPr>
              <a:t>AULAS 1–7 ✓   arquiteturas + treinamento: o modelo existe e converge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931920"/>
            <a:ext cx="6565392" cy="658368"/>
          </a:xfrm>
          <a:prstGeom prst="roundRect">
            <a:avLst>
              <a:gd name="adj" fmla="val 1250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AULA 8 ← aqui   fazer esse modelo VIVER em produção e continuar válido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828032"/>
            <a:ext cx="1367028" cy="749808"/>
          </a:xfrm>
          <a:prstGeom prst="roundRect">
            <a:avLst>
              <a:gd name="adj" fmla="val 10975"/>
            </a:avLst>
          </a:prstGeom>
          <a:solidFill>
            <a:srgbClr val="17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modelo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treinado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052827" y="5202936"/>
            <a:ext cx="310897" cy="0"/>
          </a:xfrm>
          <a:prstGeom prst="line">
            <a:avLst/>
          </a:prstGeom>
          <a:ln w="25400">
            <a:solidFill>
              <a:srgbClr val="ED145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2391156" y="4828032"/>
            <a:ext cx="1367028" cy="749808"/>
          </a:xfrm>
          <a:prstGeom prst="roundRect">
            <a:avLst>
              <a:gd name="adj" fmla="val 10975"/>
            </a:avLst>
          </a:prstGeom>
          <a:solidFill>
            <a:srgbClr val="17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produção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(serving)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785616" y="5202936"/>
            <a:ext cx="310896" cy="0"/>
          </a:xfrm>
          <a:prstGeom prst="line">
            <a:avLst/>
          </a:prstGeom>
          <a:ln w="25400">
            <a:solidFill>
              <a:srgbClr val="ED145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123944" y="4828032"/>
            <a:ext cx="1367028" cy="749808"/>
          </a:xfrm>
          <a:prstGeom prst="roundRect">
            <a:avLst>
              <a:gd name="adj" fmla="val 10975"/>
            </a:avLst>
          </a:prstGeom>
          <a:solidFill>
            <a:srgbClr val="17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monitoramento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(drift)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518404" y="5202936"/>
            <a:ext cx="310896" cy="0"/>
          </a:xfrm>
          <a:prstGeom prst="line">
            <a:avLst/>
          </a:prstGeom>
          <a:ln w="25400">
            <a:solidFill>
              <a:srgbClr val="ED145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856732" y="4828032"/>
            <a:ext cx="1367028" cy="749808"/>
          </a:xfrm>
          <a:prstGeom prst="roundRect">
            <a:avLst>
              <a:gd name="adj" fmla="val 10975"/>
            </a:avLst>
          </a:prstGeom>
          <a:solidFill>
            <a:srgbClr val="17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evolução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(retreino)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1097280" y="5687568"/>
            <a:ext cx="5870448" cy="0"/>
          </a:xfrm>
          <a:prstGeom prst="line">
            <a:avLst/>
          </a:prstGeom>
          <a:ln w="1778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58368" y="5797296"/>
            <a:ext cx="65653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9AA0A6"/>
                </a:solidFill>
                <a:latin typeface="Calibri"/>
              </a:rPr>
              <a:t>o ciclo não termina: todo deploy devolve dados novos para o próximo treino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Agenda:</a:t>
            </a:r>
            <a:r>
              <a:rPr sz="2700" b="1">
                <a:solidFill>
                  <a:srgbClr val="ED145B"/>
                </a:solidFill>
                <a:latin typeface="Calibri"/>
              </a:rPr>
              <a:t> o que separa o notebook da produção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MLflow: tracking + registry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Deploy: ONNX, TorchServe, Triton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Otimização de inferência: quantização, pruning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Monitoramento e drift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Multimodalidade e modelos de fronteira 2026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State Space Models (Mamba)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Caso Americanas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Fechamento do curso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99616"/>
            <a:ext cx="6035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A0A6"/>
                </a:solidFill>
                <a:latin typeface="Calibri"/>
              </a:rPr>
              <a:t>O CAMINHO DE HOJE: DO REGISTRO DO EXPERIMENTO À FRONTEIRA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92224"/>
            <a:ext cx="3163824" cy="896112"/>
          </a:xfrm>
          <a:prstGeom prst="roundRect">
            <a:avLst>
              <a:gd name="adj" fmla="val 9183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7" name="Oval 6"/>
          <p:cNvSpPr/>
          <p:nvPr/>
        </p:nvSpPr>
        <p:spPr>
          <a:xfrm>
            <a:off x="822959" y="2066543"/>
            <a:ext cx="347472" cy="3474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1975104"/>
            <a:ext cx="238658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MLflow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249424"/>
            <a:ext cx="238658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A0A6"/>
                </a:solidFill>
                <a:latin typeface="Calibri"/>
              </a:rPr>
              <a:t>tracking de runs + registry de modelos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59936" y="1792224"/>
            <a:ext cx="3163824" cy="896112"/>
          </a:xfrm>
          <a:prstGeom prst="roundRect">
            <a:avLst>
              <a:gd name="adj" fmla="val 9183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4224528" y="2066543"/>
            <a:ext cx="347472" cy="347472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0016" y="1975104"/>
            <a:ext cx="238658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Deploy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0016" y="2249424"/>
            <a:ext cx="238658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A0A6"/>
                </a:solidFill>
                <a:latin typeface="Calibri"/>
              </a:rPr>
              <a:t>ONNX · TorchServe · Triton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834639"/>
            <a:ext cx="3163824" cy="896112"/>
          </a:xfrm>
          <a:prstGeom prst="roundRect">
            <a:avLst>
              <a:gd name="adj" fmla="val 9183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5" name="Oval 14"/>
          <p:cNvSpPr/>
          <p:nvPr/>
        </p:nvSpPr>
        <p:spPr>
          <a:xfrm>
            <a:off x="822959" y="3108959"/>
            <a:ext cx="347472" cy="347472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3017520"/>
            <a:ext cx="238658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Inferência enxuta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3291839"/>
            <a:ext cx="238658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A0A6"/>
                </a:solidFill>
                <a:latin typeface="Calibri"/>
              </a:rPr>
              <a:t>quantização · pruning · distillation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59936" y="2834639"/>
            <a:ext cx="3163824" cy="896112"/>
          </a:xfrm>
          <a:prstGeom prst="roundRect">
            <a:avLst>
              <a:gd name="adj" fmla="val 9183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9" name="Oval 18"/>
          <p:cNvSpPr/>
          <p:nvPr/>
        </p:nvSpPr>
        <p:spPr>
          <a:xfrm>
            <a:off x="4224528" y="3108959"/>
            <a:ext cx="347472" cy="347472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0016" y="3017520"/>
            <a:ext cx="238658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Monitoramento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0016" y="3291839"/>
            <a:ext cx="238658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A0A6"/>
                </a:solidFill>
                <a:latin typeface="Calibri"/>
              </a:rPr>
              <a:t>latência, throughput e drift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877056"/>
            <a:ext cx="3163824" cy="896112"/>
          </a:xfrm>
          <a:prstGeom prst="roundRect">
            <a:avLst>
              <a:gd name="adj" fmla="val 9183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Oval 22"/>
          <p:cNvSpPr/>
          <p:nvPr/>
        </p:nvSpPr>
        <p:spPr>
          <a:xfrm>
            <a:off x="822959" y="4151376"/>
            <a:ext cx="347472" cy="347472"/>
          </a:xfrm>
          <a:prstGeom prst="ellipse">
            <a:avLst/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8448" y="4059936"/>
            <a:ext cx="238658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Multimodalidade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98448" y="4334256"/>
            <a:ext cx="238658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A0A6"/>
                </a:solidFill>
                <a:latin typeface="Calibri"/>
              </a:rPr>
              <a:t>CLIP · SigLIP · LLaVA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59936" y="3877056"/>
            <a:ext cx="3163824" cy="896112"/>
          </a:xfrm>
          <a:prstGeom prst="roundRect">
            <a:avLst>
              <a:gd name="adj" fmla="val 9183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7" name="Oval 26"/>
          <p:cNvSpPr/>
          <p:nvPr/>
        </p:nvSpPr>
        <p:spPr>
          <a:xfrm>
            <a:off x="4224528" y="4151376"/>
            <a:ext cx="347472" cy="347472"/>
          </a:xfrm>
          <a:prstGeom prst="ellipse">
            <a:avLst/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0016" y="4059936"/>
            <a:ext cx="238658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State Space Models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4334256"/>
            <a:ext cx="238658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A0A6"/>
                </a:solidFill>
                <a:latin typeface="Calibri"/>
              </a:rPr>
              <a:t>Mamba e o custo linear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919472"/>
            <a:ext cx="3163824" cy="896112"/>
          </a:xfrm>
          <a:prstGeom prst="roundRect">
            <a:avLst>
              <a:gd name="adj" fmla="val 9183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1" name="Oval 30"/>
          <p:cNvSpPr/>
          <p:nvPr/>
        </p:nvSpPr>
        <p:spPr>
          <a:xfrm>
            <a:off x="822959" y="5193792"/>
            <a:ext cx="347472" cy="347472"/>
          </a:xfrm>
          <a:prstGeom prst="ellipse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98448" y="5102352"/>
            <a:ext cx="238658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Caso Americanas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98448" y="5376672"/>
            <a:ext cx="238658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A0A6"/>
                </a:solidFill>
                <a:latin typeface="Calibri"/>
              </a:rPr>
              <a:t>busca multimodal em 200M SKUs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59936" y="4919472"/>
            <a:ext cx="3163824" cy="896112"/>
          </a:xfrm>
          <a:prstGeom prst="roundRect">
            <a:avLst>
              <a:gd name="adj" fmla="val 9183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5" name="Oval 34"/>
          <p:cNvSpPr/>
          <p:nvPr/>
        </p:nvSpPr>
        <p:spPr>
          <a:xfrm>
            <a:off x="4224528" y="5193792"/>
            <a:ext cx="347472" cy="347472"/>
          </a:xfrm>
          <a:prstGeom prst="ellipse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00016" y="5102352"/>
            <a:ext cx="238658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Fechamento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00016" y="5376672"/>
            <a:ext cx="238658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A0A6"/>
                </a:solidFill>
                <a:latin typeface="Calibri"/>
              </a:rPr>
              <a:t>ética, governança e próximos passos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5925312"/>
            <a:ext cx="6565392" cy="420624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um fio só: registrar → empacotar → servir → vigiar → evoluir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MLflow Tracking:</a:t>
            </a:r>
            <a:r>
              <a:rPr sz="2700" b="1">
                <a:solidFill>
                  <a:srgbClr val="ED145B"/>
                </a:solidFill>
                <a:latin typeface="Calibri"/>
              </a:rPr>
              <a:t> todo experimento vira registro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Rastreia params, métricas e artefatos de cada run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Reprodutibilidade: código, dados e ambiente no mesmo registro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Comparar runs lado a lado em vez de confiar na memória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log_model guarda o artefato pronto para servir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Auditoria: quem treinou, com o quê e quando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6035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A0A6"/>
                </a:solidFill>
                <a:latin typeface="Calibri"/>
              </a:rPr>
              <a:t>CADA TREINO VIRA UM RUN RASTREÁVEL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1367028" cy="640080"/>
          </a:xfrm>
          <a:prstGeom prst="roundRect">
            <a:avLst>
              <a:gd name="adj" fmla="val 12857"/>
            </a:avLst>
          </a:prstGeom>
          <a:solidFill>
            <a:srgbClr val="17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treino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(um run)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052827" y="2057400"/>
            <a:ext cx="310897" cy="0"/>
          </a:xfrm>
          <a:prstGeom prst="line">
            <a:avLst/>
          </a:prstGeom>
          <a:ln w="25400">
            <a:solidFill>
              <a:srgbClr val="ED145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391156" y="1737360"/>
            <a:ext cx="1367028" cy="640080"/>
          </a:xfrm>
          <a:prstGeom prst="roundRect">
            <a:avLst>
              <a:gd name="adj" fmla="val 12857"/>
            </a:avLst>
          </a:prstGeom>
          <a:solidFill>
            <a:srgbClr val="17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mlflow.log_*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785616" y="2057400"/>
            <a:ext cx="310896" cy="0"/>
          </a:xfrm>
          <a:prstGeom prst="line">
            <a:avLst/>
          </a:prstGeom>
          <a:ln w="25400">
            <a:solidFill>
              <a:srgbClr val="ED145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123944" y="1737360"/>
            <a:ext cx="1367028" cy="640080"/>
          </a:xfrm>
          <a:prstGeom prst="roundRect">
            <a:avLst>
              <a:gd name="adj" fmla="val 12857"/>
            </a:avLst>
          </a:prstGeom>
          <a:solidFill>
            <a:srgbClr val="17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tracking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server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518404" y="2057400"/>
            <a:ext cx="310896" cy="0"/>
          </a:xfrm>
          <a:prstGeom prst="line">
            <a:avLst/>
          </a:prstGeom>
          <a:ln w="25400">
            <a:solidFill>
              <a:srgbClr val="ED145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856732" y="1737360"/>
            <a:ext cx="1367028" cy="640080"/>
          </a:xfrm>
          <a:prstGeom prst="roundRect">
            <a:avLst>
              <a:gd name="adj" fmla="val 12857"/>
            </a:avLst>
          </a:prstGeom>
          <a:solidFill>
            <a:srgbClr val="17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comparar runs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e promover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560320"/>
            <a:ext cx="1517904" cy="566928"/>
          </a:xfrm>
          <a:prstGeom prst="roundRect">
            <a:avLst>
              <a:gd name="adj" fmla="val 14516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params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lr, dropout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40864" y="2560320"/>
            <a:ext cx="1517904" cy="566928"/>
          </a:xfrm>
          <a:prstGeom prst="roundRect">
            <a:avLst>
              <a:gd name="adj" fmla="val 14516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metrics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val_loss por época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23360" y="2560320"/>
            <a:ext cx="1517904" cy="566928"/>
          </a:xfrm>
          <a:prstGeom prst="roundRect">
            <a:avLst>
              <a:gd name="adj" fmla="val 14516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artefatos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gráficos, dados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05856" y="2560320"/>
            <a:ext cx="1517904" cy="566928"/>
          </a:xfrm>
          <a:prstGeom prst="roundRect">
            <a:avLst>
              <a:gd name="adj" fmla="val 14516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modelo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pesos + assinatura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346704"/>
            <a:ext cx="6565392" cy="1703344"/>
          </a:xfrm>
          <a:prstGeom prst="roundRect">
            <a:avLst>
              <a:gd name="adj" fmla="val 3805"/>
            </a:avLst>
          </a:prstGeom>
          <a:solidFill>
            <a:srgbClr val="121218"/>
          </a:solidFill>
          <a:ln w="12700">
            <a:solidFill>
              <a:srgbClr val="3333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46304" rIns="73152" tIns="109728" bIns="91440"/>
          <a:lstStyle/>
          <a:p>
            <a:pPr algn="l"/>
            <a:r>
              <a:rPr sz="1000" b="1">
                <a:solidFill>
                  <a:srgbClr val="ED145B"/>
                </a:solidFill>
                <a:latin typeface="Calibri"/>
              </a:rPr>
              <a:t>exemplo didático (MLflow) — o notebook usa LocalExperimentTracker</a:t>
            </a:r>
          </a:p>
          <a:p>
            <a:pPr algn="l"/>
            <a:r>
              <a:rPr sz="1050">
                <a:solidFill>
                  <a:srgbClr val="ED145B"/>
                </a:solidFill>
                <a:latin typeface="Consolas"/>
              </a:rPr>
              <a:t>import</a:t>
            </a:r>
            <a:r>
              <a:rPr sz="1050">
                <a:solidFill>
                  <a:srgbClr val="E4E4EA"/>
                </a:solidFill>
                <a:latin typeface="Consolas"/>
              </a:rPr>
              <a:t> mlflow</a:t>
            </a:r>
          </a:p>
          <a:p>
            <a:pPr algn="l"/>
            <a:r>
              <a:rPr sz="1050">
                <a:solidFill>
                  <a:srgbClr val="E4E4EA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ED145B"/>
                </a:solidFill>
                <a:latin typeface="Consolas"/>
              </a:rPr>
              <a:t>with</a:t>
            </a:r>
            <a:r>
              <a:rPr sz="1050">
                <a:solidFill>
                  <a:srgbClr val="E4E4EA"/>
                </a:solidFill>
                <a:latin typeface="Consolas"/>
              </a:rPr>
              <a:t> mlflow.start_run(run_name="lstm_olist"):</a:t>
            </a:r>
          </a:p>
          <a:p>
            <a:pPr algn="l"/>
            <a:r>
              <a:rPr sz="1050">
                <a:solidFill>
                  <a:srgbClr val="E4E4EA"/>
                </a:solidFill>
                <a:latin typeface="Consolas"/>
              </a:rPr>
              <a:t>    mlflow.log_param("lr", 1e-3)</a:t>
            </a:r>
          </a:p>
          <a:p>
            <a:pPr algn="l"/>
            <a:r>
              <a:rPr sz="1050">
                <a:solidFill>
                  <a:srgbClr val="E4E4EA"/>
                </a:solidFill>
                <a:latin typeface="Consolas"/>
              </a:rPr>
              <a:t>    mlflow.log_param("dropout", 0.2)</a:t>
            </a:r>
          </a:p>
          <a:p>
            <a:pPr algn="l"/>
            <a:r>
              <a:rPr sz="1050">
                <a:solidFill>
                  <a:srgbClr val="E4E4EA"/>
                </a:solidFill>
                <a:latin typeface="Consolas"/>
              </a:rPr>
              <a:t>    </a:t>
            </a:r>
            <a:r>
              <a:rPr sz="1050">
                <a:solidFill>
                  <a:srgbClr val="ED145B"/>
                </a:solidFill>
                <a:latin typeface="Consolas"/>
              </a:rPr>
              <a:t>for</a:t>
            </a:r>
            <a:r>
              <a:rPr sz="1050">
                <a:solidFill>
                  <a:srgbClr val="E4E4EA"/>
                </a:solidFill>
                <a:latin typeface="Consolas"/>
              </a:rPr>
              <a:t> epoch, loss </a:t>
            </a:r>
            <a:r>
              <a:rPr sz="1050">
                <a:solidFill>
                  <a:srgbClr val="ED145B"/>
                </a:solidFill>
                <a:latin typeface="Consolas"/>
              </a:rPr>
              <a:t>in</a:t>
            </a:r>
            <a:r>
              <a:rPr sz="1050">
                <a:solidFill>
                  <a:srgbClr val="E4E4EA"/>
                </a:solidFill>
                <a:latin typeface="Consolas"/>
              </a:rPr>
              <a:t> history:</a:t>
            </a:r>
          </a:p>
          <a:p>
            <a:pPr algn="l"/>
            <a:r>
              <a:rPr sz="1050">
                <a:solidFill>
                  <a:srgbClr val="E4E4EA"/>
                </a:solidFill>
                <a:latin typeface="Consolas"/>
              </a:rPr>
              <a:t>        mlflow.log_metric("val_loss", loss, step=epoch)</a:t>
            </a:r>
          </a:p>
          <a:p>
            <a:pPr algn="l"/>
            <a:r>
              <a:rPr sz="1050">
                <a:solidFill>
                  <a:srgbClr val="E4E4EA"/>
                </a:solidFill>
                <a:latin typeface="Consolas"/>
              </a:rPr>
              <a:t>    mlflow.pytorch.log_model(model, "model")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5413248"/>
            <a:ext cx="6565392" cy="566928"/>
          </a:xfrm>
          <a:prstGeom prst="roundRect">
            <a:avLst>
              <a:gd name="adj" fmla="val 14516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sem tracking, “qual run deu 0,91?” não tem resposta — e o resultado não é reprodutível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6089904"/>
            <a:ext cx="647395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AA0A6"/>
                </a:solidFill>
                <a:latin typeface="Calibri"/>
              </a:rPr>
              <a:t>código + dados + ambiente + métricas no mesmo registro = auditoria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MLflow Registry:</a:t>
            </a:r>
            <a:r>
              <a:rPr sz="2700" b="1">
                <a:solidFill>
                  <a:srgbClr val="ED145B"/>
                </a:solidFill>
                <a:latin typeface="Calibri"/>
              </a:rPr>
              <a:t> o ciclo de vida do modelo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Staging → Production → Archived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Versionamento de modelos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Hooks para aprovação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6035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A0A6"/>
                </a:solidFill>
                <a:latin typeface="Calibri"/>
              </a:rPr>
              <a:t>O MODELO TEM ESTÁGIOS — E PORTÕES ENTRE ELES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029968"/>
            <a:ext cx="1417320" cy="786384"/>
          </a:xfrm>
          <a:prstGeom prst="roundRect">
            <a:avLst>
              <a:gd name="adj" fmla="val 10465"/>
            </a:avLst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Registered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v1, v2, v3…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03120" y="2423160"/>
            <a:ext cx="246888" cy="0"/>
          </a:xfrm>
          <a:prstGeom prst="line">
            <a:avLst/>
          </a:prstGeom>
          <a:ln w="25400">
            <a:solidFill>
              <a:srgbClr val="ED145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377440" y="2029968"/>
            <a:ext cx="1417320" cy="786384"/>
          </a:xfrm>
          <a:prstGeom prst="roundRect">
            <a:avLst>
              <a:gd name="adj" fmla="val 10465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Staging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validação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822192" y="2423160"/>
            <a:ext cx="246888" cy="0"/>
          </a:xfrm>
          <a:prstGeom prst="line">
            <a:avLst/>
          </a:prstGeom>
          <a:ln w="25400">
            <a:solidFill>
              <a:srgbClr val="ED145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096512" y="2029968"/>
            <a:ext cx="1417320" cy="786384"/>
          </a:xfrm>
          <a:prstGeom prst="roundRect">
            <a:avLst>
              <a:gd name="adj" fmla="val 10465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Production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tráfego real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541264" y="2423160"/>
            <a:ext cx="246888" cy="0"/>
          </a:xfrm>
          <a:prstGeom prst="line">
            <a:avLst/>
          </a:prstGeom>
          <a:ln w="25400">
            <a:solidFill>
              <a:srgbClr val="ED145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815584" y="2029968"/>
            <a:ext cx="1417320" cy="786384"/>
          </a:xfrm>
          <a:prstGeom prst="roundRect">
            <a:avLst>
              <a:gd name="adj" fmla="val 10465"/>
            </a:avLst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Archived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aposentado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179222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ED145B"/>
                </a:solidFill>
                <a:latin typeface="Calibri"/>
              </a:rPr>
              <a:t>testes automáticos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0712" y="179222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ED145B"/>
                </a:solidFill>
                <a:latin typeface="Calibri"/>
              </a:rPr>
              <a:t>aprovação humana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9784" y="179222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ED145B"/>
                </a:solidFill>
                <a:latin typeface="Calibri"/>
              </a:rPr>
              <a:t>substituído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3086100" y="3017520"/>
            <a:ext cx="1719072" cy="0"/>
          </a:xfrm>
          <a:prstGeom prst="line">
            <a:avLst/>
          </a:prstGeom>
          <a:ln w="22860">
            <a:solidFill>
              <a:srgbClr val="F2994A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805172" y="2834640"/>
            <a:ext cx="0" cy="182880"/>
          </a:xfrm>
          <a:prstGeom prst="line">
            <a:avLst/>
          </a:prstGeom>
          <a:ln w="2286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121408" y="3054096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2994A"/>
                </a:solidFill>
                <a:latin typeface="Calibri"/>
              </a:rPr>
              <a:t>rollback: voltar é parte do plano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675887"/>
            <a:ext cx="1490472" cy="1097280"/>
          </a:xfrm>
          <a:prstGeom prst="roundRect">
            <a:avLst>
              <a:gd name="adj" fmla="val 75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00" b="1">
                <a:solidFill>
                  <a:srgbClr val="2D9CDB"/>
                </a:solidFill>
                <a:latin typeface="Calibri"/>
              </a:rPr>
              <a:t>owner</a:t>
            </a:r>
          </a:p>
          <a:p>
            <a:pPr algn="ctr"/>
            <a:r>
              <a:rPr sz="950">
                <a:solidFill>
                  <a:srgbClr val="9AA0A6"/>
                </a:solidFill>
                <a:latin typeface="Calibri"/>
              </a:rPr>
              <a:t>alguém responde
pelo modelo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50008" y="3675887"/>
            <a:ext cx="1490472" cy="1097280"/>
          </a:xfrm>
          <a:prstGeom prst="roundRect">
            <a:avLst>
              <a:gd name="adj" fmla="val 7500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00" b="1">
                <a:solidFill>
                  <a:srgbClr val="27AE60"/>
                </a:solidFill>
                <a:latin typeface="Calibri"/>
              </a:rPr>
              <a:t>testes</a:t>
            </a:r>
          </a:p>
          <a:p>
            <a:pPr algn="ctr"/>
            <a:r>
              <a:rPr sz="950">
                <a:solidFill>
                  <a:srgbClr val="9AA0A6"/>
                </a:solidFill>
                <a:latin typeface="Calibri"/>
              </a:rPr>
              <a:t>mesmo dado,
mesma resposta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41648" y="3675887"/>
            <a:ext cx="1490472" cy="1097280"/>
          </a:xfrm>
          <a:prstGeom prst="roundRect">
            <a:avLst>
              <a:gd name="adj" fmla="val 7500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00" b="1">
                <a:solidFill>
                  <a:srgbClr val="F2994A"/>
                </a:solidFill>
                <a:latin typeface="Calibri"/>
              </a:rPr>
              <a:t>rollback</a:t>
            </a:r>
          </a:p>
          <a:p>
            <a:pPr algn="ctr"/>
            <a:r>
              <a:rPr sz="950">
                <a:solidFill>
                  <a:srgbClr val="9AA0A6"/>
                </a:solidFill>
                <a:latin typeface="Calibri"/>
              </a:rPr>
              <a:t>versão anterior
pronta para voltar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33288" y="3675887"/>
            <a:ext cx="1490472" cy="1097280"/>
          </a:xfrm>
          <a:prstGeom prst="roundRect">
            <a:avLst>
              <a:gd name="adj" fmla="val 7500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00" b="1">
                <a:solidFill>
                  <a:srgbClr val="9B51E0"/>
                </a:solidFill>
                <a:latin typeface="Calibri"/>
              </a:rPr>
              <a:t>monitoramento</a:t>
            </a:r>
          </a:p>
          <a:p>
            <a:pPr algn="ctr"/>
            <a:r>
              <a:rPr sz="950">
                <a:solidFill>
                  <a:srgbClr val="9AA0A6"/>
                </a:solidFill>
                <a:latin typeface="Calibri"/>
              </a:rPr>
              <a:t>alarme antes
do cliente reclamar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084064"/>
            <a:ext cx="6565392" cy="713232"/>
          </a:xfrm>
          <a:prstGeom prst="roundRect">
            <a:avLst>
              <a:gd name="adj" fmla="val 11538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“Um modelo em Production deve ter: owner, testes, rollback, monitoramento.”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" y="5961888"/>
            <a:ext cx="647395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AA0A6"/>
                </a:solidFill>
                <a:latin typeface="Calibri"/>
              </a:rPr>
              <a:t>promover no registry é um ato administrativo com consequência operacional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090672" y="2834640"/>
            <a:ext cx="0" cy="182880"/>
          </a:xfrm>
          <a:prstGeom prst="line">
            <a:avLst/>
          </a:prstGeom>
          <a:ln w="25400">
            <a:solidFill>
              <a:srgbClr val="F2994A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96596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D145B"/>
                </a:solidFill>
                <a:latin typeface="Calibri"/>
              </a:rPr>
              <a:t>PARTE 2  ·  20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395728"/>
            <a:ext cx="9692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Calibri"/>
              </a:rPr>
              <a:t>Casos de negócio: do modelo treinado ao serviço</a:t>
            </a:r>
          </a:p>
        </p:txBody>
      </p:sp>
      <p:sp>
        <p:nvSpPr>
          <p:cNvPr id="5" name="Oval 4"/>
          <p:cNvSpPr/>
          <p:nvPr/>
        </p:nvSpPr>
        <p:spPr>
          <a:xfrm>
            <a:off x="1097280" y="3840480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794760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Promoção de modelo como decisão de risco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4261104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215384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ONNX, TorchServe e Triton: como o modelo vira serviço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4681728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636008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Quantização, pruning e distillation: o custo da inferência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" y="5102352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5056632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Latência, throughput e drift em produção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Promover é decisão de risco:</a:t>
            </a:r>
            <a:r>
              <a:rPr sz="2700" b="1">
                <a:solidFill>
                  <a:srgbClr val="ED145B"/>
                </a:solidFill>
                <a:latin typeface="Calibri"/>
              </a:rPr>
              <a:t> não é ranking de métrica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Melhor métrica offline não basta para promover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Export, quantização e serving podem alterar comportamento numérico e latência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Métrica de serviço e métrica do modelo precisam ser lidas juntas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Guardrails e rollback fazem parte do experimento, não só da operação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6035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A0A6"/>
                </a:solidFill>
                <a:latin typeface="Calibri"/>
              </a:rPr>
              <a:t>A MELHOR MÉTRICA OFFLINE É APENAS A CANDIDATURA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1783080" cy="786384"/>
          </a:xfrm>
          <a:prstGeom prst="roundRect">
            <a:avLst>
              <a:gd name="adj" fmla="val 10465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candidato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melhor métrica offline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487168" y="2267712"/>
            <a:ext cx="310896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iamond 7"/>
          <p:cNvSpPr/>
          <p:nvPr/>
        </p:nvSpPr>
        <p:spPr>
          <a:xfrm>
            <a:off x="2834640" y="1645920"/>
            <a:ext cx="1920240" cy="1261872"/>
          </a:xfrm>
          <a:prstGeom prst="diamond">
            <a:avLst/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passa em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todos os portões?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38928" y="1627632"/>
            <a:ext cx="2084831" cy="530352"/>
          </a:xfrm>
          <a:prstGeom prst="roundRect">
            <a:avLst>
              <a:gd name="adj" fmla="val 15517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27AE60"/>
                </a:solidFill>
                <a:latin typeface="Calibri"/>
              </a:rPr>
              <a:t>PROMOVER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38928" y="2377440"/>
            <a:ext cx="2084831" cy="530352"/>
          </a:xfrm>
          <a:prstGeom prst="roundRect">
            <a:avLst>
              <a:gd name="adj" fmla="val 15517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2994A"/>
                </a:solidFill>
                <a:latin typeface="Calibri"/>
              </a:rPr>
              <a:t>SEGURAR E AJUSTAR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4791456" y="1892807"/>
            <a:ext cx="310896" cy="210313"/>
          </a:xfrm>
          <a:prstGeom prst="line">
            <a:avLst/>
          </a:prstGeom>
          <a:ln w="25400">
            <a:solidFill>
              <a:srgbClr val="27AE60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91456" y="2432304"/>
            <a:ext cx="310896" cy="210312"/>
          </a:xfrm>
          <a:prstGeom prst="line">
            <a:avLst/>
          </a:prstGeom>
          <a:ln w="25400">
            <a:solidFill>
              <a:srgbClr val="F2994A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58368" y="3072384"/>
            <a:ext cx="6035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A0A6"/>
                </a:solidFill>
                <a:latin typeface="Calibri"/>
              </a:rPr>
              <a:t>OS PORTÕES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328416"/>
            <a:ext cx="1517904" cy="676656"/>
          </a:xfrm>
          <a:prstGeom prst="roundRect">
            <a:avLst>
              <a:gd name="adj" fmla="val 12162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export fiel?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ONNX = PyTorch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40864" y="3328416"/>
            <a:ext cx="1517904" cy="676656"/>
          </a:xfrm>
          <a:prstGeom prst="roundRect">
            <a:avLst>
              <a:gd name="adj" fmla="val 12162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latência p95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dentro do SLO?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3328416"/>
            <a:ext cx="1517904" cy="676656"/>
          </a:xfrm>
          <a:prstGeom prst="roundRect">
            <a:avLst>
              <a:gd name="adj" fmla="val 12162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guardrails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e alarmes?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05856" y="3328416"/>
            <a:ext cx="1517904" cy="676656"/>
          </a:xfrm>
          <a:prstGeom prst="roundRect">
            <a:avLst>
              <a:gd name="adj" fmla="val 12162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rollback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testado?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261104"/>
            <a:ext cx="3163824" cy="1298448"/>
          </a:xfrm>
          <a:prstGeom prst="roundRect">
            <a:avLst>
              <a:gd name="adj" fmla="val 6338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4361688"/>
            <a:ext cx="294436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2D9CDB"/>
                </a:solidFill>
                <a:latin typeface="Calibri"/>
              </a:rPr>
              <a:t>MÉTRICA DO MODELO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4590288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· acurácia · log-loss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" y="4873751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· calibração por segmento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5157216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· queda sob drift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59936" y="4261104"/>
            <a:ext cx="3163824" cy="1298448"/>
          </a:xfrm>
          <a:prstGeom prst="roundRect">
            <a:avLst>
              <a:gd name="adj" fmla="val 6338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9664" y="4361688"/>
            <a:ext cx="294436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27AE60"/>
                </a:solidFill>
                <a:latin typeface="Calibri"/>
              </a:rPr>
              <a:t>MÉTRICA DE SERVIÇO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61104" y="4590288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· latência p50 / p95 / p99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61104" y="4873751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· erros 5xx e timeouts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61104" y="5157216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· custo por 1k requisições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705856"/>
            <a:ext cx="6565392" cy="566928"/>
          </a:xfrm>
          <a:prstGeom prst="roundRect">
            <a:avLst>
              <a:gd name="adj" fmla="val 14516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as duas colunas são lidas JUNTAS: ganho de acurácia que estoura o p95 não é ganho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Export para ONNX:</a:t>
            </a:r>
            <a:r>
              <a:rPr sz="2700" b="1">
                <a:solidFill>
                  <a:srgbClr val="ED145B"/>
                </a:solidFill>
                <a:latin typeface="Calibri"/>
              </a:rPr>
              <a:t> um grafo, muitos runtimes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Formato aberto de grafo + pesos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Roda em Python, C++, Rust e mobile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ONNX Runtime otimiza para CPU / GPU / NPU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Opset fixa a semântica dos operadores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Valide as saídas do ONNX contra o PyTorch antes de promover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6035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A0A6"/>
                </a:solidFill>
                <a:latin typeface="Calibri"/>
              </a:rPr>
              <a:t>UM GRAFO EXPORTADO, MUITOS LUGARES ONDE RODAR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10512"/>
            <a:ext cx="1600200" cy="493776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PyTorch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414016"/>
            <a:ext cx="1600200" cy="493776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TensorFlow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017520"/>
            <a:ext cx="1600200" cy="493776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scikit-learn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04288" y="2651760"/>
            <a:ext cx="457200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98064" y="2029968"/>
            <a:ext cx="1874519" cy="1243584"/>
          </a:xfrm>
          <a:prstGeom prst="roundRect">
            <a:avLst>
              <a:gd name="adj" fmla="val 6617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ONNX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grafo + pesos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opset 17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18304" y="2651760"/>
            <a:ext cx="457200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212080" y="1810512"/>
            <a:ext cx="2011680" cy="493776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ONNX Runtime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CPU · GPU · NPU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2414016"/>
            <a:ext cx="2011680" cy="493776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C++ / Rust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sem Python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80" y="3017520"/>
            <a:ext cx="2011680" cy="493776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mobile / edge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CoreML · NNAPI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840480"/>
            <a:ext cx="6565392" cy="1061984"/>
          </a:xfrm>
          <a:prstGeom prst="roundRect">
            <a:avLst>
              <a:gd name="adj" fmla="val 5844"/>
            </a:avLst>
          </a:prstGeom>
          <a:solidFill>
            <a:srgbClr val="121218"/>
          </a:solidFill>
          <a:ln w="12700">
            <a:solidFill>
              <a:srgbClr val="3333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46304" rIns="73152" tIns="109728" bIns="91440"/>
          <a:lstStyle/>
          <a:p>
            <a:pPr algn="l"/>
            <a:r>
              <a:rPr sz="1000" b="1">
                <a:solidFill>
                  <a:srgbClr val="ED145B"/>
                </a:solidFill>
                <a:latin typeface="Calibri"/>
              </a:rPr>
              <a:t>hands-on.ipynb — export do melhor candidato com eixo de batch dinâmico</a:t>
            </a:r>
          </a:p>
          <a:p>
            <a:pPr algn="l"/>
            <a:r>
              <a:rPr sz="1050">
                <a:solidFill>
                  <a:srgbClr val="E4E4EA"/>
                </a:solidFill>
                <a:latin typeface="Consolas"/>
              </a:rPr>
              <a:t>torch.onnx.export(</a:t>
            </a:r>
          </a:p>
          <a:p>
            <a:pPr algn="l"/>
            <a:r>
              <a:rPr sz="1050">
                <a:solidFill>
                  <a:srgbClr val="E4E4EA"/>
                </a:solidFill>
                <a:latin typeface="Consolas"/>
              </a:rPr>
              <a:t>    best_model.cpu(), torch.tensor(X_test[:1]), onnx_path,</a:t>
            </a:r>
          </a:p>
          <a:p>
            <a:pPr algn="l"/>
            <a:r>
              <a:rPr sz="1050">
                <a:solidFill>
                  <a:srgbClr val="E4E4EA"/>
                </a:solidFill>
                <a:latin typeface="Consolas"/>
              </a:rPr>
              <a:t>    opset_version=17, input_names=["features"],</a:t>
            </a:r>
          </a:p>
          <a:p>
            <a:pPr algn="l"/>
            <a:r>
              <a:rPr sz="1050">
                <a:solidFill>
                  <a:srgbClr val="E4E4EA"/>
                </a:solidFill>
                <a:latin typeface="Consolas"/>
              </a:rPr>
              <a:t>    dynamic_axes={"features": {0: "batch"}, ...})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138928"/>
            <a:ext cx="6565392" cy="640080"/>
          </a:xfrm>
          <a:prstGeom prst="roundRect">
            <a:avLst>
              <a:gd name="adj" fmla="val 12857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exportar ≠ equivalente: compare as saídas do ONNX com as do PyTorch antes de promover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5961888"/>
            <a:ext cx="647395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AA0A6"/>
                </a:solidFill>
                <a:latin typeface="Calibri"/>
              </a:rPr>
              <a:t>o formato aberto quebra o acoplamento entre quem treina e quem serve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Serving:</a:t>
            </a:r>
            <a:r>
              <a:rPr sz="2700" b="1">
                <a:solidFill>
                  <a:srgbClr val="ED145B"/>
                </a:solidFill>
                <a:latin typeface="Calibri"/>
              </a:rPr>
              <a:t> TorchServe e Triton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TorchServe: específico PyTorch, entrada rápida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Triton (NVIDIA): multi-framework e batching dinâmico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Batching troca alguns ms de latência por muito throughput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Padrão em grandes empresas por versionamento e métricas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36192"/>
            <a:ext cx="3163824" cy="1810512"/>
          </a:xfrm>
          <a:prstGeom prst="roundRect">
            <a:avLst>
              <a:gd name="adj" fmla="val 4545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1636776"/>
            <a:ext cx="294436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2D9CDB"/>
                </a:solidFill>
                <a:latin typeface="Calibri"/>
              </a:rPr>
              <a:t>TORCHSERVE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1901952"/>
            <a:ext cx="2788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· específico para PyTorch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231136"/>
            <a:ext cx="2788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· handlers em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560320"/>
            <a:ext cx="2788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· métricas e versionamento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889504"/>
            <a:ext cx="2788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· curva de entrada curta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59936" y="1536192"/>
            <a:ext cx="3163824" cy="1810512"/>
          </a:xfrm>
          <a:prstGeom prst="roundRect">
            <a:avLst>
              <a:gd name="adj" fmla="val 4545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9664" y="1636776"/>
            <a:ext cx="294436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27AE60"/>
                </a:solidFill>
                <a:latin typeface="Calibri"/>
              </a:rPr>
              <a:t>TRITON (NVIDIA)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61104" y="1901952"/>
            <a:ext cx="2788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· multi-framework: ONNX, TF, PyTorch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1104" y="2231136"/>
            <a:ext cx="2788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· batching dinâmico e concurrent 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61104" y="2560320"/>
            <a:ext cx="2788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· GPU sharing e model ensembles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61104" y="2889504"/>
            <a:ext cx="2788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· padrão em grandes empresas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529584"/>
            <a:ext cx="6035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A0A6"/>
                </a:solidFill>
                <a:latin typeface="Calibri"/>
              </a:rPr>
              <a:t>BATCHING DINÂMICO: O QUE PAGA A GPU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3950208"/>
            <a:ext cx="237744" cy="237744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9" name="Oval 18"/>
          <p:cNvSpPr/>
          <p:nvPr/>
        </p:nvSpPr>
        <p:spPr>
          <a:xfrm>
            <a:off x="969264" y="3950208"/>
            <a:ext cx="237744" cy="237744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" name="Oval 19"/>
          <p:cNvSpPr/>
          <p:nvPr/>
        </p:nvSpPr>
        <p:spPr>
          <a:xfrm>
            <a:off x="1280160" y="3950208"/>
            <a:ext cx="237744" cy="237744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1" name="Oval 20"/>
          <p:cNvSpPr/>
          <p:nvPr/>
        </p:nvSpPr>
        <p:spPr>
          <a:xfrm>
            <a:off x="1591056" y="3950208"/>
            <a:ext cx="237744" cy="237744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2611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AA0A6"/>
                </a:solidFill>
                <a:latin typeface="Calibri"/>
              </a:rPr>
              <a:t>requisições</a:t>
            </a:r>
          </a:p>
          <a:p>
            <a:pPr algn="l"/>
            <a:r>
              <a:rPr sz="950" b="0" i="0">
                <a:solidFill>
                  <a:srgbClr val="9AA0A6"/>
                </a:solidFill>
                <a:latin typeface="Calibri"/>
              </a:rPr>
              <a:t>independentes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920240" y="4069080"/>
            <a:ext cx="347472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304288" y="3767328"/>
            <a:ext cx="1481328" cy="603504"/>
          </a:xfrm>
          <a:prstGeom prst="roundRect">
            <a:avLst>
              <a:gd name="adj" fmla="val 13636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fila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janela de 5 ms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822191" y="4069080"/>
            <a:ext cx="347472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206240" y="3767328"/>
            <a:ext cx="1298448" cy="603504"/>
          </a:xfrm>
          <a:prstGeom prst="roundRect">
            <a:avLst>
              <a:gd name="adj" fmla="val 13636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batch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32 amostras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541264" y="4069080"/>
            <a:ext cx="347472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925312" y="3767328"/>
            <a:ext cx="1298448" cy="603504"/>
          </a:xfrm>
          <a:prstGeom prst="roundRect">
            <a:avLst>
              <a:gd name="adj" fmla="val 13636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GPU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1 kernel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04288" y="4443984"/>
            <a:ext cx="491947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AA0A6"/>
                </a:solidFill>
                <a:latin typeface="Calibri"/>
              </a:rPr>
              <a:t>espera alguns milissegundos para multiplicar o throughput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956048"/>
            <a:ext cx="6565392" cy="658368"/>
          </a:xfrm>
          <a:prstGeom prst="roundRect">
            <a:avLst>
              <a:gd name="adj" fmla="val 1250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latência por requisição sobe um pouco; requisições por segundo sobem muito — o trade-off é explícito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" y="5797296"/>
            <a:ext cx="647395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AA0A6"/>
                </a:solidFill>
                <a:latin typeface="Calibri"/>
              </a:rPr>
              <a:t>serving não é “subir um Flask”: é fila, versão, métrica e limite de recurso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ounded Rectangle 5"/>
          <p:cNvSpPr/>
          <p:nvPr/>
        </p:nvSpPr>
        <p:spPr>
          <a:xfrm>
            <a:off x="2606040" y="1499616"/>
            <a:ext cx="2734056" cy="768096"/>
          </a:xfrm>
          <a:prstGeom prst="roundRect">
            <a:avLst/>
          </a:prstGeom>
          <a:solidFill>
            <a:srgbClr val="17171F"/>
          </a:solidFill>
          <a:ln w="1524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Quantização:</a:t>
            </a:r>
            <a:r>
              <a:rPr sz="2700" b="1">
                <a:solidFill>
                  <a:srgbClr val="ED145B"/>
                </a:solidFill>
                <a:latin typeface="Calibri"/>
              </a:rPr>
              <a:t> o mesmo modelo em 8 bits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FP32 → INT8: 4× menor, ~3× mais rápido em CPU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Dinâmica: weights INT8, activations FP32 em runtime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Estática (PTQ): calibra com dataset representativo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QAT (Quantization-Aware Training): fine-tuning com fake quant</a:t>
            </a:r>
          </a:p>
        </p:txBody>
      </p:sp>
      <p:pic>
        <p:nvPicPr>
          <p:cNvPr id="5" name="Picture 4" descr="55647fb5cc0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7208" y="1700784"/>
            <a:ext cx="2331720" cy="365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2487168"/>
            <a:ext cx="6035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A0A6"/>
                </a:solidFill>
                <a:latin typeface="Calibri"/>
              </a:rPr>
              <a:t>MESMO PESO, MENOS BITS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4480" y="2779776"/>
            <a:ext cx="114300" cy="237744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1687068" y="2779776"/>
            <a:ext cx="114300" cy="237744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1819656" y="2779776"/>
            <a:ext cx="114300" cy="237744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1952243" y="2779776"/>
            <a:ext cx="114300" cy="237744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2084831" y="2779776"/>
            <a:ext cx="114300" cy="237744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2217420" y="2779776"/>
            <a:ext cx="114300" cy="237744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2350008" y="2779776"/>
            <a:ext cx="114300" cy="237744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2482596" y="2779776"/>
            <a:ext cx="114300" cy="237744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2615184" y="2779776"/>
            <a:ext cx="114300" cy="237744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2747772" y="2779776"/>
            <a:ext cx="114300" cy="237744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2880360" y="2779776"/>
            <a:ext cx="114300" cy="237744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3012948" y="2779776"/>
            <a:ext cx="114300" cy="237744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3145535" y="2779776"/>
            <a:ext cx="114300" cy="237744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3278124" y="2779776"/>
            <a:ext cx="114300" cy="237744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3410711" y="2779776"/>
            <a:ext cx="114300" cy="237744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3543300" y="2779776"/>
            <a:ext cx="114300" cy="237744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3675887" y="2779776"/>
            <a:ext cx="114300" cy="237744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3808476" y="2779776"/>
            <a:ext cx="114300" cy="237744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6" name="Rectangle 25"/>
          <p:cNvSpPr/>
          <p:nvPr/>
        </p:nvSpPr>
        <p:spPr>
          <a:xfrm>
            <a:off x="3941063" y="2779776"/>
            <a:ext cx="114300" cy="237744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4073652" y="2779776"/>
            <a:ext cx="114300" cy="237744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2779776"/>
            <a:ext cx="114300" cy="237744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4338828" y="2779776"/>
            <a:ext cx="114300" cy="237744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0" name="Rectangle 29"/>
          <p:cNvSpPr/>
          <p:nvPr/>
        </p:nvSpPr>
        <p:spPr>
          <a:xfrm>
            <a:off x="4471416" y="2779776"/>
            <a:ext cx="114300" cy="237744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1" name="Rectangle 30"/>
          <p:cNvSpPr/>
          <p:nvPr/>
        </p:nvSpPr>
        <p:spPr>
          <a:xfrm>
            <a:off x="4604004" y="2779776"/>
            <a:ext cx="114300" cy="237744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2" name="Rectangle 31"/>
          <p:cNvSpPr/>
          <p:nvPr/>
        </p:nvSpPr>
        <p:spPr>
          <a:xfrm>
            <a:off x="4736592" y="2779776"/>
            <a:ext cx="114300" cy="237744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4869179" y="2779776"/>
            <a:ext cx="114300" cy="237744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4" name="Rectangle 33"/>
          <p:cNvSpPr/>
          <p:nvPr/>
        </p:nvSpPr>
        <p:spPr>
          <a:xfrm>
            <a:off x="5001768" y="2779776"/>
            <a:ext cx="114300" cy="237744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5134355" y="2779776"/>
            <a:ext cx="114300" cy="237744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6" name="Rectangle 35"/>
          <p:cNvSpPr/>
          <p:nvPr/>
        </p:nvSpPr>
        <p:spPr>
          <a:xfrm>
            <a:off x="5266944" y="2779776"/>
            <a:ext cx="114300" cy="237744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7" name="Rectangle 36"/>
          <p:cNvSpPr/>
          <p:nvPr/>
        </p:nvSpPr>
        <p:spPr>
          <a:xfrm>
            <a:off x="5399532" y="2779776"/>
            <a:ext cx="114300" cy="237744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8" name="Rectangle 37"/>
          <p:cNvSpPr/>
          <p:nvPr/>
        </p:nvSpPr>
        <p:spPr>
          <a:xfrm>
            <a:off x="5532120" y="2779776"/>
            <a:ext cx="114300" cy="237744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9" name="Rectangle 38"/>
          <p:cNvSpPr/>
          <p:nvPr/>
        </p:nvSpPr>
        <p:spPr>
          <a:xfrm>
            <a:off x="5664708" y="2779776"/>
            <a:ext cx="114300" cy="237744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2779776"/>
            <a:ext cx="82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2D9CDB"/>
                </a:solidFill>
                <a:latin typeface="Calibri"/>
              </a:rPr>
              <a:t>FP32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554480" y="3182112"/>
            <a:ext cx="114300" cy="237744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2" name="Rectangle 41"/>
          <p:cNvSpPr/>
          <p:nvPr/>
        </p:nvSpPr>
        <p:spPr>
          <a:xfrm>
            <a:off x="1687068" y="3182112"/>
            <a:ext cx="114300" cy="237744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3" name="Rectangle 42"/>
          <p:cNvSpPr/>
          <p:nvPr/>
        </p:nvSpPr>
        <p:spPr>
          <a:xfrm>
            <a:off x="1819656" y="3182112"/>
            <a:ext cx="114300" cy="237744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4" name="Rectangle 43"/>
          <p:cNvSpPr/>
          <p:nvPr/>
        </p:nvSpPr>
        <p:spPr>
          <a:xfrm>
            <a:off x="1952243" y="3182112"/>
            <a:ext cx="114300" cy="237744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5" name="Rectangle 44"/>
          <p:cNvSpPr/>
          <p:nvPr/>
        </p:nvSpPr>
        <p:spPr>
          <a:xfrm>
            <a:off x="2084831" y="3182112"/>
            <a:ext cx="114300" cy="237744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6" name="Rectangle 45"/>
          <p:cNvSpPr/>
          <p:nvPr/>
        </p:nvSpPr>
        <p:spPr>
          <a:xfrm>
            <a:off x="2217420" y="3182112"/>
            <a:ext cx="114300" cy="237744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7" name="Rectangle 46"/>
          <p:cNvSpPr/>
          <p:nvPr/>
        </p:nvSpPr>
        <p:spPr>
          <a:xfrm>
            <a:off x="2350008" y="3182112"/>
            <a:ext cx="114300" cy="237744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8" name="Rectangle 47"/>
          <p:cNvSpPr/>
          <p:nvPr/>
        </p:nvSpPr>
        <p:spPr>
          <a:xfrm>
            <a:off x="2482596" y="3182112"/>
            <a:ext cx="114300" cy="237744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" y="3182112"/>
            <a:ext cx="82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ED145B"/>
                </a:solidFill>
                <a:latin typeface="Calibri"/>
              </a:rPr>
              <a:t>INT8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43200" y="3163824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  <a:latin typeface="Calibri"/>
              </a:rPr>
              <a:t>4× menos memória  ·  ~3× mais rápido em CPU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368" y="3675887"/>
            <a:ext cx="2029968" cy="1280160"/>
          </a:xfrm>
          <a:prstGeom prst="roundRect">
            <a:avLst>
              <a:gd name="adj" fmla="val 6428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2D9CDB"/>
                </a:solidFill>
                <a:latin typeface="Calibri"/>
              </a:rPr>
              <a:t>dinâmica</a:t>
            </a:r>
          </a:p>
          <a:p>
            <a:pPr algn="ctr"/>
            <a:r>
              <a:rPr sz="1000">
                <a:solidFill>
                  <a:srgbClr val="9AA0A6"/>
                </a:solidFill>
                <a:latin typeface="Calibri"/>
              </a:rPr>
              <a:t>pesos INT8;
ativações FP32
no runtime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926080" y="3675887"/>
            <a:ext cx="2029968" cy="1280160"/>
          </a:xfrm>
          <a:prstGeom prst="roundRect">
            <a:avLst>
              <a:gd name="adj" fmla="val 6428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9B51E0"/>
                </a:solidFill>
                <a:latin typeface="Calibri"/>
              </a:rPr>
              <a:t>estática (PTQ)</a:t>
            </a:r>
          </a:p>
          <a:p>
            <a:pPr algn="ctr"/>
            <a:r>
              <a:rPr sz="1000">
                <a:solidFill>
                  <a:srgbClr val="9AA0A6"/>
                </a:solidFill>
                <a:latin typeface="Calibri"/>
              </a:rPr>
              <a:t>calibra escalas com
um dataset
representativo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193792" y="3675887"/>
            <a:ext cx="2029968" cy="1280160"/>
          </a:xfrm>
          <a:prstGeom prst="roundRect">
            <a:avLst>
              <a:gd name="adj" fmla="val 6428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27AE60"/>
                </a:solidFill>
                <a:latin typeface="Calibri"/>
              </a:rPr>
              <a:t>QAT</a:t>
            </a:r>
          </a:p>
          <a:p>
            <a:pPr algn="ctr"/>
            <a:r>
              <a:rPr sz="1000">
                <a:solidFill>
                  <a:srgbClr val="9AA0A6"/>
                </a:solidFill>
                <a:latin typeface="Calibri"/>
              </a:rPr>
              <a:t>fine-tuning com
fake quant:
menor perda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58368" y="5175504"/>
            <a:ext cx="6565392" cy="640080"/>
          </a:xfrm>
          <a:prstGeom prst="roundRect">
            <a:avLst>
              <a:gd name="adj" fmla="val 12857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s (escala) e z (zero-point) decidem a perda: faixa mal estimada satura os extremos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4088" y="5961888"/>
            <a:ext cx="647395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AA0A6"/>
                </a:solidFill>
                <a:latin typeface="Calibri"/>
              </a:rPr>
              <a:t>quantizar é barganha explícita: tamanho e latência contra alguns pontos de qualidade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Pruning e distillation:</a:t>
            </a:r>
            <a:r>
              <a:rPr sz="2700" b="1">
                <a:solidFill>
                  <a:srgbClr val="ED145B"/>
                </a:solidFill>
                <a:latin typeface="Calibri"/>
              </a:rPr>
              <a:t> modelos menores de propósito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Pruning: remove pesos/neurônios/cabeças pouco importantes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Distillation (Hinton et al., 2015): modelo pequeno ("aluno") aprende a mimicar "professor"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Ex.: DistilBERT ≈ 97% do BERT com 40% do tamanho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A0A6"/>
                </a:solidFill>
                <a:latin typeface="Calibri"/>
              </a:rPr>
              <a:t>PRUNING — REMOVER O QUE NÃO PESA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59936" y="1481328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A0A6"/>
                </a:solidFill>
                <a:latin typeface="Calibri"/>
              </a:rPr>
              <a:t>DISTILLATION — ENSINAR UM MENOR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822191" y="1517904"/>
            <a:ext cx="0" cy="2523744"/>
          </a:xfrm>
          <a:prstGeom prst="line">
            <a:avLst/>
          </a:prstGeom>
          <a:ln w="1524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359408" y="2096008"/>
            <a:ext cx="743712" cy="135128"/>
          </a:xfrm>
          <a:prstGeom prst="line">
            <a:avLst/>
          </a:prstGeom>
          <a:ln w="889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59408" y="2231136"/>
            <a:ext cx="743712" cy="220472"/>
          </a:xfrm>
          <a:prstGeom prst="line">
            <a:avLst/>
          </a:prstGeom>
          <a:ln w="889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359408" y="2231136"/>
            <a:ext cx="743712" cy="576072"/>
          </a:xfrm>
          <a:prstGeom prst="line">
            <a:avLst/>
          </a:prstGeom>
          <a:ln w="889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359408" y="2231136"/>
            <a:ext cx="743712" cy="931672"/>
          </a:xfrm>
          <a:prstGeom prst="line">
            <a:avLst/>
          </a:prstGeom>
          <a:ln w="8890">
            <a:solidFill>
              <a:srgbClr val="1E1E2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359408" y="2231136"/>
            <a:ext cx="743712" cy="1287272"/>
          </a:xfrm>
          <a:prstGeom prst="line">
            <a:avLst/>
          </a:prstGeom>
          <a:ln w="889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59408" y="2096008"/>
            <a:ext cx="743712" cy="519176"/>
          </a:xfrm>
          <a:prstGeom prst="line">
            <a:avLst/>
          </a:prstGeom>
          <a:ln w="889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359408" y="2451608"/>
            <a:ext cx="743712" cy="163576"/>
          </a:xfrm>
          <a:prstGeom prst="line">
            <a:avLst/>
          </a:prstGeom>
          <a:ln w="889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359408" y="2615184"/>
            <a:ext cx="743712" cy="192024"/>
          </a:xfrm>
          <a:prstGeom prst="line">
            <a:avLst/>
          </a:prstGeom>
          <a:ln w="8890">
            <a:solidFill>
              <a:srgbClr val="1E1E2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359408" y="2615184"/>
            <a:ext cx="743712" cy="547624"/>
          </a:xfrm>
          <a:prstGeom prst="line">
            <a:avLst/>
          </a:prstGeom>
          <a:ln w="8890">
            <a:solidFill>
              <a:srgbClr val="1E1E2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359408" y="2615184"/>
            <a:ext cx="743712" cy="903224"/>
          </a:xfrm>
          <a:prstGeom prst="line">
            <a:avLst/>
          </a:prstGeom>
          <a:ln w="889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359408" y="2096008"/>
            <a:ext cx="743712" cy="903224"/>
          </a:xfrm>
          <a:prstGeom prst="line">
            <a:avLst/>
          </a:prstGeom>
          <a:ln w="889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359408" y="2451608"/>
            <a:ext cx="743712" cy="547624"/>
          </a:xfrm>
          <a:prstGeom prst="line">
            <a:avLst/>
          </a:prstGeom>
          <a:ln w="889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359408" y="2807208"/>
            <a:ext cx="743712" cy="192024"/>
          </a:xfrm>
          <a:prstGeom prst="line">
            <a:avLst/>
          </a:prstGeom>
          <a:ln w="889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359408" y="2999232"/>
            <a:ext cx="743712" cy="163576"/>
          </a:xfrm>
          <a:prstGeom prst="line">
            <a:avLst/>
          </a:prstGeom>
          <a:ln w="8890">
            <a:solidFill>
              <a:srgbClr val="1E1E2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359408" y="2999232"/>
            <a:ext cx="743712" cy="519176"/>
          </a:xfrm>
          <a:prstGeom prst="line">
            <a:avLst/>
          </a:prstGeom>
          <a:ln w="889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359408" y="2096008"/>
            <a:ext cx="743712" cy="1287272"/>
          </a:xfrm>
          <a:prstGeom prst="line">
            <a:avLst/>
          </a:prstGeom>
          <a:ln w="8890">
            <a:solidFill>
              <a:srgbClr val="1E1E2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359408" y="2451608"/>
            <a:ext cx="743712" cy="931672"/>
          </a:xfrm>
          <a:prstGeom prst="line">
            <a:avLst/>
          </a:prstGeom>
          <a:ln w="889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359408" y="2807208"/>
            <a:ext cx="743712" cy="576072"/>
          </a:xfrm>
          <a:prstGeom prst="line">
            <a:avLst/>
          </a:prstGeom>
          <a:ln w="889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359408" y="3162808"/>
            <a:ext cx="743712" cy="220472"/>
          </a:xfrm>
          <a:prstGeom prst="line">
            <a:avLst/>
          </a:prstGeom>
          <a:ln w="8890">
            <a:solidFill>
              <a:srgbClr val="1E1E2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359408" y="3383280"/>
            <a:ext cx="743712" cy="135128"/>
          </a:xfrm>
          <a:prstGeom prst="line">
            <a:avLst/>
          </a:prstGeom>
          <a:ln w="889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304288" y="2096008"/>
            <a:ext cx="743712" cy="327152"/>
          </a:xfrm>
          <a:prstGeom prst="line">
            <a:avLst/>
          </a:prstGeom>
          <a:ln w="889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304288" y="2096008"/>
            <a:ext cx="743712" cy="711200"/>
          </a:xfrm>
          <a:prstGeom prst="line">
            <a:avLst/>
          </a:prstGeom>
          <a:ln w="8890">
            <a:solidFill>
              <a:srgbClr val="1E1E2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304288" y="2096008"/>
            <a:ext cx="743712" cy="1095248"/>
          </a:xfrm>
          <a:prstGeom prst="line">
            <a:avLst/>
          </a:prstGeom>
          <a:ln w="889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2304288" y="2423160"/>
            <a:ext cx="743712" cy="28448"/>
          </a:xfrm>
          <a:prstGeom prst="line">
            <a:avLst/>
          </a:prstGeom>
          <a:ln w="889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304288" y="2451608"/>
            <a:ext cx="743712" cy="355600"/>
          </a:xfrm>
          <a:prstGeom prst="line">
            <a:avLst/>
          </a:prstGeom>
          <a:ln w="889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304288" y="2451608"/>
            <a:ext cx="743712" cy="739648"/>
          </a:xfrm>
          <a:prstGeom prst="line">
            <a:avLst/>
          </a:prstGeom>
          <a:ln w="889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2304288" y="2423160"/>
            <a:ext cx="743712" cy="384048"/>
          </a:xfrm>
          <a:prstGeom prst="line">
            <a:avLst/>
          </a:prstGeom>
          <a:ln w="8890">
            <a:solidFill>
              <a:srgbClr val="1E1E2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304288" y="2807208"/>
            <a:ext cx="743712" cy="0"/>
          </a:xfrm>
          <a:prstGeom prst="line">
            <a:avLst/>
          </a:prstGeom>
          <a:ln w="889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304288" y="2807208"/>
            <a:ext cx="743712" cy="384048"/>
          </a:xfrm>
          <a:prstGeom prst="line">
            <a:avLst/>
          </a:prstGeom>
          <a:ln w="889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2304288" y="2423160"/>
            <a:ext cx="743712" cy="739648"/>
          </a:xfrm>
          <a:prstGeom prst="line">
            <a:avLst/>
          </a:prstGeom>
          <a:ln w="8890">
            <a:solidFill>
              <a:srgbClr val="1E1E2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2304288" y="2807208"/>
            <a:ext cx="743712" cy="355600"/>
          </a:xfrm>
          <a:prstGeom prst="line">
            <a:avLst/>
          </a:prstGeom>
          <a:ln w="8890">
            <a:solidFill>
              <a:srgbClr val="1E1E2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304288" y="3162808"/>
            <a:ext cx="743712" cy="28448"/>
          </a:xfrm>
          <a:prstGeom prst="line">
            <a:avLst/>
          </a:prstGeom>
          <a:ln w="8890">
            <a:solidFill>
              <a:srgbClr val="1E1E2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304288" y="2423160"/>
            <a:ext cx="743712" cy="1095248"/>
          </a:xfrm>
          <a:prstGeom prst="line">
            <a:avLst/>
          </a:prstGeom>
          <a:ln w="889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2304288" y="2807208"/>
            <a:ext cx="743712" cy="711200"/>
          </a:xfrm>
          <a:prstGeom prst="line">
            <a:avLst/>
          </a:prstGeom>
          <a:ln w="889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2304288" y="3191256"/>
            <a:ext cx="743712" cy="327152"/>
          </a:xfrm>
          <a:prstGeom prst="line">
            <a:avLst/>
          </a:prstGeom>
          <a:ln w="8890">
            <a:solidFill>
              <a:srgbClr val="1E1E2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1158240" y="2130552"/>
            <a:ext cx="201168" cy="201168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4" name="Oval 43"/>
          <p:cNvSpPr/>
          <p:nvPr/>
        </p:nvSpPr>
        <p:spPr>
          <a:xfrm>
            <a:off x="1158240" y="2514600"/>
            <a:ext cx="201168" cy="201168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5" name="Oval 44"/>
          <p:cNvSpPr/>
          <p:nvPr/>
        </p:nvSpPr>
        <p:spPr>
          <a:xfrm>
            <a:off x="1158240" y="2898648"/>
            <a:ext cx="201168" cy="201168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6" name="Oval 45"/>
          <p:cNvSpPr/>
          <p:nvPr/>
        </p:nvSpPr>
        <p:spPr>
          <a:xfrm>
            <a:off x="1158240" y="3282696"/>
            <a:ext cx="201168" cy="201168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7" name="Oval 46"/>
          <p:cNvSpPr/>
          <p:nvPr/>
        </p:nvSpPr>
        <p:spPr>
          <a:xfrm>
            <a:off x="2103120" y="1995424"/>
            <a:ext cx="201168" cy="201168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8" name="Oval 47"/>
          <p:cNvSpPr/>
          <p:nvPr/>
        </p:nvSpPr>
        <p:spPr>
          <a:xfrm>
            <a:off x="2103120" y="2351024"/>
            <a:ext cx="201168" cy="201168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9" name="Oval 48"/>
          <p:cNvSpPr/>
          <p:nvPr/>
        </p:nvSpPr>
        <p:spPr>
          <a:xfrm>
            <a:off x="2103120" y="2706624"/>
            <a:ext cx="201168" cy="201168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0" name="Oval 49"/>
          <p:cNvSpPr/>
          <p:nvPr/>
        </p:nvSpPr>
        <p:spPr>
          <a:xfrm>
            <a:off x="2103120" y="3062224"/>
            <a:ext cx="201168" cy="201168"/>
          </a:xfrm>
          <a:prstGeom prst="ellipse">
            <a:avLst/>
          </a:prstGeom>
          <a:solidFill>
            <a:srgbClr val="1E1E28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>
                <a:solidFill>
                  <a:srgbClr val="9AA0A6"/>
                </a:solidFill>
                <a:latin typeface="Calibri"/>
              </a:rPr>
              <a:t>×</a:t>
            </a:r>
          </a:p>
        </p:txBody>
      </p:sp>
      <p:sp>
        <p:nvSpPr>
          <p:cNvPr id="51" name="Oval 50"/>
          <p:cNvSpPr/>
          <p:nvPr/>
        </p:nvSpPr>
        <p:spPr>
          <a:xfrm>
            <a:off x="2103120" y="3417824"/>
            <a:ext cx="201168" cy="201168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2" name="Oval 51"/>
          <p:cNvSpPr/>
          <p:nvPr/>
        </p:nvSpPr>
        <p:spPr>
          <a:xfrm>
            <a:off x="3048000" y="2322576"/>
            <a:ext cx="201168" cy="201168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3" name="Oval 52"/>
          <p:cNvSpPr/>
          <p:nvPr/>
        </p:nvSpPr>
        <p:spPr>
          <a:xfrm>
            <a:off x="3048000" y="2706624"/>
            <a:ext cx="201168" cy="201168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4" name="Oval 53"/>
          <p:cNvSpPr/>
          <p:nvPr/>
        </p:nvSpPr>
        <p:spPr>
          <a:xfrm>
            <a:off x="3048000" y="3090672"/>
            <a:ext cx="201168" cy="201168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" y="3822191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9AA0A6"/>
                </a:solidFill>
                <a:latin typeface="Calibri"/>
              </a:rPr>
              <a:t>pesos, neurônios e cabeças de atenção com pouca contribuição saem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114800" y="1847088"/>
            <a:ext cx="1280160" cy="1188720"/>
          </a:xfrm>
          <a:prstGeom prst="roundRect">
            <a:avLst>
              <a:gd name="adj" fmla="val 6923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PROFESSOR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modelo grande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907024" y="2139696"/>
            <a:ext cx="1188720" cy="786384"/>
          </a:xfrm>
          <a:prstGeom prst="roundRect">
            <a:avLst>
              <a:gd name="adj" fmla="val 10465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ALUNO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modelo pequeno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449824" y="2432304"/>
            <a:ext cx="402336" cy="0"/>
          </a:xfrm>
          <a:prstGeom prst="line">
            <a:avLst/>
          </a:prstGeom>
          <a:ln w="25400">
            <a:solidFill>
              <a:srgbClr val="ED145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4114800" y="312724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9AA0A6"/>
                </a:solidFill>
                <a:latin typeface="Calibri"/>
              </a:rPr>
              <a:t>logits suaves (T &gt; 1) carregam a incerteza do professor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14800" y="3584448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27AE60"/>
                </a:solidFill>
                <a:latin typeface="Calibri"/>
              </a:rPr>
              <a:t>perda = CE(rótulo) + KL(aluno ‖ professor)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8368" y="4187952"/>
            <a:ext cx="6035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A0A6"/>
                </a:solidFill>
                <a:latin typeface="Calibri"/>
              </a:rPr>
              <a:t>DISTILBERT: O PREÇO E O QUE SOBRA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8368" y="4480560"/>
            <a:ext cx="3108960" cy="310896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858768" y="4535424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BERT · 100% do tamanho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58368" y="4882896"/>
            <a:ext cx="1243584" cy="310896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993392" y="4937759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DistilBERT · 40% do tamanho, ≈97% da qualidade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58368" y="5413248"/>
            <a:ext cx="6565392" cy="603504"/>
          </a:xfrm>
          <a:prstGeom prst="roundRect">
            <a:avLst>
              <a:gd name="adj" fmla="val 13636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encolher é decisão de produto: quanto de qualidade cabe no seu orçamento de latência?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Monitoramento:</a:t>
            </a:r>
            <a:r>
              <a:rPr sz="2700" b="1">
                <a:solidFill>
                  <a:srgbClr val="ED145B"/>
                </a:solidFill>
                <a:latin typeface="Calibri"/>
              </a:rPr>
              <a:t> o que olhar depois do deploy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Latência (p50, p95, p99)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Throughput (req/s)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Acurácia (quando labels chegam)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Drift: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Covariate shift — features mudam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Concept drift — P(y|x) muda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36192"/>
            <a:ext cx="2075688" cy="1920240"/>
          </a:xfrm>
          <a:prstGeom prst="roundRect">
            <a:avLst>
              <a:gd name="adj" fmla="val 4285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1636776"/>
            <a:ext cx="18562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2D9CDB"/>
                </a:solidFill>
                <a:latin typeface="Calibri"/>
              </a:rPr>
              <a:t>LATÊNCIA</a:t>
            </a:r>
          </a:p>
        </p:txBody>
      </p:sp>
      <p:sp>
        <p:nvSpPr>
          <p:cNvPr id="7" name="Rectangle 6"/>
          <p:cNvSpPr/>
          <p:nvPr/>
        </p:nvSpPr>
        <p:spPr>
          <a:xfrm>
            <a:off x="1078992" y="2761488"/>
            <a:ext cx="274320" cy="38404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1" y="3182112"/>
            <a:ext cx="457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p50</a:t>
            </a:r>
          </a:p>
        </p:txBody>
      </p:sp>
      <p:sp>
        <p:nvSpPr>
          <p:cNvPr id="9" name="Rectangle 8"/>
          <p:cNvSpPr/>
          <p:nvPr/>
        </p:nvSpPr>
        <p:spPr>
          <a:xfrm>
            <a:off x="1554480" y="2322576"/>
            <a:ext cx="274320" cy="822960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39" y="3182112"/>
            <a:ext cx="457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p95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29967" y="2011680"/>
            <a:ext cx="274320" cy="1133856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38527" y="3182112"/>
            <a:ext cx="457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p99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18470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9AA0A6"/>
                </a:solidFill>
                <a:latin typeface="Calibri"/>
              </a:rPr>
              <a:t>a cauda é o que o cliente sente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98648" y="1536192"/>
            <a:ext cx="2075688" cy="1920240"/>
          </a:xfrm>
          <a:prstGeom prst="roundRect">
            <a:avLst>
              <a:gd name="adj" fmla="val 4285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8376" y="1636776"/>
            <a:ext cx="18562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27AE60"/>
                </a:solidFill>
                <a:latin typeface="Calibri"/>
              </a:rPr>
              <a:t>THROUGHPUT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3063240" y="2606039"/>
            <a:ext cx="201168" cy="137161"/>
          </a:xfrm>
          <a:prstGeom prst="line">
            <a:avLst/>
          </a:prstGeom>
          <a:ln w="2286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264408" y="2606039"/>
            <a:ext cx="201168" cy="64009"/>
          </a:xfrm>
          <a:prstGeom prst="line">
            <a:avLst/>
          </a:prstGeom>
          <a:ln w="2286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3465576" y="2450591"/>
            <a:ext cx="201168" cy="219457"/>
          </a:xfrm>
          <a:prstGeom prst="line">
            <a:avLst/>
          </a:prstGeom>
          <a:ln w="2286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3666744" y="2377439"/>
            <a:ext cx="201168" cy="73152"/>
          </a:xfrm>
          <a:prstGeom prst="line">
            <a:avLst/>
          </a:prstGeom>
          <a:ln w="2286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867912" y="2377439"/>
            <a:ext cx="201168" cy="109729"/>
          </a:xfrm>
          <a:prstGeom prst="line">
            <a:avLst/>
          </a:prstGeom>
          <a:ln w="2286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4069080" y="2267712"/>
            <a:ext cx="201168" cy="219456"/>
          </a:xfrm>
          <a:prstGeom prst="line">
            <a:avLst/>
          </a:prstGeom>
          <a:ln w="2286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270248" y="2267712"/>
            <a:ext cx="201168" cy="54864"/>
          </a:xfrm>
          <a:prstGeom prst="line">
            <a:avLst/>
          </a:prstGeom>
          <a:ln w="2286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017520" y="18470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9AA0A6"/>
                </a:solidFill>
                <a:latin typeface="Calibri"/>
              </a:rPr>
              <a:t>req/s por réplica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31089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Calibri"/>
              </a:rPr>
              <a:t>saturou? escale antes do p95 estourar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48072" y="1536192"/>
            <a:ext cx="2075688" cy="1920240"/>
          </a:xfrm>
          <a:prstGeom prst="roundRect">
            <a:avLst>
              <a:gd name="adj" fmla="val 4285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800" y="1636776"/>
            <a:ext cx="18562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9B51E0"/>
                </a:solidFill>
                <a:latin typeface="Calibri"/>
              </a:rPr>
              <a:t>ACURÁCIA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321808" y="2304288"/>
            <a:ext cx="228600" cy="36576"/>
          </a:xfrm>
          <a:prstGeom prst="line">
            <a:avLst/>
          </a:prstGeom>
          <a:ln w="2286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5550408" y="2331720"/>
            <a:ext cx="228600" cy="9144"/>
          </a:xfrm>
          <a:prstGeom prst="line">
            <a:avLst/>
          </a:prstGeom>
          <a:ln w="2286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79008" y="2331720"/>
            <a:ext cx="228600" cy="64008"/>
          </a:xfrm>
          <a:prstGeom prst="line">
            <a:avLst/>
          </a:prstGeom>
          <a:ln w="2286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07608" y="2395728"/>
            <a:ext cx="228600" cy="73152"/>
          </a:xfrm>
          <a:prstGeom prst="line">
            <a:avLst/>
          </a:prstGeom>
          <a:ln w="2286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236208" y="2468880"/>
            <a:ext cx="228600" cy="109728"/>
          </a:xfrm>
          <a:prstGeom prst="line">
            <a:avLst/>
          </a:prstGeom>
          <a:ln w="2286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464808" y="2578608"/>
            <a:ext cx="228600" cy="128016"/>
          </a:xfrm>
          <a:prstGeom prst="line">
            <a:avLst/>
          </a:prstGeom>
          <a:ln w="2286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266944" y="1847088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9AA0A6"/>
                </a:solidFill>
                <a:latin typeface="Calibri"/>
              </a:rPr>
              <a:t>só existe quando o rótulo chega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66944" y="3108960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Calibri"/>
              </a:rPr>
              <a:t>atraso de dias a semanas → proxies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3657600"/>
            <a:ext cx="3163824" cy="2029968"/>
          </a:xfrm>
          <a:prstGeom prst="roundRect">
            <a:avLst>
              <a:gd name="adj" fmla="val 4054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" y="3758184"/>
            <a:ext cx="294436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2994A"/>
                </a:solidFill>
                <a:latin typeface="Calibri"/>
              </a:rPr>
              <a:t>COVARIATE SHIFT — P(x) muda</a:t>
            </a:r>
          </a:p>
        </p:txBody>
      </p:sp>
      <p:cxnSp>
        <p:nvCxnSpPr>
          <p:cNvPr id="37" name="Connector 36"/>
          <p:cNvCxnSpPr/>
          <p:nvPr/>
        </p:nvCxnSpPr>
        <p:spPr>
          <a:xfrm flipV="1">
            <a:off x="868680" y="5331427"/>
            <a:ext cx="109727" cy="50299"/>
          </a:xfrm>
          <a:prstGeom prst="line">
            <a:avLst/>
          </a:prstGeom>
          <a:ln w="2286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978407" y="5249428"/>
            <a:ext cx="109729" cy="81999"/>
          </a:xfrm>
          <a:prstGeom prst="line">
            <a:avLst/>
          </a:prstGeom>
          <a:ln w="2286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088136" y="5131707"/>
            <a:ext cx="109728" cy="117721"/>
          </a:xfrm>
          <a:prstGeom prst="line">
            <a:avLst/>
          </a:prstGeom>
          <a:ln w="2286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197864" y="4984739"/>
            <a:ext cx="109728" cy="146968"/>
          </a:xfrm>
          <a:prstGeom prst="line">
            <a:avLst/>
          </a:prstGeom>
          <a:ln w="2286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307592" y="4828924"/>
            <a:ext cx="109727" cy="155815"/>
          </a:xfrm>
          <a:prstGeom prst="line">
            <a:avLst/>
          </a:prstGeom>
          <a:ln w="2286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417319" y="4695911"/>
            <a:ext cx="109729" cy="133013"/>
          </a:xfrm>
          <a:prstGeom prst="line">
            <a:avLst/>
          </a:prstGeom>
          <a:ln w="2286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527048" y="4618770"/>
            <a:ext cx="109728" cy="77141"/>
          </a:xfrm>
          <a:prstGeom prst="line">
            <a:avLst/>
          </a:prstGeom>
          <a:ln w="2286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636776" y="4618770"/>
            <a:ext cx="109728" cy="0"/>
          </a:xfrm>
          <a:prstGeom prst="line">
            <a:avLst/>
          </a:prstGeom>
          <a:ln w="2286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746504" y="4618770"/>
            <a:ext cx="109728" cy="77141"/>
          </a:xfrm>
          <a:prstGeom prst="line">
            <a:avLst/>
          </a:prstGeom>
          <a:ln w="2286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856232" y="4695911"/>
            <a:ext cx="109728" cy="133013"/>
          </a:xfrm>
          <a:prstGeom prst="line">
            <a:avLst/>
          </a:prstGeom>
          <a:ln w="2286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965960" y="4828924"/>
            <a:ext cx="109728" cy="155815"/>
          </a:xfrm>
          <a:prstGeom prst="line">
            <a:avLst/>
          </a:prstGeom>
          <a:ln w="2286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075688" y="4984739"/>
            <a:ext cx="109727" cy="146968"/>
          </a:xfrm>
          <a:prstGeom prst="line">
            <a:avLst/>
          </a:prstGeom>
          <a:ln w="2286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2185415" y="5131707"/>
            <a:ext cx="109729" cy="117721"/>
          </a:xfrm>
          <a:prstGeom prst="line">
            <a:avLst/>
          </a:prstGeom>
          <a:ln w="2286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2295144" y="5249428"/>
            <a:ext cx="109728" cy="81999"/>
          </a:xfrm>
          <a:prstGeom prst="line">
            <a:avLst/>
          </a:prstGeom>
          <a:ln w="2286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2404872" y="5331427"/>
            <a:ext cx="109728" cy="50299"/>
          </a:xfrm>
          <a:prstGeom prst="line">
            <a:avLst/>
          </a:prstGeom>
          <a:ln w="2286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2514600" y="5381726"/>
            <a:ext cx="109728" cy="27379"/>
          </a:xfrm>
          <a:prstGeom prst="line">
            <a:avLst/>
          </a:prstGeom>
          <a:ln w="2286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2624328" y="5409105"/>
            <a:ext cx="109728" cy="13288"/>
          </a:xfrm>
          <a:prstGeom prst="line">
            <a:avLst/>
          </a:prstGeom>
          <a:ln w="2286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2734056" y="5422393"/>
            <a:ext cx="109728" cy="5770"/>
          </a:xfrm>
          <a:prstGeom prst="line">
            <a:avLst/>
          </a:prstGeom>
          <a:ln w="2286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2843784" y="5428163"/>
            <a:ext cx="109727" cy="2246"/>
          </a:xfrm>
          <a:prstGeom prst="line">
            <a:avLst/>
          </a:prstGeom>
          <a:ln w="2286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2953511" y="5430409"/>
            <a:ext cx="109728" cy="786"/>
          </a:xfrm>
          <a:prstGeom prst="line">
            <a:avLst/>
          </a:prstGeom>
          <a:ln w="2286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3063239" y="5431195"/>
            <a:ext cx="109729" cy="247"/>
          </a:xfrm>
          <a:prstGeom prst="line">
            <a:avLst/>
          </a:prstGeom>
          <a:ln w="2286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3172968" y="5431442"/>
            <a:ext cx="109728" cy="70"/>
          </a:xfrm>
          <a:prstGeom prst="line">
            <a:avLst/>
          </a:prstGeom>
          <a:ln w="2286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3282696" y="5431512"/>
            <a:ext cx="109728" cy="18"/>
          </a:xfrm>
          <a:prstGeom prst="line">
            <a:avLst/>
          </a:prstGeom>
          <a:ln w="2286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3392424" y="5431530"/>
            <a:ext cx="109728" cy="4"/>
          </a:xfrm>
          <a:prstGeom prst="line">
            <a:avLst/>
          </a:prstGeom>
          <a:ln w="2286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3502152" y="5431534"/>
            <a:ext cx="109728" cy="1"/>
          </a:xfrm>
          <a:prstGeom prst="line">
            <a:avLst/>
          </a:prstGeom>
          <a:ln w="2286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868680" y="5431528"/>
            <a:ext cx="109727" cy="6"/>
          </a:xfrm>
          <a:prstGeom prst="line">
            <a:avLst/>
          </a:prstGeom>
          <a:ln w="2286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978407" y="5431503"/>
            <a:ext cx="109729" cy="25"/>
          </a:xfrm>
          <a:prstGeom prst="line">
            <a:avLst/>
          </a:prstGeom>
          <a:ln w="2286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1088136" y="5431406"/>
            <a:ext cx="109728" cy="97"/>
          </a:xfrm>
          <a:prstGeom prst="line">
            <a:avLst/>
          </a:prstGeom>
          <a:ln w="2286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1197864" y="5431072"/>
            <a:ext cx="109728" cy="334"/>
          </a:xfrm>
          <a:prstGeom prst="line">
            <a:avLst/>
          </a:prstGeom>
          <a:ln w="2286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1307592" y="5430040"/>
            <a:ext cx="109727" cy="1032"/>
          </a:xfrm>
          <a:prstGeom prst="line">
            <a:avLst/>
          </a:prstGeom>
          <a:ln w="2286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1417319" y="5427167"/>
            <a:ext cx="109729" cy="2873"/>
          </a:xfrm>
          <a:prstGeom prst="line">
            <a:avLst/>
          </a:prstGeom>
          <a:ln w="2286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1527048" y="5419986"/>
            <a:ext cx="109728" cy="7181"/>
          </a:xfrm>
          <a:prstGeom prst="line">
            <a:avLst/>
          </a:prstGeom>
          <a:ln w="2286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636776" y="5403897"/>
            <a:ext cx="109728" cy="16089"/>
          </a:xfrm>
          <a:prstGeom prst="line">
            <a:avLst/>
          </a:prstGeom>
          <a:ln w="2286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1746504" y="5371672"/>
            <a:ext cx="109728" cy="32225"/>
          </a:xfrm>
          <a:prstGeom prst="line">
            <a:avLst/>
          </a:prstGeom>
          <a:ln w="2286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856232" y="5314182"/>
            <a:ext cx="109728" cy="57490"/>
          </a:xfrm>
          <a:prstGeom prst="line">
            <a:avLst/>
          </a:prstGeom>
          <a:ln w="2286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1965960" y="5223314"/>
            <a:ext cx="109728" cy="90868"/>
          </a:xfrm>
          <a:prstGeom prst="line">
            <a:avLst/>
          </a:prstGeom>
          <a:ln w="2286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2075688" y="5097153"/>
            <a:ext cx="109727" cy="126161"/>
          </a:xfrm>
          <a:prstGeom prst="line">
            <a:avLst/>
          </a:prstGeom>
          <a:ln w="2286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2185415" y="4945518"/>
            <a:ext cx="109729" cy="151635"/>
          </a:xfrm>
          <a:prstGeom prst="line">
            <a:avLst/>
          </a:prstGeom>
          <a:ln w="2286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2295144" y="4792165"/>
            <a:ext cx="109728" cy="153353"/>
          </a:xfrm>
          <a:prstGeom prst="line">
            <a:avLst/>
          </a:prstGeom>
          <a:ln w="2286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2404872" y="4670257"/>
            <a:ext cx="109728" cy="121908"/>
          </a:xfrm>
          <a:prstGeom prst="line">
            <a:avLst/>
          </a:prstGeom>
          <a:ln w="2286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2514600" y="4611136"/>
            <a:ext cx="109728" cy="59121"/>
          </a:xfrm>
          <a:prstGeom prst="line">
            <a:avLst/>
          </a:prstGeom>
          <a:ln w="2286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624328" y="4611136"/>
            <a:ext cx="109728" cy="20200"/>
          </a:xfrm>
          <a:prstGeom prst="line">
            <a:avLst/>
          </a:prstGeom>
          <a:ln w="2286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734056" y="4631336"/>
            <a:ext cx="109728" cy="93782"/>
          </a:xfrm>
          <a:prstGeom prst="line">
            <a:avLst/>
          </a:prstGeom>
          <a:ln w="2286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2843784" y="4725118"/>
            <a:ext cx="109727" cy="141980"/>
          </a:xfrm>
          <a:prstGeom prst="line">
            <a:avLst/>
          </a:prstGeom>
          <a:ln w="2286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953511" y="4867098"/>
            <a:ext cx="109728" cy="156248"/>
          </a:xfrm>
          <a:prstGeom prst="line">
            <a:avLst/>
          </a:prstGeom>
          <a:ln w="2286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3063239" y="5023346"/>
            <a:ext cx="109729" cy="141014"/>
          </a:xfrm>
          <a:prstGeom prst="line">
            <a:avLst/>
          </a:prstGeom>
          <a:ln w="2286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3172968" y="5164360"/>
            <a:ext cx="109728" cy="108896"/>
          </a:xfrm>
          <a:prstGeom prst="line">
            <a:avLst/>
          </a:prstGeom>
          <a:ln w="2286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3282696" y="5273256"/>
            <a:ext cx="109728" cy="73412"/>
          </a:xfrm>
          <a:prstGeom prst="line">
            <a:avLst/>
          </a:prstGeom>
          <a:ln w="2286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3392424" y="5346668"/>
            <a:ext cx="109728" cy="43681"/>
          </a:xfrm>
          <a:prstGeom prst="line">
            <a:avLst/>
          </a:prstGeom>
          <a:ln w="2286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3502152" y="5390349"/>
            <a:ext cx="109728" cy="23096"/>
          </a:xfrm>
          <a:prstGeom prst="line">
            <a:avLst/>
          </a:prstGeom>
          <a:ln w="2286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41248" y="5431536"/>
            <a:ext cx="2816352" cy="0"/>
          </a:xfrm>
          <a:prstGeom prst="line">
            <a:avLst/>
          </a:prstGeom>
          <a:ln w="1270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868680" y="4059936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D9CDB"/>
                </a:solidFill>
                <a:latin typeface="Calibri"/>
              </a:rPr>
              <a:t>treino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395728" y="4059936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2994A"/>
                </a:solidFill>
                <a:latin typeface="Calibri"/>
              </a:rPr>
              <a:t>produção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86384" y="5468112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9AA0A6"/>
                </a:solidFill>
                <a:latin typeface="Calibri"/>
              </a:rPr>
              <a:t>as features mudaram; a regra ainda vale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4059936" y="3657600"/>
            <a:ext cx="3163824" cy="2029968"/>
          </a:xfrm>
          <a:prstGeom prst="roundRect">
            <a:avLst>
              <a:gd name="adj" fmla="val 4054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169664" y="3758184"/>
            <a:ext cx="294436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ED145B"/>
                </a:solidFill>
                <a:latin typeface="Calibri"/>
              </a:rPr>
              <a:t>CONCEPT DRIFT — P(y|x) muda</a:t>
            </a:r>
          </a:p>
        </p:txBody>
      </p:sp>
      <p:sp>
        <p:nvSpPr>
          <p:cNvPr id="93" name="Oval 92"/>
          <p:cNvSpPr/>
          <p:nvPr/>
        </p:nvSpPr>
        <p:spPr>
          <a:xfrm>
            <a:off x="4411980" y="4594859"/>
            <a:ext cx="137160" cy="137160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4" name="Oval 93"/>
          <p:cNvSpPr/>
          <p:nvPr/>
        </p:nvSpPr>
        <p:spPr>
          <a:xfrm>
            <a:off x="4686300" y="4302252"/>
            <a:ext cx="137160" cy="137160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5" name="Oval 94"/>
          <p:cNvSpPr/>
          <p:nvPr/>
        </p:nvSpPr>
        <p:spPr>
          <a:xfrm>
            <a:off x="4549140" y="4887468"/>
            <a:ext cx="137160" cy="137160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6" name="Oval 95"/>
          <p:cNvSpPr/>
          <p:nvPr/>
        </p:nvSpPr>
        <p:spPr>
          <a:xfrm>
            <a:off x="5006340" y="4549140"/>
            <a:ext cx="137160" cy="137160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7" name="Oval 96"/>
          <p:cNvSpPr/>
          <p:nvPr/>
        </p:nvSpPr>
        <p:spPr>
          <a:xfrm>
            <a:off x="5737859" y="4905756"/>
            <a:ext cx="137160" cy="137160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8" name="Oval 97"/>
          <p:cNvSpPr/>
          <p:nvPr/>
        </p:nvSpPr>
        <p:spPr>
          <a:xfrm>
            <a:off x="6103620" y="4594859"/>
            <a:ext cx="137160" cy="137160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9" name="Oval 98"/>
          <p:cNvSpPr/>
          <p:nvPr/>
        </p:nvSpPr>
        <p:spPr>
          <a:xfrm>
            <a:off x="5875020" y="4357116"/>
            <a:ext cx="137160" cy="137160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0" name="Oval 99"/>
          <p:cNvSpPr/>
          <p:nvPr/>
        </p:nvSpPr>
        <p:spPr>
          <a:xfrm>
            <a:off x="6377940" y="4869180"/>
            <a:ext cx="137160" cy="137160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1" name="Oval 100"/>
          <p:cNvSpPr/>
          <p:nvPr/>
        </p:nvSpPr>
        <p:spPr>
          <a:xfrm>
            <a:off x="5463540" y="5070348"/>
            <a:ext cx="137160" cy="137160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2" name="Oval 101"/>
          <p:cNvSpPr/>
          <p:nvPr/>
        </p:nvSpPr>
        <p:spPr>
          <a:xfrm>
            <a:off x="5509259" y="4247388"/>
            <a:ext cx="137160" cy="137160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5394960" y="4133087"/>
            <a:ext cx="0" cy="1170433"/>
          </a:xfrm>
          <a:prstGeom prst="line">
            <a:avLst/>
          </a:prstGeom>
          <a:ln w="2032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H="1">
            <a:off x="5715000" y="4133087"/>
            <a:ext cx="274320" cy="1170433"/>
          </a:xfrm>
          <a:prstGeom prst="line">
            <a:avLst/>
          </a:prstGeom>
          <a:ln w="20320">
            <a:solidFill>
              <a:srgbClr val="ED145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4480560" y="3950208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7AE60"/>
                </a:solidFill>
                <a:latin typeface="Calibri"/>
              </a:rPr>
              <a:t>fronteira antiga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035040" y="3950208"/>
            <a:ext cx="1143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ED145B"/>
                </a:solidFill>
                <a:latin typeface="Calibri"/>
              </a:rPr>
              <a:t>nova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261104" y="5468112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9AA0A6"/>
                </a:solidFill>
                <a:latin typeface="Calibri"/>
              </a:rPr>
              <a:t>a mesma feature passou a significar outra coisa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04088" y="5815584"/>
            <a:ext cx="647395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AA0A6"/>
                </a:solidFill>
                <a:latin typeface="Calibri"/>
              </a:rPr>
              <a:t>monitorar é comparar produção com o treino — todo dia, não na reunião trimestral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96596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D145B"/>
                </a:solidFill>
                <a:latin typeface="Calibri"/>
              </a:rPr>
              <a:t>PARTE 3  ·  20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395728"/>
            <a:ext cx="9692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Calibri"/>
              </a:rPr>
              <a:t>Demonstração em código: drift, notebook e fronteira</a:t>
            </a:r>
          </a:p>
        </p:txBody>
      </p:sp>
      <p:sp>
        <p:nvSpPr>
          <p:cNvPr id="5" name="Oval 4"/>
          <p:cNvSpPr/>
          <p:nvPr/>
        </p:nvSpPr>
        <p:spPr>
          <a:xfrm>
            <a:off x="1097280" y="3840480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794760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Detecção de drift com KS e PSI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4261104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215384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O notebook da aula: tracking, ONNX, quantização e drift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4681728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636008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Multimodalidade, Mamba e modelos de fronteira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ounded Rectangle 5"/>
          <p:cNvSpPr/>
          <p:nvPr/>
        </p:nvSpPr>
        <p:spPr>
          <a:xfrm>
            <a:off x="2597728" y="1463040"/>
            <a:ext cx="2750681" cy="896943"/>
          </a:xfrm>
          <a:prstGeom prst="roundRect">
            <a:avLst/>
          </a:prstGeom>
          <a:solidFill>
            <a:srgbClr val="17171F"/>
          </a:solidFill>
          <a:ln w="1524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Detecção de drift:</a:t>
            </a:r>
            <a:r>
              <a:rPr sz="2700" b="1">
                <a:solidFill>
                  <a:srgbClr val="ED145B"/>
                </a:solidFill>
                <a:latin typeface="Calibri"/>
              </a:rPr>
              <a:t> KS, PSI e limiar de ação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KS test (Kolmogorov-Smirnov) para features contínuas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PSI (Population Stability Index): PSI = Σ (p - q)log(p/q)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Alertas quando PSI &gt; 0.25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Ferramentas: Evidently, WhyLabs</a:t>
            </a:r>
          </a:p>
        </p:txBody>
      </p:sp>
      <p:pic>
        <p:nvPicPr>
          <p:cNvPr id="5" name="Picture 4" descr="04ca04f7d65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896" y="1664208"/>
            <a:ext cx="2348345" cy="49460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58368" y="2432304"/>
            <a:ext cx="3657600" cy="1920240"/>
          </a:xfrm>
          <a:prstGeom prst="roundRect">
            <a:avLst>
              <a:gd name="adj" fmla="val 4285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532888"/>
            <a:ext cx="343814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2D9CDB"/>
                </a:solidFill>
                <a:latin typeface="Calibri"/>
              </a:rPr>
              <a:t>TREINO (p) × PRODUÇÃO (q)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868680" y="4022178"/>
            <a:ext cx="128015" cy="41389"/>
          </a:xfrm>
          <a:prstGeom prst="line">
            <a:avLst/>
          </a:prstGeom>
          <a:ln w="2286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996695" y="3948125"/>
            <a:ext cx="128017" cy="74053"/>
          </a:xfrm>
          <a:prstGeom prst="line">
            <a:avLst/>
          </a:prstGeom>
          <a:ln w="2286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124712" y="3834453"/>
            <a:ext cx="128016" cy="113672"/>
          </a:xfrm>
          <a:prstGeom prst="line">
            <a:avLst/>
          </a:prstGeom>
          <a:ln w="2286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252728" y="3687061"/>
            <a:ext cx="128016" cy="147392"/>
          </a:xfrm>
          <a:prstGeom prst="line">
            <a:avLst/>
          </a:prstGeom>
          <a:ln w="2286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80744" y="3530527"/>
            <a:ext cx="128016" cy="156534"/>
          </a:xfrm>
          <a:prstGeom prst="line">
            <a:avLst/>
          </a:prstGeom>
          <a:ln w="2286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08760" y="3404351"/>
            <a:ext cx="128016" cy="126176"/>
          </a:xfrm>
          <a:prstGeom prst="line">
            <a:avLst/>
          </a:prstGeom>
          <a:ln w="2286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36776" y="3347640"/>
            <a:ext cx="128016" cy="56711"/>
          </a:xfrm>
          <a:prstGeom prst="line">
            <a:avLst/>
          </a:prstGeom>
          <a:ln w="2286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764792" y="3347640"/>
            <a:ext cx="128016" cy="32057"/>
          </a:xfrm>
          <a:prstGeom prst="line">
            <a:avLst/>
          </a:prstGeom>
          <a:ln w="2286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892808" y="3379697"/>
            <a:ext cx="128016" cy="109791"/>
          </a:xfrm>
          <a:prstGeom prst="line">
            <a:avLst/>
          </a:prstGeom>
          <a:ln w="2286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020824" y="3489488"/>
            <a:ext cx="128015" cy="152242"/>
          </a:xfrm>
          <a:prstGeom prst="line">
            <a:avLst/>
          </a:prstGeom>
          <a:ln w="2286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148839" y="3641730"/>
            <a:ext cx="128017" cy="153343"/>
          </a:xfrm>
          <a:prstGeom prst="line">
            <a:avLst/>
          </a:prstGeom>
          <a:ln w="2286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276856" y="3795073"/>
            <a:ext cx="128016" cy="124674"/>
          </a:xfrm>
          <a:prstGeom prst="line">
            <a:avLst/>
          </a:prstGeom>
          <a:ln w="2286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404872" y="3919747"/>
            <a:ext cx="128016" cy="85060"/>
          </a:xfrm>
          <a:prstGeom prst="line">
            <a:avLst/>
          </a:prstGeom>
          <a:ln w="2286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532888" y="4004807"/>
            <a:ext cx="128016" cy="49614"/>
          </a:xfrm>
          <a:prstGeom prst="line">
            <a:avLst/>
          </a:prstGeom>
          <a:ln w="2286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660904" y="4054421"/>
            <a:ext cx="128016" cy="24999"/>
          </a:xfrm>
          <a:prstGeom prst="line">
            <a:avLst/>
          </a:prstGeom>
          <a:ln w="2286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788920" y="4079420"/>
            <a:ext cx="128016" cy="10952"/>
          </a:xfrm>
          <a:prstGeom prst="line">
            <a:avLst/>
          </a:prstGeom>
          <a:ln w="2286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916936" y="4090372"/>
            <a:ext cx="128016" cy="4188"/>
          </a:xfrm>
          <a:prstGeom prst="line">
            <a:avLst/>
          </a:prstGeom>
          <a:ln w="2286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044952" y="4094560"/>
            <a:ext cx="128016" cy="1403"/>
          </a:xfrm>
          <a:prstGeom prst="line">
            <a:avLst/>
          </a:prstGeom>
          <a:ln w="2286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172968" y="4095963"/>
            <a:ext cx="128016" cy="412"/>
          </a:xfrm>
          <a:prstGeom prst="line">
            <a:avLst/>
          </a:prstGeom>
          <a:ln w="2286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300984" y="4096375"/>
            <a:ext cx="128016" cy="106"/>
          </a:xfrm>
          <a:prstGeom prst="line">
            <a:avLst/>
          </a:prstGeom>
          <a:ln w="2286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429000" y="4096481"/>
            <a:ext cx="128015" cy="25"/>
          </a:xfrm>
          <a:prstGeom prst="line">
            <a:avLst/>
          </a:prstGeom>
          <a:ln w="2286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557015" y="4096506"/>
            <a:ext cx="128017" cy="4"/>
          </a:xfrm>
          <a:prstGeom prst="line">
            <a:avLst/>
          </a:prstGeom>
          <a:ln w="2286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685032" y="4096510"/>
            <a:ext cx="128016" cy="1"/>
          </a:xfrm>
          <a:prstGeom prst="line">
            <a:avLst/>
          </a:prstGeom>
          <a:ln w="2286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813048" y="4096511"/>
            <a:ext cx="128015" cy="0"/>
          </a:xfrm>
          <a:prstGeom prst="line">
            <a:avLst/>
          </a:prstGeom>
          <a:ln w="2286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941063" y="4096511"/>
            <a:ext cx="128017" cy="0"/>
          </a:xfrm>
          <a:prstGeom prst="line">
            <a:avLst/>
          </a:prstGeom>
          <a:ln w="2286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868680" y="4096426"/>
            <a:ext cx="128015" cy="63"/>
          </a:xfrm>
          <a:prstGeom prst="line">
            <a:avLst/>
          </a:prstGeom>
          <a:ln w="2286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996695" y="4096212"/>
            <a:ext cx="128017" cy="214"/>
          </a:xfrm>
          <a:prstGeom prst="line">
            <a:avLst/>
          </a:prstGeom>
          <a:ln w="2286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124712" y="4095560"/>
            <a:ext cx="128016" cy="652"/>
          </a:xfrm>
          <a:prstGeom prst="line">
            <a:avLst/>
          </a:prstGeom>
          <a:ln w="2286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252728" y="4093750"/>
            <a:ext cx="128016" cy="1810"/>
          </a:xfrm>
          <a:prstGeom prst="line">
            <a:avLst/>
          </a:prstGeom>
          <a:ln w="2286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380744" y="4089207"/>
            <a:ext cx="128016" cy="4543"/>
          </a:xfrm>
          <a:prstGeom prst="line">
            <a:avLst/>
          </a:prstGeom>
          <a:ln w="2286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508760" y="4078903"/>
            <a:ext cx="128016" cy="10304"/>
          </a:xfrm>
          <a:prstGeom prst="line">
            <a:avLst/>
          </a:prstGeom>
          <a:ln w="2286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636776" y="4057816"/>
            <a:ext cx="128016" cy="21087"/>
          </a:xfrm>
          <a:prstGeom prst="line">
            <a:avLst/>
          </a:prstGeom>
          <a:ln w="2286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764792" y="4018999"/>
            <a:ext cx="128016" cy="38817"/>
          </a:xfrm>
          <a:prstGeom prst="line">
            <a:avLst/>
          </a:prstGeom>
          <a:ln w="2286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892808" y="3954980"/>
            <a:ext cx="128016" cy="64019"/>
          </a:xfrm>
          <a:prstGeom prst="line">
            <a:avLst/>
          </a:prstGeom>
          <a:ln w="2286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2020824" y="3860950"/>
            <a:ext cx="128015" cy="94030"/>
          </a:xfrm>
          <a:prstGeom prst="line">
            <a:avLst/>
          </a:prstGeom>
          <a:ln w="2286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2148839" y="3739133"/>
            <a:ext cx="128017" cy="121817"/>
          </a:xfrm>
          <a:prstGeom prst="line">
            <a:avLst/>
          </a:prstGeom>
          <a:ln w="2286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2276856" y="3602285"/>
            <a:ext cx="128016" cy="136848"/>
          </a:xfrm>
          <a:prstGeom prst="line">
            <a:avLst/>
          </a:prstGeom>
          <a:ln w="2286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2404872" y="3473502"/>
            <a:ext cx="128016" cy="128783"/>
          </a:xfrm>
          <a:prstGeom prst="line">
            <a:avLst/>
          </a:prstGeom>
          <a:ln w="2286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2532888" y="3380638"/>
            <a:ext cx="128016" cy="92864"/>
          </a:xfrm>
          <a:prstGeom prst="line">
            <a:avLst/>
          </a:prstGeom>
          <a:ln w="2286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2660904" y="3346704"/>
            <a:ext cx="128016" cy="33934"/>
          </a:xfrm>
          <a:prstGeom prst="line">
            <a:avLst/>
          </a:prstGeom>
          <a:ln w="2286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2788920" y="3346704"/>
            <a:ext cx="128016" cy="33934"/>
          </a:xfrm>
          <a:prstGeom prst="line">
            <a:avLst/>
          </a:prstGeom>
          <a:ln w="2286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2916936" y="3380638"/>
            <a:ext cx="128016" cy="92864"/>
          </a:xfrm>
          <a:prstGeom prst="line">
            <a:avLst/>
          </a:prstGeom>
          <a:ln w="2286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044952" y="3473502"/>
            <a:ext cx="128016" cy="128783"/>
          </a:xfrm>
          <a:prstGeom prst="line">
            <a:avLst/>
          </a:prstGeom>
          <a:ln w="2286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172968" y="3602285"/>
            <a:ext cx="128016" cy="136848"/>
          </a:xfrm>
          <a:prstGeom prst="line">
            <a:avLst/>
          </a:prstGeom>
          <a:ln w="2286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300984" y="3739133"/>
            <a:ext cx="128016" cy="121817"/>
          </a:xfrm>
          <a:prstGeom prst="line">
            <a:avLst/>
          </a:prstGeom>
          <a:ln w="2286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3429000" y="3860950"/>
            <a:ext cx="128015" cy="94030"/>
          </a:xfrm>
          <a:prstGeom prst="line">
            <a:avLst/>
          </a:prstGeom>
          <a:ln w="2286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3557015" y="3954980"/>
            <a:ext cx="128017" cy="64019"/>
          </a:xfrm>
          <a:prstGeom prst="line">
            <a:avLst/>
          </a:prstGeom>
          <a:ln w="2286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3685032" y="4018999"/>
            <a:ext cx="128016" cy="38817"/>
          </a:xfrm>
          <a:prstGeom prst="line">
            <a:avLst/>
          </a:prstGeom>
          <a:ln w="2286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3813048" y="4057816"/>
            <a:ext cx="128015" cy="21087"/>
          </a:xfrm>
          <a:prstGeom prst="line">
            <a:avLst/>
          </a:prstGeom>
          <a:ln w="2286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3941063" y="4078903"/>
            <a:ext cx="128017" cy="10304"/>
          </a:xfrm>
          <a:prstGeom prst="line">
            <a:avLst/>
          </a:prstGeom>
          <a:ln w="2286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841248" y="4096512"/>
            <a:ext cx="3291839" cy="0"/>
          </a:xfrm>
          <a:prstGeom prst="line">
            <a:avLst/>
          </a:prstGeom>
          <a:ln w="1270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1188720" y="2779776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D9CDB"/>
                </a:solidFill>
                <a:latin typeface="Calibri"/>
              </a:rPr>
              <a:t>p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017520" y="2779776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D145B"/>
                </a:solidFill>
                <a:latin typeface="Calibri"/>
              </a:rPr>
              <a:t>q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86384" y="4133087"/>
            <a:ext cx="3383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9AA0A6"/>
                </a:solidFill>
                <a:latin typeface="Calibri"/>
              </a:rPr>
              <a:t>KS mede a maior diferença acumulada; PSI soma o desvio por faixa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517136" y="2432304"/>
            <a:ext cx="2706624" cy="1920240"/>
          </a:xfrm>
          <a:prstGeom prst="roundRect">
            <a:avLst>
              <a:gd name="adj" fmla="val 4285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626864" y="2532888"/>
            <a:ext cx="248716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ED145B"/>
                </a:solidFill>
                <a:latin typeface="Calibri"/>
              </a:rPr>
              <a:t>LIMIARES DE PSI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681728" y="2798064"/>
            <a:ext cx="841248" cy="365760"/>
          </a:xfrm>
          <a:prstGeom prst="roundRect">
            <a:avLst>
              <a:gd name="adj" fmla="val 1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&lt; 0,10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32704" y="2871216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estável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681728" y="3273552"/>
            <a:ext cx="841248" cy="365760"/>
          </a:xfrm>
          <a:prstGeom prst="roundRect">
            <a:avLst>
              <a:gd name="adj" fmla="val 16000"/>
            </a:avLst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0,10 – 0,25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632704" y="3346704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atenção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681728" y="3749039"/>
            <a:ext cx="841248" cy="365760"/>
          </a:xfrm>
          <a:prstGeom prst="roundRect">
            <a:avLst>
              <a:gd name="adj" fmla="val 16000"/>
            </a:avLst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&gt; 0,25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632704" y="3822191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alerta: agir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663440" y="4096512"/>
            <a:ext cx="24688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9AA0A6"/>
                </a:solidFill>
                <a:latin typeface="Calibri"/>
              </a:rPr>
              <a:t>limiar é acordo de time, não lei da natureza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58368" y="4572000"/>
            <a:ext cx="1394460" cy="676656"/>
          </a:xfrm>
          <a:prstGeom prst="roundRect">
            <a:avLst>
              <a:gd name="adj" fmla="val 12162"/>
            </a:avLst>
          </a:prstGeom>
          <a:solidFill>
            <a:srgbClr val="17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PSI &gt; 0,25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2080260" y="4910328"/>
            <a:ext cx="274320" cy="0"/>
          </a:xfrm>
          <a:prstGeom prst="line">
            <a:avLst/>
          </a:prstGeom>
          <a:ln w="25400">
            <a:solidFill>
              <a:srgbClr val="ED145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/>
          <p:cNvSpPr/>
          <p:nvPr/>
        </p:nvSpPr>
        <p:spPr>
          <a:xfrm>
            <a:off x="2382012" y="4572000"/>
            <a:ext cx="1394460" cy="676656"/>
          </a:xfrm>
          <a:prstGeom prst="roundRect">
            <a:avLst>
              <a:gd name="adj" fmla="val 12162"/>
            </a:avLst>
          </a:prstGeom>
          <a:solidFill>
            <a:srgbClr val="17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alerta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3803904" y="4910328"/>
            <a:ext cx="274320" cy="0"/>
          </a:xfrm>
          <a:prstGeom prst="line">
            <a:avLst/>
          </a:prstGeom>
          <a:ln w="25400">
            <a:solidFill>
              <a:srgbClr val="ED145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ounded Rectangle 75"/>
          <p:cNvSpPr/>
          <p:nvPr/>
        </p:nvSpPr>
        <p:spPr>
          <a:xfrm>
            <a:off x="4105656" y="4572000"/>
            <a:ext cx="1394460" cy="676656"/>
          </a:xfrm>
          <a:prstGeom prst="roundRect">
            <a:avLst>
              <a:gd name="adj" fmla="val 12162"/>
            </a:avLst>
          </a:prstGeom>
          <a:solidFill>
            <a:srgbClr val="17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investigar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o dado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5527548" y="4910328"/>
            <a:ext cx="274320" cy="0"/>
          </a:xfrm>
          <a:prstGeom prst="line">
            <a:avLst/>
          </a:prstGeom>
          <a:ln w="25400">
            <a:solidFill>
              <a:srgbClr val="ED145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ounded Rectangle 77"/>
          <p:cNvSpPr/>
          <p:nvPr/>
        </p:nvSpPr>
        <p:spPr>
          <a:xfrm>
            <a:off x="5829300" y="4572000"/>
            <a:ext cx="1394460" cy="676656"/>
          </a:xfrm>
          <a:prstGeom prst="roundRect">
            <a:avLst>
              <a:gd name="adj" fmla="val 12162"/>
            </a:avLst>
          </a:prstGeom>
          <a:solidFill>
            <a:srgbClr val="17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retreinar ou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rollback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58368" y="5413248"/>
            <a:ext cx="1504188" cy="457200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Evidently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2345436" y="5413248"/>
            <a:ext cx="1504188" cy="457200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WhyLabs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032504" y="5413248"/>
            <a:ext cx="1504188" cy="457200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KS para contínuas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5719572" y="5413248"/>
            <a:ext cx="1504188" cy="457200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PSI para faixas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04088" y="5998464"/>
            <a:ext cx="647395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AA0A6"/>
                </a:solidFill>
                <a:latin typeface="Calibri"/>
              </a:rPr>
              <a:t>drift detectado não é falha do modelo: é aviso de que o mundo mudou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Notebook-first:</a:t>
            </a:r>
            <a:r>
              <a:rPr sz="2700" b="1">
                <a:solidFill>
                  <a:srgbClr val="ED145B"/>
                </a:solidFill>
                <a:latin typeface="Calibri"/>
              </a:rPr>
              <a:t> o experimento operacional da aula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Notebook da aula: handson/hands-on.ipynb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Pergunta experimental: depois de escolher um modelo, até que ponto export, quantização e drift alteram o comportamento observado offline?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Hipótese: dois candidatos trocam qualidade por custo; a quantização int8 reduz tamanho e latência com perda pequena; o drift aciona parte dos guardrails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Baseline: melhor de mlp_small e mlp_large em FP32, antes de qualquer compressão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Métricas centrais: acurácia, log-loss, tamanho do artefato, latência p50/p95, PSI e queda de acurácia sob drift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Entrega: ledger LocalExperimentTracker, operational_df (3 variantes), monitor_df (PSI) e gate_df (4 critérios)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72768"/>
            <a:ext cx="6565392" cy="713232"/>
          </a:xfrm>
          <a:prstGeom prst="roundRect">
            <a:avLst>
              <a:gd name="adj" fmla="val 11538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PERGUNTA: depois de escolher um modelo, até que ponto export, quantização e drift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alteram o comportamento observado offline?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395728"/>
            <a:ext cx="6565392" cy="713232"/>
          </a:xfrm>
          <a:prstGeom prst="roundRect">
            <a:avLst>
              <a:gd name="adj" fmla="val 11538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HIPÓTESE: dois candidatos trocam qualidade por custo; a quantização dinâmica reduz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tamanho e latência com perda pequena; o conjunto com drift aciona parte dos guardrails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310128"/>
            <a:ext cx="1108252" cy="786384"/>
          </a:xfrm>
          <a:prstGeom prst="roundRect">
            <a:avLst>
              <a:gd name="adj" fmla="val 10465"/>
            </a:avLst>
          </a:prstGeom>
          <a:solidFill>
            <a:srgbClr val="17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baseline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FP32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94052" y="3703320"/>
            <a:ext cx="201168" cy="0"/>
          </a:xfrm>
          <a:prstGeom prst="line">
            <a:avLst/>
          </a:prstGeom>
          <a:ln w="25400">
            <a:solidFill>
              <a:srgbClr val="ED145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022652" y="3310128"/>
            <a:ext cx="1108252" cy="786384"/>
          </a:xfrm>
          <a:prstGeom prst="roundRect">
            <a:avLst>
              <a:gd name="adj" fmla="val 10465"/>
            </a:avLst>
          </a:prstGeom>
          <a:solidFill>
            <a:srgbClr val="17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export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ONNX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58337" y="3703320"/>
            <a:ext cx="201168" cy="0"/>
          </a:xfrm>
          <a:prstGeom prst="line">
            <a:avLst/>
          </a:prstGeom>
          <a:ln w="25400">
            <a:solidFill>
              <a:srgbClr val="ED145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386937" y="3310128"/>
            <a:ext cx="1108252" cy="786384"/>
          </a:xfrm>
          <a:prstGeom prst="roundRect">
            <a:avLst>
              <a:gd name="adj" fmla="val 10465"/>
            </a:avLst>
          </a:prstGeom>
          <a:solidFill>
            <a:srgbClr val="17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quantização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dinâmica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22622" y="3703320"/>
            <a:ext cx="201168" cy="0"/>
          </a:xfrm>
          <a:prstGeom prst="line">
            <a:avLst/>
          </a:prstGeom>
          <a:ln w="25400">
            <a:solidFill>
              <a:srgbClr val="ED145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751222" y="3310128"/>
            <a:ext cx="1108252" cy="786384"/>
          </a:xfrm>
          <a:prstGeom prst="roundRect">
            <a:avLst>
              <a:gd name="adj" fmla="val 10465"/>
            </a:avLst>
          </a:prstGeom>
          <a:solidFill>
            <a:srgbClr val="17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avaliação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nominal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886907" y="3703320"/>
            <a:ext cx="201168" cy="0"/>
          </a:xfrm>
          <a:prstGeom prst="line">
            <a:avLst/>
          </a:prstGeom>
          <a:ln w="25400">
            <a:solidFill>
              <a:srgbClr val="ED145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115507" y="3310128"/>
            <a:ext cx="1108252" cy="786384"/>
          </a:xfrm>
          <a:prstGeom prst="roundRect">
            <a:avLst>
              <a:gd name="adj" fmla="val 10465"/>
            </a:avLst>
          </a:prstGeom>
          <a:solidFill>
            <a:srgbClr val="17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avaliação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com drift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297680"/>
            <a:ext cx="6035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A0A6"/>
                </a:solidFill>
                <a:latin typeface="Calibri"/>
              </a:rPr>
              <a:t>O QUE É MEDIDO EM CADA ETAPA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553712"/>
            <a:ext cx="972312" cy="493776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acurácia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776984" y="4553712"/>
            <a:ext cx="972312" cy="493776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log-loss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95600" y="4553712"/>
            <a:ext cx="972312" cy="493776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tamanho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14215" y="4553712"/>
            <a:ext cx="972312" cy="493776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p50 / p95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32832" y="4553712"/>
            <a:ext cx="972312" cy="493776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PSI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1448" y="4553712"/>
            <a:ext cx="972312" cy="493776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queda sob drift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266944"/>
            <a:ext cx="6565392" cy="658368"/>
          </a:xfrm>
          <a:prstGeom prst="roundRect">
            <a:avLst>
              <a:gd name="adj" fmla="val 1250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dataset load_digits · o alvo não é a ferramenta isolada, é a cadeia completa de prontidão mínima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" y="6053328"/>
            <a:ext cx="647395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AA0A6"/>
                </a:solidFill>
                <a:latin typeface="Calibri"/>
              </a:rPr>
              <a:t>notebook da aula: handson/hands-on.ipynb — todo número do slide sai de uma célula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Multimodalidade:</a:t>
            </a:r>
            <a:r>
              <a:rPr sz="2700" b="1">
                <a:solidFill>
                  <a:srgbClr val="ED145B"/>
                </a:solidFill>
                <a:latin typeface="Calibri"/>
              </a:rPr>
              <a:t> imagem e texto no mesmo espaço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CLIP (Radford et al., 2021): image + text, contrastive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SigLIP (Zhai et al., 2023): sigmoidal loss, melhor escala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LLaVA (Liu et al., 2023): LLM + vision encoder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GPT-4V / Gemini 2 (fechados): produção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3840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A0A6"/>
                </a:solidFill>
                <a:latin typeface="Calibri"/>
              </a:rPr>
              <a:t>IMAGEM E TEXTO NO MESMO ESPAÇO VETORIAL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1188720" cy="493776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imagem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670048"/>
            <a:ext cx="1188720" cy="493776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texto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83664" y="2075688"/>
            <a:ext cx="292608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883664" y="2916936"/>
            <a:ext cx="292608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212848" y="1828800"/>
            <a:ext cx="1298448" cy="493776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encoder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de imagem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12848" y="2670048"/>
            <a:ext cx="1298448" cy="493776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encoder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de texto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547872" y="2075688"/>
            <a:ext cx="292608" cy="320040"/>
          </a:xfrm>
          <a:prstGeom prst="line">
            <a:avLst/>
          </a:prstGeom>
          <a:ln w="25400">
            <a:solidFill>
              <a:srgbClr val="ED145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547872" y="2596896"/>
            <a:ext cx="292608" cy="320040"/>
          </a:xfrm>
          <a:prstGeom prst="line">
            <a:avLst/>
          </a:prstGeom>
          <a:ln w="25400">
            <a:solidFill>
              <a:srgbClr val="ED145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877056" y="2084831"/>
            <a:ext cx="1005840" cy="822960"/>
          </a:xfrm>
          <a:prstGeom prst="roundRect">
            <a:avLst>
              <a:gd name="adj" fmla="val 1000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espaço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compartilhado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7488" y="1499616"/>
            <a:ext cx="217627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9AA0A6"/>
                </a:solidFill>
                <a:latin typeface="Calibri"/>
              </a:rPr>
              <a:t>SIMILARIDADE DO LOTE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96128" y="2139696"/>
            <a:ext cx="347472" cy="347472"/>
          </a:xfrm>
          <a:prstGeom prst="rect">
            <a:avLst/>
          </a:prstGeom>
          <a:solidFill>
            <a:srgbClr val="ED145B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2139696"/>
            <a:ext cx="347472" cy="347472"/>
          </a:xfrm>
          <a:prstGeom prst="rect">
            <a:avLst/>
          </a:prstGeom>
          <a:solidFill>
            <a:srgbClr val="1E1E2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91072" y="2139696"/>
            <a:ext cx="347472" cy="347472"/>
          </a:xfrm>
          <a:prstGeom prst="rect">
            <a:avLst/>
          </a:prstGeom>
          <a:solidFill>
            <a:srgbClr val="1E1E2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38544" y="2139696"/>
            <a:ext cx="347472" cy="347472"/>
          </a:xfrm>
          <a:prstGeom prst="rect">
            <a:avLst/>
          </a:prstGeom>
          <a:solidFill>
            <a:srgbClr val="1E1E2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96128" y="2487168"/>
            <a:ext cx="347472" cy="347472"/>
          </a:xfrm>
          <a:prstGeom prst="rect">
            <a:avLst/>
          </a:prstGeom>
          <a:solidFill>
            <a:srgbClr val="1E1E2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0" y="2487168"/>
            <a:ext cx="347472" cy="347472"/>
          </a:xfrm>
          <a:prstGeom prst="rect">
            <a:avLst/>
          </a:prstGeom>
          <a:solidFill>
            <a:srgbClr val="ED145B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91072" y="2487168"/>
            <a:ext cx="347472" cy="347472"/>
          </a:xfrm>
          <a:prstGeom prst="rect">
            <a:avLst/>
          </a:prstGeom>
          <a:solidFill>
            <a:srgbClr val="1E1E2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638544" y="2487168"/>
            <a:ext cx="347472" cy="347472"/>
          </a:xfrm>
          <a:prstGeom prst="rect">
            <a:avLst/>
          </a:prstGeom>
          <a:solidFill>
            <a:srgbClr val="1E1E2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596128" y="2834639"/>
            <a:ext cx="347472" cy="347472"/>
          </a:xfrm>
          <a:prstGeom prst="rect">
            <a:avLst/>
          </a:prstGeom>
          <a:solidFill>
            <a:srgbClr val="1E1E2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0" y="2834639"/>
            <a:ext cx="347472" cy="347472"/>
          </a:xfrm>
          <a:prstGeom prst="rect">
            <a:avLst/>
          </a:prstGeom>
          <a:solidFill>
            <a:srgbClr val="1E1E2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91072" y="2834639"/>
            <a:ext cx="347472" cy="347472"/>
          </a:xfrm>
          <a:prstGeom prst="rect">
            <a:avLst/>
          </a:prstGeom>
          <a:solidFill>
            <a:srgbClr val="ED145B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38544" y="2834639"/>
            <a:ext cx="347472" cy="347472"/>
          </a:xfrm>
          <a:prstGeom prst="rect">
            <a:avLst/>
          </a:prstGeom>
          <a:solidFill>
            <a:srgbClr val="1E1E2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596128" y="3182112"/>
            <a:ext cx="347472" cy="347472"/>
          </a:xfrm>
          <a:prstGeom prst="rect">
            <a:avLst/>
          </a:prstGeom>
          <a:solidFill>
            <a:srgbClr val="1E1E2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43600" y="3182112"/>
            <a:ext cx="347472" cy="347472"/>
          </a:xfrm>
          <a:prstGeom prst="rect">
            <a:avLst/>
          </a:prstGeom>
          <a:solidFill>
            <a:srgbClr val="1E1E2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91072" y="3182112"/>
            <a:ext cx="347472" cy="347472"/>
          </a:xfrm>
          <a:prstGeom prst="rect">
            <a:avLst/>
          </a:prstGeom>
          <a:solidFill>
            <a:srgbClr val="1E1E2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638544" y="3182112"/>
            <a:ext cx="347472" cy="347472"/>
          </a:xfrm>
          <a:prstGeom prst="rect">
            <a:avLst/>
          </a:prstGeom>
          <a:solidFill>
            <a:srgbClr val="ED145B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0" y="2194560"/>
            <a:ext cx="42062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2D9CDB"/>
                </a:solidFill>
                <a:latin typeface="Calibri"/>
              </a:rPr>
              <a:t>img1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22976" y="1865376"/>
            <a:ext cx="49377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27AE60"/>
                </a:solidFill>
                <a:latin typeface="Calibri"/>
              </a:rPr>
              <a:t>txt1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0" y="2542032"/>
            <a:ext cx="42062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2D9CDB"/>
                </a:solidFill>
                <a:latin typeface="Calibri"/>
              </a:rPr>
              <a:t>img2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70448" y="1865376"/>
            <a:ext cx="49377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27AE60"/>
                </a:solidFill>
                <a:latin typeface="Calibri"/>
              </a:rPr>
              <a:t>txt2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2889503"/>
            <a:ext cx="42062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2D9CDB"/>
                </a:solidFill>
                <a:latin typeface="Calibri"/>
              </a:rPr>
              <a:t>img3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1865376"/>
            <a:ext cx="49377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27AE60"/>
                </a:solidFill>
                <a:latin typeface="Calibri"/>
              </a:rPr>
              <a:t>txt3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0" y="3236976"/>
            <a:ext cx="42062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2D9CDB"/>
                </a:solidFill>
                <a:latin typeface="Calibri"/>
              </a:rPr>
              <a:t>img4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65392" y="1865376"/>
            <a:ext cx="49377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27AE60"/>
                </a:solidFill>
                <a:latin typeface="Calibri"/>
              </a:rPr>
              <a:t>txt4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47488" y="3602736"/>
            <a:ext cx="217627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1">
                <a:solidFill>
                  <a:srgbClr val="9AA0A6"/>
                </a:solidFill>
                <a:latin typeface="Calibri"/>
              </a:rPr>
              <a:t>diagonal = pares corretos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393192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A0A6"/>
                </a:solidFill>
                <a:latin typeface="Calibri"/>
              </a:rPr>
              <a:t>A LINHAGEM ATÉ 2026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4206240"/>
            <a:ext cx="1490472" cy="1152144"/>
          </a:xfrm>
          <a:prstGeom prst="roundRect">
            <a:avLst>
              <a:gd name="adj" fmla="val 7142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19" y="4315968"/>
            <a:ext cx="13441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ED145B"/>
                </a:solidFill>
                <a:latin typeface="Calibri"/>
              </a:rPr>
              <a:t>CLIP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19" y="4572000"/>
            <a:ext cx="134416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2021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19" y="4828032"/>
            <a:ext cx="134416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contrastivo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imagem-texto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2167128" y="4782312"/>
            <a:ext cx="164592" cy="0"/>
          </a:xfrm>
          <a:prstGeom prst="line">
            <a:avLst/>
          </a:prstGeom>
          <a:ln w="1778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2350008" y="4206240"/>
            <a:ext cx="1490472" cy="1152144"/>
          </a:xfrm>
          <a:prstGeom prst="roundRect">
            <a:avLst>
              <a:gd name="adj" fmla="val 7142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23160" y="4315968"/>
            <a:ext cx="13441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9B51E0"/>
                </a:solidFill>
                <a:latin typeface="Calibri"/>
              </a:rPr>
              <a:t>SigLIP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423160" y="4572000"/>
            <a:ext cx="134416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2023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23160" y="4828032"/>
            <a:ext cx="134416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perda sigmoidal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escala melhor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3858768" y="4782312"/>
            <a:ext cx="164592" cy="0"/>
          </a:xfrm>
          <a:prstGeom prst="line">
            <a:avLst/>
          </a:prstGeom>
          <a:ln w="1778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4041648" y="4206240"/>
            <a:ext cx="1490472" cy="1152144"/>
          </a:xfrm>
          <a:prstGeom prst="roundRect">
            <a:avLst>
              <a:gd name="adj" fmla="val 7142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0" y="4315968"/>
            <a:ext cx="13441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2D9CDB"/>
                </a:solidFill>
                <a:latin typeface="Calibri"/>
              </a:rPr>
              <a:t>LLaVA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0" y="4572000"/>
            <a:ext cx="134416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2023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14800" y="4828032"/>
            <a:ext cx="134416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LLM + encoder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de visão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550407" y="4782312"/>
            <a:ext cx="164593" cy="0"/>
          </a:xfrm>
          <a:prstGeom prst="line">
            <a:avLst/>
          </a:prstGeom>
          <a:ln w="1778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5733288" y="4206240"/>
            <a:ext cx="1490472" cy="1152144"/>
          </a:xfrm>
          <a:prstGeom prst="roundRect">
            <a:avLst>
              <a:gd name="adj" fmla="val 7142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806440" y="4315968"/>
            <a:ext cx="13441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27AE60"/>
                </a:solidFill>
                <a:latin typeface="Calibri"/>
              </a:rPr>
              <a:t>GPT-4V · Gemini 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06440" y="4572000"/>
            <a:ext cx="134416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2024+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806440" y="4828032"/>
            <a:ext cx="134416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multimodal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em produção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58368" y="5504688"/>
            <a:ext cx="6565392" cy="566928"/>
          </a:xfrm>
          <a:prstGeom prst="roundRect">
            <a:avLst>
              <a:gd name="adj" fmla="val 14516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o embed compartilhado é o que permite buscar imagem com texto — a base do caso Americanas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State Space Models:</a:t>
            </a:r>
            <a:r>
              <a:rPr sz="2700" b="1">
                <a:solidFill>
                  <a:srgbClr val="ED145B"/>
                </a:solidFill>
                <a:latin typeface="Calibri"/>
              </a:rPr>
              <a:t> Mamba e o custo linear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Gu &amp; Dao (2024): alternativa a Transformers com O(n) em inferência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Seletivamente propaga/esquece informação (como RNN)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Paraleliza via convolução implícita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Competitivo com Transformers em NLP até ~7B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A0A6"/>
                </a:solidFill>
                <a:latin typeface="Calibri"/>
              </a:rPr>
              <a:t>CUSTO EM FUNÇÃO DO COMPRIMENTO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04672" y="3822191"/>
            <a:ext cx="2779776" cy="0"/>
          </a:xfrm>
          <a:prstGeom prst="line">
            <a:avLst/>
          </a:prstGeom>
          <a:ln w="1524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804672" y="2121408"/>
            <a:ext cx="0" cy="1700783"/>
          </a:xfrm>
          <a:prstGeom prst="line">
            <a:avLst/>
          </a:prstGeom>
          <a:ln w="1524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04672" y="3913631"/>
            <a:ext cx="277977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A0A6"/>
                </a:solidFill>
                <a:latin typeface="Calibri"/>
              </a:rPr>
              <a:t>comprimento da sequência  n  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810511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A0A6"/>
                </a:solidFill>
                <a:latin typeface="Calibri"/>
              </a:rPr>
              <a:t>custo ↑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914400" y="3810635"/>
            <a:ext cx="213360" cy="11556"/>
          </a:xfrm>
          <a:prstGeom prst="line">
            <a:avLst/>
          </a:prstGeom>
          <a:ln w="2794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127760" y="3775964"/>
            <a:ext cx="213360" cy="34671"/>
          </a:xfrm>
          <a:prstGeom prst="line">
            <a:avLst/>
          </a:prstGeom>
          <a:ln w="2794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41120" y="3718179"/>
            <a:ext cx="213360" cy="57785"/>
          </a:xfrm>
          <a:prstGeom prst="line">
            <a:avLst/>
          </a:prstGeom>
          <a:ln w="2794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554480" y="3637279"/>
            <a:ext cx="213359" cy="80900"/>
          </a:xfrm>
          <a:prstGeom prst="line">
            <a:avLst/>
          </a:prstGeom>
          <a:ln w="2794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767839" y="3533266"/>
            <a:ext cx="213361" cy="104013"/>
          </a:xfrm>
          <a:prstGeom prst="line">
            <a:avLst/>
          </a:prstGeom>
          <a:ln w="2794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981200" y="3406139"/>
            <a:ext cx="213360" cy="127127"/>
          </a:xfrm>
          <a:prstGeom prst="line">
            <a:avLst/>
          </a:prstGeom>
          <a:ln w="2794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2194560" y="3255898"/>
            <a:ext cx="213360" cy="150241"/>
          </a:xfrm>
          <a:prstGeom prst="line">
            <a:avLst/>
          </a:prstGeom>
          <a:ln w="2794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407920" y="3082544"/>
            <a:ext cx="213359" cy="173354"/>
          </a:xfrm>
          <a:prstGeom prst="line">
            <a:avLst/>
          </a:prstGeom>
          <a:ln w="2794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621279" y="2886075"/>
            <a:ext cx="213360" cy="196469"/>
          </a:xfrm>
          <a:prstGeom prst="line">
            <a:avLst/>
          </a:prstGeom>
          <a:ln w="2794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834639" y="2666492"/>
            <a:ext cx="213361" cy="219583"/>
          </a:xfrm>
          <a:prstGeom prst="line">
            <a:avLst/>
          </a:prstGeom>
          <a:ln w="2794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3048000" y="2423795"/>
            <a:ext cx="213360" cy="242697"/>
          </a:xfrm>
          <a:prstGeom prst="line">
            <a:avLst/>
          </a:prstGeom>
          <a:ln w="2794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261360" y="2157984"/>
            <a:ext cx="213360" cy="265811"/>
          </a:xfrm>
          <a:prstGeom prst="line">
            <a:avLst/>
          </a:prstGeom>
          <a:ln w="2794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914400" y="3759784"/>
            <a:ext cx="213360" cy="62407"/>
          </a:xfrm>
          <a:prstGeom prst="line">
            <a:avLst/>
          </a:prstGeom>
          <a:ln w="2794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127760" y="3697376"/>
            <a:ext cx="213360" cy="62408"/>
          </a:xfrm>
          <a:prstGeom prst="line">
            <a:avLst/>
          </a:prstGeom>
          <a:ln w="2794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341120" y="3634968"/>
            <a:ext cx="213360" cy="62408"/>
          </a:xfrm>
          <a:prstGeom prst="line">
            <a:avLst/>
          </a:prstGeom>
          <a:ln w="2794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554480" y="3572560"/>
            <a:ext cx="213359" cy="62408"/>
          </a:xfrm>
          <a:prstGeom prst="line">
            <a:avLst/>
          </a:prstGeom>
          <a:ln w="2794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767839" y="3510152"/>
            <a:ext cx="213361" cy="62408"/>
          </a:xfrm>
          <a:prstGeom prst="line">
            <a:avLst/>
          </a:prstGeom>
          <a:ln w="2794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981200" y="3447745"/>
            <a:ext cx="213360" cy="62407"/>
          </a:xfrm>
          <a:prstGeom prst="line">
            <a:avLst/>
          </a:prstGeom>
          <a:ln w="2794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2194560" y="3385337"/>
            <a:ext cx="213360" cy="62408"/>
          </a:xfrm>
          <a:prstGeom prst="line">
            <a:avLst/>
          </a:prstGeom>
          <a:ln w="2794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407920" y="3322929"/>
            <a:ext cx="213359" cy="62408"/>
          </a:xfrm>
          <a:prstGeom prst="line">
            <a:avLst/>
          </a:prstGeom>
          <a:ln w="2794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2621279" y="3260521"/>
            <a:ext cx="213360" cy="62408"/>
          </a:xfrm>
          <a:prstGeom prst="line">
            <a:avLst/>
          </a:prstGeom>
          <a:ln w="2794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2834639" y="3198113"/>
            <a:ext cx="213361" cy="62408"/>
          </a:xfrm>
          <a:prstGeom prst="line">
            <a:avLst/>
          </a:prstGeom>
          <a:ln w="2794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3048000" y="3135706"/>
            <a:ext cx="213360" cy="62407"/>
          </a:xfrm>
          <a:prstGeom prst="line">
            <a:avLst/>
          </a:prstGeom>
          <a:ln w="2794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3261360" y="3073298"/>
            <a:ext cx="213360" cy="62408"/>
          </a:xfrm>
          <a:prstGeom prst="line">
            <a:avLst/>
          </a:prstGeom>
          <a:ln w="2794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389888" y="2249424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D145B"/>
                </a:solidFill>
                <a:latin typeface="Calibri"/>
              </a:rPr>
              <a:t>Transformer  O(n²)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3364992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  <a:latin typeface="Calibri"/>
              </a:rPr>
              <a:t>SSM  O(n)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59936" y="1481328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A0A6"/>
                </a:solidFill>
                <a:latin typeface="Calibri"/>
              </a:rPr>
              <a:t>ESTADO QUE ESCOLHE O QUE GUARDAR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69663" y="2212848"/>
            <a:ext cx="786384" cy="566928"/>
          </a:xfrm>
          <a:prstGeom prst="roundRect">
            <a:avLst>
              <a:gd name="adj" fmla="val 14516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hₜ₋₁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69663" y="1847088"/>
            <a:ext cx="78638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2D9CDB"/>
                </a:solidFill>
                <a:latin typeface="Calibri"/>
              </a:rPr>
              <a:t>x1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562855" y="2084831"/>
            <a:ext cx="0" cy="109729"/>
          </a:xfrm>
          <a:prstGeom prst="line">
            <a:avLst/>
          </a:prstGeom>
          <a:ln w="17780">
            <a:solidFill>
              <a:srgbClr val="2D9CD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169663" y="2926080"/>
            <a:ext cx="78638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27AE60"/>
                </a:solidFill>
                <a:latin typeface="Calibri"/>
              </a:rPr>
              <a:t>y1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4562855" y="2798064"/>
            <a:ext cx="0" cy="109728"/>
          </a:xfrm>
          <a:prstGeom prst="line">
            <a:avLst/>
          </a:prstGeom>
          <a:ln w="17780">
            <a:solidFill>
              <a:srgbClr val="27AE60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983479" y="2496312"/>
            <a:ext cx="201169" cy="0"/>
          </a:xfrm>
          <a:prstGeom prst="line">
            <a:avLst/>
          </a:prstGeom>
          <a:ln w="25400">
            <a:solidFill>
              <a:srgbClr val="9B51E0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5212079" y="2212848"/>
            <a:ext cx="786384" cy="566928"/>
          </a:xfrm>
          <a:prstGeom prst="roundRect">
            <a:avLst>
              <a:gd name="adj" fmla="val 14516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hₜ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12079" y="1847088"/>
            <a:ext cx="78638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2D9CDB"/>
                </a:solidFill>
                <a:latin typeface="Calibri"/>
              </a:rPr>
              <a:t>x2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605271" y="2084831"/>
            <a:ext cx="0" cy="109729"/>
          </a:xfrm>
          <a:prstGeom prst="line">
            <a:avLst/>
          </a:prstGeom>
          <a:ln w="17780">
            <a:solidFill>
              <a:srgbClr val="2D9CD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212079" y="2926080"/>
            <a:ext cx="78638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27AE60"/>
                </a:solidFill>
                <a:latin typeface="Calibri"/>
              </a:rPr>
              <a:t>y2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605271" y="2798064"/>
            <a:ext cx="0" cy="109728"/>
          </a:xfrm>
          <a:prstGeom prst="line">
            <a:avLst/>
          </a:prstGeom>
          <a:ln w="17780">
            <a:solidFill>
              <a:srgbClr val="27AE60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6025895" y="2496312"/>
            <a:ext cx="201169" cy="0"/>
          </a:xfrm>
          <a:prstGeom prst="line">
            <a:avLst/>
          </a:prstGeom>
          <a:ln w="25400">
            <a:solidFill>
              <a:srgbClr val="9B51E0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6254496" y="2212848"/>
            <a:ext cx="786384" cy="566928"/>
          </a:xfrm>
          <a:prstGeom prst="roundRect">
            <a:avLst>
              <a:gd name="adj" fmla="val 14516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hₜ₊₁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54496" y="1847088"/>
            <a:ext cx="78638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2D9CDB"/>
                </a:solidFill>
                <a:latin typeface="Calibri"/>
              </a:rPr>
              <a:t>x3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647688" y="2084831"/>
            <a:ext cx="0" cy="109729"/>
          </a:xfrm>
          <a:prstGeom prst="line">
            <a:avLst/>
          </a:prstGeom>
          <a:ln w="17780">
            <a:solidFill>
              <a:srgbClr val="2D9CD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254496" y="2926080"/>
            <a:ext cx="78638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27AE60"/>
                </a:solidFill>
                <a:latin typeface="Calibri"/>
              </a:rPr>
              <a:t>y3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647688" y="2798064"/>
            <a:ext cx="0" cy="109728"/>
          </a:xfrm>
          <a:prstGeom prst="line">
            <a:avLst/>
          </a:prstGeom>
          <a:ln w="17780">
            <a:solidFill>
              <a:srgbClr val="27AE60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4" name="Picture 53" descr="dd2af1e41ad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3861" y="3273552"/>
            <a:ext cx="2277687" cy="27432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4059936" y="3657600"/>
            <a:ext cx="316382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9AA0A6"/>
                </a:solidFill>
                <a:latin typeface="Calibri"/>
              </a:rPr>
              <a:t>A, B e C dependem da entrada: o modelo decide o que propagar e o que esquecer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58368" y="4169663"/>
            <a:ext cx="3145536" cy="1170432"/>
          </a:xfrm>
          <a:prstGeom prst="roundRect">
            <a:avLst>
              <a:gd name="adj" fmla="val 7031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ED145B"/>
                </a:solidFill>
                <a:latin typeface="Calibri"/>
              </a:rPr>
              <a:t>Transformer</a:t>
            </a:r>
          </a:p>
          <a:p>
            <a:pPr algn="ctr"/>
            <a:r>
              <a:rPr sz="1000">
                <a:solidFill>
                  <a:srgbClr val="9AA0A6"/>
                </a:solidFill>
                <a:latin typeface="Calibri"/>
              </a:rPr>
              <a:t>atenção global; KV cache cresce
com o contexto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078224" y="4169663"/>
            <a:ext cx="3145536" cy="1170432"/>
          </a:xfrm>
          <a:prstGeom prst="roundRect">
            <a:avLst>
              <a:gd name="adj" fmla="val 7031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27AE60"/>
                </a:solidFill>
                <a:latin typeface="Calibri"/>
              </a:rPr>
              <a:t>Mamba (Gu &amp; Dao, 2024)</a:t>
            </a:r>
          </a:p>
          <a:p>
            <a:pPr algn="ctr"/>
            <a:r>
              <a:rPr sz="1000">
                <a:solidFill>
                  <a:srgbClr val="9AA0A6"/>
                </a:solidFill>
                <a:latin typeface="Calibri"/>
              </a:rPr>
              <a:t>estado de tamanho fixo; paraleliza
via convolução implícita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58368" y="5541264"/>
            <a:ext cx="6565392" cy="603504"/>
          </a:xfrm>
          <a:prstGeom prst="roundRect">
            <a:avLst>
              <a:gd name="adj" fmla="val 13636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competitivo em NLP até ~7B — a aposta é inferência longa e barata, não bater benchmark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Modelos de fronteira 2026:</a:t>
            </a:r>
            <a:r>
              <a:rPr sz="2700" b="1">
                <a:solidFill>
                  <a:srgbClr val="ED145B"/>
                </a:solidFill>
                <a:latin typeface="Calibri"/>
              </a:rPr>
              <a:t> o mapa atual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MoE ativa só uma fração dos parâmetros por token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Contexto de 1M+ muda o que cabe no prompt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Multimodal nativo virou linha de base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Open weights sustentam fine-tune e dado sensível em casa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Escolha por tarefa, custo e requisito de dado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99616"/>
            <a:ext cx="6035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A0A6"/>
                </a:solidFill>
                <a:latin typeface="Calibri"/>
              </a:rPr>
              <a:t>MODELO  ·  PROVEDOR  ·  O QUE O DIFERENCIA NA PRÁTICA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6565392" cy="694944"/>
          </a:xfrm>
          <a:prstGeom prst="roundRect">
            <a:avLst>
              <a:gd name="adj" fmla="val 11842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1956816"/>
            <a:ext cx="91440" cy="43891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48256"/>
            <a:ext cx="187451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GPT-5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066543"/>
            <a:ext cx="1143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ED145B"/>
                </a:solidFill>
                <a:latin typeface="Calibri"/>
              </a:rPr>
              <a:t>OpenAI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33087" y="2066543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AA0A6"/>
                </a:solidFill>
                <a:latin typeface="Calibri"/>
              </a:rPr>
              <a:t>MoE massivo; raciocínio em várias etapas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651760"/>
            <a:ext cx="6565392" cy="694944"/>
          </a:xfrm>
          <a:prstGeom prst="roundRect">
            <a:avLst>
              <a:gd name="adj" fmla="val 11842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" y="2779776"/>
            <a:ext cx="91440" cy="438912"/>
          </a:xfrm>
          <a:prstGeom prst="rect">
            <a:avLst/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871215"/>
            <a:ext cx="187451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Claude Opus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889504"/>
            <a:ext cx="1143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B51E0"/>
                </a:solidFill>
                <a:latin typeface="Calibri"/>
              </a:rPr>
              <a:t>Anthropic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33087" y="2889504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AA0A6"/>
                </a:solidFill>
                <a:latin typeface="Calibri"/>
              </a:rPr>
              <a:t>contexto 1M+; alinhamento constitucional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474720"/>
            <a:ext cx="6565392" cy="694944"/>
          </a:xfrm>
          <a:prstGeom prst="roundRect">
            <a:avLst>
              <a:gd name="adj" fmla="val 11842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" y="3602736"/>
            <a:ext cx="91440" cy="438912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694176"/>
            <a:ext cx="187451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Gemini 2 Pro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712463"/>
            <a:ext cx="1143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2D9CDB"/>
                </a:solidFill>
                <a:latin typeface="Calibri"/>
              </a:rPr>
              <a:t>Google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33087" y="3712463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AA0A6"/>
                </a:solidFill>
                <a:latin typeface="Calibri"/>
              </a:rPr>
              <a:t>multimodal nativo; janela de 2M tokens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297680"/>
            <a:ext cx="6565392" cy="694944"/>
          </a:xfrm>
          <a:prstGeom prst="roundRect">
            <a:avLst>
              <a:gd name="adj" fmla="val 11842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" y="4425696"/>
            <a:ext cx="91440" cy="438912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517136"/>
            <a:ext cx="187451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LLaMA 3.1 405B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4535424"/>
            <a:ext cx="1143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27AE60"/>
                </a:solidFill>
                <a:latin typeface="Calibri"/>
              </a:rPr>
              <a:t>Meta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33087" y="4535424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AA0A6"/>
                </a:solidFill>
                <a:latin typeface="Calibri"/>
              </a:rPr>
              <a:t>open weights; base para fine-tune próprio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120640"/>
            <a:ext cx="6565392" cy="694944"/>
          </a:xfrm>
          <a:prstGeom prst="roundRect">
            <a:avLst>
              <a:gd name="adj" fmla="val 11842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" y="5248655"/>
            <a:ext cx="91440" cy="438912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340096"/>
            <a:ext cx="187451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Mistral Large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358383"/>
            <a:ext cx="1143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2994A"/>
                </a:solidFill>
                <a:latin typeface="Calibri"/>
              </a:rPr>
              <a:t>Mistral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33087" y="5358383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AA0A6"/>
                </a:solidFill>
                <a:latin typeface="Calibri"/>
              </a:rPr>
              <a:t>MoE europeu; licenciamento amigável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961888"/>
            <a:ext cx="6565392" cy="402336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 escolha é por tarefa, custo e requisito de dado — não por posição no ranking da semana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96596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D145B"/>
                </a:solidFill>
                <a:latin typeface="Calibri"/>
              </a:rPr>
              <a:t>PARTE 4  ·  20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395728"/>
            <a:ext cx="9692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Calibri"/>
              </a:rPr>
              <a:t>Execução e discussão: RAG, caso real e fechamento</a:t>
            </a:r>
          </a:p>
        </p:txBody>
      </p:sp>
      <p:sp>
        <p:nvSpPr>
          <p:cNvPr id="5" name="Oval 4"/>
          <p:cNvSpPr/>
          <p:nvPr/>
        </p:nvSpPr>
        <p:spPr>
          <a:xfrm>
            <a:off x="1097280" y="3840480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794760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RAG: conhecimento fresco sem retreinar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4261104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215384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Americanas: busca multimodal em 200M SKUs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4681728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636008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Ética, governança e o caminho depois do curso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RAG:</a:t>
            </a:r>
            <a:r>
              <a:rPr sz="2700" b="1">
                <a:solidFill>
                  <a:srgbClr val="ED145B"/>
                </a:solidFill>
                <a:latin typeface="Calibri"/>
              </a:rPr>
              <a:t> gerar com a fonte na mão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Resolve alucinação ancorando a resposta em trechos reais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Conhecimento fresco sem retreinar o modelo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Índice vetorial devolve top-k trechos para o prompt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A resposta carrega a fonte: dá para auditar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Lewis et al., 2020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6035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A0A6"/>
                </a:solidFill>
                <a:latin typeface="Calibri"/>
              </a:rPr>
              <a:t>RECUPERAR PRIMEIRO, GERAR DEPOIS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1920240" cy="731520"/>
          </a:xfrm>
          <a:prstGeom prst="roundRect">
            <a:avLst>
              <a:gd name="adj" fmla="val 11249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pergunta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do usuário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06040" y="2194560"/>
            <a:ext cx="347472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980944" y="1828800"/>
            <a:ext cx="1920240" cy="731520"/>
          </a:xfrm>
          <a:prstGeom prst="roundRect">
            <a:avLst>
              <a:gd name="adj" fmla="val 11249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embedding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da pergunta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928616" y="2194560"/>
            <a:ext cx="347472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303520" y="1828800"/>
            <a:ext cx="1920240" cy="731520"/>
          </a:xfrm>
          <a:prstGeom prst="roundRect">
            <a:avLst>
              <a:gd name="adj" fmla="val 11249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busca vetorial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top-k trechos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80944" y="2999232"/>
            <a:ext cx="1920240" cy="603504"/>
          </a:xfrm>
          <a:prstGeom prst="roundRect">
            <a:avLst>
              <a:gd name="adj" fmla="val 13636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base de documentos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(índice vetorial)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37760" y="2633472"/>
            <a:ext cx="329184" cy="493776"/>
          </a:xfrm>
          <a:prstGeom prst="line">
            <a:avLst/>
          </a:prstGeom>
          <a:ln w="25400">
            <a:solidFill>
              <a:srgbClr val="27AE60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263640" y="2596896"/>
            <a:ext cx="0" cy="1243584"/>
          </a:xfrm>
          <a:prstGeom prst="line">
            <a:avLst/>
          </a:prstGeom>
          <a:ln w="25400">
            <a:solidFill>
              <a:srgbClr val="ED145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846320" y="3072384"/>
            <a:ext cx="13258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ED145B"/>
                </a:solidFill>
                <a:latin typeface="Calibri"/>
              </a:rPr>
              <a:t>trechos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886200"/>
            <a:ext cx="1920240" cy="731520"/>
          </a:xfrm>
          <a:prstGeom prst="roundRect">
            <a:avLst>
              <a:gd name="adj" fmla="val 11249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resposta + citações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2606040" y="4251960"/>
            <a:ext cx="347472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80944" y="3886200"/>
            <a:ext cx="1920240" cy="731520"/>
          </a:xfrm>
          <a:prstGeom prst="roundRect">
            <a:avLst>
              <a:gd name="adj" fmla="val 11249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LLM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4928616" y="4251960"/>
            <a:ext cx="347472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303520" y="3886200"/>
            <a:ext cx="1920240" cy="731520"/>
          </a:xfrm>
          <a:prstGeom prst="roundRect">
            <a:avLst>
              <a:gd name="adj" fmla="val 11249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prompt = contexto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+ pergunta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956048"/>
            <a:ext cx="3145536" cy="969264"/>
          </a:xfrm>
          <a:prstGeom prst="roundRect">
            <a:avLst>
              <a:gd name="adj" fmla="val 8490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F2994A"/>
                </a:solidFill>
                <a:latin typeface="Calibri"/>
              </a:rPr>
              <a:t>sem RAG</a:t>
            </a:r>
          </a:p>
          <a:p>
            <a:pPr algn="ctr"/>
            <a:r>
              <a:rPr sz="1000">
                <a:solidFill>
                  <a:srgbClr val="9AA0A6"/>
                </a:solidFill>
                <a:latin typeface="Calibri"/>
              </a:rPr>
              <a:t>responde de memória:
alucina e desatualiza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78224" y="4956048"/>
            <a:ext cx="3145536" cy="969264"/>
          </a:xfrm>
          <a:prstGeom prst="roundRect">
            <a:avLst>
              <a:gd name="adj" fmla="val 8490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27AE60"/>
                </a:solidFill>
                <a:latin typeface="Calibri"/>
              </a:rPr>
              <a:t>com RAG</a:t>
            </a:r>
          </a:p>
          <a:p>
            <a:pPr algn="ctr"/>
            <a:r>
              <a:rPr sz="1000">
                <a:solidFill>
                  <a:srgbClr val="9AA0A6"/>
                </a:solidFill>
                <a:latin typeface="Calibri"/>
              </a:rPr>
              <a:t>responde com fonte:
atualizar a base ≠ retreinar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" y="6035040"/>
            <a:ext cx="647395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AA0A6"/>
                </a:solidFill>
                <a:latin typeface="Calibri"/>
              </a:rPr>
              <a:t>Lewis et al., 2020 — o conhecimento sai dos pesos e vai para um índice que você controla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Caso Americanas:</a:t>
            </a:r>
            <a:r>
              <a:rPr sz="2700" b="1">
                <a:solidFill>
                  <a:srgbClr val="ED145B"/>
                </a:solidFill>
                <a:latin typeface="Calibri"/>
              </a:rPr>
              <a:t> busca multimodal em 200M SKUs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Problema: busca multimodal (texto + imagem + filtros) em 200M SKUs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Pipeline: CLIP para embeddings; FAISS para índice; re-rank por BERT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Monitoramento: PSI semanal em embeddings; retreino trimestral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Migração de LSTM-based search para CLIP em 2023-2024 deu +15% CTR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6035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A0A6"/>
                </a:solidFill>
                <a:latin typeface="Calibri"/>
              </a:rPr>
              <a:t>BUSCA MULTIMODAL EM 200 MILHÕES DE SKUs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73936"/>
            <a:ext cx="1122883" cy="804672"/>
          </a:xfrm>
          <a:prstGeom prst="roundRect">
            <a:avLst>
              <a:gd name="adj" fmla="val 10227"/>
            </a:avLst>
          </a:prstGeom>
          <a:solidFill>
            <a:srgbClr val="17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consulta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texto + imagem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808683" y="2176272"/>
            <a:ext cx="182880" cy="0"/>
          </a:xfrm>
          <a:prstGeom prst="line">
            <a:avLst/>
          </a:prstGeom>
          <a:ln w="25400">
            <a:solidFill>
              <a:srgbClr val="ED145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018995" y="1773936"/>
            <a:ext cx="1122883" cy="804672"/>
          </a:xfrm>
          <a:prstGeom prst="roundRect">
            <a:avLst>
              <a:gd name="adj" fmla="val 10227"/>
            </a:avLst>
          </a:prstGeom>
          <a:solidFill>
            <a:srgbClr val="17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CLIP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embeddings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69310" y="2176272"/>
            <a:ext cx="182880" cy="0"/>
          </a:xfrm>
          <a:prstGeom prst="line">
            <a:avLst/>
          </a:prstGeom>
          <a:ln w="25400">
            <a:solidFill>
              <a:srgbClr val="ED145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379622" y="1773936"/>
            <a:ext cx="1122883" cy="804672"/>
          </a:xfrm>
          <a:prstGeom prst="roundRect">
            <a:avLst>
              <a:gd name="adj" fmla="val 10227"/>
            </a:avLst>
          </a:prstGeom>
          <a:solidFill>
            <a:srgbClr val="17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FAISS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índice ANN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29937" y="2176272"/>
            <a:ext cx="182880" cy="0"/>
          </a:xfrm>
          <a:prstGeom prst="line">
            <a:avLst/>
          </a:prstGeom>
          <a:ln w="25400">
            <a:solidFill>
              <a:srgbClr val="ED145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740249" y="1773936"/>
            <a:ext cx="1122883" cy="804672"/>
          </a:xfrm>
          <a:prstGeom prst="roundRect">
            <a:avLst>
              <a:gd name="adj" fmla="val 10227"/>
            </a:avLst>
          </a:prstGeom>
          <a:solidFill>
            <a:srgbClr val="17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re-rank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BERT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90564" y="2176272"/>
            <a:ext cx="182880" cy="0"/>
          </a:xfrm>
          <a:prstGeom prst="line">
            <a:avLst/>
          </a:prstGeom>
          <a:ln w="25400">
            <a:solidFill>
              <a:srgbClr val="ED145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100876" y="1773936"/>
            <a:ext cx="1122883" cy="804672"/>
          </a:xfrm>
          <a:prstGeom prst="roundRect">
            <a:avLst>
              <a:gd name="adj" fmla="val 10227"/>
            </a:avLst>
          </a:prstGeom>
          <a:solidFill>
            <a:srgbClr val="17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resultados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565392" y="2651760"/>
            <a:ext cx="0" cy="365760"/>
          </a:xfrm>
          <a:prstGeom prst="line">
            <a:avLst/>
          </a:prstGeom>
          <a:ln w="1905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103120" y="3017520"/>
            <a:ext cx="4462272" cy="0"/>
          </a:xfrm>
          <a:prstGeom prst="line">
            <a:avLst/>
          </a:prstGeom>
          <a:ln w="1905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103120" y="2670048"/>
            <a:ext cx="0" cy="347472"/>
          </a:xfrm>
          <a:prstGeom prst="line">
            <a:avLst/>
          </a:prstGeom>
          <a:ln w="19050">
            <a:solidFill>
              <a:srgbClr val="F2994A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377440" y="3035808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2994A"/>
                </a:solidFill>
                <a:latin typeface="Calibri"/>
              </a:rPr>
              <a:t>PSI semanal nos embeddings → retreino trimestral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566160"/>
            <a:ext cx="3163824" cy="1572768"/>
          </a:xfrm>
          <a:prstGeom prst="roundRect">
            <a:avLst>
              <a:gd name="adj" fmla="val 5232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3666744"/>
            <a:ext cx="294436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27AE60"/>
                </a:solidFill>
                <a:latin typeface="Calibri"/>
              </a:rPr>
              <a:t>IMPACTO NO CTR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9536" y="4041648"/>
            <a:ext cx="1417320" cy="274320"/>
          </a:xfrm>
          <a:prstGeom prst="rect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50008" y="4041648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9AA0A6"/>
                </a:solidFill>
                <a:latin typeface="Calibri"/>
              </a:rPr>
              <a:t>busca LSTM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9536" y="4498848"/>
            <a:ext cx="1627632" cy="27432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4498848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D145B"/>
                </a:solidFill>
                <a:latin typeface="Calibri"/>
              </a:rPr>
              <a:t>+15 % CTR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" y="4828032"/>
            <a:ext cx="28346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9AA0A6"/>
                </a:solidFill>
                <a:latin typeface="Calibri"/>
              </a:rPr>
              <a:t>migração LSTM → CLIP em 2023-2024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59936" y="3566160"/>
            <a:ext cx="3163824" cy="1572768"/>
          </a:xfrm>
          <a:prstGeom prst="roundRect">
            <a:avLst>
              <a:gd name="adj" fmla="val 5232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9664" y="3666744"/>
            <a:ext cx="294436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2D9CDB"/>
                </a:solidFill>
                <a:latin typeface="Calibri"/>
              </a:rPr>
              <a:t>POR QUE FUNCIONOU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61104" y="3968496"/>
            <a:ext cx="2788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· um espaço vetorial para texto e foto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61104" y="4315968"/>
            <a:ext cx="2788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· ANN devolve candidatos em milissegundos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61104" y="4663440"/>
            <a:ext cx="2788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· BERT re-ordena só o top-100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303520"/>
            <a:ext cx="6565392" cy="640080"/>
          </a:xfrm>
          <a:prstGeom prst="roundRect">
            <a:avLst>
              <a:gd name="adj" fmla="val 12857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o ganho não veio de um modelo maior: veio de trocar a representação e vigiar o embedding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" y="6053328"/>
            <a:ext cx="647395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AA0A6"/>
                </a:solidFill>
                <a:latin typeface="Calibri"/>
              </a:rPr>
              <a:t>métrica de negócio (CTR) fecha o ciclo aberto pela métrica offline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Ética e governança:</a:t>
            </a:r>
            <a:r>
              <a:rPr sz="2700" b="1">
                <a:solidFill>
                  <a:srgbClr val="ED145B"/>
                </a:solidFill>
                <a:latin typeface="Calibri"/>
              </a:rPr>
              <a:t> o que não é opcional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Viés algorítmico — datasets brasileiros sub-representados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LGPD — direito ao esquecimento, consentimento, DPIA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Explicabilidade — SHAP, LIME, attention rollout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Carbon footprint — training de LLMs consome MWh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700784"/>
            <a:ext cx="3163824" cy="1609344"/>
          </a:xfrm>
          <a:prstGeom prst="roundRect">
            <a:avLst>
              <a:gd name="adj" fmla="val 5113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1847088"/>
            <a:ext cx="279806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2994A"/>
                </a:solidFill>
                <a:latin typeface="Calibri"/>
              </a:rPr>
              <a:t>Viés algorítmico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231136"/>
            <a:ext cx="27980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risco: datasets brasileiros sub-representados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7" y="2706624"/>
            <a:ext cx="2798064" cy="0"/>
          </a:xfrm>
          <a:prstGeom prst="line">
            <a:avLst/>
          </a:prstGeom>
          <a:ln w="1270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41247" y="2779776"/>
            <a:ext cx="27980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AA0A6"/>
                </a:solidFill>
                <a:latin typeface="Calibri"/>
              </a:rPr>
              <a:t>controle: auditoria de erro por subgrupo antes do deploy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59935" y="1700784"/>
            <a:ext cx="3163824" cy="1609344"/>
          </a:xfrm>
          <a:prstGeom prst="roundRect">
            <a:avLst>
              <a:gd name="adj" fmla="val 5113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42816" y="1847088"/>
            <a:ext cx="279806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D9CDB"/>
                </a:solidFill>
                <a:latin typeface="Calibri"/>
              </a:rPr>
              <a:t>LGPD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42816" y="2231136"/>
            <a:ext cx="27980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risco: dado pessoal em treino sem base legal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42816" y="2706624"/>
            <a:ext cx="2798063" cy="0"/>
          </a:xfrm>
          <a:prstGeom prst="line">
            <a:avLst/>
          </a:prstGeom>
          <a:ln w="1270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42816" y="2779776"/>
            <a:ext cx="27980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AA0A6"/>
                </a:solidFill>
                <a:latin typeface="Calibri"/>
              </a:rPr>
              <a:t>controle: consentimento, DPIA, direito ao esquecimento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493008"/>
            <a:ext cx="3163824" cy="1609344"/>
          </a:xfrm>
          <a:prstGeom prst="roundRect">
            <a:avLst>
              <a:gd name="adj" fmla="val 5113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639312"/>
            <a:ext cx="279806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9B51E0"/>
                </a:solidFill>
                <a:latin typeface="Calibri"/>
              </a:rPr>
              <a:t>Explicabilidade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4023360"/>
            <a:ext cx="27980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risco: decisão que ninguém sabe justificar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41247" y="4498848"/>
            <a:ext cx="2798064" cy="0"/>
          </a:xfrm>
          <a:prstGeom prst="line">
            <a:avLst/>
          </a:prstGeom>
          <a:ln w="1270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41247" y="4572000"/>
            <a:ext cx="27980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AA0A6"/>
                </a:solidFill>
                <a:latin typeface="Calibri"/>
              </a:rPr>
              <a:t>controle: SHAP, LIME, attention rollout no fluxo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59935" y="3493008"/>
            <a:ext cx="3163824" cy="1609344"/>
          </a:xfrm>
          <a:prstGeom prst="roundRect">
            <a:avLst>
              <a:gd name="adj" fmla="val 5113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2816" y="3639312"/>
            <a:ext cx="279806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  <a:latin typeface="Calibri"/>
              </a:rPr>
              <a:t>Pegada de carbono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42816" y="4023360"/>
            <a:ext cx="27980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risco: treinar do zero consome MWh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242816" y="4498848"/>
            <a:ext cx="2798063" cy="0"/>
          </a:xfrm>
          <a:prstGeom prst="line">
            <a:avLst/>
          </a:prstGeom>
          <a:ln w="1270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242816" y="4572000"/>
            <a:ext cx="27980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AA0A6"/>
                </a:solidFill>
                <a:latin typeface="Calibri"/>
              </a:rPr>
              <a:t>controle: reuso e fine-tune; região de energia limpa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431536"/>
            <a:ext cx="6565392" cy="603504"/>
          </a:xfrm>
          <a:prstGeom prst="roundRect">
            <a:avLst>
              <a:gd name="adj" fmla="val 13636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governança não é etapa final: entra no mesmo checklist que latência e rollback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" y="6144768"/>
            <a:ext cx="647395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AA0A6"/>
                </a:solidFill>
                <a:latin typeface="Calibri"/>
              </a:rPr>
              <a:t>quem assina a promoção do modelo responde também por esses quatro itens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Depois do curso:</a:t>
            </a:r>
            <a:r>
              <a:rPr sz="2700" b="1">
                <a:solidFill>
                  <a:srgbClr val="ED145B"/>
                </a:solidFill>
                <a:latin typeface="Calibri"/>
              </a:rPr>
              <a:t> como continuar sozinho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Especialização: NLP, CV, Audio, MLOps, agentes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Papers: arXiv diário; Papers with Code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Competições: Kaggle BR community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Comunidades: PyData Brasil, LatinX in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6035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A0A6"/>
                </a:solidFill>
                <a:latin typeface="Calibri"/>
              </a:rPr>
              <a:t>1 · ESCOLHA UMA VERTICAL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1196035" cy="914400"/>
          </a:xfrm>
          <a:prstGeom prst="roundRect">
            <a:avLst>
              <a:gd name="adj" fmla="val 900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920240"/>
            <a:ext cx="10863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ED145B"/>
                </a:solidFill>
                <a:latin typeface="Calibri"/>
              </a:rPr>
              <a:t>NLP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212848"/>
            <a:ext cx="108630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LLMs, RAG, avaliação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00707" y="1755648"/>
            <a:ext cx="1196035" cy="914400"/>
          </a:xfrm>
          <a:prstGeom prst="roundRect">
            <a:avLst>
              <a:gd name="adj" fmla="val 90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5571" y="1920240"/>
            <a:ext cx="10863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2D9CDB"/>
                </a:solidFill>
                <a:latin typeface="Calibri"/>
              </a:rPr>
              <a:t>Visão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5571" y="2212848"/>
            <a:ext cx="108630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detecção, segmentação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43046" y="1755648"/>
            <a:ext cx="1196035" cy="914400"/>
          </a:xfrm>
          <a:prstGeom prst="roundRect">
            <a:avLst>
              <a:gd name="adj" fmla="val 9000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97910" y="1920240"/>
            <a:ext cx="10863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9B51E0"/>
                </a:solidFill>
                <a:latin typeface="Calibri"/>
              </a:rPr>
              <a:t>Áudio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7910" y="2212848"/>
            <a:ext cx="108630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ASR, TTS, música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85385" y="1755648"/>
            <a:ext cx="1196035" cy="914400"/>
          </a:xfrm>
          <a:prstGeom prst="roundRect">
            <a:avLst>
              <a:gd name="adj" fmla="val 9000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40249" y="1920240"/>
            <a:ext cx="10863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27AE60"/>
                </a:solidFill>
                <a:latin typeface="Calibri"/>
              </a:rPr>
              <a:t>MLOps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40249" y="2212848"/>
            <a:ext cx="108630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plataforma e custo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27724" y="1755648"/>
            <a:ext cx="1196035" cy="914400"/>
          </a:xfrm>
          <a:prstGeom prst="roundRect">
            <a:avLst>
              <a:gd name="adj" fmla="val 9000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2588" y="1920240"/>
            <a:ext cx="10863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2994A"/>
                </a:solidFill>
                <a:latin typeface="Calibri"/>
              </a:rPr>
              <a:t>Agentes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2588" y="2212848"/>
            <a:ext cx="108630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ferramentas e memória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2834640"/>
            <a:ext cx="6035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A0A6"/>
                </a:solidFill>
                <a:latin typeface="Calibri"/>
              </a:rPr>
              <a:t>2 · MANTENHA O RITMO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108960"/>
            <a:ext cx="2054352" cy="1152144"/>
          </a:xfrm>
          <a:prstGeom prst="roundRect">
            <a:avLst>
              <a:gd name="adj" fmla="val 7142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3255264"/>
            <a:ext cx="18348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2D9CDB"/>
                </a:solidFill>
                <a:latin typeface="Calibri"/>
              </a:rPr>
              <a:t>Papers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3602736"/>
            <a:ext cx="183489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arXiv diário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Papers with Code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13888" y="3108960"/>
            <a:ext cx="2054352" cy="1152144"/>
          </a:xfrm>
          <a:prstGeom prst="roundRect">
            <a:avLst>
              <a:gd name="adj" fmla="val 7142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23616" y="3255264"/>
            <a:ext cx="18348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27AE60"/>
                </a:solidFill>
                <a:latin typeface="Calibri"/>
              </a:rPr>
              <a:t>Competições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23616" y="3602736"/>
            <a:ext cx="183489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Kaggle BR community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projetos com dado real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69408" y="3108960"/>
            <a:ext cx="2054352" cy="1152144"/>
          </a:xfrm>
          <a:prstGeom prst="roundRect">
            <a:avLst>
              <a:gd name="adj" fmla="val 7142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79136" y="3255264"/>
            <a:ext cx="18348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9B51E0"/>
                </a:solidFill>
                <a:latin typeface="Calibri"/>
              </a:rPr>
              <a:t>Comunidades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79136" y="3602736"/>
            <a:ext cx="183489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PyData Brasil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LatinX in 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4425696"/>
            <a:ext cx="6035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A0A6"/>
                </a:solidFill>
                <a:latin typeface="Calibri"/>
              </a:rPr>
              <a:t>3 · OS PRIMEIROS 90 DIAS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4700016"/>
            <a:ext cx="1944624" cy="786384"/>
          </a:xfrm>
          <a:prstGeom prst="roundRect">
            <a:avLst>
              <a:gd name="adj" fmla="val 10465"/>
            </a:avLst>
          </a:prstGeom>
          <a:solidFill>
            <a:srgbClr val="17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30 dias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reproduzir um paper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630424" y="5093207"/>
            <a:ext cx="310896" cy="0"/>
          </a:xfrm>
          <a:prstGeom prst="line">
            <a:avLst/>
          </a:prstGeom>
          <a:ln w="25400">
            <a:solidFill>
              <a:srgbClr val="ED145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2968752" y="4700016"/>
            <a:ext cx="1944624" cy="786384"/>
          </a:xfrm>
          <a:prstGeom prst="roundRect">
            <a:avLst>
              <a:gd name="adj" fmla="val 10465"/>
            </a:avLst>
          </a:prstGeom>
          <a:solidFill>
            <a:srgbClr val="17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60 dias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um projeto ponta a ponta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940808" y="5093207"/>
            <a:ext cx="310896" cy="0"/>
          </a:xfrm>
          <a:prstGeom prst="line">
            <a:avLst/>
          </a:prstGeom>
          <a:ln w="25400">
            <a:solidFill>
              <a:srgbClr val="ED145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5279136" y="4700016"/>
            <a:ext cx="1944624" cy="786384"/>
          </a:xfrm>
          <a:prstGeom prst="roundRect">
            <a:avLst>
              <a:gd name="adj" fmla="val 10465"/>
            </a:avLst>
          </a:prstGeom>
          <a:solidFill>
            <a:srgbClr val="17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90 dias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publicar ou competir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705856"/>
            <a:ext cx="6565392" cy="512064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profundidade vence variedade: um projeto seu em produção vale mais que dez tutoriais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Fechamento:</a:t>
            </a:r>
            <a:r>
              <a:rPr sz="2700" b="1">
                <a:solidFill>
                  <a:srgbClr val="ED145B"/>
                </a:solidFill>
                <a:latin typeface="Calibri"/>
              </a:rPr>
              <a:t> do perceptron ao plantão 24/7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Do perceptron ao Transformer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CNN, RNN, LSTM e Attention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Otimização, regularização e HPO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MLOps, deploy e monitoramento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Tendências de fronteira 2026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Próximo passo: o desafio NovaCommerce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6035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A0A6"/>
                </a:solidFill>
                <a:latin typeface="Calibri"/>
              </a:rPr>
              <a:t>OITO AULAS, UM PERCURSO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92224"/>
            <a:ext cx="6565392" cy="457200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7" name="Oval 6"/>
          <p:cNvSpPr/>
          <p:nvPr/>
        </p:nvSpPr>
        <p:spPr>
          <a:xfrm>
            <a:off x="804672" y="1920240"/>
            <a:ext cx="201168" cy="201168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1911095"/>
            <a:ext cx="59253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Do perceptron ao Transformer: por que cada arquitetura existe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6565392" cy="457200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804672" y="2487168"/>
            <a:ext cx="201168" cy="201168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2478024"/>
            <a:ext cx="59253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CNN, RNN, LSTM e Attention: a forma segue o dado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26080"/>
            <a:ext cx="6565392" cy="457200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3" name="Oval 12"/>
          <p:cNvSpPr/>
          <p:nvPr/>
        </p:nvSpPr>
        <p:spPr>
          <a:xfrm>
            <a:off x="804672" y="3054096"/>
            <a:ext cx="201168" cy="201168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" y="3044952"/>
            <a:ext cx="59253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Otimização, regularização e HPO: fazer convergir e generalizar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493008"/>
            <a:ext cx="6565392" cy="457200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6" name="Oval 15"/>
          <p:cNvSpPr/>
          <p:nvPr/>
        </p:nvSpPr>
        <p:spPr>
          <a:xfrm>
            <a:off x="804672" y="3621024"/>
            <a:ext cx="201168" cy="201168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" y="3611879"/>
            <a:ext cx="59253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MLOps, deploy e monitoramento: o modelo vivendo em produção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59935"/>
            <a:ext cx="6565392" cy="457200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9" name="Oval 18"/>
          <p:cNvSpPr/>
          <p:nvPr/>
        </p:nvSpPr>
        <p:spPr>
          <a:xfrm>
            <a:off x="804672" y="4187951"/>
            <a:ext cx="201168" cy="201168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" y="4178807"/>
            <a:ext cx="59253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Tendências de fronteira 2026: multimodal, SSM e RAG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754880"/>
            <a:ext cx="6565392" cy="786384"/>
          </a:xfrm>
          <a:prstGeom prst="roundRect">
            <a:avLst>
              <a:gd name="adj" fmla="val 10465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PRÓXIMO PASSO — o desafio NovaCommerce 🚀</a:t>
            </a:r>
          </a:p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leve a cadeia inteira: dado → arquitetura → treino → deploy → monitoramento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353312" y="5870448"/>
            <a:ext cx="4700016" cy="0"/>
          </a:xfrm>
          <a:prstGeom prst="line">
            <a:avLst/>
          </a:prstGeom>
          <a:ln w="1524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289304" y="5742432"/>
            <a:ext cx="256032" cy="256032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4" name="Oval 23"/>
          <p:cNvSpPr/>
          <p:nvPr/>
        </p:nvSpPr>
        <p:spPr>
          <a:xfrm>
            <a:off x="1947672" y="5742432"/>
            <a:ext cx="256032" cy="256032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Oval 24"/>
          <p:cNvSpPr/>
          <p:nvPr/>
        </p:nvSpPr>
        <p:spPr>
          <a:xfrm>
            <a:off x="2606040" y="5742432"/>
            <a:ext cx="256032" cy="256032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Oval 25"/>
          <p:cNvSpPr/>
          <p:nvPr/>
        </p:nvSpPr>
        <p:spPr>
          <a:xfrm>
            <a:off x="3264408" y="5742432"/>
            <a:ext cx="256032" cy="256032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Oval 26"/>
          <p:cNvSpPr/>
          <p:nvPr/>
        </p:nvSpPr>
        <p:spPr>
          <a:xfrm>
            <a:off x="3922776" y="5742432"/>
            <a:ext cx="256032" cy="256032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Oval 27"/>
          <p:cNvSpPr/>
          <p:nvPr/>
        </p:nvSpPr>
        <p:spPr>
          <a:xfrm>
            <a:off x="4581144" y="5742432"/>
            <a:ext cx="256032" cy="256032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Oval 28"/>
          <p:cNvSpPr/>
          <p:nvPr/>
        </p:nvSpPr>
        <p:spPr>
          <a:xfrm>
            <a:off x="5239512" y="5742432"/>
            <a:ext cx="256032" cy="256032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0" name="Oval 29"/>
          <p:cNvSpPr/>
          <p:nvPr/>
        </p:nvSpPr>
        <p:spPr>
          <a:xfrm>
            <a:off x="5897880" y="5742432"/>
            <a:ext cx="256032" cy="256032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089904"/>
            <a:ext cx="65653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AA0A6"/>
                </a:solidFill>
                <a:latin typeface="Calibri"/>
              </a:rPr>
              <a:t>aula 1 → aula 8: a mesma pergunta, respondida com cada vez mais contexto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Referências:</a:t>
            </a:r>
            <a:r>
              <a:rPr sz="2700" b="1">
                <a:solidFill>
                  <a:srgbClr val="ED145B"/>
                </a:solidFill>
                <a:latin typeface="Calibri"/>
              </a:rPr>
              <a:t> os papers que sustentam a aula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Radford et al. CLIP. ICML, 2021.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Gu &amp; Dao. Mamba. arXiv, 2024.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Jacob et al. Quantization. CVPR, 2018.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Hinton et al. Distillation. NeurIPS Workshops, 2015.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Lewis et al. RAG. NeurIPS, 2020.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Liu et al. LLaVA. NeurIPS, 2023.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17904"/>
            <a:ext cx="6035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A0A6"/>
                </a:solidFill>
                <a:latin typeface="Calibri"/>
              </a:rPr>
              <a:t>NOVE ANOS DE IDEIAS QUE VIRARAM ROTINA DE PRODUÇÃO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41248" y="3072384"/>
            <a:ext cx="5980176" cy="0"/>
          </a:xfrm>
          <a:prstGeom prst="line">
            <a:avLst/>
          </a:prstGeom>
          <a:ln w="1778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905256" y="2971800"/>
            <a:ext cx="201168" cy="201168"/>
          </a:xfrm>
          <a:prstGeom prst="ellipse">
            <a:avLst/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005840" y="2688336"/>
            <a:ext cx="0" cy="292608"/>
          </a:xfrm>
          <a:prstGeom prst="line">
            <a:avLst/>
          </a:prstGeom>
          <a:ln w="12700">
            <a:solidFill>
              <a:srgbClr val="9B51E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84048" y="2084831"/>
            <a:ext cx="12435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9B51E0"/>
                </a:solidFill>
                <a:latin typeface="Calibri"/>
              </a:rPr>
              <a:t>Distillation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340864"/>
            <a:ext cx="124358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Hinton et 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542032"/>
            <a:ext cx="124358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2015</a:t>
            </a:r>
          </a:p>
        </p:txBody>
      </p:sp>
      <p:sp>
        <p:nvSpPr>
          <p:cNvPr id="12" name="Oval 11"/>
          <p:cNvSpPr/>
          <p:nvPr/>
        </p:nvSpPr>
        <p:spPr>
          <a:xfrm>
            <a:off x="2020824" y="2971800"/>
            <a:ext cx="201168" cy="201168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121408" y="3163824"/>
            <a:ext cx="0" cy="274320"/>
          </a:xfrm>
          <a:prstGeom prst="line">
            <a:avLst/>
          </a:prstGeom>
          <a:ln w="12700">
            <a:solidFill>
              <a:srgbClr val="2D9CD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499615" y="3456432"/>
            <a:ext cx="12435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2D9CDB"/>
                </a:solidFill>
                <a:latin typeface="Calibri"/>
              </a:rPr>
              <a:t>Quantization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5" y="3712463"/>
            <a:ext cx="124358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Jacob et 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99615" y="3913632"/>
            <a:ext cx="124358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2018</a:t>
            </a:r>
          </a:p>
        </p:txBody>
      </p:sp>
      <p:sp>
        <p:nvSpPr>
          <p:cNvPr id="17" name="Oval 16"/>
          <p:cNvSpPr/>
          <p:nvPr/>
        </p:nvSpPr>
        <p:spPr>
          <a:xfrm>
            <a:off x="3191256" y="2971800"/>
            <a:ext cx="201168" cy="201168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3291840" y="2688336"/>
            <a:ext cx="0" cy="292608"/>
          </a:xfrm>
          <a:prstGeom prst="line">
            <a:avLst/>
          </a:prstGeom>
          <a:ln w="12700">
            <a:solidFill>
              <a:srgbClr val="27AE6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670048" y="2084831"/>
            <a:ext cx="12435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27AE60"/>
                </a:solidFill>
                <a:latin typeface="Calibri"/>
              </a:rPr>
              <a:t>RAG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70048" y="2340864"/>
            <a:ext cx="124358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Lewis et 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70048" y="2542032"/>
            <a:ext cx="124358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2020</a:t>
            </a:r>
          </a:p>
        </p:txBody>
      </p:sp>
      <p:sp>
        <p:nvSpPr>
          <p:cNvPr id="22" name="Oval 21"/>
          <p:cNvSpPr/>
          <p:nvPr/>
        </p:nvSpPr>
        <p:spPr>
          <a:xfrm>
            <a:off x="4334255" y="2971800"/>
            <a:ext cx="201168" cy="201168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434840" y="3163824"/>
            <a:ext cx="0" cy="274320"/>
          </a:xfrm>
          <a:prstGeom prst="line">
            <a:avLst/>
          </a:prstGeom>
          <a:ln w="12700">
            <a:solidFill>
              <a:srgbClr val="ED145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813048" y="3456432"/>
            <a:ext cx="12435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ED145B"/>
                </a:solidFill>
                <a:latin typeface="Calibri"/>
              </a:rPr>
              <a:t>CLIP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13048" y="3712463"/>
            <a:ext cx="124358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Radford et al.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13048" y="3913632"/>
            <a:ext cx="124358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2021</a:t>
            </a:r>
          </a:p>
        </p:txBody>
      </p:sp>
      <p:sp>
        <p:nvSpPr>
          <p:cNvPr id="27" name="Oval 26"/>
          <p:cNvSpPr/>
          <p:nvPr/>
        </p:nvSpPr>
        <p:spPr>
          <a:xfrm>
            <a:off x="5431536" y="2971800"/>
            <a:ext cx="201168" cy="201168"/>
          </a:xfrm>
          <a:prstGeom prst="ellipse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5532120" y="2688336"/>
            <a:ext cx="0" cy="292608"/>
          </a:xfrm>
          <a:prstGeom prst="line">
            <a:avLst/>
          </a:prstGeom>
          <a:ln w="12700">
            <a:solidFill>
              <a:srgbClr val="F2994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910328" y="2084831"/>
            <a:ext cx="12435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2994A"/>
                </a:solidFill>
                <a:latin typeface="Calibri"/>
              </a:rPr>
              <a:t>LLaVA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10328" y="2340864"/>
            <a:ext cx="124358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Liu et al.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10328" y="2542032"/>
            <a:ext cx="124358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2023</a:t>
            </a:r>
          </a:p>
        </p:txBody>
      </p:sp>
      <p:sp>
        <p:nvSpPr>
          <p:cNvPr id="32" name="Oval 31"/>
          <p:cNvSpPr/>
          <p:nvPr/>
        </p:nvSpPr>
        <p:spPr>
          <a:xfrm>
            <a:off x="6528816" y="2971800"/>
            <a:ext cx="201168" cy="201168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629400" y="3163824"/>
            <a:ext cx="0" cy="274320"/>
          </a:xfrm>
          <a:prstGeom prst="line">
            <a:avLst/>
          </a:prstGeom>
          <a:ln w="12700">
            <a:solidFill>
              <a:srgbClr val="27AE6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007608" y="3456432"/>
            <a:ext cx="12435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27AE60"/>
                </a:solidFill>
                <a:latin typeface="Calibri"/>
              </a:rPr>
              <a:t>Mamba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07608" y="3712463"/>
            <a:ext cx="124358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Gu &amp; Dao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07608" y="3913632"/>
            <a:ext cx="124358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2024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4370832"/>
            <a:ext cx="1490472" cy="1188720"/>
          </a:xfrm>
          <a:prstGeom prst="roundRect">
            <a:avLst>
              <a:gd name="adj" fmla="val 6923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150" b="1">
                <a:solidFill>
                  <a:srgbClr val="2D9CDB"/>
                </a:solidFill>
                <a:latin typeface="Calibri"/>
              </a:rPr>
              <a:t>compressão</a:t>
            </a:r>
          </a:p>
          <a:p>
            <a:pPr algn="ctr"/>
            <a:r>
              <a:rPr sz="950">
                <a:solidFill>
                  <a:srgbClr val="9AA0A6"/>
                </a:solidFill>
                <a:latin typeface="Calibri"/>
              </a:rPr>
              <a:t>Distillation · Quantization
modelo menor, mesma tarefa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350008" y="4370832"/>
            <a:ext cx="1490472" cy="1188720"/>
          </a:xfrm>
          <a:prstGeom prst="roundRect">
            <a:avLst>
              <a:gd name="adj" fmla="val 6923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150" b="1">
                <a:solidFill>
                  <a:srgbClr val="27AE60"/>
                </a:solidFill>
                <a:latin typeface="Calibri"/>
              </a:rPr>
              <a:t>recuperação</a:t>
            </a:r>
          </a:p>
          <a:p>
            <a:pPr algn="ctr"/>
            <a:r>
              <a:rPr sz="950">
                <a:solidFill>
                  <a:srgbClr val="9AA0A6"/>
                </a:solidFill>
                <a:latin typeface="Calibri"/>
              </a:rPr>
              <a:t>RAG
conhecimento fora dos pesos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041648" y="4370832"/>
            <a:ext cx="1490472" cy="1188720"/>
          </a:xfrm>
          <a:prstGeom prst="roundRect">
            <a:avLst>
              <a:gd name="adj" fmla="val 6923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150" b="1">
                <a:solidFill>
                  <a:srgbClr val="ED145B"/>
                </a:solidFill>
                <a:latin typeface="Calibri"/>
              </a:rPr>
              <a:t>multimodal</a:t>
            </a:r>
          </a:p>
          <a:p>
            <a:pPr algn="ctr"/>
            <a:r>
              <a:rPr sz="950">
                <a:solidFill>
                  <a:srgbClr val="9AA0A6"/>
                </a:solidFill>
                <a:latin typeface="Calibri"/>
              </a:rPr>
              <a:t>CLIP · LLaVA
um espaço para dois sinais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733288" y="4370832"/>
            <a:ext cx="1490472" cy="1188720"/>
          </a:xfrm>
          <a:prstGeom prst="roundRect">
            <a:avLst>
              <a:gd name="adj" fmla="val 6923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150" b="1">
                <a:solidFill>
                  <a:srgbClr val="9B51E0"/>
                </a:solidFill>
                <a:latin typeface="Calibri"/>
              </a:rPr>
              <a:t>arquitetura</a:t>
            </a:r>
          </a:p>
          <a:p>
            <a:pPr algn="ctr"/>
            <a:r>
              <a:rPr sz="950">
                <a:solidFill>
                  <a:srgbClr val="9AA0A6"/>
                </a:solidFill>
                <a:latin typeface="Calibri"/>
              </a:rPr>
              <a:t>Mamba
custo linear no contexto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5742432"/>
            <a:ext cx="6565392" cy="530352"/>
          </a:xfrm>
          <a:prstGeom prst="roundRect">
            <a:avLst>
              <a:gd name="adj" fmla="val 15517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nenhum desses papers nasceu em produção — todos chegaram lá em menos de três anos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