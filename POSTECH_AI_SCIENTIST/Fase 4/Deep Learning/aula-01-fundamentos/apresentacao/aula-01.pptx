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41732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AA0A6"/>
                </a:solidFill>
                <a:latin typeface="Calibri"/>
              </a:rPr>
              <a:t>REDES NEURAIS E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D145B"/>
                </a:solidFill>
                <a:latin typeface="Calibri"/>
              </a:rPr>
              <a:t>AULA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95728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Fundamentos: do perceptron ao MLP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1" y="4224528"/>
            <a:ext cx="1463040" cy="64008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Prof. Flavio Padilha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919472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A0A6"/>
                </a:solidFill>
                <a:latin typeface="Calibri"/>
              </a:rPr>
              <a:t>FIAP Pós-Tech · AI Engineering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1  ·  30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Introdução teórica: do neurônio biológico ao artificial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Roadmap da disciplina e objetivos da aula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A inspiração biológica e sua simplificação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Do dendrito à entrada xᵢ: o mapa das analogias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Para onde estamos indo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Oito aulas em quatro blocos: fundamentos, visão, sequência e produção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Hoje: a unidade atômica de tudo o que vem depois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Entrega final: desafio integrador multi-modal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74519"/>
            <a:ext cx="1371600" cy="566928"/>
          </a:xfrm>
          <a:prstGeom prst="roundRect">
            <a:avLst>
              <a:gd name="adj" fmla="val 14516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FUNDAMENTOS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13432" y="2157984"/>
            <a:ext cx="246888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2670048"/>
            <a:ext cx="1371600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01 · Perceptron e MLP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328415"/>
            <a:ext cx="1371600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02 · Backpropagation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1874519"/>
            <a:ext cx="1371600" cy="566928"/>
          </a:xfrm>
          <a:prstGeom prst="roundRect">
            <a:avLst>
              <a:gd name="adj" fmla="val 14516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VISÃO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86784" y="2157984"/>
            <a:ext cx="246888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87752" y="2670048"/>
            <a:ext cx="1371600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03 · CNN fundamentos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87752" y="3328415"/>
            <a:ext cx="1371600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04 · CNN avançado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1874519"/>
            <a:ext cx="1371600" cy="566928"/>
          </a:xfrm>
          <a:prstGeom prst="roundRect">
            <a:avLst>
              <a:gd name="adj" fmla="val 14516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SEQUÊNCIA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0136" y="2157984"/>
            <a:ext cx="246888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61104" y="2670048"/>
            <a:ext cx="1371600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05 · RNN e LSTM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1104" y="3328415"/>
            <a:ext cx="1371600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06 · Attention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34456" y="1874519"/>
            <a:ext cx="1371600" cy="566928"/>
          </a:xfrm>
          <a:prstGeom prst="roundRect">
            <a:avLst>
              <a:gd name="adj" fmla="val 14516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PRODUÇÃO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34456" y="2670048"/>
            <a:ext cx="1371600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07 · Otimização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34456" y="3328415"/>
            <a:ext cx="1371600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08 · MLOps e deploy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77240" y="2953512"/>
            <a:ext cx="0" cy="1207008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7240" y="2953512"/>
            <a:ext cx="109728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3504" y="4187952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D145B"/>
                </a:solidFill>
                <a:latin typeface="Calibri"/>
              </a:rPr>
              <a:t>você está aqui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074920"/>
            <a:ext cx="6391656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entrega final: desafio integrador multi-modal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600200" y="4754880"/>
            <a:ext cx="0" cy="292608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273552" y="4754880"/>
            <a:ext cx="0" cy="292608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946904" y="4754880"/>
            <a:ext cx="0" cy="292608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620256" y="4754880"/>
            <a:ext cx="0" cy="292608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5897880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tudo parte da unidade atômica de hoje — o neurônio artificial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Objetivos da aula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Entender o neurônio artificial e a inspiração biológica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Formalizar o perceptron de Rosenblatt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Comparar funções de ativação: Sigmoid, Tanh, ReLU, GELU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Reconhecer limitações do perceptron (problema XOR)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Codificar o perceptron e testá-lo no notebook (sklearn)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868680" y="2560320"/>
            <a:ext cx="5943600" cy="3108960"/>
          </a:xfrm>
          <a:prstGeom prst="line">
            <a:avLst/>
          </a:prstGeom>
          <a:ln w="15240">
            <a:solidFill>
              <a:srgbClr val="9AA0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97280" y="4828031"/>
            <a:ext cx="329184" cy="329184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230368"/>
            <a:ext cx="1207008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O neurônio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artificial</a:t>
            </a:r>
          </a:p>
        </p:txBody>
      </p:sp>
      <p:sp>
        <p:nvSpPr>
          <p:cNvPr id="8" name="Oval 7"/>
          <p:cNvSpPr/>
          <p:nvPr/>
        </p:nvSpPr>
        <p:spPr>
          <a:xfrm>
            <a:off x="2414016" y="4114799"/>
            <a:ext cx="329184" cy="329184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75104" y="4517136"/>
            <a:ext cx="1207008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Perceptron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de Rosenblatt</a:t>
            </a:r>
          </a:p>
        </p:txBody>
      </p:sp>
      <p:sp>
        <p:nvSpPr>
          <p:cNvPr id="10" name="Oval 9"/>
          <p:cNvSpPr/>
          <p:nvPr/>
        </p:nvSpPr>
        <p:spPr>
          <a:xfrm>
            <a:off x="3730752" y="3401568"/>
            <a:ext cx="329184" cy="329184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3803904"/>
            <a:ext cx="1207008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Ativações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σ · ReLU · GELU</a:t>
            </a:r>
          </a:p>
        </p:txBody>
      </p:sp>
      <p:sp>
        <p:nvSpPr>
          <p:cNvPr id="12" name="Oval 11"/>
          <p:cNvSpPr/>
          <p:nvPr/>
        </p:nvSpPr>
        <p:spPr>
          <a:xfrm>
            <a:off x="5047488" y="2688336"/>
            <a:ext cx="329184" cy="329184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3090672"/>
            <a:ext cx="1207008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Limite: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o problema XOR</a:t>
            </a:r>
          </a:p>
        </p:txBody>
      </p:sp>
      <p:sp>
        <p:nvSpPr>
          <p:cNvPr id="14" name="Oval 13"/>
          <p:cNvSpPr/>
          <p:nvPr/>
        </p:nvSpPr>
        <p:spPr>
          <a:xfrm>
            <a:off x="6364223" y="1975103"/>
            <a:ext cx="329184" cy="329184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25312" y="2377439"/>
            <a:ext cx="1207008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Código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notebook sklearn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035040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o último degrau é o experimento do notebook (sklearn)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Contexto:</a:t>
            </a:r>
            <a:r>
              <a:rPr sz="2700" b="1">
                <a:solidFill>
                  <a:srgbClr val="ED145B"/>
                </a:solidFill>
                <a:latin typeface="Calibri"/>
              </a:rPr>
              <a:t> o neurônio biológico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Dendritos recebem sinais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Corpo celular integra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Axônio propaga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Sinapse modula força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Entradas xᵢ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Pesos wᵢ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Soma ponderada + bias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Ativação não-linear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D9CDB"/>
                </a:solidFill>
                <a:latin typeface="Calibri"/>
              </a:rPr>
              <a:t>BIOLÓGICO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627632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D145B"/>
                </a:solidFill>
                <a:latin typeface="Calibri"/>
              </a:rPr>
              <a:t>ARTIFICIAL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84831"/>
            <a:ext cx="2651760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Dendritos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recebem sinais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084831"/>
            <a:ext cx="2651760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Entradas x₁ … xₙ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01568" y="2450591"/>
            <a:ext cx="969264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" y="3054096"/>
            <a:ext cx="2651760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Sinapse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modula a força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054096"/>
            <a:ext cx="2651760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Pesos w₁ … wₙ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01568" y="3419856"/>
            <a:ext cx="969264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023360"/>
            <a:ext cx="2651760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Corpo celular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integra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023360"/>
            <a:ext cx="2651760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Soma ponderada + viés 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01568" y="4389120"/>
            <a:ext cx="969264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5800" y="4992624"/>
            <a:ext cx="2651760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Axônio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propaga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4992624"/>
            <a:ext cx="2651760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Ativação não-linear → 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01568" y="5358384"/>
            <a:ext cx="969264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5852160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o modelo artificial é uma simplificação massiva — não é neurociência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2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Formalização: perceptron, geometria e ativações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A equação do neurônio artificial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Perceptron de Rosenblatt e a regra de aprendizado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 hiperplano de decisão e a hipótese linear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5102352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056632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Por que a não-linearidade é indispensável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1345831" y="1581912"/>
            <a:ext cx="5236186" cy="1304266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 neurônio artificial:</a:t>
            </a:r>
            <a:r>
              <a:rPr sz="2700" b="1">
                <a:solidFill>
                  <a:srgbClr val="ED145B"/>
                </a:solidFill>
                <a:latin typeface="Calibri"/>
              </a:rPr>
              <a:t> formalização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x ∈ ℝⁿ — vetor de entrada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w ∈ ℝⁿ — vetor de pesos (aprendido)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 ∈ ℝ — viés (aprendido)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φ(·) — função de ativação</a:t>
            </a:r>
          </a:p>
        </p:txBody>
      </p:sp>
      <p:pic>
        <p:nvPicPr>
          <p:cNvPr id="5" name="Picture 4" descr="2482637c32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999" y="1783080"/>
            <a:ext cx="4833850" cy="9019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3611880"/>
            <a:ext cx="1348740" cy="749808"/>
          </a:xfrm>
          <a:prstGeom prst="roundRect">
            <a:avLst>
              <a:gd name="adj" fmla="val 10975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entradas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x₁ … xₙ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61972" y="3986784"/>
            <a:ext cx="32918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18588" y="3611880"/>
            <a:ext cx="1348740" cy="749808"/>
          </a:xfrm>
          <a:prstGeom prst="roundRect">
            <a:avLst>
              <a:gd name="adj" fmla="val 10975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soma ponderada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Σ wᵢxᵢ + 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94760" y="3986784"/>
            <a:ext cx="32918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51376" y="3611880"/>
            <a:ext cx="1348740" cy="749808"/>
          </a:xfrm>
          <a:prstGeom prst="roundRect">
            <a:avLst>
              <a:gd name="adj" fmla="val 10975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ativação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φ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27548" y="3986784"/>
            <a:ext cx="32918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84164" y="3611880"/>
            <a:ext cx="1348740" cy="749808"/>
          </a:xfrm>
          <a:prstGeom prst="roundRect">
            <a:avLst>
              <a:gd name="adj" fmla="val 10975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saída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80560"/>
            <a:ext cx="13487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o que chega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8588" y="4480560"/>
            <a:ext cx="13487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parte linear (aprendida)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4480560"/>
            <a:ext cx="13487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a não-linearidade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4164" y="4480560"/>
            <a:ext cx="13487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o que sai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120640"/>
            <a:ext cx="6547104" cy="640080"/>
          </a:xfrm>
          <a:prstGeom prst="roundRect">
            <a:avLst>
              <a:gd name="adj" fmla="val 12857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aprendidos no treino: w e b   ·   escolha de projeto: 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97880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tudo nesta disciplina é variação e composição desta equação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Perceptron de Rosenblatt (1958)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Ativação degrau (Heaviside)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Regra de aprendizado: w ← w + η (y - ŷ) x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Garantia de convergência para dados linearmente separáveis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Primeiro modelo com aprendizado supervisionado funcional em hardware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1417320" cy="777240"/>
          </a:xfrm>
          <a:prstGeom prst="roundRect">
            <a:avLst>
              <a:gd name="adj" fmla="val 10588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exemplo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(x, y)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21408" y="2395728"/>
            <a:ext cx="237743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77440" y="2011680"/>
            <a:ext cx="1417320" cy="777240"/>
          </a:xfrm>
          <a:prstGeom prst="roundRect">
            <a:avLst>
              <a:gd name="adj" fmla="val 10588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ŷ = degrau(w·x + b)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13048" y="2395728"/>
            <a:ext cx="23774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69080" y="2011680"/>
            <a:ext cx="1417320" cy="777240"/>
          </a:xfrm>
          <a:prstGeom prst="roundRect">
            <a:avLst>
              <a:gd name="adj" fmla="val 10588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0B0B0F"/>
                </a:solidFill>
                <a:latin typeface="Calibri"/>
              </a:rPr>
              <a:t>erro  e = y − ŷ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04688" y="2395728"/>
            <a:ext cx="23774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760720" y="2011680"/>
            <a:ext cx="1417320" cy="777240"/>
          </a:xfrm>
          <a:prstGeom prst="roundRect">
            <a:avLst>
              <a:gd name="adj" fmla="val 10588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w ← w + η · e · 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69380" y="2807208"/>
            <a:ext cx="0" cy="502920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394460" y="3310128"/>
            <a:ext cx="5074920" cy="0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394460" y="2834640"/>
            <a:ext cx="0" cy="475488"/>
          </a:xfrm>
          <a:prstGeom prst="line">
            <a:avLst/>
          </a:prstGeom>
          <a:ln w="2286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51760" y="340156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D145B"/>
                </a:solidFill>
                <a:latin typeface="Calibri"/>
              </a:rPr>
              <a:t>repete a cada exemplo, época após época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13632"/>
            <a:ext cx="6547104" cy="713232"/>
          </a:xfrm>
          <a:prstGeom prst="roundRect">
            <a:avLst>
              <a:gd name="adj" fmla="val 11538"/>
            </a:avLst>
          </a:prstGeom>
          <a:noFill/>
          <a:ln w="17780">
            <a:solidFill>
              <a:srgbClr val="27AE6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27AE60"/>
                </a:solidFill>
                <a:latin typeface="Calibri"/>
              </a:rPr>
              <a:t>Teorema da convergência: se os dados são linearmente separáveis,</a:t>
            </a:r>
          </a:p>
          <a:p>
            <a:pPr algn="ctr"/>
            <a:r>
              <a:rPr sz="1150" b="0">
                <a:solidFill>
                  <a:srgbClr val="27AE60"/>
                </a:solidFill>
                <a:latin typeface="Calibri"/>
              </a:rPr>
              <a:t>o perceptron encontra uma fronteira em um número finito de passos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892040"/>
            <a:ext cx="6547104" cy="749808"/>
          </a:xfrm>
          <a:prstGeom prst="roundRect">
            <a:avLst>
              <a:gd name="adj" fmla="val 10975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“The perceptron may eventually be able to learn, make decisions,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and translate languages.”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715000"/>
            <a:ext cx="65471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Calibri"/>
              </a:rPr>
              <a:t>— Frank Rosenblatt, 1958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Geometria:</a:t>
            </a:r>
            <a:r>
              <a:rPr sz="2700" b="1">
                <a:solidFill>
                  <a:srgbClr val="ED145B"/>
                </a:solidFill>
                <a:latin typeface="Calibri"/>
              </a:rPr>
              <a:t> o que o perceptron faz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 perceptron define um hiperplano de decisão em ℝⁿ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Tudo de um lado: classe 1. Do outro: classe 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897880" cy="3703320"/>
          </a:xfrm>
          <a:prstGeom prst="roundRect">
            <a:avLst>
              <a:gd name="adj" fmla="val 2222"/>
            </a:avLst>
          </a:prstGeom>
          <a:noFill/>
          <a:ln w="17780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960120" y="2258568"/>
            <a:ext cx="5303520" cy="2862072"/>
          </a:xfrm>
          <a:prstGeom prst="line">
            <a:avLst/>
          </a:prstGeom>
          <a:ln w="3302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417320" y="2395728"/>
            <a:ext cx="219456" cy="219456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2148840" y="2103120"/>
            <a:ext cx="219456" cy="219456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1874519" y="3017520"/>
            <a:ext cx="219456" cy="219456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1325880" y="3611880"/>
            <a:ext cx="219456" cy="219456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2606040" y="2651760"/>
            <a:ext cx="219456" cy="219456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5120640" y="4224528"/>
            <a:ext cx="219456" cy="219456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4480560" y="4572000"/>
            <a:ext cx="219456" cy="219456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3931920" y="4937760"/>
            <a:ext cx="219456" cy="219456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4892040"/>
            <a:ext cx="219456" cy="219456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5669280" y="3794760"/>
            <a:ext cx="219456" cy="219456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66160" y="3712463"/>
            <a:ext cx="475488" cy="841249"/>
          </a:xfrm>
          <a:prstGeom prst="line">
            <a:avLst/>
          </a:prstGeom>
          <a:ln w="22860">
            <a:solidFill>
              <a:srgbClr val="FFFFF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96512" y="4443984"/>
            <a:ext cx="548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188366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w·x + b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6908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D9CDB"/>
                </a:solidFill>
                <a:latin typeface="Calibri"/>
              </a:rPr>
              <a:t>w·x + b &lt; 0</a:t>
            </a:r>
          </a:p>
          <a:p>
            <a:pPr algn="l"/>
            <a:r>
              <a:rPr sz="1100" b="0" i="0">
                <a:solidFill>
                  <a:srgbClr val="2D9CDB"/>
                </a:solidFill>
                <a:latin typeface="Calibri"/>
              </a:rPr>
              <a:t>classe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7180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D145B"/>
                </a:solidFill>
                <a:latin typeface="Calibri"/>
              </a:rPr>
              <a:t>w·x + b &gt; 0</a:t>
            </a:r>
          </a:p>
          <a:p>
            <a:pPr algn="l"/>
            <a:r>
              <a:rPr sz="1100" b="0" i="0">
                <a:solidFill>
                  <a:srgbClr val="ED145B"/>
                </a:solidFill>
                <a:latin typeface="Calibri"/>
              </a:rPr>
              <a:t>classe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623560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classificar = perguntar de que lado da fronteira o ponto caiu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Hipótese estatística do modelo linear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 perceptron supõe que a decisão pode ser descrita por um hiperplano no espaço de atributos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Se as features já carregam sinal útil, o viés linear reduz variância, custo e dificuldade de treino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Se a estrutura real depende de interações não lineares, o erro persiste mesmo com treino correto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Pergunta 1: a classe de hipóteses consegue representar a solução?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Pergunta 2: o algoritmo de treino consegue encontrá-la?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Pergunta 3: a métrica escolhida distingue erro geométrico de erro probabilístico?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24912" y="1645920"/>
            <a:ext cx="2468880" cy="566928"/>
          </a:xfrm>
          <a:prstGeom prst="roundRect">
            <a:avLst>
              <a:gd name="adj" fmla="val 14516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erro alto no modelo linear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691639" y="2231136"/>
            <a:ext cx="2267713" cy="566928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3959351" y="2231136"/>
            <a:ext cx="1" cy="566928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959352" y="2231136"/>
            <a:ext cx="2267711" cy="566928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5800" y="2834640"/>
            <a:ext cx="2011679" cy="1325880"/>
          </a:xfrm>
          <a:prstGeom prst="roundRect">
            <a:avLst>
              <a:gd name="adj" fmla="val 620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150" b="1">
                <a:solidFill>
                  <a:srgbClr val="2D9CDB"/>
                </a:solidFill>
                <a:latin typeface="Calibri"/>
              </a:rPr>
              <a:t>REPRESENTABILIDADE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a família linear consegue expressar a solução?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1" y="2834640"/>
            <a:ext cx="2011679" cy="1325880"/>
          </a:xfrm>
          <a:prstGeom prst="roundRect">
            <a:avLst>
              <a:gd name="adj" fmla="val 6206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150" b="1">
                <a:solidFill>
                  <a:srgbClr val="F2994A"/>
                </a:solidFill>
                <a:latin typeface="Calibri"/>
              </a:rPr>
              <a:t>OTIMIZAÇÃO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o algoritmo de treino consegue encontrá-la?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21223" y="2834640"/>
            <a:ext cx="2011679" cy="1325880"/>
          </a:xfrm>
          <a:prstGeom prst="roundRect">
            <a:avLst>
              <a:gd name="adj" fmla="val 6206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150" b="1">
                <a:solidFill>
                  <a:srgbClr val="9B51E0"/>
                </a:solidFill>
                <a:latin typeface="Calibri"/>
              </a:rPr>
              <a:t>MÉTRICA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ela distingue erro geométrico de erro probabilístico?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434840"/>
            <a:ext cx="3145536" cy="841248"/>
          </a:xfrm>
          <a:prstGeom prst="roundRect">
            <a:avLst>
              <a:gd name="adj" fmla="val 9782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features com sinal útil →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viés linear reduz variância, custo e treino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87368" y="4434840"/>
            <a:ext cx="3145536" cy="841248"/>
          </a:xfrm>
          <a:prstGeom prst="roundRect">
            <a:avLst>
              <a:gd name="adj" fmla="val 9782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estrutura com interações →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erro persiste mesmo com treino perfeito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32120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antes de trocar de modelo, descubra qual das três falhou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Funções de ativação:</a:t>
            </a:r>
            <a:r>
              <a:rPr sz="2700" b="1">
                <a:solidFill>
                  <a:srgbClr val="ED145B"/>
                </a:solidFill>
                <a:latin typeface="Calibri"/>
              </a:rPr>
              <a:t> por que importam?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Sem não-linearidade, compor camadas = uma camada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Ativação define suavidade, saturação, gradiente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994A"/>
                </a:solidFill>
                <a:latin typeface="Calibri"/>
              </a:rPr>
              <a:t>SEM não-linearidade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658368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71600" y="2194560"/>
            <a:ext cx="292608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691640" y="1920240"/>
            <a:ext cx="1371600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W₁ ·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0672" y="2194560"/>
            <a:ext cx="292608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10712" y="1920240"/>
            <a:ext cx="1371600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W₂ 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204825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2994A"/>
                </a:solidFill>
                <a:latin typeface="Calibri"/>
              </a:rPr>
              <a:t>=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85232" y="1920240"/>
            <a:ext cx="1947672" cy="548640"/>
          </a:xfrm>
          <a:prstGeom prst="roundRect">
            <a:avLst>
              <a:gd name="adj" fmla="val 15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0B0B0F"/>
                </a:solidFill>
                <a:latin typeface="Calibri"/>
              </a:rPr>
              <a:t>W′ · x   (uma camada!)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78608"/>
            <a:ext cx="65471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AA0A6"/>
                </a:solidFill>
                <a:latin typeface="Calibri"/>
              </a:rPr>
              <a:t>composição de funções afins é afim — a profundidade não acrescenta nada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COM não-linearidade 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64992"/>
            <a:ext cx="658368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71600" y="3639312"/>
            <a:ext cx="292608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691640" y="3364992"/>
            <a:ext cx="1371600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φ(W₁ ·)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90672" y="3639312"/>
            <a:ext cx="292608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410712" y="3364992"/>
            <a:ext cx="1371600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φ(W₂ ·)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8032" y="3493008"/>
            <a:ext cx="365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Calibri"/>
              </a:rPr>
              <a:t>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85232" y="3364992"/>
            <a:ext cx="1947672" cy="54864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0B0B0F"/>
                </a:solidFill>
                <a:latin typeface="Calibri"/>
              </a:rPr>
              <a:t>fronteiras não lineares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23360"/>
            <a:ext cx="65471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AA0A6"/>
                </a:solidFill>
                <a:latin typeface="Calibri"/>
              </a:rPr>
              <a:t>cada φ dobra o espaço — só então empilhar camadas soma capacidade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526280"/>
            <a:ext cx="1444752" cy="1051560"/>
          </a:xfrm>
          <a:prstGeom prst="roundRect">
            <a:avLst>
              <a:gd name="adj" fmla="val 782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D9CDB"/>
                </a:solidFill>
                <a:latin typeface="Calibri"/>
              </a:rPr>
              <a:t>Sigmoid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1 / (1 + e⁻ᶻ)
saída (0, 1)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86584" y="4526280"/>
            <a:ext cx="1444752" cy="1051560"/>
          </a:xfrm>
          <a:prstGeom prst="roundRect">
            <a:avLst>
              <a:gd name="adj" fmla="val 7826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9B51E0"/>
                </a:solidFill>
                <a:latin typeface="Calibri"/>
              </a:rPr>
              <a:t>Tanh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tanh(z)
saída (−1, 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87368" y="4526280"/>
            <a:ext cx="1444752" cy="1051560"/>
          </a:xfrm>
          <a:prstGeom prst="roundRect">
            <a:avLst>
              <a:gd name="adj" fmla="val 782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ED145B"/>
                </a:solidFill>
                <a:latin typeface="Calibri"/>
              </a:rPr>
              <a:t>ReLU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max(0, z)
saída [0, ∞)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88152" y="4526280"/>
            <a:ext cx="1444752" cy="1051560"/>
          </a:xfrm>
          <a:prstGeom prst="roundRect">
            <a:avLst>
              <a:gd name="adj" fmla="val 782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7AE60"/>
                </a:solidFill>
                <a:latin typeface="Calibri"/>
              </a:rPr>
              <a:t>GELU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z · Φ(z)
saída 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760720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a ativação define suavidade, saturação e como o gradiente flui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3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Ativações modernas, XOR e método experimental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ReLU, GELU e o custo de cada escolha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 caso XOR e a crise de 1969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Inicialização de pesos: Xavier e Kaiming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5102352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056632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Notebook-first: hipótese, baselines e métricas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ReLU:</a:t>
            </a:r>
            <a:r>
              <a:rPr sz="2700" b="1">
                <a:solidFill>
                  <a:srgbClr val="ED145B"/>
                </a:solidFill>
                <a:latin typeface="Calibri"/>
              </a:rPr>
              <a:t> por que virou padrão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Derivada 0 ou 1 → sem vanishing gradient na região positiva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Computacionalmente trivial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Esparsidade natural: ~50% das ativações são 0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"Dying ReLU": neurônio que zera nunca mais aprende (gradiente zero)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Variantes: Leaky ReLU, PReLU, ELU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D145B"/>
                </a:solidFill>
                <a:latin typeface="Calibri"/>
              </a:rPr>
              <a:t>ReLU(z) = max(0, z)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4160520"/>
            <a:ext cx="3200400" cy="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331720" y="2148840"/>
            <a:ext cx="0" cy="256032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4400" y="4160520"/>
            <a:ext cx="1417320" cy="0"/>
          </a:xfrm>
          <a:prstGeom prst="line">
            <a:avLst/>
          </a:prstGeom>
          <a:ln w="355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331720" y="2377440"/>
            <a:ext cx="1508760" cy="1783080"/>
          </a:xfrm>
          <a:prstGeom prst="line">
            <a:avLst/>
          </a:prstGeom>
          <a:ln w="355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14400" y="4160520"/>
            <a:ext cx="1417320" cy="155448"/>
          </a:xfrm>
          <a:prstGeom prst="line">
            <a:avLst/>
          </a:prstGeom>
          <a:ln w="20320">
            <a:solidFill>
              <a:srgbClr val="F2994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32688" y="440740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2994A"/>
                </a:solidFill>
                <a:latin typeface="Calibri"/>
              </a:rPr>
              <a:t>gradiente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063240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  <a:latin typeface="Calibri"/>
              </a:rPr>
              <a:t>gradiente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023360"/>
            <a:ext cx="320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80060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9AA0A6"/>
                </a:solidFill>
                <a:latin typeface="Calibri"/>
              </a:rPr>
              <a:t>Leaky ReLU (tracejado) mantém uma inclinação à esquerda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874519"/>
            <a:ext cx="2926080" cy="868680"/>
          </a:xfrm>
          <a:prstGeom prst="roundRect">
            <a:avLst>
              <a:gd name="adj" fmla="val 9473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7AE60"/>
                </a:solidFill>
                <a:latin typeface="Calibri"/>
              </a:rPr>
              <a:t>Custo trivial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sem exp, sem divisão — só uma comparação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944368"/>
            <a:ext cx="2926080" cy="868680"/>
          </a:xfrm>
          <a:prstGeom prst="roundRect">
            <a:avLst>
              <a:gd name="adj" fmla="val 9473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D9CDB"/>
                </a:solidFill>
                <a:latin typeface="Calibri"/>
              </a:rPr>
              <a:t>Esparsidade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~50% das ativações saem zeradas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014215"/>
            <a:ext cx="2926080" cy="868680"/>
          </a:xfrm>
          <a:prstGeom prst="roundRect">
            <a:avLst>
              <a:gd name="adj" fmla="val 9473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F2994A"/>
                </a:solidFill>
                <a:latin typeface="Calibri"/>
              </a:rPr>
              <a:t>Dying ReLU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neurônio que zera tem gradiente 0 e nunca mais aprende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57800"/>
            <a:ext cx="6547104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Variantes: Leaky ReLU · PReLU · ELU — todas atacam o gradiente zero à esquerda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43600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AlexNet (2012): foi a ReLU que tornou tratável treinar 8 camadas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2520004" y="1490472"/>
            <a:ext cx="2887841" cy="788877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GELU:</a:t>
            </a:r>
            <a:r>
              <a:rPr sz="2700" b="1">
                <a:solidFill>
                  <a:srgbClr val="ED145B"/>
                </a:solidFill>
                <a:latin typeface="Calibri"/>
              </a:rPr>
              <a:t> a ativação moderna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Suave (diferenciável em toda parte)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Estocástica em natureza (pondera pela probabilidade de ativação)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Usada em Transformers (BERT, GPT, LLaMA)</a:t>
            </a:r>
          </a:p>
        </p:txBody>
      </p:sp>
      <p:pic>
        <p:nvPicPr>
          <p:cNvPr id="5" name="Picture 4" descr="d7ed2a70a0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172" y="1691640"/>
            <a:ext cx="2485505" cy="386541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868680" y="4800600"/>
            <a:ext cx="3337560" cy="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194560" y="2788920"/>
            <a:ext cx="0" cy="237744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" y="4800600"/>
            <a:ext cx="1280160" cy="0"/>
          </a:xfrm>
          <a:prstGeom prst="line">
            <a:avLst/>
          </a:prstGeom>
          <a:ln w="2794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194560" y="3154680"/>
            <a:ext cx="1645920" cy="1645920"/>
          </a:xfrm>
          <a:prstGeom prst="line">
            <a:avLst/>
          </a:prstGeom>
          <a:ln w="2794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" y="4901184"/>
            <a:ext cx="365760" cy="45720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80160" y="4946904"/>
            <a:ext cx="365760" cy="9144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645920" y="4873752"/>
            <a:ext cx="365760" cy="82296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011680" y="4800600"/>
            <a:ext cx="182880" cy="73152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194560" y="4562856"/>
            <a:ext cx="365760" cy="237744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560320" y="4224528"/>
            <a:ext cx="365760" cy="338328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926080" y="3831336"/>
            <a:ext cx="365760" cy="393192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291840" y="3419856"/>
            <a:ext cx="365760" cy="411480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657600" y="3209544"/>
            <a:ext cx="182880" cy="210312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847088" y="4498848"/>
            <a:ext cx="777240" cy="658368"/>
          </a:xfrm>
          <a:prstGeom prst="roundRect">
            <a:avLst>
              <a:gd name="adj" fmla="val 12500"/>
            </a:avLst>
          </a:prstGeom>
          <a:noFill/>
          <a:ln w="17780">
            <a:solidFill>
              <a:srgbClr val="FFFF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370832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2994A"/>
                </a:solidFill>
                <a:latin typeface="Calibri"/>
              </a:rPr>
              <a:t>ReLU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9560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D145B"/>
                </a:solidFill>
                <a:latin typeface="Calibri"/>
              </a:rPr>
              <a:t>GELU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4663440"/>
            <a:ext cx="320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230368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9AA0A6"/>
                </a:solidFill>
                <a:latin typeface="Calibri"/>
              </a:rPr>
              <a:t>bico (ReLU)  ×  transição suave (GELU)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2606040"/>
            <a:ext cx="2743200" cy="841248"/>
          </a:xfrm>
          <a:prstGeom prst="roundRect">
            <a:avLst>
              <a:gd name="adj" fmla="val 9782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2D9CDB"/>
                </a:solidFill>
                <a:latin typeface="Calibri"/>
              </a:rPr>
              <a:t>z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quanto vale a entrada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666744"/>
            <a:ext cx="2743200" cy="841248"/>
          </a:xfrm>
          <a:prstGeom prst="roundRect">
            <a:avLst>
              <a:gd name="adj" fmla="val 9782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9B51E0"/>
                </a:solidFill>
                <a:latin typeface="Calibri"/>
              </a:rPr>
              <a:t>Φ(z)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probabilidade de deixar passar (CDF da Normal)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727448"/>
            <a:ext cx="2743200" cy="841248"/>
          </a:xfrm>
          <a:prstGeom prst="roundRect">
            <a:avLst>
              <a:gd name="adj" fmla="val 9782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ED145B"/>
                </a:solidFill>
                <a:latin typeface="Calibri"/>
              </a:rPr>
              <a:t>z · Φ(z)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porta suave: pondera em vez de cortar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52160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diferenciável em toda parte — padrão em BERT, GPT e LLaMA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 caso XOR:</a:t>
            </a:r>
            <a:r>
              <a:rPr sz="2700" b="1">
                <a:solidFill>
                  <a:srgbClr val="ED145B"/>
                </a:solidFill>
                <a:latin typeface="Calibri"/>
              </a:rPr>
              <a:t> a crise de 1969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Não é linearmente separável!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Minsky &amp; Papert (1969): demonstraram que o perceptron não pode aprender XOR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Resultado: AI winter de 15 anos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017520" cy="2834640"/>
          </a:xfrm>
          <a:prstGeom prst="roundRect">
            <a:avLst>
              <a:gd name="adj" fmla="val 2903"/>
            </a:avLst>
          </a:prstGeom>
          <a:noFill/>
          <a:ln w="17780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51560" y="4297680"/>
            <a:ext cx="2331720" cy="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51560" y="2148840"/>
            <a:ext cx="0" cy="214884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96111" y="4142232"/>
            <a:ext cx="310896" cy="310896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9" name="Oval 8"/>
          <p:cNvSpPr/>
          <p:nvPr/>
        </p:nvSpPr>
        <p:spPr>
          <a:xfrm>
            <a:off x="2404872" y="4142232"/>
            <a:ext cx="310896" cy="310896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896111" y="2633472"/>
            <a:ext cx="310896" cy="310896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404872" y="2633472"/>
            <a:ext cx="310896" cy="310896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2395728"/>
            <a:ext cx="2286000" cy="1581911"/>
          </a:xfrm>
          <a:prstGeom prst="line">
            <a:avLst/>
          </a:prstGeom>
          <a:ln w="17780">
            <a:solidFill>
              <a:srgbClr val="F2994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14400" y="2286000"/>
            <a:ext cx="2286000" cy="1417320"/>
          </a:xfrm>
          <a:prstGeom prst="line">
            <a:avLst/>
          </a:prstGeom>
          <a:ln w="17780">
            <a:solidFill>
              <a:srgbClr val="F2994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01568" y="418795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x₁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810512"/>
            <a:ext cx="457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x₂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64515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F2994A"/>
                </a:solidFill>
                <a:latin typeface="Calibri"/>
              </a:rPr>
              <a:t>nenhuma reta separa as duas classes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1810512"/>
            <a:ext cx="822960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9AA0A6"/>
                </a:solidFill>
                <a:latin typeface="Calibri"/>
              </a:rPr>
              <a:t>x₁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1810512"/>
            <a:ext cx="822960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9AA0A6"/>
                </a:solidFill>
                <a:latin typeface="Calibri"/>
              </a:rPr>
              <a:t>x₂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1810512"/>
            <a:ext cx="868680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9AA0A6"/>
                </a:solidFill>
                <a:latin typeface="Calibri"/>
              </a:rPr>
              <a:t>XOR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2267712"/>
            <a:ext cx="822960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2267712"/>
            <a:ext cx="822960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2267712"/>
            <a:ext cx="868680" cy="384048"/>
          </a:xfrm>
          <a:prstGeom prst="roundRect">
            <a:avLst>
              <a:gd name="adj" fmla="val 16000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2688336"/>
            <a:ext cx="822960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2040" y="2688336"/>
            <a:ext cx="822960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2688336"/>
            <a:ext cx="868680" cy="384048"/>
          </a:xfrm>
          <a:prstGeom prst="roundRect">
            <a:avLst>
              <a:gd name="adj" fmla="val 160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3108960"/>
            <a:ext cx="822960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92040" y="3108960"/>
            <a:ext cx="822960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3108960"/>
            <a:ext cx="868680" cy="384048"/>
          </a:xfrm>
          <a:prstGeom prst="roundRect">
            <a:avLst>
              <a:gd name="adj" fmla="val 160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23360" y="3529584"/>
            <a:ext cx="822960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2040" y="3529584"/>
            <a:ext cx="822960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3529584"/>
            <a:ext cx="868680" cy="384048"/>
          </a:xfrm>
          <a:prstGeom prst="roundRect">
            <a:avLst>
              <a:gd name="adj" fmla="val 16000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23360" y="4114800"/>
            <a:ext cx="3200400" cy="749808"/>
          </a:xfrm>
          <a:prstGeom prst="roundRect">
            <a:avLst>
              <a:gd name="adj" fmla="val 10975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Minsky &amp; Papert (1969):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o perceptron NÃO aprende XOR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2960" y="5650992"/>
            <a:ext cx="6217920" cy="0"/>
          </a:xfrm>
          <a:prstGeom prst="line">
            <a:avLst/>
          </a:prstGeom>
          <a:ln w="1778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86384" y="5568696"/>
            <a:ext cx="164592" cy="16459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21208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D145B"/>
                </a:solidFill>
                <a:latin typeface="Calibri"/>
              </a:rPr>
              <a:t>1958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77900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Perceptron</a:t>
            </a:r>
          </a:p>
        </p:txBody>
      </p:sp>
      <p:sp>
        <p:nvSpPr>
          <p:cNvPr id="37" name="Oval 36"/>
          <p:cNvSpPr/>
          <p:nvPr/>
        </p:nvSpPr>
        <p:spPr>
          <a:xfrm>
            <a:off x="2386584" y="5568696"/>
            <a:ext cx="164592" cy="16459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521208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D145B"/>
                </a:solidFill>
                <a:latin typeface="Calibri"/>
              </a:rPr>
              <a:t>1969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577900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Minsky &amp; Papert</a:t>
            </a:r>
          </a:p>
        </p:txBody>
      </p:sp>
      <p:sp>
        <p:nvSpPr>
          <p:cNvPr id="40" name="Oval 39"/>
          <p:cNvSpPr/>
          <p:nvPr/>
        </p:nvSpPr>
        <p:spPr>
          <a:xfrm>
            <a:off x="3986784" y="5568696"/>
            <a:ext cx="164592" cy="16459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640" y="521208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D145B"/>
                </a:solidFill>
                <a:latin typeface="Calibri"/>
              </a:rPr>
              <a:t>1970s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7640" y="577900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AI winter (~15 anos)</a:t>
            </a:r>
          </a:p>
        </p:txBody>
      </p:sp>
      <p:sp>
        <p:nvSpPr>
          <p:cNvPr id="43" name="Oval 42"/>
          <p:cNvSpPr/>
          <p:nvPr/>
        </p:nvSpPr>
        <p:spPr>
          <a:xfrm>
            <a:off x="5541264" y="5568696"/>
            <a:ext cx="164592" cy="16459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2120" y="521208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D145B"/>
                </a:solidFill>
                <a:latin typeface="Calibri"/>
              </a:rPr>
              <a:t>1986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577900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backprop → aula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Inicialização de pesos importa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Pesos = 0 → simetria: todos os neurônios aprendem a mesma coisa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Pesos muito grandes → saturação (sigmoid/tanh)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Pesos muito pequenos → gradiente desaparece em redes profundas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Xavier/Glorot (2010): N(0, 2/(n_in+n_out)) — para Tanh/Sigmoid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Kaiming/He (2015): N(0, 2/(n_in)) — para ReLU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2011679" cy="1280160"/>
          </a:xfrm>
          <a:prstGeom prst="roundRect">
            <a:avLst>
              <a:gd name="adj" fmla="val 6428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F2994A"/>
                </a:solidFill>
                <a:latin typeface="Calibri"/>
              </a:rPr>
              <a:t>w = 0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simetria: todos os neurônios aprendem a mesma coisa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53511" y="1627632"/>
            <a:ext cx="2011679" cy="1280160"/>
          </a:xfrm>
          <a:prstGeom prst="roundRect">
            <a:avLst>
              <a:gd name="adj" fmla="val 6428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9B51E0"/>
                </a:solidFill>
                <a:latin typeface="Calibri"/>
              </a:rPr>
              <a:t>w grande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saturação: sigmoid e tanh travam nas pontas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21223" y="1627632"/>
            <a:ext cx="2011679" cy="1280160"/>
          </a:xfrm>
          <a:prstGeom prst="roundRect">
            <a:avLst>
              <a:gd name="adj" fmla="val 6428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D9CDB"/>
                </a:solidFill>
                <a:latin typeface="Calibri"/>
              </a:rPr>
              <a:t>w pequeno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o gradiente desaparece nas camadas profundas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65471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escala dos pesos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346704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9AA0A6"/>
                </a:solidFill>
                <a:latin typeface="Calibri"/>
              </a:rPr>
              <a:t>pequeno demais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3346704"/>
            <a:ext cx="2889504" cy="457200"/>
          </a:xfrm>
          <a:prstGeom prst="roundRect">
            <a:avLst>
              <a:gd name="adj" fmla="val 1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B0B0F"/>
                </a:solidFill>
                <a:latin typeface="Calibri"/>
              </a:rPr>
              <a:t>faixa saudável — variância controlada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4104" y="3346704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9AA0A6"/>
                </a:solidFill>
                <a:latin typeface="Calibri"/>
              </a:rPr>
              <a:t>grande demais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114800"/>
            <a:ext cx="3145536" cy="1371600"/>
          </a:xfrm>
          <a:prstGeom prst="roundRect">
            <a:avLst>
              <a:gd name="adj" fmla="val 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24528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XAVIER / GLOROT (2010)</a:t>
            </a:r>
          </a:p>
        </p:txBody>
      </p:sp>
      <p:pic>
        <p:nvPicPr>
          <p:cNvPr id="14" name="Picture 13" descr="9a04092c7e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801" y="4617720"/>
            <a:ext cx="1263534" cy="35329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5138928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para Tanh e Sigmoid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87368" y="4114800"/>
            <a:ext cx="3145536" cy="1371600"/>
          </a:xfrm>
          <a:prstGeom prst="roundRect">
            <a:avLst>
              <a:gd name="adj" fmla="val 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4224528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KAIMING / HE (2015)</a:t>
            </a:r>
          </a:p>
        </p:txBody>
      </p:sp>
      <p:pic>
        <p:nvPicPr>
          <p:cNvPr id="18" name="Picture 17" descr="ff12eb5ad3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031" y="4617720"/>
            <a:ext cx="856210" cy="34497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087368" y="5138928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para ReLU — padrão do PyTorch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715000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inicializar é escolher a escala do gradiente no primeiro passo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Notebook-first:</a:t>
            </a:r>
            <a:r>
              <a:rPr sz="2700" b="1">
                <a:solidFill>
                  <a:srgbClr val="ED145B"/>
                </a:solidFill>
                <a:latin typeface="Calibri"/>
              </a:rPr>
              <a:t> como testamos a hipótese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Notebook da aula: handson/hands-on.ipynb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Pergunta experimental: um classificador linear treinado corretamente resolve qualquer problema binário simples em 2D?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Hipótese: no cenário linear, perceptron e logística acertam; em XOR só o MLP raso resolve — limite da família linear, não do treino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Baselines: classificador majoritário (dummy), perceptron e regressão logística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Métricas: acurácia, balanced accuracy, F1, log-loss, ROC-AUC — e as fronteiras de decisão desenhadas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Entrega: tabela results_df (4 modelos × 2 cenários) e fronteiras logística × MLP raso em XOR — falha de otimização ≠ de representabilidade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348740" cy="658368"/>
          </a:xfrm>
          <a:prstGeom prst="roundRect">
            <a:avLst>
              <a:gd name="adj" fmla="val 12500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1 · Hipótese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61972" y="2020824"/>
            <a:ext cx="32918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18588" y="1691640"/>
            <a:ext cx="1348740" cy="658368"/>
          </a:xfrm>
          <a:prstGeom prst="roundRect">
            <a:avLst>
              <a:gd name="adj" fmla="val 12500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2 · Baselines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94760" y="2020824"/>
            <a:ext cx="32918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51376" y="1691640"/>
            <a:ext cx="1348740" cy="658368"/>
          </a:xfrm>
          <a:prstGeom prst="roundRect">
            <a:avLst>
              <a:gd name="adj" fmla="val 125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B0B0F"/>
                </a:solidFill>
                <a:latin typeface="Calibri"/>
              </a:rPr>
              <a:t>3 · Métricas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27548" y="2020824"/>
            <a:ext cx="32918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884164" y="1691640"/>
            <a:ext cx="1348740" cy="658368"/>
          </a:xfrm>
          <a:prstGeom prst="roundRect">
            <a:avLst>
              <a:gd name="adj" fmla="val 125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4 · Falsificação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32304"/>
            <a:ext cx="13487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o linear resolve?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8588" y="2432304"/>
            <a:ext cx="13487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dummy · perceptron · logística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1376" y="2432304"/>
            <a:ext cx="13487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bal. acc · F1 · log-loss · 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84164" y="2432304"/>
            <a:ext cx="13487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cenário linear × XOR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46120"/>
            <a:ext cx="3145536" cy="1280160"/>
          </a:xfrm>
          <a:prstGeom prst="roundRect">
            <a:avLst>
              <a:gd name="adj" fmla="val 6428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7AE60"/>
                </a:solidFill>
                <a:latin typeface="Calibri"/>
              </a:rPr>
              <a:t>CENÁRIO A · linearmente separável</a:t>
            </a:r>
          </a:p>
          <a:p>
            <a:pPr algn="ctr"/>
            <a:r>
              <a:rPr sz="1050">
                <a:solidFill>
                  <a:srgbClr val="9AA0A6"/>
                </a:solidFill>
                <a:latin typeface="Calibri"/>
              </a:rPr>
              <a:t>perceptron, logística e MLP empatam em 1,0 — o treino funciona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87368" y="3246120"/>
            <a:ext cx="3145536" cy="1280160"/>
          </a:xfrm>
          <a:prstGeom prst="roundRect">
            <a:avLst>
              <a:gd name="adj" fmla="val 6428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F2994A"/>
                </a:solidFill>
                <a:latin typeface="Calibri"/>
              </a:rPr>
              <a:t>CENÁRIO B · XOR</a:t>
            </a:r>
          </a:p>
          <a:p>
            <a:pPr algn="ctr"/>
            <a:r>
              <a:rPr sz="1050">
                <a:solidFill>
                  <a:srgbClr val="9AA0A6"/>
                </a:solidFill>
                <a:latin typeface="Calibri"/>
              </a:rPr>
              <a:t>lineares travam em ~0,7; só o MLP raso acerta tudo — limite da família, não do treino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846320"/>
            <a:ext cx="6547104" cy="777240"/>
          </a:xfrm>
          <a:prstGeom prst="roundRect">
            <a:avLst>
              <a:gd name="adj" fmla="val 10588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conclusão do experimento: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falha de REPRESENTABILIDADE ≠ falha de OTIMIZAÇÃO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toda a implementação vive no notebook handson/hands-on.ipynb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4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Código, caso de negócio e o caminho para o MLP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Perceptron em NumPy e em PyTorch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Crédito em tempo real: onde o modelo linear quebra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 que vem na Aula 2: empilhar e treinar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5102352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056632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Referências da aula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Exemplo didático:</a:t>
            </a:r>
            <a:r>
              <a:rPr sz="2700" b="1">
                <a:solidFill>
                  <a:srgbClr val="ED145B"/>
                </a:solidFill>
                <a:latin typeface="Calibri"/>
              </a:rPr>
              <a:t> perceptron em NumPy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fit percorre os exemplos um a um (aprendizado online)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 atualização move a fronteira na direção do erro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predict é apenas o sinal de w·x +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6547104" cy="2486756"/>
          </a:xfrm>
          <a:prstGeom prst="roundRect">
            <a:avLst>
              <a:gd name="adj" fmla="val 2627"/>
            </a:avLst>
          </a:prstGeom>
          <a:solidFill>
            <a:srgbClr val="121218"/>
          </a:solidFill>
          <a:ln w="12700">
            <a:solidFill>
              <a:srgbClr val="333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73152" tIns="109728" bIns="91440"/>
          <a:lstStyle/>
          <a:p>
            <a:pPr algn="l"/>
            <a:r>
              <a:rPr sz="1000" b="1">
                <a:solidFill>
                  <a:srgbClr val="ED145B"/>
                </a:solidFill>
                <a:latin typeface="Calibri"/>
              </a:rPr>
              <a:t>exemplo didático — não está no notebook (que usa sklearn)</a:t>
            </a:r>
          </a:p>
          <a:p>
            <a:pPr algn="l"/>
            <a:r>
              <a:rPr sz="1050">
                <a:solidFill>
                  <a:srgbClr val="ED145B"/>
                </a:solidFill>
                <a:latin typeface="Consolas"/>
              </a:rPr>
              <a:t>class</a:t>
            </a:r>
            <a:r>
              <a:rPr sz="1050">
                <a:solidFill>
                  <a:srgbClr val="E4E4EA"/>
                </a:solidFill>
                <a:latin typeface="Consolas"/>
              </a:rPr>
              <a:t> Perceptron: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</a:t>
            </a:r>
            <a:r>
              <a:rPr sz="1050">
                <a:solidFill>
                  <a:srgbClr val="ED145B"/>
                </a:solidFill>
                <a:latin typeface="Consolas"/>
              </a:rPr>
              <a:t>def</a:t>
            </a:r>
            <a:r>
              <a:rPr sz="1050">
                <a:solidFill>
                  <a:srgbClr val="E4E4EA"/>
                </a:solidFill>
                <a:latin typeface="Consolas"/>
              </a:rPr>
              <a:t> __init__(</a:t>
            </a:r>
            <a:r>
              <a:rPr sz="1050">
                <a:solidFill>
                  <a:srgbClr val="ED145B"/>
                </a:solidFill>
                <a:latin typeface="Consolas"/>
              </a:rPr>
              <a:t>self</a:t>
            </a:r>
            <a:r>
              <a:rPr sz="1050">
                <a:solidFill>
                  <a:srgbClr val="E4E4EA"/>
                </a:solidFill>
                <a:latin typeface="Consolas"/>
              </a:rPr>
              <a:t>, n_features, lr=0.01):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    </a:t>
            </a:r>
            <a:r>
              <a:rPr sz="1050">
                <a:solidFill>
                  <a:srgbClr val="ED145B"/>
                </a:solidFill>
                <a:latin typeface="Consolas"/>
              </a:rPr>
              <a:t>self</a:t>
            </a:r>
            <a:r>
              <a:rPr sz="1050">
                <a:solidFill>
                  <a:srgbClr val="E4E4EA"/>
                </a:solidFill>
                <a:latin typeface="Consolas"/>
              </a:rPr>
              <a:t>.w = np.zeros(n_features)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    </a:t>
            </a:r>
            <a:r>
              <a:rPr sz="1050">
                <a:solidFill>
                  <a:srgbClr val="ED145B"/>
                </a:solidFill>
                <a:latin typeface="Consolas"/>
              </a:rPr>
              <a:t>self</a:t>
            </a:r>
            <a:r>
              <a:rPr sz="1050">
                <a:solidFill>
                  <a:srgbClr val="E4E4EA"/>
                </a:solidFill>
                <a:latin typeface="Consolas"/>
              </a:rPr>
              <a:t>.b = 0.0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    </a:t>
            </a:r>
            <a:r>
              <a:rPr sz="1050">
                <a:solidFill>
                  <a:srgbClr val="ED145B"/>
                </a:solidFill>
                <a:latin typeface="Consolas"/>
              </a:rPr>
              <a:t>self</a:t>
            </a:r>
            <a:r>
              <a:rPr sz="1050">
                <a:solidFill>
                  <a:srgbClr val="E4E4EA"/>
                </a:solidFill>
                <a:latin typeface="Consolas"/>
              </a:rPr>
              <a:t>.lr = lr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</a:t>
            </a:r>
            <a:r>
              <a:rPr sz="1050">
                <a:solidFill>
                  <a:srgbClr val="ED145B"/>
                </a:solidFill>
                <a:latin typeface="Consolas"/>
              </a:rPr>
              <a:t>def</a:t>
            </a:r>
            <a:r>
              <a:rPr sz="1050">
                <a:solidFill>
                  <a:srgbClr val="E4E4EA"/>
                </a:solidFill>
                <a:latin typeface="Consolas"/>
              </a:rPr>
              <a:t> predict(</a:t>
            </a:r>
            <a:r>
              <a:rPr sz="1050">
                <a:solidFill>
                  <a:srgbClr val="ED145B"/>
                </a:solidFill>
                <a:latin typeface="Consolas"/>
              </a:rPr>
              <a:t>self</a:t>
            </a:r>
            <a:r>
              <a:rPr sz="1050">
                <a:solidFill>
                  <a:srgbClr val="E4E4EA"/>
                </a:solidFill>
                <a:latin typeface="Consolas"/>
              </a:rPr>
              <a:t>, X):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    </a:t>
            </a:r>
            <a:r>
              <a:rPr sz="1050">
                <a:solidFill>
                  <a:srgbClr val="ED145B"/>
                </a:solidFill>
                <a:latin typeface="Consolas"/>
              </a:rPr>
              <a:t>return</a:t>
            </a:r>
            <a:r>
              <a:rPr sz="1050">
                <a:solidFill>
                  <a:srgbClr val="E4E4EA"/>
                </a:solidFill>
                <a:latin typeface="Consolas"/>
              </a:rPr>
              <a:t> (X @ </a:t>
            </a:r>
            <a:r>
              <a:rPr sz="1050">
                <a:solidFill>
                  <a:srgbClr val="ED145B"/>
                </a:solidFill>
                <a:latin typeface="Consolas"/>
              </a:rPr>
              <a:t>self</a:t>
            </a:r>
            <a:r>
              <a:rPr sz="1050">
                <a:solidFill>
                  <a:srgbClr val="E4E4EA"/>
                </a:solidFill>
                <a:latin typeface="Consolas"/>
              </a:rPr>
              <a:t>.w + </a:t>
            </a:r>
            <a:r>
              <a:rPr sz="1050">
                <a:solidFill>
                  <a:srgbClr val="ED145B"/>
                </a:solidFill>
                <a:latin typeface="Consolas"/>
              </a:rPr>
              <a:t>self</a:t>
            </a:r>
            <a:r>
              <a:rPr sz="1050">
                <a:solidFill>
                  <a:srgbClr val="E4E4EA"/>
                </a:solidFill>
                <a:latin typeface="Consolas"/>
              </a:rPr>
              <a:t>.b &gt;= 0).astype(int)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</a:t>
            </a:r>
            <a:r>
              <a:rPr sz="1050">
                <a:solidFill>
                  <a:srgbClr val="ED145B"/>
                </a:solidFill>
                <a:latin typeface="Consolas"/>
              </a:rPr>
              <a:t>def</a:t>
            </a:r>
            <a:r>
              <a:rPr sz="1050">
                <a:solidFill>
                  <a:srgbClr val="E4E4EA"/>
                </a:solidFill>
                <a:latin typeface="Consolas"/>
              </a:rPr>
              <a:t> fit(</a:t>
            </a:r>
            <a:r>
              <a:rPr sz="1050">
                <a:solidFill>
                  <a:srgbClr val="ED145B"/>
                </a:solidFill>
                <a:latin typeface="Consolas"/>
              </a:rPr>
              <a:t>self</a:t>
            </a:r>
            <a:r>
              <a:rPr sz="1050">
                <a:solidFill>
                  <a:srgbClr val="E4E4EA"/>
                </a:solidFill>
                <a:latin typeface="Consolas"/>
              </a:rPr>
              <a:t>, X, y, epochs=10):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    </a:t>
            </a:r>
            <a:r>
              <a:rPr sz="1050">
                <a:solidFill>
                  <a:srgbClr val="ED145B"/>
                </a:solidFill>
                <a:latin typeface="Consolas"/>
              </a:rPr>
              <a:t>for</a:t>
            </a:r>
            <a:r>
              <a:rPr sz="1050">
                <a:solidFill>
                  <a:srgbClr val="E4E4EA"/>
                </a:solidFill>
                <a:latin typeface="Consolas"/>
              </a:rPr>
              <a:t> xi, yi </a:t>
            </a:r>
            <a:r>
              <a:rPr sz="1050">
                <a:solidFill>
                  <a:srgbClr val="ED145B"/>
                </a:solidFill>
                <a:latin typeface="Consolas"/>
              </a:rPr>
              <a:t>in</a:t>
            </a:r>
            <a:r>
              <a:rPr sz="1050">
                <a:solidFill>
                  <a:srgbClr val="E4E4EA"/>
                </a:solidFill>
                <a:latin typeface="Consolas"/>
              </a:rPr>
              <a:t> zip(X, y):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        err = yi - </a:t>
            </a:r>
            <a:r>
              <a:rPr sz="1050">
                <a:solidFill>
                  <a:srgbClr val="ED145B"/>
                </a:solidFill>
                <a:latin typeface="Consolas"/>
              </a:rPr>
              <a:t>self</a:t>
            </a:r>
            <a:r>
              <a:rPr sz="1050">
                <a:solidFill>
                  <a:srgbClr val="E4E4EA"/>
                </a:solidFill>
                <a:latin typeface="Consolas"/>
              </a:rPr>
              <a:t>.predict(xi)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        </a:t>
            </a:r>
            <a:r>
              <a:rPr sz="1050">
                <a:solidFill>
                  <a:srgbClr val="ED145B"/>
                </a:solidFill>
                <a:latin typeface="Consolas"/>
              </a:rPr>
              <a:t>self</a:t>
            </a:r>
            <a:r>
              <a:rPr sz="1050">
                <a:solidFill>
                  <a:srgbClr val="E4E4EA"/>
                </a:solidFill>
                <a:latin typeface="Consolas"/>
              </a:rPr>
              <a:t>.w += </a:t>
            </a:r>
            <a:r>
              <a:rPr sz="1050">
                <a:solidFill>
                  <a:srgbClr val="ED145B"/>
                </a:solidFill>
                <a:latin typeface="Consolas"/>
              </a:rPr>
              <a:t>self</a:t>
            </a:r>
            <a:r>
              <a:rPr sz="1050">
                <a:solidFill>
                  <a:srgbClr val="E4E4EA"/>
                </a:solidFill>
                <a:latin typeface="Consolas"/>
              </a:rPr>
              <a:t>.lr * err * xi   # move a fronteira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589876"/>
            <a:ext cx="1926336" cy="640080"/>
          </a:xfrm>
          <a:prstGeom prst="roundRect">
            <a:avLst>
              <a:gd name="adj" fmla="val 12857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predizer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39568" y="4909916"/>
            <a:ext cx="32918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96184" y="4589876"/>
            <a:ext cx="1926336" cy="640080"/>
          </a:xfrm>
          <a:prstGeom prst="roundRect">
            <a:avLst>
              <a:gd name="adj" fmla="val 12857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B0B0F"/>
                </a:solidFill>
                <a:latin typeface="Calibri"/>
              </a:rPr>
              <a:t>medir o erro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49952" y="4909916"/>
            <a:ext cx="32918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06568" y="4589876"/>
            <a:ext cx="1926336" cy="640080"/>
          </a:xfrm>
          <a:prstGeom prst="roundRect">
            <a:avLst>
              <a:gd name="adj" fmla="val 12857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mover a fronteira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69736" y="5248244"/>
            <a:ext cx="0" cy="210312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648968" y="5458556"/>
            <a:ext cx="4620768" cy="0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648968" y="5257388"/>
            <a:ext cx="0" cy="201168"/>
          </a:xfrm>
          <a:prstGeom prst="line">
            <a:avLst/>
          </a:prstGeom>
          <a:ln w="2032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5549996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sem matriz inversa, sem Hessiana: só produto interno e uma soma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Exemplo didático:</a:t>
            </a:r>
            <a:r>
              <a:rPr sz="2700" b="1">
                <a:solidFill>
                  <a:srgbClr val="ED145B"/>
                </a:solidFill>
                <a:latin typeface="Calibri"/>
              </a:rPr>
              <a:t> perceptron em PyTorch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nn.Linear encapsula w</a:t>
            </a:r>
            <a:r>
              <a:rPr sz="1250" baseline="30000">
                <a:solidFill>
                  <a:srgbClr val="E4E4EA"/>
                </a:solidFill>
                <a:latin typeface="Calibri"/>
              </a:rPr>
              <a:t>T</a:t>
            </a:r>
            <a:r>
              <a:rPr sz="1250">
                <a:solidFill>
                  <a:srgbClr val="E4E4EA"/>
                </a:solidFill>
                <a:latin typeface="Calibri"/>
              </a:rPr>
              <a:t>x + b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torch.sigmoid é a ativação — trocar por relu/tanh conforme o caso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Pesos inicializados por padrão com Kaiming uniform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6547104" cy="1914113"/>
          </a:xfrm>
          <a:prstGeom prst="roundRect">
            <a:avLst>
              <a:gd name="adj" fmla="val 3621"/>
            </a:avLst>
          </a:prstGeom>
          <a:solidFill>
            <a:srgbClr val="121218"/>
          </a:solidFill>
          <a:ln w="12700">
            <a:solidFill>
              <a:srgbClr val="333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73152" tIns="109728" bIns="91440"/>
          <a:lstStyle/>
          <a:p>
            <a:pPr algn="l"/>
            <a:r>
              <a:rPr sz="1000" b="1">
                <a:solidFill>
                  <a:srgbClr val="ED145B"/>
                </a:solidFill>
                <a:latin typeface="Calibri"/>
              </a:rPr>
              <a:t>exemplo didático — não está no notebook (que usa sklearn)</a:t>
            </a:r>
          </a:p>
          <a:p>
            <a:pPr algn="l"/>
            <a:r>
              <a:rPr sz="1100">
                <a:solidFill>
                  <a:srgbClr val="ED145B"/>
                </a:solidFill>
                <a:latin typeface="Consolas"/>
              </a:rPr>
              <a:t>import</a:t>
            </a:r>
            <a:r>
              <a:rPr sz="1100">
                <a:solidFill>
                  <a:srgbClr val="E4E4EA"/>
                </a:solidFill>
                <a:latin typeface="Consolas"/>
              </a:rPr>
              <a:t> torch.nn </a:t>
            </a:r>
            <a:r>
              <a:rPr sz="1100">
                <a:solidFill>
                  <a:srgbClr val="ED145B"/>
                </a:solidFill>
                <a:latin typeface="Consolas"/>
              </a:rPr>
              <a:t>as</a:t>
            </a:r>
            <a:r>
              <a:rPr sz="1100">
                <a:solidFill>
                  <a:srgbClr val="E4E4EA"/>
                </a:solidFill>
                <a:latin typeface="Consolas"/>
              </a:rPr>
              <a:t> nn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ED145B"/>
                </a:solidFill>
                <a:latin typeface="Consolas"/>
              </a:rPr>
              <a:t>class</a:t>
            </a:r>
            <a:r>
              <a:rPr sz="1100">
                <a:solidFill>
                  <a:srgbClr val="E4E4EA"/>
                </a:solidFill>
                <a:latin typeface="Consolas"/>
              </a:rPr>
              <a:t> Perceptron(nn.Module):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</a:t>
            </a:r>
            <a:r>
              <a:rPr sz="1100">
                <a:solidFill>
                  <a:srgbClr val="ED145B"/>
                </a:solidFill>
                <a:latin typeface="Consolas"/>
              </a:rPr>
              <a:t>def</a:t>
            </a:r>
            <a:r>
              <a:rPr sz="1100">
                <a:solidFill>
                  <a:srgbClr val="E4E4EA"/>
                </a:solidFill>
                <a:latin typeface="Consolas"/>
              </a:rPr>
              <a:t> __init__(</a:t>
            </a:r>
            <a:r>
              <a:rPr sz="1100">
                <a:solidFill>
                  <a:srgbClr val="ED145B"/>
                </a:solidFill>
                <a:latin typeface="Consolas"/>
              </a:rPr>
              <a:t>self</a:t>
            </a:r>
            <a:r>
              <a:rPr sz="1100">
                <a:solidFill>
                  <a:srgbClr val="E4E4EA"/>
                </a:solidFill>
                <a:latin typeface="Consolas"/>
              </a:rPr>
              <a:t>, n_features):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    </a:t>
            </a:r>
            <a:r>
              <a:rPr sz="1100">
                <a:solidFill>
                  <a:srgbClr val="ED145B"/>
                </a:solidFill>
                <a:latin typeface="Consolas"/>
              </a:rPr>
              <a:t>super</a:t>
            </a:r>
            <a:r>
              <a:rPr sz="1100">
                <a:solidFill>
                  <a:srgbClr val="E4E4EA"/>
                </a:solidFill>
                <a:latin typeface="Consolas"/>
              </a:rPr>
              <a:t>().__init__()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    </a:t>
            </a:r>
            <a:r>
              <a:rPr sz="1100">
                <a:solidFill>
                  <a:srgbClr val="ED145B"/>
                </a:solidFill>
                <a:latin typeface="Consolas"/>
              </a:rPr>
              <a:t>self</a:t>
            </a:r>
            <a:r>
              <a:rPr sz="1100">
                <a:solidFill>
                  <a:srgbClr val="E4E4EA"/>
                </a:solidFill>
                <a:latin typeface="Consolas"/>
              </a:rPr>
              <a:t>.linear = nn.Linear(n_features, 1)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</a:t>
            </a:r>
            <a:r>
              <a:rPr sz="1100">
                <a:solidFill>
                  <a:srgbClr val="ED145B"/>
                </a:solidFill>
                <a:latin typeface="Consolas"/>
              </a:rPr>
              <a:t>def</a:t>
            </a:r>
            <a:r>
              <a:rPr sz="1100">
                <a:solidFill>
                  <a:srgbClr val="E4E4EA"/>
                </a:solidFill>
                <a:latin typeface="Consolas"/>
              </a:rPr>
              <a:t> forward(</a:t>
            </a:r>
            <a:r>
              <a:rPr sz="1100">
                <a:solidFill>
                  <a:srgbClr val="ED145B"/>
                </a:solidFill>
                <a:latin typeface="Consolas"/>
              </a:rPr>
              <a:t>self</a:t>
            </a:r>
            <a:r>
              <a:rPr sz="1100">
                <a:solidFill>
                  <a:srgbClr val="E4E4EA"/>
                </a:solidFill>
                <a:latin typeface="Consolas"/>
              </a:rPr>
              <a:t>, x):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    </a:t>
            </a:r>
            <a:r>
              <a:rPr sz="1100">
                <a:solidFill>
                  <a:srgbClr val="ED145B"/>
                </a:solidFill>
                <a:latin typeface="Consolas"/>
              </a:rPr>
              <a:t>return</a:t>
            </a:r>
            <a:r>
              <a:rPr sz="1100">
                <a:solidFill>
                  <a:srgbClr val="E4E4EA"/>
                </a:solidFill>
                <a:latin typeface="Consolas"/>
              </a:rPr>
              <a:t> torch.sigmoid(</a:t>
            </a:r>
            <a:r>
              <a:rPr sz="1100">
                <a:solidFill>
                  <a:srgbClr val="ED145B"/>
                </a:solidFill>
                <a:latin typeface="Consolas"/>
              </a:rPr>
              <a:t>self</a:t>
            </a:r>
            <a:r>
              <a:rPr sz="1100">
                <a:solidFill>
                  <a:srgbClr val="E4E4EA"/>
                </a:solidFill>
                <a:latin typeface="Consolas"/>
              </a:rPr>
              <a:t>.linear(x))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977639"/>
            <a:ext cx="3145536" cy="1188720"/>
          </a:xfrm>
          <a:prstGeom prst="roundRect">
            <a:avLst>
              <a:gd name="adj" fmla="val 6923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2D9CDB"/>
                </a:solidFill>
                <a:latin typeface="Calibri"/>
              </a:rPr>
              <a:t>NumPy</a:t>
            </a:r>
          </a:p>
          <a:p>
            <a:pPr algn="ctr"/>
            <a:r>
              <a:rPr sz="1050">
                <a:solidFill>
                  <a:srgbClr val="9AA0A6"/>
                </a:solidFill>
                <a:latin typeface="Calibri"/>
              </a:rPr>
              <a:t>você escreve o update:
w += lr · err · 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87368" y="3977639"/>
            <a:ext cx="3145536" cy="1188720"/>
          </a:xfrm>
          <a:prstGeom prst="roundRect">
            <a:avLst>
              <a:gd name="adj" fmla="val 6923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ED145B"/>
                </a:solidFill>
                <a:latin typeface="Calibri"/>
              </a:rPr>
              <a:t>PyTorch</a:t>
            </a:r>
          </a:p>
          <a:p>
            <a:pPr algn="ctr"/>
            <a:r>
              <a:rPr sz="1050">
                <a:solidFill>
                  <a:srgbClr val="9AA0A6"/>
                </a:solidFill>
                <a:latin typeface="Calibri"/>
              </a:rPr>
              <a:t>autograd (aula 2), GPU e módulos compostos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440680"/>
            <a:ext cx="6547104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nn.Linear = w</a:t>
            </a:r>
            <a:r>
              <a:rPr sz="1150" b="0" baseline="30000">
                <a:solidFill>
                  <a:srgbClr val="FFFFFF"/>
                </a:solidFill>
                <a:latin typeface="Calibri"/>
              </a:rPr>
              <a:t>T</a:t>
            </a:r>
            <a:r>
              <a:rPr sz="1150" b="0">
                <a:solidFill>
                  <a:srgbClr val="FFFFFF"/>
                </a:solidFill>
                <a:latin typeface="Calibri"/>
              </a:rPr>
              <a:t>x + b   ·   torch.sigmoid = φ   —   nada de novo, só empacotado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Caso de negócio:</a:t>
            </a:r>
            <a:r>
              <a:rPr sz="2700" b="1">
                <a:solidFill>
                  <a:srgbClr val="ED145B"/>
                </a:solidFill>
                <a:latin typeface="Calibri"/>
              </a:rPr>
              <a:t> Nubank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Regressão logística = perceptron com ativação sigmoid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Interpretação direta de pesos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Calibração por Platt scaling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Fraude nova, padrões não-lineares de risco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Precisa ir além → MLP (aula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6547104" cy="50292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aprovação de crédito em tempo real — 90 milhões de clientes, latência &lt; 100 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77440"/>
            <a:ext cx="1926336" cy="777240"/>
          </a:xfrm>
          <a:prstGeom prst="roundRect">
            <a:avLst>
              <a:gd name="adj" fmla="val 10588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transação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+ features tabulares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39568" y="2766060"/>
            <a:ext cx="32918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96184" y="2377440"/>
            <a:ext cx="1926336" cy="777240"/>
          </a:xfrm>
          <a:prstGeom prst="roundRect">
            <a:avLst>
              <a:gd name="adj" fmla="val 10588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regressão logística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= perceptron com σ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49952" y="2766060"/>
            <a:ext cx="32918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06568" y="2377440"/>
            <a:ext cx="1926336" cy="777240"/>
          </a:xfrm>
          <a:prstGeom prst="roundRect">
            <a:avLst>
              <a:gd name="adj" fmla="val 10588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score calibrado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→ decisão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65471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pesos interpretáveis (auditoria e regulação) + calibração por Platt scaling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49039"/>
            <a:ext cx="3145536" cy="1234440"/>
          </a:xfrm>
          <a:prstGeom prst="roundRect">
            <a:avLst>
              <a:gd name="adj" fmla="val 666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7AE60"/>
                </a:solidFill>
                <a:latin typeface="Calibri"/>
              </a:rPr>
              <a:t>POR QUE FUNCIONA</a:t>
            </a:r>
          </a:p>
          <a:p>
            <a:pPr algn="ctr"/>
            <a:r>
              <a:rPr sz="1050">
                <a:solidFill>
                  <a:srgbClr val="9AA0A6"/>
                </a:solidFill>
                <a:latin typeface="Calibri"/>
              </a:rPr>
              <a:t>interpretação direta dos pesos · custo baixo · latência previsível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87368" y="3749039"/>
            <a:ext cx="3145536" cy="1234440"/>
          </a:xfrm>
          <a:prstGeom prst="roundRect">
            <a:avLst>
              <a:gd name="adj" fmla="val 6666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F2994A"/>
                </a:solidFill>
                <a:latin typeface="Calibri"/>
              </a:rPr>
              <a:t>ONDE QUEBRA</a:t>
            </a:r>
          </a:p>
          <a:p>
            <a:pPr algn="ctr"/>
            <a:r>
              <a:rPr sz="1050">
                <a:solidFill>
                  <a:srgbClr val="9AA0A6"/>
                </a:solidFill>
                <a:latin typeface="Calibri"/>
              </a:rPr>
              <a:t>fraude nova e risco com interações não lineares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59352" y="5029200"/>
            <a:ext cx="0" cy="320040"/>
          </a:xfrm>
          <a:prstGeom prst="line">
            <a:avLst/>
          </a:prstGeom>
          <a:ln w="2794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691640" y="5394960"/>
            <a:ext cx="4572000" cy="621792"/>
          </a:xfrm>
          <a:prstGeom prst="roundRect">
            <a:avLst>
              <a:gd name="adj" fmla="val 13235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próximo passo: empilhar camadas → MLP (aula 2)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 que vem aí (Aula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Empilhar perceptrons → MLP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Como treinar: backpropagation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Resolver o XOR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Implementar uma rede no notebook aula-02-mlp-backpropagation/handson/hands-on.ipynb com um benchmark visual leve (load_digits)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383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a camada oculta dobra o espaço → XOR resolvido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161288" y="2569464"/>
            <a:ext cx="896112" cy="50292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61288" y="3072384"/>
            <a:ext cx="896112" cy="50292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61288" y="3072384"/>
            <a:ext cx="896112" cy="150876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61288" y="2569464"/>
            <a:ext cx="896112" cy="150876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1288" y="3575304"/>
            <a:ext cx="896112" cy="50292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61288" y="4078224"/>
            <a:ext cx="896112" cy="50292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441448" y="2569464"/>
            <a:ext cx="896112" cy="100584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41448" y="3575304"/>
            <a:ext cx="896112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441448" y="3575304"/>
            <a:ext cx="896112" cy="100584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77240" y="2880360"/>
            <a:ext cx="384048" cy="38404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886200"/>
            <a:ext cx="384048" cy="38404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2057400" y="2377440"/>
            <a:ext cx="384048" cy="384048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2057400" y="3383280"/>
            <a:ext cx="384048" cy="384048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2057400" y="4389120"/>
            <a:ext cx="384048" cy="384048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3337560" y="3383280"/>
            <a:ext cx="384048" cy="38404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983480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entrada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983480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camada oculta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983480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saída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822960" y="5440680"/>
            <a:ext cx="2971800" cy="0"/>
          </a:xfrm>
          <a:prstGeom prst="line">
            <a:avLst/>
          </a:prstGeom>
          <a:ln w="25400">
            <a:solidFill>
              <a:srgbClr val="F2994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5577840"/>
            <a:ext cx="3383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2994A"/>
                </a:solidFill>
                <a:latin typeface="Calibri"/>
              </a:rPr>
              <a:t>backpropagation: o erro volta e ajusta cada peso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1874519"/>
            <a:ext cx="3017520" cy="868680"/>
          </a:xfrm>
          <a:prstGeom prst="roundRect">
            <a:avLst>
              <a:gd name="adj" fmla="val 9473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D9CDB"/>
                </a:solidFill>
                <a:latin typeface="Calibri"/>
              </a:rPr>
              <a:t>Empilhar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vários perceptrons em camadas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2962656"/>
            <a:ext cx="3017520" cy="868680"/>
          </a:xfrm>
          <a:prstGeom prst="roundRect">
            <a:avLst>
              <a:gd name="adj" fmla="val 9473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ED145B"/>
                </a:solidFill>
                <a:latin typeface="Calibri"/>
              </a:rPr>
              <a:t>Treinar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backpropagation + gradiente descendente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4050791"/>
            <a:ext cx="3017520" cy="868680"/>
          </a:xfrm>
          <a:prstGeom prst="roundRect">
            <a:avLst>
              <a:gd name="adj" fmla="val 9473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7AE60"/>
                </a:solidFill>
                <a:latin typeface="Calibri"/>
              </a:rPr>
              <a:t>Provar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XOR resolvido com uma camada oculta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0" y="5138927"/>
            <a:ext cx="3017520" cy="868680"/>
          </a:xfrm>
          <a:prstGeom prst="roundRect">
            <a:avLst>
              <a:gd name="adj" fmla="val 9473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9B51E0"/>
                </a:solidFill>
                <a:latin typeface="Calibri"/>
              </a:rPr>
              <a:t>Praticar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hands-on.ipynb com load_digits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Referências da aula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ROSENBLATT, F. The perceptron: A probabilistic model. Psychological Review, 65(6), 1958.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MINSKY, M.; PAPERT, S. Perceptrons. MIT Press, 1969.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GLOROT, X.; BENGIO, Y. Understanding the difficulty of training deep feedforward neural networks. AISTATS, 2010.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HE, K. et al. Delving deep into rectifiers. ICCV, 2015.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HENDRYCKS, D.; GIMPEL, K. Gaussian error linear units (GELUs). arXiv:1606.08415, 2016.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GOODFELLOW et al. Deep Learning, MIT Press, 2016, cap. 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240280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ED145B"/>
                </a:solidFill>
                <a:latin typeface="Calibri"/>
              </a:rPr>
              <a:t>ORIGENS · 1958–1969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874519"/>
            <a:ext cx="2240280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2D9CDB"/>
                </a:solidFill>
                <a:latin typeface="Calibri"/>
              </a:rPr>
              <a:t>TREINAR MAIS FUNDO · 2010–2015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874519"/>
            <a:ext cx="1737360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27AE60"/>
                </a:solidFill>
                <a:latin typeface="Calibri"/>
              </a:rPr>
              <a:t>ATIVAÇÕES MODERNAS · 2016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3291840"/>
            <a:ext cx="6035040" cy="0"/>
          </a:xfrm>
          <a:prstGeom prst="line">
            <a:avLst/>
          </a:prstGeom>
          <a:ln w="1778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14400" y="3200400"/>
            <a:ext cx="182880" cy="18288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798064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ED145B"/>
                </a:solidFill>
                <a:latin typeface="Calibri"/>
              </a:rPr>
              <a:t>1958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3456432"/>
            <a:ext cx="12070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ROSENBLATT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The perceptron</a:t>
            </a:r>
          </a:p>
        </p:txBody>
      </p:sp>
      <p:sp>
        <p:nvSpPr>
          <p:cNvPr id="12" name="Oval 11"/>
          <p:cNvSpPr/>
          <p:nvPr/>
        </p:nvSpPr>
        <p:spPr>
          <a:xfrm>
            <a:off x="2029967" y="3200400"/>
            <a:ext cx="182880" cy="18288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79" y="2798064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ED145B"/>
                </a:solidFill>
                <a:latin typeface="Calibri"/>
              </a:rPr>
              <a:t>1969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21408" y="3401568"/>
            <a:ext cx="0" cy="438912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517903" y="3877056"/>
            <a:ext cx="12070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MINSKY &amp; PAPERT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Perceptrons</a:t>
            </a:r>
          </a:p>
        </p:txBody>
      </p:sp>
      <p:sp>
        <p:nvSpPr>
          <p:cNvPr id="16" name="Oval 15"/>
          <p:cNvSpPr/>
          <p:nvPr/>
        </p:nvSpPr>
        <p:spPr>
          <a:xfrm>
            <a:off x="3145536" y="3200400"/>
            <a:ext cx="182880" cy="182880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2798064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D9CDB"/>
                </a:solidFill>
                <a:latin typeface="Calibri"/>
              </a:rPr>
              <a:t>2010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3456432"/>
            <a:ext cx="12070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GLOROT &amp; BENGIO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deep feedforward</a:t>
            </a:r>
          </a:p>
        </p:txBody>
      </p:sp>
      <p:sp>
        <p:nvSpPr>
          <p:cNvPr id="19" name="Oval 18"/>
          <p:cNvSpPr/>
          <p:nvPr/>
        </p:nvSpPr>
        <p:spPr>
          <a:xfrm>
            <a:off x="4261104" y="3200400"/>
            <a:ext cx="182880" cy="182880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5615" y="2798064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D9CDB"/>
                </a:solidFill>
                <a:latin typeface="Calibri"/>
              </a:rPr>
              <a:t>2015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52544" y="3401568"/>
            <a:ext cx="0" cy="438912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49039" y="3877056"/>
            <a:ext cx="12070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HE et al.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Delving into rectifiers</a:t>
            </a:r>
          </a:p>
        </p:txBody>
      </p:sp>
      <p:sp>
        <p:nvSpPr>
          <p:cNvPr id="23" name="Oval 22"/>
          <p:cNvSpPr/>
          <p:nvPr/>
        </p:nvSpPr>
        <p:spPr>
          <a:xfrm>
            <a:off x="5376672" y="3200400"/>
            <a:ext cx="182880" cy="18288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4" y="2798064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7AE60"/>
                </a:solidFill>
                <a:latin typeface="Calibri"/>
              </a:rPr>
              <a:t>2016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3456432"/>
            <a:ext cx="12070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HENDRYCKS &amp; GIMPEL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GELUs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3200400"/>
            <a:ext cx="182880" cy="18288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2798064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7AE60"/>
                </a:solidFill>
                <a:latin typeface="Calibri"/>
              </a:rPr>
              <a:t>2016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0" y="3401568"/>
            <a:ext cx="0" cy="438912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80176" y="3877056"/>
            <a:ext cx="12070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GOODFELLOW et al.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Deep Learning, cap. 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709160"/>
            <a:ext cx="6309360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leia primeiro: Rosenblatt (1958) — clássico curto, ainda legível hoje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532120"/>
            <a:ext cx="6309360" cy="594360"/>
          </a:xfrm>
          <a:prstGeom prst="roundRect">
            <a:avLst>
              <a:gd name="adj" fmla="val 13846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9AA0A6"/>
                </a:solidFill>
                <a:latin typeface="Calibri"/>
              </a:rPr>
              <a:t>para aprofundar: Goodfellow, Bengio &amp; Courville — Deep Learning, cap.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