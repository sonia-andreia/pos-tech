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Atenção, Seq2Seq e Transformers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do gargalo à atenção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Por que o Seq2Seq com vetor único não escala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intuição humana de alinhamento na tradução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Bahdanau (2015): scores, softmax e vetor de contexto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Onde estamos:</a:t>
            </a:r>
            <a:r>
              <a:rPr sz="2700" b="1">
                <a:solidFill>
                  <a:srgbClr val="ED145B"/>
                </a:solidFill>
                <a:latin typeface="Calibri"/>
              </a:rPr>
              <a:t> a recorrência chega ao limite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Aulas 1–4 ✓ densas e CNNs sobre entradas independentes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5 ✓ RNN/LSTM: memória — e o gargalo do vetor único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6 ← aqui atenção e Transformer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Aulas 7–8: otimização e MLOps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670048"/>
            <a:ext cx="6364224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22376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Perceptron</a:t>
            </a:r>
          </a:p>
        </p:txBody>
      </p:sp>
      <p:sp>
        <p:nvSpPr>
          <p:cNvPr id="8" name="Oval 7"/>
          <p:cNvSpPr/>
          <p:nvPr/>
        </p:nvSpPr>
        <p:spPr>
          <a:xfrm>
            <a:off x="1618488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MLP +</a:t>
            </a:r>
          </a:p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Backprop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fundamentos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3410712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avançado</a:t>
            </a:r>
          </a:p>
        </p:txBody>
      </p:sp>
      <p:sp>
        <p:nvSpPr>
          <p:cNvPr id="14" name="Oval 13"/>
          <p:cNvSpPr/>
          <p:nvPr/>
        </p:nvSpPr>
        <p:spPr>
          <a:xfrm>
            <a:off x="4306824" y="2496312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RNN</a:t>
            </a:r>
          </a:p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LSTM · GRU</a:t>
            </a:r>
          </a:p>
        </p:txBody>
      </p:sp>
      <p:sp>
        <p:nvSpPr>
          <p:cNvPr id="16" name="Oval 15"/>
          <p:cNvSpPr/>
          <p:nvPr/>
        </p:nvSpPr>
        <p:spPr>
          <a:xfrm>
            <a:off x="5166360" y="2459736"/>
            <a:ext cx="420624" cy="42062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Attention</a:t>
            </a:r>
          </a:p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Transformers</a:t>
            </a:r>
          </a:p>
        </p:txBody>
      </p:sp>
      <p:sp>
        <p:nvSpPr>
          <p:cNvPr id="18" name="Oval 17"/>
          <p:cNvSpPr/>
          <p:nvPr/>
        </p:nvSpPr>
        <p:spPr>
          <a:xfrm>
            <a:off x="6080759" y="2478024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Otimização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976872" y="2478024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9AA0A6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3008376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MLOps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e deploy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76672" y="2103120"/>
            <a:ext cx="0" cy="292608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07992" y="177393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785615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AULAS 1–4 ✓   densas e CNNs — cada exemplo é independente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72000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 5 ✓   RNN/LSTM deram memória — ao preço de um vetor único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58384"/>
            <a:ext cx="6565392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AULA 6 ← aqui   a atenção dá acesso direto a toda a sequência, em paralelo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6163056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recorrência sai de cena: o tempo deixa de ser um laço e vira uma matriz de relações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gargalo do Seq2Seq:</a:t>
            </a:r>
            <a:r>
              <a:rPr sz="2700" b="1">
                <a:solidFill>
                  <a:srgbClr val="ED145B"/>
                </a:solidFill>
                <a:latin typeface="Calibri"/>
              </a:rPr>
              <a:t> uma frase em um vetor só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Encoder RNN comprime tudo em um vetor de tamanho fixo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Uma frase de 50 palavras cabe no mesmo vetor de 5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Quanto mais longa a entrada, mais informação se perde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Ao traduzir, um humano olha partes específicas da origem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 se o decoder pudesse olhar para toda a entrada?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SEQ2SEQ CLÁSSICO · TUDO PASSA POR UM ÚNICO VETOR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051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1051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serviço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1051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foi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1051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muito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59" y="1810512"/>
            <a:ext cx="11338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rápido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1031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1095" y="21031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99815" y="21031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1031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77255" y="21031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enc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19072" y="2350008"/>
            <a:ext cx="16459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907792" y="2350008"/>
            <a:ext cx="16459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96512" y="2350008"/>
            <a:ext cx="164591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285232" y="2350008"/>
            <a:ext cx="164591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07008" y="2615184"/>
            <a:ext cx="2734056" cy="420624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395728" y="2615184"/>
            <a:ext cx="1545336" cy="420624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584448" y="2615184"/>
            <a:ext cx="356616" cy="420624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941064" y="2615184"/>
            <a:ext cx="832104" cy="420624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941064" y="2615184"/>
            <a:ext cx="2020824" cy="420624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15184" y="3054096"/>
            <a:ext cx="2651760" cy="548640"/>
          </a:xfrm>
          <a:prstGeom prst="roundRect">
            <a:avLst>
              <a:gd name="adj" fmla="val 15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vetor de contexto c  ·  512-d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6672" y="3108960"/>
            <a:ext cx="184708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tamanho FIXO,</a:t>
            </a:r>
          </a:p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não importa a frase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41064" y="3621024"/>
            <a:ext cx="0" cy="292608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115568" y="39319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32887" y="39319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50207" y="39319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67528" y="3931920"/>
            <a:ext cx="969264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12264" y="4178808"/>
            <a:ext cx="39319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529584" y="4178808"/>
            <a:ext cx="393191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46904" y="4178808"/>
            <a:ext cx="393192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60120" y="448056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the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39" y="448056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service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59" y="448056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was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480560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fast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97433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7AE60"/>
                </a:solidFill>
                <a:latin typeface="Calibri"/>
              </a:rPr>
              <a:t>5 palavras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4956048"/>
            <a:ext cx="3108960" cy="2560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1956816" y="4974336"/>
            <a:ext cx="566928" cy="219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Rectangle 41"/>
          <p:cNvSpPr/>
          <p:nvPr/>
        </p:nvSpPr>
        <p:spPr>
          <a:xfrm>
            <a:off x="2578608" y="4974336"/>
            <a:ext cx="566928" cy="219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4974336"/>
            <a:ext cx="566928" cy="219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3822191" y="4974336"/>
            <a:ext cx="566928" cy="219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4443984" y="4974336"/>
            <a:ext cx="566928" cy="219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535838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2994A"/>
                </a:solidFill>
                <a:latin typeface="Calibri"/>
              </a:rPr>
              <a:t>50 palavras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5340096"/>
            <a:ext cx="3108960" cy="256032"/>
          </a:xfrm>
          <a:prstGeom prst="rect">
            <a:avLst/>
          </a:prstGeom>
          <a:solidFill>
            <a:srgbClr val="1E1E28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1956816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2017166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0" name="Rectangle 49"/>
          <p:cNvSpPr/>
          <p:nvPr/>
        </p:nvSpPr>
        <p:spPr>
          <a:xfrm>
            <a:off x="2077516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2137867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2198217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2258568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2318918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379268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2439619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499969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9" name="Rectangle 58"/>
          <p:cNvSpPr/>
          <p:nvPr/>
        </p:nvSpPr>
        <p:spPr>
          <a:xfrm>
            <a:off x="2620670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681020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1" name="Rectangle 60"/>
          <p:cNvSpPr/>
          <p:nvPr/>
        </p:nvSpPr>
        <p:spPr>
          <a:xfrm>
            <a:off x="2741371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801721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862072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2922422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982772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6" name="Rectangle 65"/>
          <p:cNvSpPr/>
          <p:nvPr/>
        </p:nvSpPr>
        <p:spPr>
          <a:xfrm>
            <a:off x="3043123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3103473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3163824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9" name="Rectangle 68"/>
          <p:cNvSpPr/>
          <p:nvPr/>
        </p:nvSpPr>
        <p:spPr>
          <a:xfrm>
            <a:off x="3224174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0" name="Rectangle 69"/>
          <p:cNvSpPr/>
          <p:nvPr/>
        </p:nvSpPr>
        <p:spPr>
          <a:xfrm>
            <a:off x="3284524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3344875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3405225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3465576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3525926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3586276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6" name="Rectangle 75"/>
          <p:cNvSpPr/>
          <p:nvPr/>
        </p:nvSpPr>
        <p:spPr>
          <a:xfrm>
            <a:off x="3646627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7" name="Rectangle 76"/>
          <p:cNvSpPr/>
          <p:nvPr/>
        </p:nvSpPr>
        <p:spPr>
          <a:xfrm>
            <a:off x="3706977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3767328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3827678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3888028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1" name="Rectangle 80"/>
          <p:cNvSpPr/>
          <p:nvPr/>
        </p:nvSpPr>
        <p:spPr>
          <a:xfrm>
            <a:off x="3948379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2" name="Rectangle 81"/>
          <p:cNvSpPr/>
          <p:nvPr/>
        </p:nvSpPr>
        <p:spPr>
          <a:xfrm>
            <a:off x="4008729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3" name="Rectangle 82"/>
          <p:cNvSpPr/>
          <p:nvPr/>
        </p:nvSpPr>
        <p:spPr>
          <a:xfrm>
            <a:off x="4069080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4" name="Rectangle 83"/>
          <p:cNvSpPr/>
          <p:nvPr/>
        </p:nvSpPr>
        <p:spPr>
          <a:xfrm>
            <a:off x="4129430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5" name="Rectangle 84"/>
          <p:cNvSpPr/>
          <p:nvPr/>
        </p:nvSpPr>
        <p:spPr>
          <a:xfrm>
            <a:off x="4189780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6" name="Rectangle 85"/>
          <p:cNvSpPr/>
          <p:nvPr/>
        </p:nvSpPr>
        <p:spPr>
          <a:xfrm>
            <a:off x="4250131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4310481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4370832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89" name="Rectangle 88"/>
          <p:cNvSpPr/>
          <p:nvPr/>
        </p:nvSpPr>
        <p:spPr>
          <a:xfrm>
            <a:off x="4431182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0" name="Rectangle 89"/>
          <p:cNvSpPr/>
          <p:nvPr/>
        </p:nvSpPr>
        <p:spPr>
          <a:xfrm>
            <a:off x="4491532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1" name="Rectangle 90"/>
          <p:cNvSpPr/>
          <p:nvPr/>
        </p:nvSpPr>
        <p:spPr>
          <a:xfrm>
            <a:off x="4551883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2" name="Rectangle 91"/>
          <p:cNvSpPr/>
          <p:nvPr/>
        </p:nvSpPr>
        <p:spPr>
          <a:xfrm>
            <a:off x="4612233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3" name="Rectangle 92"/>
          <p:cNvSpPr/>
          <p:nvPr/>
        </p:nvSpPr>
        <p:spPr>
          <a:xfrm>
            <a:off x="4672584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4" name="Rectangle 93"/>
          <p:cNvSpPr/>
          <p:nvPr/>
        </p:nvSpPr>
        <p:spPr>
          <a:xfrm>
            <a:off x="4732934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4793284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6" name="Rectangle 95"/>
          <p:cNvSpPr/>
          <p:nvPr/>
        </p:nvSpPr>
        <p:spPr>
          <a:xfrm>
            <a:off x="4853635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4913985" y="5358384"/>
            <a:ext cx="47548" cy="219456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38928" y="5084064"/>
            <a:ext cx="208483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a mesma capacidade</a:t>
            </a:r>
          </a:p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para qualquer frase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58368" y="5742432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“E se o decoder pudesse olhar para TODAS as palavras da entrada?”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Atenção (Bahdanau, 2015):</a:t>
            </a:r>
            <a:r>
              <a:rPr sz="2700" b="1">
                <a:solidFill>
                  <a:srgbClr val="ED145B"/>
                </a:solidFill>
                <a:latin typeface="Calibri"/>
              </a:rPr>
              <a:t> olhar toda a entrada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cada passo t o decoder pontua todos os estados do encoder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eₜ,ₛ = a(sₜ₋₁, h_s): uma MLP pequena (additive attention)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softmax vira pesos αₜ,ₛ que somam 1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cₜ = Σ αₜ,ₛ hₛ: um contexto novo a cada passo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gargalo desaparece — nada é comprimido em um vetor só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NO PASSO t O DECODER PONTUA CADA ESTADO DO ENCODER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92224"/>
            <a:ext cx="914400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D9CDB"/>
                </a:solidFill>
                <a:latin typeface="Calibri"/>
              </a:rPr>
              <a:t>h1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55648" y="1792224"/>
            <a:ext cx="914400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D9CDB"/>
                </a:solidFill>
                <a:latin typeface="Calibri"/>
              </a:rPr>
              <a:t>h2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1792224"/>
            <a:ext cx="914400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D9CDB"/>
                </a:solidFill>
                <a:latin typeface="Calibri"/>
              </a:rPr>
              <a:t>h3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3904" y="1792224"/>
            <a:ext cx="914400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D9CDB"/>
                </a:solidFill>
                <a:latin typeface="Calibri"/>
              </a:rPr>
              <a:t>h4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8032" y="1792224"/>
            <a:ext cx="914400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D9CDB"/>
                </a:solidFill>
                <a:latin typeface="Calibri"/>
              </a:rPr>
              <a:t>h5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737360"/>
            <a:ext cx="135331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9B51E0"/>
                </a:solidFill>
                <a:latin typeface="Calibri"/>
              </a:rPr>
              <a:t>sₜ₋₁</a:t>
            </a:r>
          </a:p>
          <a:p>
            <a:pPr algn="ctr"/>
            <a:r>
              <a:rPr sz="1050" b="1">
                <a:solidFill>
                  <a:srgbClr val="9B51E0"/>
                </a:solidFill>
                <a:latin typeface="Calibri"/>
              </a:rPr>
              <a:t>estado do decoder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47104" y="2322576"/>
            <a:ext cx="0" cy="347472"/>
          </a:xfrm>
          <a:prstGeom prst="line">
            <a:avLst/>
          </a:prstGeom>
          <a:ln w="15240">
            <a:solidFill>
              <a:srgbClr val="9B51E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760720" y="2670048"/>
            <a:ext cx="786384" cy="0"/>
          </a:xfrm>
          <a:prstGeom prst="line">
            <a:avLst/>
          </a:prstGeom>
          <a:ln w="15240">
            <a:solidFill>
              <a:srgbClr val="9B51E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577840" y="2670048"/>
            <a:ext cx="182880" cy="0"/>
          </a:xfrm>
          <a:prstGeom prst="line">
            <a:avLst/>
          </a:prstGeom>
          <a:ln w="1524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60720" y="2743200"/>
            <a:ext cx="14630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B51E0"/>
                </a:solidFill>
                <a:latin typeface="Calibri"/>
              </a:rPr>
              <a:t>a mesma query</a:t>
            </a:r>
          </a:p>
          <a:p>
            <a:pPr algn="ctr"/>
            <a:r>
              <a:rPr sz="950" b="0" i="0">
                <a:solidFill>
                  <a:srgbClr val="9B51E0"/>
                </a:solidFill>
                <a:latin typeface="Calibri"/>
              </a:rPr>
              <a:t>compara com todos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720" y="2249424"/>
            <a:ext cx="0" cy="237744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12848" y="2249424"/>
            <a:ext cx="0" cy="237744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236976" y="2249424"/>
            <a:ext cx="0" cy="237744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61104" y="2249424"/>
            <a:ext cx="0" cy="237744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85232" y="2249424"/>
            <a:ext cx="0" cy="237744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50545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e = 2,6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" y="3513582"/>
            <a:ext cx="438912" cy="12573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75887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D9CDB"/>
                </a:solidFill>
                <a:latin typeface="Calibri"/>
              </a:rPr>
              <a:t>α = 0,05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55648" y="250545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e = 2,2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93391" y="3442716"/>
            <a:ext cx="438912" cy="196596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55648" y="3675887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D9CDB"/>
                </a:solidFill>
                <a:latin typeface="Calibri"/>
              </a:rPr>
              <a:t>α = 0,10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79776" y="250545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e = 1,8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2804922"/>
            <a:ext cx="438912" cy="83439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9776" y="3675887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α = 0,55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03904" y="250545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e = 1,4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41648" y="3230118"/>
            <a:ext cx="438912" cy="409194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3904" y="3675887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D9CDB"/>
                </a:solidFill>
                <a:latin typeface="Calibri"/>
              </a:rPr>
              <a:t>α = 0,25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250545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e = 1,0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65776" y="3513582"/>
            <a:ext cx="438912" cy="12573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8032" y="3675887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D9CDB"/>
                </a:solidFill>
                <a:latin typeface="Calibri"/>
              </a:rPr>
              <a:t>α = 0,05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3232" y="3639312"/>
            <a:ext cx="5047488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70448" y="3291840"/>
            <a:ext cx="1353312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softmax:</a:t>
            </a:r>
          </a:p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os α somam 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188720" y="3913632"/>
            <a:ext cx="2752344" cy="310896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212848" y="3913632"/>
            <a:ext cx="1728216" cy="310896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236976" y="3913632"/>
            <a:ext cx="704088" cy="310896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3941064" y="3913632"/>
            <a:ext cx="320040" cy="310896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941064" y="3913632"/>
            <a:ext cx="1344168" cy="310896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295144" y="4242816"/>
            <a:ext cx="3291840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cₜ = Σ αₜ,ₛ · hₛ   (contexto do passo t)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919472"/>
            <a:ext cx="2029968" cy="1225296"/>
          </a:xfrm>
          <a:prstGeom prst="roundRect">
            <a:avLst>
              <a:gd name="adj" fmla="val 671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5020056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1 · score de alinhamento</a:t>
            </a:r>
          </a:p>
        </p:txBody>
      </p:sp>
      <p:pic>
        <p:nvPicPr>
          <p:cNvPr id="46" name="Picture 45" descr="f533f19c56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00" y="5358384"/>
            <a:ext cx="1342505" cy="261850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2926080" y="4919472"/>
            <a:ext cx="2029968" cy="1225296"/>
          </a:xfrm>
          <a:prstGeom prst="roundRect">
            <a:avLst>
              <a:gd name="adj" fmla="val 67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35808" y="5020056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2 · pesos normalizados</a:t>
            </a:r>
          </a:p>
        </p:txBody>
      </p:sp>
      <p:pic>
        <p:nvPicPr>
          <p:cNvPr id="49" name="Picture 48" descr="2eff99c3d6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64" y="5358384"/>
            <a:ext cx="1143000" cy="465512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5193792" y="4919472"/>
            <a:ext cx="2029968" cy="1225296"/>
          </a:xfrm>
          <a:prstGeom prst="roundRect">
            <a:avLst>
              <a:gd name="adj" fmla="val 67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5020056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3 · vetor de contexto</a:t>
            </a:r>
          </a:p>
        </p:txBody>
      </p:sp>
      <p:pic>
        <p:nvPicPr>
          <p:cNvPr id="52" name="Picture 51" descr="3b41d6ac101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935" y="5358384"/>
            <a:ext cx="1001683" cy="399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O mecanismo: self-attention, cabeças e posição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Scaled dot-product: Q, K, V e o papel de √dₖ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Self-attention e multi-head attention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Positional encoding e o bloco encoder completo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1512086" y="1371600"/>
            <a:ext cx="4857957" cy="975914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Scaled dot-product:</a:t>
            </a:r>
            <a:r>
              <a:rPr sz="2700" b="1">
                <a:solidFill>
                  <a:srgbClr val="ED145B"/>
                </a:solidFill>
                <a:latin typeface="Calibri"/>
              </a:rPr>
              <a:t> a atenção em uma equação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Q (query), K (key), V (value): projeções lineares do input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QK</a:t>
            </a:r>
            <a:r>
              <a:rPr sz="1250" baseline="30000">
                <a:solidFill>
                  <a:srgbClr val="E4E4EA"/>
                </a:solidFill>
                <a:latin typeface="Calibri"/>
              </a:rPr>
              <a:t>T</a:t>
            </a:r>
            <a:r>
              <a:rPr sz="1250">
                <a:solidFill>
                  <a:srgbClr val="E4E4EA"/>
                </a:solidFill>
                <a:latin typeface="Calibri"/>
              </a:rPr>
              <a:t> mede similaridade entre cada par de posições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√dₖ mantém a variância dos scores próxima de 1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Sem a escala o softmax satura e o gradiente some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Luong (2015) → Vaswani (2017): produto interno, sem MLP</a:t>
            </a:r>
          </a:p>
        </p:txBody>
      </p:sp>
      <p:pic>
        <p:nvPicPr>
          <p:cNvPr id="5" name="Picture 4" descr="b32db7781b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254" y="1572768"/>
            <a:ext cx="4455621" cy="57357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6656" y="2761488"/>
            <a:ext cx="566928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D9CDB"/>
                </a:solidFill>
                <a:latin typeface="Calibri"/>
              </a:rPr>
              <a:t>Q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3346704"/>
            <a:ext cx="566928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D9CDB"/>
                </a:solidFill>
                <a:latin typeface="Calibri"/>
              </a:rPr>
              <a:t>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1872" y="2971800"/>
            <a:ext cx="256032" cy="155448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61872" y="3401568"/>
            <a:ext cx="256032" cy="155448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536192" y="3017520"/>
            <a:ext cx="1207008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QK</a:t>
            </a:r>
            <a:r>
              <a:rPr sz="1100" b="1" baseline="30000">
                <a:solidFill>
                  <a:srgbClr val="2D9CDB"/>
                </a:solidFill>
                <a:latin typeface="Calibri"/>
              </a:rPr>
              <a:t>T</a:t>
            </a:r>
          </a:p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scores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6" y="3017520"/>
            <a:ext cx="1078992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2994A"/>
                </a:solidFill>
                <a:latin typeface="Calibri"/>
              </a:rPr>
              <a:t>÷ √dₖ</a:t>
            </a:r>
          </a:p>
          <a:p>
            <a:pPr algn="ctr"/>
            <a:r>
              <a:rPr sz="1100" b="1">
                <a:solidFill>
                  <a:srgbClr val="F2994A"/>
                </a:solidFill>
                <a:latin typeface="Calibri"/>
              </a:rPr>
              <a:t>escala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78224" y="3017520"/>
            <a:ext cx="1188720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D145B"/>
                </a:solidFill>
                <a:latin typeface="Calibri"/>
              </a:rPr>
              <a:t>softmax</a:t>
            </a:r>
          </a:p>
          <a:p>
            <a:pPr algn="ctr"/>
            <a:r>
              <a:rPr sz="1100" b="1">
                <a:solidFill>
                  <a:srgbClr val="ED145B"/>
                </a:solidFill>
                <a:latin typeface="Calibri"/>
              </a:rPr>
              <a:t>pesos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017520"/>
            <a:ext cx="1005840" cy="713232"/>
          </a:xfrm>
          <a:prstGeom prst="roundRect">
            <a:avLst>
              <a:gd name="adj" fmla="val 1153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× V</a:t>
            </a:r>
          </a:p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mistura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70632" y="3374136"/>
            <a:ext cx="7315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77640" y="3374136"/>
            <a:ext cx="73151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94376" y="3374136"/>
            <a:ext cx="73152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68112" y="3986784"/>
            <a:ext cx="859536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27AE60"/>
                </a:solidFill>
                <a:latin typeface="Calibri"/>
              </a:rPr>
              <a:t>V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897880" y="3767328"/>
            <a:ext cx="0" cy="201168"/>
          </a:xfrm>
          <a:prstGeom prst="line">
            <a:avLst/>
          </a:prstGeom>
          <a:ln w="1778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28232" y="3374136"/>
            <a:ext cx="19202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638544" y="3072384"/>
            <a:ext cx="566928" cy="603504"/>
          </a:xfrm>
          <a:prstGeom prst="roundRect">
            <a:avLst>
              <a:gd name="adj" fmla="val 14516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saída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98848"/>
            <a:ext cx="3200400" cy="1700784"/>
          </a:xfrm>
          <a:prstGeom prst="roundRect">
            <a:avLst>
              <a:gd name="adj" fmla="val 4838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599432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SEM  ÷ √dₖ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6736" y="5733288"/>
            <a:ext cx="274320" cy="457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719072" y="5733288"/>
            <a:ext cx="274320" cy="457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2121408" y="4956048"/>
            <a:ext cx="274320" cy="82296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523744" y="5733288"/>
            <a:ext cx="274320" cy="457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5733288"/>
            <a:ext cx="274320" cy="4572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7824" y="5779008"/>
            <a:ext cx="2761487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6384" y="587044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2994A"/>
                </a:solidFill>
                <a:latin typeface="Calibri"/>
              </a:rPr>
              <a:t>softmax satura em um pico — gradiente ≈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4498848"/>
            <a:ext cx="3200400" cy="1700784"/>
          </a:xfrm>
          <a:prstGeom prst="roundRect">
            <a:avLst>
              <a:gd name="adj" fmla="val 483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599432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COM  ÷ √dₖ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1728" y="5596128"/>
            <a:ext cx="274320" cy="18288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5084064" y="5449824"/>
            <a:ext cx="274320" cy="32918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5102352"/>
            <a:ext cx="274320" cy="6766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Rectangle 35"/>
          <p:cNvSpPr/>
          <p:nvPr/>
        </p:nvSpPr>
        <p:spPr>
          <a:xfrm>
            <a:off x="5888736" y="5340096"/>
            <a:ext cx="274320" cy="43891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5541264"/>
            <a:ext cx="274320" cy="23774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42816" y="5779008"/>
            <a:ext cx="2761488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151376" y="587044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distribuição suave — o gradiente flui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Self-attention:</a:t>
            </a:r>
            <a:r>
              <a:rPr sz="2700" b="1">
                <a:solidFill>
                  <a:srgbClr val="ED145B"/>
                </a:solidFill>
                <a:latin typeface="Calibri"/>
              </a:rPr>
              <a:t> cada posição olha para as outras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mesma sequência gera Q, K e V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posição olha para todas as outras da própria sequência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Captura dependências sem importar a distância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Caminho de comprimento 1 entre quaisquer dois tokens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 tudo em paralelo: não há laço no tempo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06624" y="1554480"/>
            <a:ext cx="246888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sequência X   (n × d)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188720" y="1993392"/>
            <a:ext cx="2752344" cy="274320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2608" y="2286000"/>
            <a:ext cx="1792224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D9CDB"/>
                </a:solidFill>
                <a:latin typeface="Calibri"/>
              </a:rPr>
              <a:t>Q 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743200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quem pergunta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41064" y="1993392"/>
            <a:ext cx="0" cy="274320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44952" y="2286000"/>
            <a:ext cx="1792224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9B51E0"/>
                </a:solidFill>
                <a:latin typeface="Calibri"/>
              </a:rPr>
              <a:t>K 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743200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quem responde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41064" y="1993392"/>
            <a:ext cx="2459736" cy="274320"/>
          </a:xfrm>
          <a:prstGeom prst="line">
            <a:avLst/>
          </a:prstGeom>
          <a:ln w="1651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04688" y="2286000"/>
            <a:ext cx="1792224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7AE60"/>
                </a:solidFill>
                <a:latin typeface="Calibri"/>
              </a:rPr>
              <a:t>V 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743200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 que se leva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1554480"/>
            <a:ext cx="186537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A0A6"/>
                </a:solidFill>
                <a:latin typeface="Calibri"/>
              </a:rPr>
              <a:t>três projeções lineares</a:t>
            </a:r>
          </a:p>
          <a:p>
            <a:pPr algn="r"/>
            <a:r>
              <a:rPr sz="950" b="0" i="0">
                <a:solidFill>
                  <a:srgbClr val="9AA0A6"/>
                </a:solidFill>
                <a:latin typeface="Calibri"/>
              </a:rPr>
              <a:t>da MESMA sequência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10896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9CDB"/>
                </a:solidFill>
                <a:latin typeface="Calibri"/>
              </a:rPr>
              <a:t>QUERY  ·  a posição que pergunta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84248" y="3383280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filme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82696" y="3383280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81144" y="3383280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9592" y="3383280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ruim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828032"/>
            <a:ext cx="868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51E0"/>
                </a:solidFill>
                <a:latin typeface="Calibri"/>
              </a:rPr>
              <a:t>KEYS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57216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84248" y="5157216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filme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82696" y="5157216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não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81144" y="5157216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79592" y="5157216"/>
            <a:ext cx="10058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ruim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188720" y="3822191"/>
            <a:ext cx="2596895" cy="1316737"/>
          </a:xfrm>
          <a:prstGeom prst="line">
            <a:avLst/>
          </a:prstGeom>
          <a:ln w="13462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487168" y="3822191"/>
            <a:ext cx="1298447" cy="1316737"/>
          </a:xfrm>
          <a:prstGeom prst="line">
            <a:avLst/>
          </a:prstGeom>
          <a:ln w="18745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85615" y="3822191"/>
            <a:ext cx="0" cy="1316737"/>
          </a:xfrm>
          <a:prstGeom prst="line">
            <a:avLst/>
          </a:prstGeom>
          <a:ln w="16306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85615" y="3822191"/>
            <a:ext cx="1298449" cy="1316737"/>
          </a:xfrm>
          <a:prstGeom prst="line">
            <a:avLst/>
          </a:prstGeom>
          <a:ln w="13462">
            <a:solidFill>
              <a:srgbClr val="2A2A3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785615" y="3822191"/>
            <a:ext cx="2596897" cy="1316737"/>
          </a:xfrm>
          <a:prstGeom prst="line">
            <a:avLst/>
          </a:prstGeom>
          <a:ln w="35814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32120" y="4498848"/>
            <a:ext cx="1691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α = 0,60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19072" y="449884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D9CDB"/>
                </a:solidFill>
                <a:latin typeface="Calibri"/>
              </a:rPr>
              <a:t>α = 0,18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60720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toda posição é key — inclusive ela mesma — e “não” → “ruim” é UM salto (na RNN, 3 passos)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1" name="Rounded Rectangle 90"/>
          <p:cNvSpPr/>
          <p:nvPr/>
        </p:nvSpPr>
        <p:spPr>
          <a:xfrm>
            <a:off x="1786406" y="5340096"/>
            <a:ext cx="4309317" cy="718219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Multi-head:</a:t>
            </a:r>
            <a:r>
              <a:rPr sz="2700" b="1">
                <a:solidFill>
                  <a:srgbClr val="ED145B"/>
                </a:solidFill>
                <a:latin typeface="Calibri"/>
              </a:rPr>
              <a:t> várias perguntas ao mesmo tempo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vez de 1 atenção, h atenções em paralelo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cabeça trabalha em dimensão dₖ = d/h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Concatena as saídas e projeta por Wᴼ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Cada cabeça pode especializar: sintaxe, semântica, co-referência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Custo total igual ao de uma cabeça de dimensão cheia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52344" y="1536192"/>
            <a:ext cx="2377440" cy="40233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entrada X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7320" y="1956816"/>
            <a:ext cx="2523744" cy="25603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2231136"/>
            <a:ext cx="14630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1288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89304" y="2761488"/>
            <a:ext cx="128016" cy="128016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7320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45336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1288" y="2889504"/>
            <a:ext cx="128016" cy="128016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9304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17320" y="2889504"/>
            <a:ext cx="128016" cy="128016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45336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1288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89304" y="3017520"/>
            <a:ext cx="128016" cy="128016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17320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45336" y="3017520"/>
            <a:ext cx="128016" cy="128016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288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89304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17320" y="3145536"/>
            <a:ext cx="128016" cy="128016"/>
          </a:xfrm>
          <a:prstGeom prst="rect">
            <a:avLst/>
          </a:prstGeom>
          <a:solidFill>
            <a:srgbClr val="2D9CD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45336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3364992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D9CDB"/>
                </a:solidFill>
                <a:latin typeface="Calibri"/>
              </a:rPr>
              <a:t>posição</a:t>
            </a:r>
          </a:p>
          <a:p>
            <a:pPr algn="ctr"/>
            <a:r>
              <a:rPr sz="950" b="0" i="0">
                <a:solidFill>
                  <a:srgbClr val="2D9CDB"/>
                </a:solidFill>
                <a:latin typeface="Calibri"/>
              </a:rPr>
              <a:t>vizinha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17320" y="3803904"/>
            <a:ext cx="0" cy="237744"/>
          </a:xfrm>
          <a:prstGeom prst="line">
            <a:avLst/>
          </a:prstGeom>
          <a:ln w="1651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063240" y="1956816"/>
            <a:ext cx="877824" cy="25603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331720" y="2231136"/>
            <a:ext cx="14630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9B51E0"/>
                </a:solidFill>
                <a:latin typeface="Calibri"/>
              </a:rPr>
              <a:t>head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07208" y="2761488"/>
            <a:ext cx="128016" cy="128016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35224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63240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91256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07208" y="2889504"/>
            <a:ext cx="128016" cy="128016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35224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063240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91256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07208" y="3017520"/>
            <a:ext cx="128016" cy="128016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35224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3240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91256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07208" y="3145536"/>
            <a:ext cx="128016" cy="128016"/>
          </a:xfrm>
          <a:prstGeom prst="rect">
            <a:avLst/>
          </a:prstGeom>
          <a:solidFill>
            <a:srgbClr val="9B51E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35224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63240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91256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76856" y="3364992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B51E0"/>
                </a:solidFill>
                <a:latin typeface="Calibri"/>
              </a:rPr>
              <a:t>sintaxe</a:t>
            </a:r>
          </a:p>
          <a:p>
            <a:pPr algn="ctr"/>
            <a:r>
              <a:rPr sz="950" b="0" i="0">
                <a:solidFill>
                  <a:srgbClr val="9B51E0"/>
                </a:solidFill>
                <a:latin typeface="Calibri"/>
              </a:rPr>
              <a:t>(verbo→sujeito)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063240" y="3803904"/>
            <a:ext cx="0" cy="237744"/>
          </a:xfrm>
          <a:prstGeom prst="line">
            <a:avLst/>
          </a:prstGeom>
          <a:ln w="16510">
            <a:solidFill>
              <a:srgbClr val="9B51E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941064" y="1956816"/>
            <a:ext cx="768096" cy="25603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3977640" y="2231136"/>
            <a:ext cx="14630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head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2761488"/>
            <a:ext cx="128016" cy="128016"/>
          </a:xfrm>
          <a:prstGeom prst="rect">
            <a:avLst/>
          </a:prstGeom>
          <a:solidFill>
            <a:srgbClr val="27AE6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81144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09160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37176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453128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81144" y="2889504"/>
            <a:ext cx="128016" cy="128016"/>
          </a:xfrm>
          <a:prstGeom prst="rect">
            <a:avLst/>
          </a:prstGeom>
          <a:solidFill>
            <a:srgbClr val="27AE6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709160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7176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453128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81144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09160" y="3017520"/>
            <a:ext cx="128016" cy="128016"/>
          </a:xfrm>
          <a:prstGeom prst="rect">
            <a:avLst/>
          </a:prstGeom>
          <a:solidFill>
            <a:srgbClr val="27AE6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7176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53128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81144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09160" y="3145536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837176" y="3145536"/>
            <a:ext cx="128016" cy="128016"/>
          </a:xfrm>
          <a:prstGeom prst="rect">
            <a:avLst/>
          </a:prstGeom>
          <a:solidFill>
            <a:srgbClr val="27AE60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922776" y="3364992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7AE60"/>
                </a:solidFill>
                <a:latin typeface="Calibri"/>
              </a:rPr>
              <a:t>co-referência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709160" y="3803904"/>
            <a:ext cx="0" cy="237744"/>
          </a:xfrm>
          <a:prstGeom prst="line">
            <a:avLst/>
          </a:prstGeom>
          <a:ln w="1651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941064" y="1956816"/>
            <a:ext cx="2414016" cy="256032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5623560" y="2231136"/>
            <a:ext cx="1463040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2994A"/>
                </a:solidFill>
                <a:latin typeface="Calibri"/>
              </a:rPr>
              <a:t>head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99048" y="2761488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27064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55080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83096" y="2761488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99048" y="2889504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27064" y="2889504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5080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83096" y="2889504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99048" y="3017520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27064" y="3017520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355080" y="3017520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483096" y="3017520"/>
            <a:ext cx="128016" cy="128016"/>
          </a:xfrm>
          <a:prstGeom prst="rect">
            <a:avLst/>
          </a:prstGeom>
          <a:noFill/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99048" y="3145536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27064" y="3145536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55080" y="3145536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483096" y="3145536"/>
            <a:ext cx="128016" cy="128016"/>
          </a:xfrm>
          <a:prstGeom prst="rect">
            <a:avLst/>
          </a:prstGeom>
          <a:solidFill>
            <a:srgbClr val="F2994A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568696" y="3364992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contexto</a:t>
            </a:r>
          </a:p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amplo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355080" y="3803904"/>
            <a:ext cx="0" cy="237744"/>
          </a:xfrm>
          <a:prstGeom prst="line">
            <a:avLst/>
          </a:prstGeom>
          <a:ln w="1651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58368" y="155448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h = 4 cabeças  ·  cada</a:t>
            </a:r>
          </a:p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uma em dimensão d/h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22960" y="4059936"/>
            <a:ext cx="6254496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Concat(head₁, …, head₄)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941064" y="4498848"/>
            <a:ext cx="0" cy="219456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2980944" y="4736592"/>
            <a:ext cx="1920240" cy="420624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projeção final  Wᴼ</a:t>
            </a:r>
          </a:p>
        </p:txBody>
      </p:sp>
      <p:pic>
        <p:nvPicPr>
          <p:cNvPr id="90" name="Picture 89" descr="145a466a92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74" y="5541264"/>
            <a:ext cx="3906981" cy="3158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Positional encoding: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devolver a ordem à sequência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Atenção é permutation-invariant — a ordem some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Somamos um encoding posicional ao embedding do token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Senoidal (Vaswani) ou aprendido (BERT)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Variante moderna: RoPE (Su et al., 2023) — LLaMA, GPT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É a posição que faz “não é ruim” ≠ “é ruim não”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2994A"/>
                </a:solidFill>
                <a:latin typeface="Calibri"/>
              </a:rPr>
              <a:t>SEM POSIÇÃO, A ATENÇÃO É UM SACO DE PALAVRAS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73936"/>
            <a:ext cx="804672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não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91056" y="1773936"/>
            <a:ext cx="804672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0" y="1773936"/>
            <a:ext cx="804672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ruim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31136"/>
            <a:ext cx="804672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91056" y="2231136"/>
            <a:ext cx="804672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ruim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231136"/>
            <a:ext cx="804672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não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01568" y="2139696"/>
            <a:ext cx="438912" cy="0"/>
          </a:xfrm>
          <a:prstGeom prst="line">
            <a:avLst/>
          </a:prstGeom>
          <a:ln w="22860">
            <a:solidFill>
              <a:srgbClr val="F2994A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77056" y="1847088"/>
            <a:ext cx="3291840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2994A"/>
                </a:solidFill>
                <a:latin typeface="Calibri"/>
              </a:rPr>
              <a:t>self-attention pura → MESMA saída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2688336"/>
            <a:ext cx="6565392" cy="0"/>
          </a:xfrm>
          <a:prstGeom prst="line">
            <a:avLst/>
          </a:prstGeom>
          <a:ln w="1524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" y="2816352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D9CDB"/>
                </a:solidFill>
                <a:latin typeface="Calibri"/>
              </a:rPr>
              <a:t>embedding do</a:t>
            </a:r>
          </a:p>
          <a:p>
            <a:pPr algn="ctr"/>
            <a:r>
              <a:rPr sz="1000" b="0">
                <a:solidFill>
                  <a:srgbClr val="2D9CDB"/>
                </a:solidFill>
                <a:latin typeface="Calibri"/>
              </a:rPr>
              <a:t>token</a:t>
            </a:r>
          </a:p>
        </p:txBody>
      </p:sp>
      <p:sp>
        <p:nvSpPr>
          <p:cNvPr id="16" name="Oval 15"/>
          <p:cNvSpPr/>
          <p:nvPr/>
        </p:nvSpPr>
        <p:spPr>
          <a:xfrm>
            <a:off x="2542032" y="2843784"/>
            <a:ext cx="402336" cy="402336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0672" y="2816352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ED145B"/>
                </a:solidFill>
                <a:latin typeface="Calibri"/>
              </a:rPr>
              <a:t>encoding da</a:t>
            </a:r>
          </a:p>
          <a:p>
            <a:pPr algn="ctr"/>
            <a:r>
              <a:rPr sz="1000" b="0">
                <a:solidFill>
                  <a:srgbClr val="ED145B"/>
                </a:solidFill>
                <a:latin typeface="Calibri"/>
              </a:rPr>
              <a:t>posição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29169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0A6"/>
                </a:solidFill>
                <a:latin typeface="Calibri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2816352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entrada do bloco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0392" y="4041648"/>
            <a:ext cx="5961888" cy="0"/>
          </a:xfrm>
          <a:prstGeom prst="line">
            <a:avLst/>
          </a:prstGeom>
          <a:ln w="1270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60120" y="3981569"/>
            <a:ext cx="142875" cy="6007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02995" y="3922970"/>
            <a:ext cx="142875" cy="5859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245870" y="3867293"/>
            <a:ext cx="142875" cy="55677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388745" y="3815910"/>
            <a:ext cx="142875" cy="51383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531620" y="3770085"/>
            <a:ext cx="142875" cy="45825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74495" y="3730946"/>
            <a:ext cx="142875" cy="3913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817370" y="3699458"/>
            <a:ext cx="142874" cy="3148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60244" y="3676396"/>
            <a:ext cx="142876" cy="23062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03120" y="3662328"/>
            <a:ext cx="142875" cy="1406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245995" y="3657600"/>
            <a:ext cx="142875" cy="472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88870" y="3657600"/>
            <a:ext cx="142875" cy="472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531745" y="3662328"/>
            <a:ext cx="142875" cy="1406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674620" y="3676396"/>
            <a:ext cx="142875" cy="23062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817495" y="3699458"/>
            <a:ext cx="142875" cy="3148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960370" y="3730946"/>
            <a:ext cx="142875" cy="3913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103245" y="3770085"/>
            <a:ext cx="142875" cy="45825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46120" y="3815910"/>
            <a:ext cx="142875" cy="51383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388995" y="3867293"/>
            <a:ext cx="142875" cy="55677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31870" y="3922970"/>
            <a:ext cx="142875" cy="5859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674745" y="3981569"/>
            <a:ext cx="142875" cy="6007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17620" y="4041648"/>
            <a:ext cx="142875" cy="6007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60495" y="4101726"/>
            <a:ext cx="142875" cy="5859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03370" y="4160325"/>
            <a:ext cx="142875" cy="55677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46245" y="4216002"/>
            <a:ext cx="142875" cy="51383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89120" y="4267385"/>
            <a:ext cx="142875" cy="45825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1995" y="4313210"/>
            <a:ext cx="142875" cy="3913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74870" y="4352349"/>
            <a:ext cx="142875" cy="3148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817745" y="4383837"/>
            <a:ext cx="142875" cy="23062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60620" y="4406899"/>
            <a:ext cx="142875" cy="1406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103495" y="4420967"/>
            <a:ext cx="142875" cy="472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246370" y="4420967"/>
            <a:ext cx="142875" cy="472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389245" y="4406899"/>
            <a:ext cx="142875" cy="1406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532120" y="4383837"/>
            <a:ext cx="142875" cy="23062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674995" y="4352349"/>
            <a:ext cx="142875" cy="3148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817870" y="4313210"/>
            <a:ext cx="142875" cy="3913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960745" y="4267385"/>
            <a:ext cx="142875" cy="45825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103620" y="4216002"/>
            <a:ext cx="142875" cy="51383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246495" y="4160325"/>
            <a:ext cx="142875" cy="55677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389370" y="4101726"/>
            <a:ext cx="142875" cy="58599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6532245" y="4041648"/>
            <a:ext cx="142875" cy="60078"/>
          </a:xfrm>
          <a:prstGeom prst="line">
            <a:avLst/>
          </a:prstGeom>
          <a:ln w="2032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858000" y="3895344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ED145B"/>
                </a:solidFill>
                <a:latin typeface="Calibri"/>
              </a:rPr>
              <a:t>dim 0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960120" y="3911556"/>
            <a:ext cx="142875" cy="130092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102995" y="3796846"/>
            <a:ext cx="142875" cy="114710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245870" y="3711081"/>
            <a:ext cx="142875" cy="85765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388745" y="3664402"/>
            <a:ext cx="142875" cy="46679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531620" y="3662328"/>
            <a:ext cx="142875" cy="2074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674495" y="3662328"/>
            <a:ext cx="142875" cy="42776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817370" y="3705104"/>
            <a:ext cx="142874" cy="82568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960244" y="3787672"/>
            <a:ext cx="142876" cy="112598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103120" y="3900270"/>
            <a:ext cx="142875" cy="129314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45995" y="4029584"/>
            <a:ext cx="142875" cy="13074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2388870" y="4160325"/>
            <a:ext cx="142875" cy="116708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2531745" y="4277033"/>
            <a:ext cx="142875" cy="88877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674620" y="4365910"/>
            <a:ext cx="142875" cy="50536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2817495" y="4416446"/>
            <a:ext cx="142875" cy="622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2960370" y="4383837"/>
            <a:ext cx="142875" cy="38830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103245" y="4304546"/>
            <a:ext cx="142875" cy="7929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246120" y="4194171"/>
            <a:ext cx="142875" cy="110375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3388995" y="4065762"/>
            <a:ext cx="142875" cy="128409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3531870" y="3934502"/>
            <a:ext cx="142875" cy="131260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674745" y="3815910"/>
            <a:ext cx="142875" cy="118592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817620" y="3724009"/>
            <a:ext cx="142875" cy="9190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960495" y="3669665"/>
            <a:ext cx="142875" cy="54344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103370" y="3659304"/>
            <a:ext cx="142875" cy="1036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246245" y="3659304"/>
            <a:ext cx="142875" cy="34846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89120" y="3694150"/>
            <a:ext cx="142875" cy="75935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531995" y="3770085"/>
            <a:ext cx="142875" cy="108043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674870" y="3878128"/>
            <a:ext cx="142875" cy="127377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817745" y="4005505"/>
            <a:ext cx="142875" cy="13165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960620" y="4137156"/>
            <a:ext cx="142875" cy="120358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103495" y="4257514"/>
            <a:ext cx="142875" cy="94835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246370" y="4352349"/>
            <a:ext cx="142875" cy="58097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89245" y="4410446"/>
            <a:ext cx="142875" cy="14492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5532120" y="4394109"/>
            <a:ext cx="142875" cy="30829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5674995" y="4321606"/>
            <a:ext cx="142875" cy="72503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5817870" y="4216002"/>
            <a:ext cx="142875" cy="105604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5960745" y="4089781"/>
            <a:ext cx="142875" cy="12622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103620" y="3957870"/>
            <a:ext cx="142875" cy="131911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246495" y="3835864"/>
            <a:ext cx="142875" cy="122006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389370" y="3738190"/>
            <a:ext cx="142875" cy="97674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532245" y="3676396"/>
            <a:ext cx="142875" cy="61794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858000" y="4096512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D9CDB"/>
                </a:solidFill>
                <a:latin typeface="Calibri"/>
              </a:rPr>
              <a:t>dim 2</a:t>
            </a: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960120" y="3796846"/>
            <a:ext cx="142875" cy="244802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102995" y="3664402"/>
            <a:ext cx="142875" cy="132444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245870" y="3664402"/>
            <a:ext cx="142875" cy="40702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388745" y="3705104"/>
            <a:ext cx="142875" cy="195166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531620" y="3900270"/>
            <a:ext cx="142875" cy="26005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674495" y="4160325"/>
            <a:ext cx="142875" cy="20558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817370" y="4365910"/>
            <a:ext cx="142874" cy="56757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1960244" y="4304546"/>
            <a:ext cx="142876" cy="118121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2103120" y="4065762"/>
            <a:ext cx="142875" cy="238784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2245995" y="3815910"/>
            <a:ext cx="142875" cy="249852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2388870" y="3669665"/>
            <a:ext cx="142875" cy="14624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531745" y="3669665"/>
            <a:ext cx="142875" cy="2448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674620" y="3694150"/>
            <a:ext cx="142875" cy="183978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817495" y="3878128"/>
            <a:ext cx="142875" cy="259028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960370" y="4137156"/>
            <a:ext cx="142875" cy="215193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103245" y="4352349"/>
            <a:ext cx="142875" cy="72589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3246120" y="4321606"/>
            <a:ext cx="142875" cy="103332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3388995" y="4089781"/>
            <a:ext cx="142875" cy="23182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3531870" y="3835864"/>
            <a:ext cx="142875" cy="253917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3674745" y="3676396"/>
            <a:ext cx="142875" cy="159468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817620" y="3676396"/>
            <a:ext cx="142875" cy="8173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960495" y="3684569"/>
            <a:ext cx="142875" cy="172062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103370" y="3856631"/>
            <a:ext cx="142875" cy="256980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4246245" y="4113611"/>
            <a:ext cx="142875" cy="223951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389120" y="4337562"/>
            <a:ext cx="142875" cy="88134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4531995" y="4337562"/>
            <a:ext cx="142875" cy="88134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674870" y="4113611"/>
            <a:ext cx="142875" cy="223951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4817745" y="3856631"/>
            <a:ext cx="142875" cy="256980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4960620" y="3684569"/>
            <a:ext cx="142875" cy="172062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5103495" y="3676396"/>
            <a:ext cx="142875" cy="8173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246370" y="3676396"/>
            <a:ext cx="142875" cy="159468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389245" y="3835864"/>
            <a:ext cx="142875" cy="253917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532120" y="4089781"/>
            <a:ext cx="142875" cy="23182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674995" y="4321606"/>
            <a:ext cx="142875" cy="103332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5817870" y="4352349"/>
            <a:ext cx="142875" cy="72589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5960745" y="4137156"/>
            <a:ext cx="142875" cy="215193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6103620" y="3878128"/>
            <a:ext cx="142875" cy="259028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6246495" y="3694150"/>
            <a:ext cx="142875" cy="183978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6389370" y="3669665"/>
            <a:ext cx="142875" cy="2448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532245" y="3669665"/>
            <a:ext cx="142875" cy="146245"/>
          </a:xfrm>
          <a:prstGeom prst="line">
            <a:avLst/>
          </a:prstGeom>
          <a:ln w="2032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6858000" y="429768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B51E0"/>
                </a:solidFill>
                <a:latin typeface="Calibri"/>
              </a:rPr>
              <a:t>dim 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85800" y="457200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posição na sequência  →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58368" y="4974336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D9CDB"/>
                </a:solidFill>
                <a:latin typeface="Calibri"/>
              </a:rPr>
              <a:t>senoidal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Vaswani 2017 · extrapola
para frases mais longas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2932176" y="4974336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9B51E0"/>
                </a:solidFill>
                <a:latin typeface="Calibri"/>
              </a:rPr>
              <a:t>aprendido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BERT · uma linha de
embedding por posição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205984" y="4974336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ED145B"/>
                </a:solidFill>
                <a:latin typeface="Calibri"/>
              </a:rPr>
              <a:t>RoPE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Su 2023 · rotação de Q e K
padrão em LLaMA e GPT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bloco encoder:</a:t>
            </a:r>
            <a:r>
              <a:rPr sz="2700" b="1">
                <a:solidFill>
                  <a:srgbClr val="ED145B"/>
                </a:solidFill>
                <a:latin typeface="Calibri"/>
              </a:rPr>
              <a:t> atenção, FFN e dois residuais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Self-attention → Add &amp; Norm → Feed-Forward → Add &amp; Norm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FFN expande 4× e volta (d → 4d → d), com GELU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Residual connections (herança da ResNet)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Pre-norm ou post-norm — pre-norm treina mais estável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 blocos idênticos empilhados: BERT-base usa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17904" y="5577840"/>
            <a:ext cx="2926080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entrada  (n × 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17904" y="4828032"/>
            <a:ext cx="292608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Multi-Head Self-Attention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7904" y="4151376"/>
            <a:ext cx="2926080" cy="43891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Add &amp; Norm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7904" y="3401568"/>
            <a:ext cx="2926080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Feed-Forward   d → 4d → d   (GELU)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17904" y="2724912"/>
            <a:ext cx="2926080" cy="438912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Add &amp; Norm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17904" y="2029968"/>
            <a:ext cx="2926080" cy="438912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saída  (n × d)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2980944" y="5349240"/>
            <a:ext cx="0" cy="210312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80944" y="4617720"/>
            <a:ext cx="0" cy="192024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980944" y="3922776"/>
            <a:ext cx="0" cy="210312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980944" y="3191256"/>
            <a:ext cx="0" cy="192024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980944" y="2496312"/>
            <a:ext cx="0" cy="210312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69264" y="5797296"/>
            <a:ext cx="530352" cy="0"/>
          </a:xfrm>
          <a:prstGeom prst="line">
            <a:avLst/>
          </a:prstGeom>
          <a:ln w="2032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69264" y="4279392"/>
            <a:ext cx="0" cy="1517904"/>
          </a:xfrm>
          <a:prstGeom prst="line">
            <a:avLst/>
          </a:prstGeom>
          <a:ln w="2032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" y="4279392"/>
            <a:ext cx="512064" cy="0"/>
          </a:xfrm>
          <a:prstGeom prst="line">
            <a:avLst/>
          </a:prstGeom>
          <a:ln w="2032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243584" y="4480560"/>
            <a:ext cx="256032" cy="0"/>
          </a:xfrm>
          <a:prstGeom prst="line">
            <a:avLst/>
          </a:prstGeom>
          <a:ln w="2032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43584" y="2889504"/>
            <a:ext cx="0" cy="1591056"/>
          </a:xfrm>
          <a:prstGeom prst="line">
            <a:avLst/>
          </a:prstGeom>
          <a:ln w="20320">
            <a:solidFill>
              <a:srgbClr val="27AE6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43584" y="2889504"/>
            <a:ext cx="237744" cy="0"/>
          </a:xfrm>
          <a:prstGeom prst="line">
            <a:avLst/>
          </a:prstGeom>
          <a:ln w="2032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2336" y="5047488"/>
            <a:ext cx="530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7AE60"/>
                </a:solidFill>
                <a:latin typeface="Calibri"/>
              </a:rPr>
              <a:t>residual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3602736"/>
            <a:ext cx="530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7AE60"/>
                </a:solidFill>
                <a:latin typeface="Calibri"/>
              </a:rPr>
              <a:t>residual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9744" y="2029968"/>
            <a:ext cx="2414016" cy="1591056"/>
          </a:xfrm>
          <a:prstGeom prst="roundRect">
            <a:avLst>
              <a:gd name="adj" fmla="val 517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213055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AA0A6"/>
                </a:solidFill>
                <a:latin typeface="Calibri"/>
              </a:rPr>
              <a:t>POST-NORM  ·  original</a:t>
            </a:r>
          </a:p>
        </p:txBody>
      </p:sp>
      <p:pic>
        <p:nvPicPr>
          <p:cNvPr id="26" name="Picture 25" descr="9c10f4c948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800" y="2395728"/>
            <a:ext cx="1113905" cy="2493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19472" y="2871216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 gradiente atravessa o LayerNorm — exige warmup cuidadoso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9744" y="3803904"/>
            <a:ext cx="2414016" cy="1627632"/>
          </a:xfrm>
          <a:prstGeom prst="roundRect">
            <a:avLst>
              <a:gd name="adj" fmla="val 505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390448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PRE-NORM  ·  moderno</a:t>
            </a:r>
          </a:p>
        </p:txBody>
      </p:sp>
      <p:pic>
        <p:nvPicPr>
          <p:cNvPr id="30" name="Picture 29" descr="e805049888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800" y="4169663"/>
            <a:ext cx="1113905" cy="24938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919472" y="464515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145B"/>
                </a:solidFill>
                <a:latin typeface="Calibri"/>
              </a:rPr>
              <a:t>caminho residual limpo — pilhas de 12 a 96 blocos treinam estáveis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09744" y="5577840"/>
            <a:ext cx="2414016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o mesmo atalho da ResNet —</a:t>
            </a:r>
          </a:p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agora entre blocos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14476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× N blocos idênticos  ·  BERT-base: N =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Demonstração em código: do bloco ao experimento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As três famílias e o que a máscara decide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Vieses arquiteturais e o panorama de 2026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Um bloco Transformer em PyTorch e o protocolo do notebook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Encoder, decoder ou ambos:</a:t>
            </a:r>
            <a:r>
              <a:rPr sz="2700" b="1">
                <a:solidFill>
                  <a:srgbClr val="ED145B"/>
                </a:solidFill>
                <a:latin typeface="Calibri"/>
              </a:rPr>
              <a:t> três famílias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Encoder-only: BERT, RoBERTa, DeBERTa → classificação, QA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Decoder-only (causal): GPT, LLaMA, Claude → geração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Encoder-decoder: T5, BART, mT5 → tradução, summarization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diferença estrutural é a máscara de atenção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Classificar não exige gerar — escolha a família pela tarefa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7776" cy="3950208"/>
          </a:xfrm>
          <a:prstGeom prst="roundRect">
            <a:avLst>
              <a:gd name="adj" fmla="val 407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55064"/>
            <a:ext cx="1798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9CDB"/>
                </a:solidFill>
                <a:latin typeface="Calibri"/>
              </a:rPr>
              <a:t>ENCODER-ONLY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8616" y="2066543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38072" y="2066543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7528" y="2066543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76984" y="2066543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96440" y="2066543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8616" y="2286000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38072" y="2286000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57528" y="2286000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6984" y="2286000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96440" y="2286000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8616" y="2505456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38072" y="2505456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7528" y="2505456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76984" y="2505456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96440" y="2505456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8616" y="2724911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8072" y="2724911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57528" y="2724911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76984" y="2724911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96440" y="2724911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8616" y="2944368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8072" y="2944368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57528" y="2944368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76984" y="2944368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6440" y="2944368"/>
            <a:ext cx="219456" cy="219456"/>
          </a:xfrm>
          <a:prstGeom prst="rect">
            <a:avLst/>
          </a:prstGeom>
          <a:solidFill>
            <a:srgbClr val="2477A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255264"/>
            <a:ext cx="18348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cada token vê todos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3657600"/>
            <a:ext cx="1834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linha = query, coluna = key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" y="4206240"/>
            <a:ext cx="1725168" cy="530352"/>
          </a:xfrm>
          <a:prstGeom prst="roundRect">
            <a:avLst>
              <a:gd name="adj" fmla="val 15517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BERT · RoBERTa · DeBERTa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4864608"/>
            <a:ext cx="18348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2D9CDB"/>
                </a:solidFill>
                <a:latin typeface="Calibri"/>
              </a:rPr>
              <a:t>classificação · QA · embeddings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32176" y="1554480"/>
            <a:ext cx="2017776" cy="3950208"/>
          </a:xfrm>
          <a:prstGeom prst="roundRect">
            <a:avLst>
              <a:gd name="adj" fmla="val 407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41904" y="1655064"/>
            <a:ext cx="1798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D145B"/>
                </a:solidFill>
                <a:latin typeface="Calibri"/>
              </a:rPr>
              <a:t>DECODER-ONLY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92424" y="2066543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11880" y="2066543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31336" y="2066543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50792" y="2066543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0248" y="2066543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92424" y="2286000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11880" y="2286000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31336" y="2286000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50792" y="2286000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70248" y="2286000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92424" y="2505456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11880" y="2505456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831336" y="2505456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50792" y="250545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70248" y="2505456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92424" y="2724911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11880" y="2724911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31336" y="2724911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50792" y="2724911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70248" y="2724911"/>
            <a:ext cx="219456" cy="219456"/>
          </a:xfrm>
          <a:prstGeom prst="rect">
            <a:avLst/>
          </a:prstGeom>
          <a:solidFill>
            <a:srgbClr val="1E1E2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92424" y="2944368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611880" y="2944368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831336" y="2944368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50792" y="2944368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70248" y="2944368"/>
            <a:ext cx="219456" cy="219456"/>
          </a:xfrm>
          <a:prstGeom prst="rect">
            <a:avLst/>
          </a:prstGeom>
          <a:solidFill>
            <a:srgbClr val="B4114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23616" y="3255264"/>
            <a:ext cx="18348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só vê o passado (causal)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23616" y="3657600"/>
            <a:ext cx="1834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linha = query, coluna = key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78480" y="4206240"/>
            <a:ext cx="1725168" cy="530352"/>
          </a:xfrm>
          <a:prstGeom prst="roundRect">
            <a:avLst>
              <a:gd name="adj" fmla="val 15517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GPT · LLaMA · Claude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23616" y="4864608"/>
            <a:ext cx="18348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ED145B"/>
                </a:solidFill>
                <a:latin typeface="Calibri"/>
              </a:rPr>
              <a:t>geração de texto · chat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205984" y="1554480"/>
            <a:ext cx="2017776" cy="3950208"/>
          </a:xfrm>
          <a:prstGeom prst="roundRect">
            <a:avLst>
              <a:gd name="adj" fmla="val 4078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15712" y="1655064"/>
            <a:ext cx="1798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ENCODER-DECODER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66232" y="2066543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85688" y="2066543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05144" y="2066543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24600" y="2066543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544056" y="2066543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666232" y="2286000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885688" y="2286000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05144" y="2286000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24600" y="2286000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44056" y="2286000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666232" y="2505456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885688" y="2505456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05144" y="2505456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24600" y="2505456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544056" y="2505456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666232" y="2724911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885688" y="2724911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05144" y="2724911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24600" y="2724911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544056" y="2724911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66232" y="2944368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85688" y="2944368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05144" y="2944368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324600" y="2944368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544056" y="2944368"/>
            <a:ext cx="219456" cy="219456"/>
          </a:xfrm>
          <a:prstGeom prst="rect">
            <a:avLst/>
          </a:prstGeom>
          <a:solidFill>
            <a:srgbClr val="20854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97424" y="3255264"/>
            <a:ext cx="183489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  <a:latin typeface="Calibri"/>
              </a:rPr>
              <a:t>a saída vê a entrada inteira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97424" y="3657600"/>
            <a:ext cx="183489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linha = token da SAÍDA,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coluna = token da ENTRADA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352288" y="4206240"/>
            <a:ext cx="1725168" cy="530352"/>
          </a:xfrm>
          <a:prstGeom prst="roundRect">
            <a:avLst>
              <a:gd name="adj" fmla="val 15517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T5 · BART · mT5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97424" y="4864608"/>
            <a:ext cx="18348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27AE60"/>
                </a:solidFill>
                <a:latin typeface="Calibri"/>
              </a:rPr>
              <a:t>tradução · summarization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58368" y="5705856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mesmo bloco, mesma matemática — o que muda é QUEM pode olhar para QUEM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Vieses arquiteturais:</a:t>
            </a:r>
            <a:r>
              <a:rPr sz="2700" b="1">
                <a:solidFill>
                  <a:srgbClr val="ED145B"/>
                </a:solidFill>
                <a:latin typeface="Calibri"/>
              </a:rPr>
              <a:t> qual hipótese cabe no 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TF-IDF + regressão logística: barato, forte e auditável quando o vocabulário já carrega o sinal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RNN/BiLSTM: bom viés local, mas sem paralelismo no tempo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Transformer: relações globais em um salto e uso pleno de GPU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preço: custo quadrático e mais dependência de dados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comparação certa é qual hipótese cabe no seu regime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1136" y="1536192"/>
            <a:ext cx="9985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relação global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9660" y="1536192"/>
            <a:ext cx="9985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custo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8185" y="1536192"/>
            <a:ext cx="9985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paraleliza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6710" y="1536192"/>
            <a:ext cx="9985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precisa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5235" y="1536192"/>
            <a:ext cx="99852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9AA0A6"/>
                </a:solidFill>
                <a:latin typeface="Calibri"/>
              </a:rPr>
              <a:t>auditável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83664"/>
            <a:ext cx="148132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TF-IDF + LR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76856" y="1883664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2994A"/>
                </a:solidFill>
                <a:latin typeface="Calibri"/>
              </a:rPr>
              <a:t>não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5380" y="1883664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O(n)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3905" y="1883664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trivial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2430" y="1883664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pouco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0955" y="1883664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487168"/>
            <a:ext cx="148132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RNN / BiLSTM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76856" y="2487168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2994A"/>
                </a:solidFill>
                <a:latin typeface="Calibri"/>
              </a:rPr>
              <a:t>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75380" y="2487168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O(n)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3905" y="2487168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não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2430" y="2487168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médio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0955" y="2487168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2994A"/>
                </a:solidFill>
                <a:latin typeface="Calibri"/>
              </a:rPr>
              <a:t>baixa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090672"/>
            <a:ext cx="148132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D145B"/>
                </a:solidFill>
                <a:latin typeface="Calibri"/>
              </a:rPr>
              <a:t>Transformer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76856" y="3090672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sim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5380" y="3090672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O(n²)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3905" y="3090672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7AE60"/>
                </a:solidFill>
                <a:latin typeface="Calibri"/>
              </a:rPr>
              <a:t>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2430" y="3090672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ED145B"/>
                </a:solidFill>
                <a:latin typeface="Calibri"/>
              </a:rPr>
              <a:t>muito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0955" y="3090672"/>
            <a:ext cx="907084" cy="512064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2994A"/>
                </a:solidFill>
                <a:latin typeface="Calibri"/>
              </a:rPr>
              <a:t>parcial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88720" y="5760720"/>
            <a:ext cx="4480559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188720" y="4151376"/>
            <a:ext cx="0" cy="1609344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88720" y="583387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volume de dados rotulados  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4114800"/>
            <a:ext cx="5669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F1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1188720" y="4808280"/>
            <a:ext cx="877823" cy="491582"/>
          </a:xfrm>
          <a:prstGeom prst="line">
            <a:avLst/>
          </a:prstGeom>
          <a:ln w="254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66543" y="4654661"/>
            <a:ext cx="877825" cy="153619"/>
          </a:xfrm>
          <a:prstGeom prst="line">
            <a:avLst/>
          </a:prstGeom>
          <a:ln w="254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944368" y="4593214"/>
            <a:ext cx="877823" cy="61447"/>
          </a:xfrm>
          <a:prstGeom prst="line">
            <a:avLst/>
          </a:prstGeom>
          <a:ln w="254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822191" y="4577852"/>
            <a:ext cx="877825" cy="15362"/>
          </a:xfrm>
          <a:prstGeom prst="line">
            <a:avLst/>
          </a:prstGeom>
          <a:ln w="254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700016" y="4562490"/>
            <a:ext cx="877824" cy="15362"/>
          </a:xfrm>
          <a:prstGeom prst="line">
            <a:avLst/>
          </a:prstGeom>
          <a:ln w="254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724144" y="446190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AA0A6"/>
                </a:solidFill>
                <a:latin typeface="Calibri"/>
              </a:rPr>
              <a:t>TF-IDF + LR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1188720" y="5023347"/>
            <a:ext cx="877823" cy="491582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66543" y="4716109"/>
            <a:ext cx="877825" cy="307238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944368" y="4547128"/>
            <a:ext cx="877823" cy="168981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822191" y="4470318"/>
            <a:ext cx="877825" cy="76810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700016" y="4439594"/>
            <a:ext cx="877824" cy="30724"/>
          </a:xfrm>
          <a:prstGeom prst="line">
            <a:avLst/>
          </a:prstGeom>
          <a:ln w="254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724144" y="4339010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D9CDB"/>
                </a:solidFill>
                <a:latin typeface="Calibri"/>
              </a:rPr>
              <a:t>BiLSTM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1188720" y="5299862"/>
            <a:ext cx="877823" cy="368686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066543" y="4839004"/>
            <a:ext cx="877825" cy="460858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944368" y="4501042"/>
            <a:ext cx="877823" cy="337962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3822191" y="4332061"/>
            <a:ext cx="877825" cy="168981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700016" y="4270613"/>
            <a:ext cx="877824" cy="61448"/>
          </a:xfrm>
          <a:prstGeom prst="line">
            <a:avLst/>
          </a:prstGeom>
          <a:ln w="254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24144" y="4170029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Transformer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09974" y="4169664"/>
            <a:ext cx="0" cy="1591056"/>
          </a:xfrm>
          <a:prstGeom prst="line">
            <a:avLst/>
          </a:prstGeom>
          <a:ln w="15240">
            <a:solidFill>
              <a:srgbClr val="2A2A3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019702" y="4773168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a partir daqui</a:t>
            </a:r>
          </a:p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o Transformer compensa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3749039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A PERGUNTA NÃO É “QUAL É O MAIS NOVO”, É QUAL HIPÓTESE CABE NO SEU REGIME DE DADOS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Transformers em 2026:</a:t>
            </a:r>
            <a:r>
              <a:rPr sz="2700" b="1">
                <a:solidFill>
                  <a:srgbClr val="ED145B"/>
                </a:solidFill>
                <a:latin typeface="Calibri"/>
              </a:rPr>
              <a:t> do BERT-base à fronteira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BERT-base 110 M e DistilBERT 66 M: classificação e embeddings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LLaMA 3.1 8 B: geração com pesos abertos, em uma GPU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GPT-5 e Claude Opus 4: fronteira, escala não divulgada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bloco é o mesmo de 2017 — muda escala, dados e alinhamento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Decida pelo custo por inferência, não pelo número de parâmetros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MESMO BLOCO DE 2017, EM CINCO ORDENS DE GRANDEZA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3017520"/>
            <a:ext cx="5596128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60120" y="2944368"/>
            <a:ext cx="0" cy="146304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784" y="3145536"/>
            <a:ext cx="8046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10 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944368"/>
            <a:ext cx="0" cy="146304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29384" y="3145536"/>
            <a:ext cx="8046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100 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2944368"/>
            <a:ext cx="0" cy="146304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00984" y="3145536"/>
            <a:ext cx="8046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1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74920" y="2944368"/>
            <a:ext cx="0" cy="146304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672583" y="3145536"/>
            <a:ext cx="8046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100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46520" y="2944368"/>
            <a:ext cx="0" cy="146304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44183" y="3145536"/>
            <a:ext cx="8046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10 T</a:t>
            </a:r>
          </a:p>
        </p:txBody>
      </p:sp>
      <p:sp>
        <p:nvSpPr>
          <p:cNvPr id="17" name="Oval 16"/>
          <p:cNvSpPr/>
          <p:nvPr/>
        </p:nvSpPr>
        <p:spPr>
          <a:xfrm>
            <a:off x="1956816" y="291693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057400" y="2633472"/>
            <a:ext cx="0" cy="256031"/>
          </a:xfrm>
          <a:prstGeom prst="line">
            <a:avLst/>
          </a:prstGeom>
          <a:ln w="1524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7280" y="223113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DistilBERT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32303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66 M</a:t>
            </a:r>
          </a:p>
        </p:txBody>
      </p:sp>
      <p:sp>
        <p:nvSpPr>
          <p:cNvPr id="21" name="Oval 20"/>
          <p:cNvSpPr/>
          <p:nvPr/>
        </p:nvSpPr>
        <p:spPr>
          <a:xfrm>
            <a:off x="2340864" y="2916936"/>
            <a:ext cx="201168" cy="20116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41448" y="3346703"/>
            <a:ext cx="0" cy="219457"/>
          </a:xfrm>
          <a:prstGeom prst="line">
            <a:avLst/>
          </a:prstGeom>
          <a:ln w="1524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81328" y="358444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BERT-base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785615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110 M</a:t>
            </a:r>
          </a:p>
        </p:txBody>
      </p:sp>
      <p:sp>
        <p:nvSpPr>
          <p:cNvPr id="25" name="Oval 24"/>
          <p:cNvSpPr/>
          <p:nvPr/>
        </p:nvSpPr>
        <p:spPr>
          <a:xfrm>
            <a:off x="4151375" y="2916936"/>
            <a:ext cx="201168" cy="201168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4251959" y="2633472"/>
            <a:ext cx="0" cy="256031"/>
          </a:xfrm>
          <a:prstGeom prst="line">
            <a:avLst/>
          </a:prstGeom>
          <a:ln w="1524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291839" y="223113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B51E0"/>
                </a:solidFill>
                <a:latin typeface="Calibri"/>
              </a:rPr>
              <a:t>LLaMA 3.1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39" y="2432303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8 B</a:t>
            </a:r>
          </a:p>
        </p:txBody>
      </p:sp>
      <p:sp>
        <p:nvSpPr>
          <p:cNvPr id="29" name="Oval 28"/>
          <p:cNvSpPr/>
          <p:nvPr/>
        </p:nvSpPr>
        <p:spPr>
          <a:xfrm>
            <a:off x="5797296" y="2916936"/>
            <a:ext cx="201168" cy="20116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97880" y="3346703"/>
            <a:ext cx="0" cy="219457"/>
          </a:xfrm>
          <a:prstGeom prst="line">
            <a:avLst/>
          </a:prstGeom>
          <a:ln w="152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937760" y="358444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GPT-5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785615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~ ? T</a:t>
            </a:r>
          </a:p>
        </p:txBody>
      </p:sp>
      <p:sp>
        <p:nvSpPr>
          <p:cNvPr id="33" name="Oval 32"/>
          <p:cNvSpPr/>
          <p:nvPr/>
        </p:nvSpPr>
        <p:spPr>
          <a:xfrm>
            <a:off x="6291071" y="2916936"/>
            <a:ext cx="201168" cy="20116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391655" y="2633472"/>
            <a:ext cx="0" cy="256031"/>
          </a:xfrm>
          <a:prstGeom prst="line">
            <a:avLst/>
          </a:prstGeom>
          <a:ln w="152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31536" y="223113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Claude Opus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1536" y="2432303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não divulgado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261104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encoders 66–110 M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classificação em escala,
CPU e latência baixa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32176" y="4261104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open weights 8 B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geração e fine-tune
em uma única GPU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05984" y="4261104"/>
            <a:ext cx="2017776" cy="1133856"/>
          </a:xfrm>
          <a:prstGeom prst="roundRect">
            <a:avLst>
              <a:gd name="adj" fmla="val 725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fronteira ~T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agentes e raciocínio longo,
só via API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669280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escolha pelo custo por inferência e pelo dado disponível — não pelo tamanho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Hands-on:</a:t>
            </a:r>
            <a:r>
              <a:rPr sz="2700" b="1">
                <a:solidFill>
                  <a:srgbClr val="ED145B"/>
                </a:solidFill>
                <a:latin typeface="Calibri"/>
              </a:rPr>
              <a:t> um bloco Transformer em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nn.MultiheadAttention com batch_first=True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Self-attention é chamar mha(x, x, x): Q = K = V = x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LayerNorm depois de cada soma residual (post-norm)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FFN: 4× com GELU no paper; 2× com ReLU no notebook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 notebook: EncoderBlock(d_model=64), empilhado 1× e 2×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6565392" cy="2940253"/>
          </a:xfrm>
          <a:prstGeom prst="roundRect">
            <a:avLst>
              <a:gd name="adj" fmla="val 2244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· bloco canônico (no notebook: class EncoderBlock)</a:t>
            </a:r>
          </a:p>
          <a:p>
            <a:pPr algn="l"/>
            <a:r>
              <a:rPr sz="1100">
                <a:solidFill>
                  <a:srgbClr val="ED145B"/>
                </a:solidFill>
                <a:latin typeface="Consolas"/>
              </a:rPr>
              <a:t>class</a:t>
            </a:r>
            <a:r>
              <a:rPr sz="1100">
                <a:solidFill>
                  <a:srgbClr val="E4E4EA"/>
                </a:solidFill>
                <a:latin typeface="Consolas"/>
              </a:rPr>
              <a:t> TransformerBlock(nn.Module):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</a:t>
            </a:r>
            <a:r>
              <a:rPr sz="1100">
                <a:solidFill>
                  <a:srgbClr val="ED145B"/>
                </a:solidFill>
                <a:latin typeface="Consolas"/>
              </a:rPr>
              <a:t>def</a:t>
            </a:r>
            <a:r>
              <a:rPr sz="1100">
                <a:solidFill>
                  <a:srgbClr val="E4E4EA"/>
                </a:solidFill>
                <a:latin typeface="Consolas"/>
              </a:rPr>
              <a:t> __init__(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, d_model=128, n_heads=4):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super</a:t>
            </a:r>
            <a:r>
              <a:rPr sz="1100">
                <a:solidFill>
                  <a:srgbClr val="E4E4EA"/>
                </a:solidFill>
                <a:latin typeface="Consolas"/>
              </a:rPr>
              <a:t>().__init__()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.mha = nn.MultiheadAttention(d_model, n_heads,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                                 batch_first=</a:t>
            </a:r>
            <a:r>
              <a:rPr sz="1100">
                <a:solidFill>
                  <a:srgbClr val="ED145B"/>
                </a:solidFill>
                <a:latin typeface="Consolas"/>
              </a:rPr>
              <a:t>True</a:t>
            </a:r>
            <a:r>
              <a:rPr sz="1100">
                <a:solidFill>
                  <a:srgbClr val="E4E4EA"/>
                </a:solidFill>
                <a:latin typeface="Consolas"/>
              </a:rPr>
              <a:t>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.ln1 = nn.LayerNorm(d_model)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.ff  = nn.Sequential(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    nn.Linear(d_model, 4*d_model), nn.GELU(),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    nn.Linear(4*d_model, d_model))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.ln2 = nn.LayerNorm(d_model)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</a:t>
            </a:r>
            <a:r>
              <a:rPr sz="1100">
                <a:solidFill>
                  <a:srgbClr val="ED145B"/>
                </a:solidFill>
                <a:latin typeface="Consolas"/>
              </a:rPr>
              <a:t>def</a:t>
            </a:r>
            <a:r>
              <a:rPr sz="1100">
                <a:solidFill>
                  <a:srgbClr val="E4E4EA"/>
                </a:solidFill>
                <a:latin typeface="Consolas"/>
              </a:rPr>
              <a:t> forward(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, x):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a, _ =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.mha(x, x, x)     # Q = K = V = x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x =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.ln1(x + a)          # residual + norm</a:t>
            </a:r>
          </a:p>
          <a:p>
            <a:pPr algn="l"/>
            <a:r>
              <a:rPr sz="1100">
                <a:solidFill>
                  <a:srgbClr val="E4E4EA"/>
                </a:solidFill>
                <a:latin typeface="Consolas"/>
              </a:rPr>
              <a:t>        </a:t>
            </a:r>
            <a:r>
              <a:rPr sz="1100">
                <a:solidFill>
                  <a:srgbClr val="ED145B"/>
                </a:solidFill>
                <a:latin typeface="Consolas"/>
              </a:rPr>
              <a:t>return</a:t>
            </a:r>
            <a:r>
              <a:rPr sz="1100">
                <a:solidFill>
                  <a:srgbClr val="E4E4EA"/>
                </a:solidFill>
                <a:latin typeface="Consolas"/>
              </a:rPr>
              <a:t>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.ln2(x + </a:t>
            </a:r>
            <a:r>
              <a:rPr sz="1100">
                <a:solidFill>
                  <a:srgbClr val="ED145B"/>
                </a:solidFill>
                <a:latin typeface="Consolas"/>
              </a:rPr>
              <a:t>self</a:t>
            </a:r>
            <a:r>
              <a:rPr sz="1100">
                <a:solidFill>
                  <a:srgbClr val="E4E4EA"/>
                </a:solidFill>
                <a:latin typeface="Consolas"/>
              </a:rPr>
              <a:t>.ff(x))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4956048"/>
            <a:ext cx="896112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9AA0A6"/>
                </a:solidFill>
                <a:latin typeface="Calibri"/>
              </a:rPr>
              <a:t>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73936" y="4956048"/>
            <a:ext cx="129844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ED145B"/>
                </a:solidFill>
                <a:latin typeface="Calibri"/>
              </a:rPr>
              <a:t>mha(x,x,x)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3552" y="4956048"/>
            <a:ext cx="1133856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ln1(x + 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576" y="4956048"/>
            <a:ext cx="1005840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ff(x)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15584" y="4956048"/>
            <a:ext cx="1389888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27AE60"/>
                </a:solidFill>
                <a:latin typeface="Calibri"/>
              </a:rPr>
              <a:t>ln2(x + ff)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5212080"/>
            <a:ext cx="1463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99815" y="5212080"/>
            <a:ext cx="14630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434840" y="5212080"/>
            <a:ext cx="1463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41848" y="5212080"/>
            <a:ext cx="1463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8368" y="5742432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os dois residuais (x + …) são o que permite empilhar 12 blocos sem o gradiente sumir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testamos a autoatenção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Pergunta: a autoatenção supera bag-of-words quando a classe depende de QUAL aspecto foi criticado, não de QUAIS palavras?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Baselines: TF-IDF unigramas e 1–2 gramas + LR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Tratamento: mini-Transformer encoder com 1 e 2 camadas (EncoderBlock)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Métricas: acurácia, macro-F1 e log-loss — e acurácia por construção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Corpus sintético pt-BR: 5 construções, teto de Bayes 0,964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PERGUNTA:  a autoatenção supera bag-of-words quando a classe depende de QUAL aspecto foi criticado?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40864" y="2267712"/>
            <a:ext cx="3200400" cy="47548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corpus sintético pt-BR  ·  3.200 reviews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103120" y="2761488"/>
            <a:ext cx="1014984" cy="292608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024" y="2761488"/>
            <a:ext cx="996696" cy="292608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3072384"/>
            <a:ext cx="3163824" cy="1810512"/>
          </a:xfrm>
          <a:prstGeom prst="roundRect">
            <a:avLst>
              <a:gd name="adj" fmla="val 454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17296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BASELINE  ·  lexical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" y="3438144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TF-IDF unigramas e 1–2 gramas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895344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regressão logística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59" y="4352544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vê palavras, não ordem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3072384"/>
            <a:ext cx="3163824" cy="1810512"/>
          </a:xfrm>
          <a:prstGeom prst="roundRect">
            <a:avLst>
              <a:gd name="adj" fmla="val 454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17296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MINI-TRANSFORMER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5072" y="3438144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&lt;cls&gt; + posição senoidal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5072" y="3895344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1 ou 2 EncoderBlocks (self-attention)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5072" y="4352544"/>
            <a:ext cx="2834640" cy="384048"/>
          </a:xfrm>
          <a:prstGeom prst="roundRect">
            <a:avLst>
              <a:gd name="adj" fmla="val 16000"/>
            </a:avLst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vê relações a qualquer distância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40280" y="4919472"/>
            <a:ext cx="1152144" cy="256032"/>
          </a:xfrm>
          <a:prstGeom prst="line">
            <a:avLst/>
          </a:prstGeom>
          <a:ln w="17780">
            <a:solidFill>
              <a:srgbClr val="2D9CD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489704" y="4919472"/>
            <a:ext cx="932688" cy="256032"/>
          </a:xfrm>
          <a:prstGeom prst="line">
            <a:avLst/>
          </a:prstGeom>
          <a:ln w="1778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5193792"/>
            <a:ext cx="6565392" cy="49377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MESMAS MÉTRICAS:  acurácia  ·  macro-F1  ·  log-loss  ·  por construção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79008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9AA0A6"/>
                </a:solidFill>
                <a:latin typeface="Calibri"/>
              </a:rPr>
              <a:t>hipótese: o TF-IDF resolve só a frase direta; a atenção ganha na adversativa, na negação e na anáfora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Execução e discussão: interpretar, limitar e aplicar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Mapas de atenção: o que eles mostram (e o que não)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custo quadrático e as alternativas de 2024–2026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Um caso em produção e a ponte para a Aula 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Visualizando atenção:</a:t>
            </a:r>
            <a:r>
              <a:rPr sz="2700" b="1">
                <a:solidFill>
                  <a:srgbClr val="ED145B"/>
                </a:solidFill>
                <a:latin typeface="Calibri"/>
              </a:rPr>
              <a:t> diagnóstico, não explicação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Plotar αₜ,ₛ revela onde o modelo colocou massa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Linha = quem pergunta; coluna = quem é consultado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Ferramentas: bertviz, attention rollout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classificação: quais palavras receberam mais atenção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Cuidado: é diagnóstico útil, não explicação causal suficiente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93852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[CLS]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4248" y="193852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1448" y="193852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filme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93852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não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193852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1938528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ruim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4086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A0A6"/>
                </a:solidFill>
                <a:latin typeface="Calibri"/>
              </a:rPr>
              <a:t>[CLS]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9806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A0A6"/>
                </a:solidFill>
                <a:latin typeface="Calibri"/>
              </a:rPr>
              <a:t>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5526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A0A6"/>
                </a:solidFill>
                <a:latin typeface="Calibri"/>
              </a:rPr>
              <a:t>filme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12463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ED145B"/>
                </a:solidFill>
                <a:latin typeface="Calibri"/>
              </a:rPr>
              <a:t>não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9663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A0A6"/>
                </a:solidFill>
                <a:latin typeface="Calibri"/>
              </a:rPr>
              <a:t>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2686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A0A6"/>
                </a:solidFill>
                <a:latin typeface="Calibri"/>
              </a:rPr>
              <a:t>ruim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2768" y="2212848"/>
            <a:ext cx="457200" cy="457200"/>
          </a:xfrm>
          <a:prstGeom prst="rect">
            <a:avLst/>
          </a:prstGeom>
          <a:solidFill>
            <a:srgbClr val="430D22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29967" y="22128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7168" y="2212848"/>
            <a:ext cx="457200" cy="457200"/>
          </a:xfrm>
          <a:prstGeom prst="rect">
            <a:avLst/>
          </a:prstGeom>
          <a:solidFill>
            <a:srgbClr val="760F33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44368" y="2212848"/>
            <a:ext cx="457200" cy="457200"/>
          </a:xfrm>
          <a:prstGeom prst="rect">
            <a:avLst/>
          </a:prstGeom>
          <a:solidFill>
            <a:srgbClr val="760F33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01568" y="22128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58768" y="2212848"/>
            <a:ext cx="457200" cy="457200"/>
          </a:xfrm>
          <a:prstGeom prst="rect">
            <a:avLst/>
          </a:prstGeom>
          <a:solidFill>
            <a:srgbClr val="870F3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72768" y="26700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29967" y="2670048"/>
            <a:ext cx="457200" cy="457200"/>
          </a:xfrm>
          <a:prstGeom prst="rect">
            <a:avLst/>
          </a:prstGeom>
          <a:solidFill>
            <a:srgbClr val="870F3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2670048"/>
            <a:ext cx="457200" cy="457200"/>
          </a:xfrm>
          <a:prstGeom prst="rect">
            <a:avLst/>
          </a:prstGeom>
          <a:solidFill>
            <a:srgbClr val="A91144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44368" y="2670048"/>
            <a:ext cx="457200" cy="457200"/>
          </a:xfrm>
          <a:prstGeom prst="rect">
            <a:avLst/>
          </a:prstGeom>
          <a:solidFill>
            <a:srgbClr val="430D22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1568" y="26700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58768" y="2670048"/>
            <a:ext cx="457200" cy="457200"/>
          </a:xfrm>
          <a:prstGeom prst="rect">
            <a:avLst/>
          </a:prstGeom>
          <a:solidFill>
            <a:srgbClr val="430D22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72768" y="31272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29967" y="3127248"/>
            <a:ext cx="457200" cy="457200"/>
          </a:xfrm>
          <a:prstGeom prst="rect">
            <a:avLst/>
          </a:prstGeom>
          <a:solidFill>
            <a:srgbClr val="650E2D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87168" y="3127248"/>
            <a:ext cx="457200" cy="457200"/>
          </a:xfrm>
          <a:prstGeom prst="rect">
            <a:avLst/>
          </a:prstGeom>
          <a:solidFill>
            <a:srgbClr val="98103E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44368" y="3127248"/>
            <a:ext cx="457200" cy="457200"/>
          </a:xfrm>
          <a:prstGeom prst="rect">
            <a:avLst/>
          </a:prstGeom>
          <a:solidFill>
            <a:srgbClr val="540D27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01568" y="31272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58768" y="3127248"/>
            <a:ext cx="457200" cy="457200"/>
          </a:xfrm>
          <a:prstGeom prst="rect">
            <a:avLst/>
          </a:prstGeom>
          <a:solidFill>
            <a:srgbClr val="650E2D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72768" y="35844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29967" y="35844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87168" y="3584448"/>
            <a:ext cx="457200" cy="457200"/>
          </a:xfrm>
          <a:prstGeom prst="rect">
            <a:avLst/>
          </a:prstGeom>
          <a:solidFill>
            <a:srgbClr val="430D22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44368" y="3584448"/>
            <a:ext cx="457200" cy="457200"/>
          </a:xfrm>
          <a:prstGeom prst="rect">
            <a:avLst/>
          </a:prstGeom>
          <a:solidFill>
            <a:srgbClr val="540D27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01568" y="35844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58768" y="3584448"/>
            <a:ext cx="457200" cy="457200"/>
          </a:xfrm>
          <a:prstGeom prst="rect">
            <a:avLst/>
          </a:prstGeom>
          <a:solidFill>
            <a:srgbClr val="ED145B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72768" y="40416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29967" y="40416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87168" y="4041648"/>
            <a:ext cx="457200" cy="457200"/>
          </a:xfrm>
          <a:prstGeom prst="rect">
            <a:avLst/>
          </a:prstGeom>
          <a:solidFill>
            <a:srgbClr val="540D27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44368" y="4041648"/>
            <a:ext cx="457200" cy="457200"/>
          </a:xfrm>
          <a:prstGeom prst="rect">
            <a:avLst/>
          </a:prstGeom>
          <a:solidFill>
            <a:srgbClr val="650E2D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01568" y="4041648"/>
            <a:ext cx="457200" cy="457200"/>
          </a:xfrm>
          <a:prstGeom prst="rect">
            <a:avLst/>
          </a:prstGeom>
          <a:solidFill>
            <a:srgbClr val="540D27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58768" y="4041648"/>
            <a:ext cx="457200" cy="457200"/>
          </a:xfrm>
          <a:prstGeom prst="rect">
            <a:avLst/>
          </a:prstGeom>
          <a:solidFill>
            <a:srgbClr val="A91144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572768" y="4498848"/>
            <a:ext cx="457200" cy="457200"/>
          </a:xfrm>
          <a:prstGeom prst="rect">
            <a:avLst/>
          </a:prstGeom>
          <a:solidFill>
            <a:srgbClr val="430D22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29967" y="44988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487168" y="4498848"/>
            <a:ext cx="457200" cy="457200"/>
          </a:xfrm>
          <a:prstGeom prst="rect">
            <a:avLst/>
          </a:prstGeom>
          <a:solidFill>
            <a:srgbClr val="760F33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944368" y="4498848"/>
            <a:ext cx="457200" cy="457200"/>
          </a:xfrm>
          <a:prstGeom prst="rect">
            <a:avLst/>
          </a:prstGeom>
          <a:solidFill>
            <a:srgbClr val="870F38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01568" y="4498848"/>
            <a:ext cx="457200" cy="457200"/>
          </a:xfrm>
          <a:prstGeom prst="rect">
            <a:avLst/>
          </a:prstGeom>
          <a:solidFill>
            <a:srgbClr val="320C1C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858768" y="4498848"/>
            <a:ext cx="457200" cy="457200"/>
          </a:xfrm>
          <a:prstGeom prst="rect">
            <a:avLst/>
          </a:prstGeom>
          <a:solidFill>
            <a:srgbClr val="760F33"/>
          </a:solidFill>
          <a:ln w="9525">
            <a:solidFill>
              <a:srgbClr val="2A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1938528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query 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72768" y="502920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0A6"/>
                </a:solidFill>
                <a:latin typeface="Calibri"/>
              </a:rPr>
              <a:t>key  →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4133087" y="3813048"/>
            <a:ext cx="1005841" cy="0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212080" y="350215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a query “não” concentra</a:t>
            </a:r>
          </a:p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60 % da massa em “ruim”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38928" y="2121408"/>
            <a:ext cx="2084831" cy="1298448"/>
          </a:xfrm>
          <a:prstGeom prst="roundRect">
            <a:avLst>
              <a:gd name="adj" fmla="val 6338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48656" y="2221991"/>
            <a:ext cx="18653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AA0A6"/>
                </a:solidFill>
                <a:latin typeface="Calibri"/>
              </a:rPr>
              <a:t>COMO SE LÊ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48656" y="2450592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linha = quem pergunta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coluna = quem é consultado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célula clara = mais atenção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38928" y="4590288"/>
            <a:ext cx="2084831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bertviz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38928" y="5047488"/>
            <a:ext cx="2084831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attention rollout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38928" y="4315968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FERRAMENTAS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5705856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2994A"/>
                </a:solidFill>
                <a:latin typeface="Calibri"/>
              </a:rPr>
              <a:t>⚠  mapa de atenção é DIAGNÓSTICO, não explicação causal — o modelo pode olhar sem depender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Limitações: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preço do custo quadrático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Atenção é O(n²) em memória e compute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Dobrar o contexto custa 4× — explode em textos longos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Flash Attention (Dao): mesmo cálculo, 2–4× mais rápido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Mamba / SSMs: estado recorrente seletivo, O(n) na inferência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Mixture of Experts: ativa só parte da rede por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CUSTO DA MATRIZ n × 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77056"/>
            <a:ext cx="475488" cy="91440"/>
          </a:xfrm>
          <a:prstGeom prst="rect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63931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AA0A6"/>
                </a:solidFill>
                <a:latin typeface="Calibri"/>
              </a:rPr>
              <a:t>1×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4023359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512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6192" y="3648456"/>
            <a:ext cx="475488" cy="320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3410711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D9CDB"/>
                </a:solidFill>
                <a:latin typeface="Calibri"/>
              </a:rPr>
              <a:t>4×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4023359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1 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9424" y="3099815"/>
            <a:ext cx="475488" cy="868680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286207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2994A"/>
                </a:solidFill>
                <a:latin typeface="Calibri"/>
              </a:rPr>
              <a:t>16×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4023359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2 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62656" y="1956815"/>
            <a:ext cx="475488" cy="20116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1719071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ED145B"/>
                </a:solidFill>
                <a:latin typeface="Calibri"/>
              </a:rPr>
              <a:t>64×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4023359"/>
            <a:ext cx="731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4 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968496"/>
            <a:ext cx="2962655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424281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comprimento da sequência (tokens)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1648" y="1792224"/>
            <a:ext cx="3182112" cy="2395728"/>
          </a:xfrm>
          <a:prstGeom prst="roundRect">
            <a:avLst>
              <a:gd name="adj" fmla="val 3435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pic>
        <p:nvPicPr>
          <p:cNvPr id="21" name="Picture 20" descr="f9e97fe1ec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332" y="1956816"/>
            <a:ext cx="976745" cy="36160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69663" y="2596896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dobrar o contexto custa</a:t>
            </a:r>
          </a:p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4× memória e 4× compute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663" y="325526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cada token é comparado com</a:t>
            </a:r>
          </a:p>
          <a:p>
            <a:pPr algn="ctr"/>
            <a:r>
              <a:rPr sz="1000" b="0" i="0">
                <a:solidFill>
                  <a:srgbClr val="9AA0A6"/>
                </a:solidFill>
                <a:latin typeface="Calibri"/>
              </a:rPr>
              <a:t>todos os outros — inclusive consigo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498848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ROTAS DE FUGA · 2024–2026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36592"/>
            <a:ext cx="2017776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7AE60"/>
                </a:solidFill>
                <a:latin typeface="Calibri"/>
              </a:rPr>
              <a:t>Flash Attention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Dao et al. · mesmo cálculo,
2–4× mais rápido na GPU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32176" y="4736592"/>
            <a:ext cx="2017776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Mamba / SSM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estado recorrente seletivo
O(n) na inferência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5984" y="4736592"/>
            <a:ext cx="2017776" cy="1188720"/>
          </a:xfrm>
          <a:prstGeom prst="roundRect">
            <a:avLst>
              <a:gd name="adj" fmla="val 692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Mixture of Experts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ativa só parte da rede
por token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" y="6053328"/>
            <a:ext cx="647395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nenhuma delas abandona a atenção — todas atacam o custo dela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de negócio:</a:t>
            </a:r>
            <a:r>
              <a:rPr sz="2700" b="1">
                <a:solidFill>
                  <a:srgbClr val="ED145B"/>
                </a:solidFill>
                <a:latin typeface="Calibri"/>
              </a:rPr>
              <a:t> reviews no Mercado Livre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Problema: classificar reviews em pt-BR/es em 10 categorias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Volume: 50 M de reviews por mês na América Latina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Abordagem: fine-tune de BERTimbau + head de classificação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Só a head aprende a tarefa; o encoder já sabe português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DistilBERT corta a latência pela metade por ~2 pontos de F1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2017776" cy="969264"/>
          </a:xfrm>
          <a:prstGeom prst="roundRect">
            <a:avLst>
              <a:gd name="adj" fmla="val 849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500" b="1">
                <a:solidFill>
                  <a:srgbClr val="ED145B"/>
                </a:solidFill>
                <a:latin typeface="Calibri"/>
              </a:rPr>
              <a:t>50 M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reviews por mês
na América Latina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32176" y="1554480"/>
            <a:ext cx="2017776" cy="969264"/>
          </a:xfrm>
          <a:prstGeom prst="roundRect">
            <a:avLst>
              <a:gd name="adj" fmla="val 849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500" b="1">
                <a:solidFill>
                  <a:srgbClr val="2D9CDB"/>
                </a:solidFill>
                <a:latin typeface="Calibri"/>
              </a:rPr>
              <a:t>pt-BR + es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duas línguas,
um mesmo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05984" y="1554480"/>
            <a:ext cx="2017776" cy="969264"/>
          </a:xfrm>
          <a:prstGeom prst="roundRect">
            <a:avLst>
              <a:gd name="adj" fmla="val 849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500" b="1">
                <a:solidFill>
                  <a:srgbClr val="27AE60"/>
                </a:solidFill>
                <a:latin typeface="Calibri"/>
              </a:rPr>
              <a:t>10 classes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categorias de
sentimento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834640"/>
            <a:ext cx="10607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9AA0A6"/>
                </a:solidFill>
                <a:latin typeface="Calibri"/>
              </a:rPr>
              <a:t>review</a:t>
            </a:r>
          </a:p>
          <a:p>
            <a:pPr algn="ctr"/>
            <a:r>
              <a:rPr sz="1050" b="1">
                <a:solidFill>
                  <a:srgbClr val="9AA0A6"/>
                </a:solidFill>
                <a:latin typeface="Calibri"/>
              </a:rPr>
              <a:t>bruto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" y="2834640"/>
            <a:ext cx="1207008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D9CDB"/>
                </a:solidFill>
                <a:latin typeface="Calibri"/>
              </a:rPr>
              <a:t>tokenizer</a:t>
            </a:r>
          </a:p>
          <a:p>
            <a:pPr algn="ctr"/>
            <a:r>
              <a:rPr sz="1050" b="1">
                <a:solidFill>
                  <a:srgbClr val="2D9CDB"/>
                </a:solidFill>
                <a:latin typeface="Calibri"/>
              </a:rPr>
              <a:t>WordPiece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6976" y="2834640"/>
            <a:ext cx="1389888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ED145B"/>
                </a:solidFill>
                <a:latin typeface="Calibri"/>
              </a:rPr>
              <a:t>BERTimbau</a:t>
            </a:r>
          </a:p>
          <a:p>
            <a:pPr algn="ctr"/>
            <a:r>
              <a:rPr sz="1050" b="1">
                <a:solidFill>
                  <a:srgbClr val="ED145B"/>
                </a:solidFill>
                <a:latin typeface="Calibri"/>
              </a:rPr>
              <a:t>110 M · pt-BR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2834640"/>
            <a:ext cx="1133856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9B51E0"/>
                </a:solidFill>
                <a:latin typeface="Calibri"/>
              </a:rPr>
              <a:t>head linear</a:t>
            </a:r>
          </a:p>
          <a:p>
            <a:pPr algn="ctr"/>
            <a:r>
              <a:rPr sz="1050" b="1">
                <a:solidFill>
                  <a:srgbClr val="9B51E0"/>
                </a:solidFill>
                <a:latin typeface="Calibri"/>
              </a:rPr>
              <a:t>768 →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2834640"/>
            <a:ext cx="1170432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27AE60"/>
                </a:solidFill>
                <a:latin typeface="Calibri"/>
              </a:rPr>
              <a:t>softmax</a:t>
            </a:r>
          </a:p>
          <a:p>
            <a:pPr algn="ctr"/>
            <a:r>
              <a:rPr sz="1050" b="1">
                <a:solidFill>
                  <a:srgbClr val="27AE60"/>
                </a:solidFill>
                <a:latin typeface="Calibri"/>
              </a:rPr>
              <a:t>10 classes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55648" y="3182112"/>
            <a:ext cx="10972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08960" y="3182112"/>
            <a:ext cx="10972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45152" y="3182112"/>
            <a:ext cx="10972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25312" y="3182112"/>
            <a:ext cx="109728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3602736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fine-tune: o encoder já sabe português; só a head aprende as 10 categorias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23360"/>
            <a:ext cx="6565392" cy="1572768"/>
          </a:xfrm>
          <a:prstGeom prst="roundRect">
            <a:avLst>
              <a:gd name="adj" fmla="val 523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33087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TRADE-OFF QUE DECIDE O PROJETO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498848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D145B"/>
                </a:solidFill>
                <a:latin typeface="Calibri"/>
              </a:rPr>
              <a:t>BERTimbau · 110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4480560"/>
            <a:ext cx="3108960" cy="29260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2148840" y="4480560"/>
            <a:ext cx="3017520" cy="2926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4498848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macro-F1 mais alto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02920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DistilBERT · 66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5010912"/>
            <a:ext cx="3108960" cy="292608"/>
          </a:xfrm>
          <a:prstGeom prst="rect">
            <a:avLst/>
          </a:prstGeom>
          <a:solidFill>
            <a:srgbClr val="1E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5010912"/>
            <a:ext cx="1691640" cy="292608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4" y="5029200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≈ 60 % da latência, −2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340096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latência e custo por inferência  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724144"/>
            <a:ext cx="6565392" cy="548640"/>
          </a:xfrm>
          <a:prstGeom prst="roundRect">
            <a:avLst>
              <a:gd name="adj" fmla="val 15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classificar não exige gerar: um encoder-only resolve com uma fração do custo de um LLM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que vem aí:</a:t>
            </a:r>
            <a:r>
              <a:rPr sz="2700" b="1">
                <a:solidFill>
                  <a:srgbClr val="ED145B"/>
                </a:solidFill>
                <a:latin typeface="Calibri"/>
              </a:rPr>
              <a:t> otimização e regularização (Aula 7)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Otimização e regularização em deep learning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Dropout, BatchNorm, Adam, AdamW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Schedulers com warmup e HPO com Optuna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arquitetura desta aula só converge com o treino da próxima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AULA 6 ✓</a:t>
            </a:r>
          </a:p>
          <a:p>
            <a:pPr algn="ctr"/>
            <a:r>
              <a:rPr sz="1300" b="1">
                <a:solidFill>
                  <a:srgbClr val="27AE60"/>
                </a:solidFill>
                <a:latin typeface="Calibri"/>
              </a:rPr>
              <a:t>a arquitetura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2736" y="2194560"/>
            <a:ext cx="621792" cy="0"/>
          </a:xfrm>
          <a:prstGeom prst="line">
            <a:avLst/>
          </a:prstGeom>
          <a:ln w="30480">
            <a:solidFill>
              <a:srgbClr val="FFFFF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389120" y="173736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AULA 7 →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fazer treinar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24912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attention · multi-head · posição · bloco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24912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ED145B"/>
                </a:solidFill>
                <a:latin typeface="Calibri"/>
              </a:rPr>
              <a:t>o mesmo modelo converge — ou não — pelo treino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01568"/>
            <a:ext cx="3163824" cy="987552"/>
          </a:xfrm>
          <a:prstGeom prst="roundRect">
            <a:avLst>
              <a:gd name="adj" fmla="val 8333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2D9CDB"/>
                </a:solidFill>
                <a:latin typeface="Calibri"/>
              </a:rPr>
              <a:t>Regularização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Dropout e BatchNorm:
reduzir a variância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3401568"/>
            <a:ext cx="3163824" cy="987552"/>
          </a:xfrm>
          <a:prstGeom prst="roundRect">
            <a:avLst>
              <a:gd name="adj" fmla="val 8333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9B51E0"/>
                </a:solidFill>
                <a:latin typeface="Calibri"/>
              </a:rPr>
              <a:t>Otimizadores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SGD → Adam → AdamW:
decaimento correto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626864"/>
            <a:ext cx="3163824" cy="987552"/>
          </a:xfrm>
          <a:prstGeom prst="roundRect">
            <a:avLst>
              <a:gd name="adj" fmla="val 833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F2994A"/>
                </a:solidFill>
                <a:latin typeface="Calibri"/>
              </a:rPr>
              <a:t>Schedulers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warmup + cosine:
indispensável em Transformer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9936" y="4626864"/>
            <a:ext cx="3163824" cy="987552"/>
          </a:xfrm>
          <a:prstGeom prst="roundRect">
            <a:avLst>
              <a:gd name="adj" fmla="val 833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50" b="1">
                <a:solidFill>
                  <a:srgbClr val="27AE60"/>
                </a:solidFill>
                <a:latin typeface="Calibri"/>
              </a:rPr>
              <a:t>HPO com Optuna</a:t>
            </a:r>
          </a:p>
          <a:p>
            <a:pPr algn="ctr"/>
            <a:r>
              <a:rPr sz="1000">
                <a:solidFill>
                  <a:srgbClr val="9AA0A6"/>
                </a:solidFill>
                <a:latin typeface="Calibri"/>
              </a:rPr>
              <a:t>buscar hiperparâmetros
sem força bruta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760720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arquitetura é hipótese; otimização é o que a transforma em modelo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caminho da Aula 6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Vaswani et al. Attention is all you need. NeurIPS, 2017.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Bahdanau, Cho, Bengio. Neural MT by jointly learning to align and translate. ICLR, 2015.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Devlin et al. BERT. NAACL, 2019.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Touvron et al. LLaMA 3. arXiv, 2024.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Dao. Flash Attention 2. arXiv, 2023.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Su et al. RoFormer (RoPE). Neurocomputing, 2023.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04672" y="3529584"/>
            <a:ext cx="6144768" cy="0"/>
          </a:xfrm>
          <a:prstGeom prst="line">
            <a:avLst/>
          </a:prstGeom>
          <a:ln w="20320">
            <a:solidFill>
              <a:srgbClr val="2A2A3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03503" y="3355848"/>
            <a:ext cx="621792" cy="347472"/>
          </a:xfrm>
          <a:prstGeom prst="roundRect">
            <a:avLst>
              <a:gd name="adj" fmla="val 1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231136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Bahdanau, Cho</a:t>
            </a:r>
          </a:p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&amp; Bengio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7" y="268833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alinhar e traduzir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(ICLR)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145536"/>
            <a:ext cx="0" cy="192024"/>
          </a:xfrm>
          <a:prstGeom prst="line">
            <a:avLst/>
          </a:prstGeom>
          <a:ln w="1524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37360" y="3355848"/>
            <a:ext cx="694944" cy="347472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38404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D145B"/>
                </a:solidFill>
                <a:latin typeface="Calibri"/>
              </a:rPr>
              <a:t>Vaswani et 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79392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Attention is all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you need (NeurIPS)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4832" y="3721608"/>
            <a:ext cx="0" cy="192024"/>
          </a:xfrm>
          <a:prstGeom prst="line">
            <a:avLst/>
          </a:prstGeom>
          <a:ln w="1524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44368" y="3355848"/>
            <a:ext cx="621792" cy="347472"/>
          </a:xfrm>
          <a:prstGeom prst="roundRect">
            <a:avLst>
              <a:gd name="adj" fmla="val 16000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231136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9B51E0"/>
                </a:solidFill>
                <a:latin typeface="Calibri"/>
              </a:rPr>
              <a:t>Devlin et 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68833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BERT: encoder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pré-treinado (NAACL)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55264" y="3145536"/>
            <a:ext cx="0" cy="192024"/>
          </a:xfrm>
          <a:prstGeom prst="line">
            <a:avLst/>
          </a:prstGeom>
          <a:ln w="1524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14800" y="3355848"/>
            <a:ext cx="621792" cy="347472"/>
          </a:xfrm>
          <a:prstGeom prst="roundRect">
            <a:avLst>
              <a:gd name="adj" fmla="val 16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8404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7AE60"/>
                </a:solidFill>
                <a:latin typeface="Calibri"/>
              </a:rPr>
              <a:t>Su et 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4" y="4279392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RoFormer · RoPE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(Neurocomputing)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25696" y="3721608"/>
            <a:ext cx="0" cy="192024"/>
          </a:xfrm>
          <a:prstGeom prst="line">
            <a:avLst/>
          </a:prstGeom>
          <a:ln w="1524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285232" y="3355848"/>
            <a:ext cx="621792" cy="347472"/>
          </a:xfrm>
          <a:prstGeom prst="roundRect">
            <a:avLst>
              <a:gd name="adj" fmla="val 16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231136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2994A"/>
                </a:solidFill>
                <a:latin typeface="Calibri"/>
              </a:rPr>
              <a:t>Dao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82896" y="2688336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Flash Attention 2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(arXiv)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96128" y="3145536"/>
            <a:ext cx="0" cy="192024"/>
          </a:xfrm>
          <a:prstGeom prst="line">
            <a:avLst/>
          </a:prstGeom>
          <a:ln w="1524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55664" y="3355848"/>
            <a:ext cx="621792" cy="347472"/>
          </a:xfrm>
          <a:prstGeom prst="roundRect">
            <a:avLst>
              <a:gd name="adj" fmla="val 16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840480"/>
            <a:ext cx="13167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Touvron et 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4279392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LLaMA 3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(arXiv)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66560" y="3721608"/>
            <a:ext cx="0" cy="192024"/>
          </a:xfrm>
          <a:prstGeom prst="line">
            <a:avLst/>
          </a:prstGeom>
          <a:ln w="1524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501091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A0A6"/>
                </a:solidFill>
                <a:latin typeface="Calibri"/>
              </a:rPr>
              <a:t>a atenção nasce como remendo do Seq2Seq…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1091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1">
                <a:solidFill>
                  <a:srgbClr val="ED145B"/>
                </a:solidFill>
                <a:latin typeface="Calibri"/>
              </a:rPr>
              <a:t>…e em dois anos vira a arquitetura inteira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14416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trilha sugerida: Bahdanau (a ideia) → Vaswani (a arquitetura) → BERT (o uso) → RoPE e Flash (a engenharia)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