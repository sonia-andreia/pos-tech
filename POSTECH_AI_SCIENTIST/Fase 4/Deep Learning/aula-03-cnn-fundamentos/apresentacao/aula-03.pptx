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417320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9AA0A6"/>
                </a:solidFill>
                <a:latin typeface="Calibri"/>
              </a:rPr>
              <a:t>REDES NEURAIS E 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D145B"/>
                </a:solidFill>
                <a:latin typeface="Calibri"/>
              </a:rPr>
              <a:t>AULA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95728"/>
            <a:ext cx="10241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CNN — Fundamentos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1" y="4224528"/>
            <a:ext cx="1463040" cy="64008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526280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Prof. Flavio Padilha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919472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AA0A6"/>
                </a:solidFill>
                <a:latin typeface="Calibri"/>
              </a:rPr>
              <a:t>FIAP Pós-Tech · AI Engineering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6596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D145B"/>
                </a:solidFill>
                <a:latin typeface="Calibri"/>
              </a:rPr>
              <a:t>PARTE 1  ·  30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395728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Introdução teórica: por que a convolução existe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3840480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O limite do MLP diante de uma imagem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4261104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15384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A operação de convolução, passo a passo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681728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6360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Filtros como detectores — projetados e aprendidos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Onde estamos:</a:t>
            </a:r>
            <a:r>
              <a:rPr sz="2700" b="1">
                <a:solidFill>
                  <a:srgbClr val="ED145B"/>
                </a:solidFill>
                <a:latin typeface="Calibri"/>
              </a:rPr>
              <a:t> da rede densa à convolução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Aula 1 ✓ Perceptron · Aula 2 ✓ MLP + Backprop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Aula 3 — CNN fundamentos ← aqui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Aulas 4–8: ResNet, RNN, Attention, Otim, MLOps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2743200"/>
            <a:ext cx="6400800" cy="0"/>
          </a:xfrm>
          <a:prstGeom prst="line">
            <a:avLst/>
          </a:prstGeom>
          <a:ln w="1778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722376" y="2569464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7" y="3081528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7AE60"/>
                </a:solidFill>
                <a:latin typeface="Calibri"/>
              </a:rPr>
              <a:t>Perceptron</a:t>
            </a:r>
          </a:p>
        </p:txBody>
      </p:sp>
      <p:sp>
        <p:nvSpPr>
          <p:cNvPr id="8" name="Oval 7"/>
          <p:cNvSpPr/>
          <p:nvPr/>
        </p:nvSpPr>
        <p:spPr>
          <a:xfrm>
            <a:off x="1618488" y="2569464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081528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7AE60"/>
                </a:solidFill>
                <a:latin typeface="Calibri"/>
              </a:rPr>
              <a:t>MLP +</a:t>
            </a:r>
          </a:p>
          <a:p>
            <a:pPr algn="ctr"/>
            <a:r>
              <a:rPr sz="900" b="1" i="0">
                <a:solidFill>
                  <a:srgbClr val="27AE60"/>
                </a:solidFill>
                <a:latin typeface="Calibri"/>
              </a:rPr>
              <a:t>Backprop</a:t>
            </a:r>
          </a:p>
        </p:txBody>
      </p:sp>
      <p:sp>
        <p:nvSpPr>
          <p:cNvPr id="10" name="Oval 9"/>
          <p:cNvSpPr/>
          <p:nvPr/>
        </p:nvSpPr>
        <p:spPr>
          <a:xfrm>
            <a:off x="2478024" y="2532888"/>
            <a:ext cx="420624" cy="420624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6272" y="3081528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ED145B"/>
                </a:solidFill>
                <a:latin typeface="Calibri"/>
              </a:rPr>
              <a:t>CNN</a:t>
            </a:r>
          </a:p>
          <a:p>
            <a:pPr algn="ctr"/>
            <a:r>
              <a:rPr sz="900" b="1" i="0">
                <a:solidFill>
                  <a:srgbClr val="ED145B"/>
                </a:solidFill>
                <a:latin typeface="Calibri"/>
              </a:rPr>
              <a:t>fundamentos</a:t>
            </a:r>
          </a:p>
        </p:txBody>
      </p:sp>
      <p:sp>
        <p:nvSpPr>
          <p:cNvPr id="12" name="Oval 11"/>
          <p:cNvSpPr/>
          <p:nvPr/>
        </p:nvSpPr>
        <p:spPr>
          <a:xfrm>
            <a:off x="3392424" y="2551176"/>
            <a:ext cx="384048" cy="384048"/>
          </a:xfrm>
          <a:prstGeom prst="ellipse">
            <a:avLst/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9AA0A6"/>
                </a:solidFill>
                <a:latin typeface="Calibri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2384" y="3081528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CNN</a:t>
            </a:r>
          </a:p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avançado</a:t>
            </a:r>
          </a:p>
        </p:txBody>
      </p:sp>
      <p:sp>
        <p:nvSpPr>
          <p:cNvPr id="14" name="Oval 13"/>
          <p:cNvSpPr/>
          <p:nvPr/>
        </p:nvSpPr>
        <p:spPr>
          <a:xfrm>
            <a:off x="4288536" y="2551176"/>
            <a:ext cx="384048" cy="384048"/>
          </a:xfrm>
          <a:prstGeom prst="ellipse">
            <a:avLst/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9AA0A6"/>
                </a:solidFill>
                <a:latin typeface="Calibri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8496" y="3081528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RNN</a:t>
            </a:r>
          </a:p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e LSTM</a:t>
            </a:r>
          </a:p>
        </p:txBody>
      </p:sp>
      <p:sp>
        <p:nvSpPr>
          <p:cNvPr id="16" name="Oval 15"/>
          <p:cNvSpPr/>
          <p:nvPr/>
        </p:nvSpPr>
        <p:spPr>
          <a:xfrm>
            <a:off x="5184648" y="2551176"/>
            <a:ext cx="384048" cy="384048"/>
          </a:xfrm>
          <a:prstGeom prst="ellipse">
            <a:avLst/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9AA0A6"/>
                </a:solidFill>
                <a:latin typeface="Calibri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3081528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Attention</a:t>
            </a:r>
          </a:p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Transformers</a:t>
            </a:r>
          </a:p>
        </p:txBody>
      </p:sp>
      <p:sp>
        <p:nvSpPr>
          <p:cNvPr id="18" name="Oval 17"/>
          <p:cNvSpPr/>
          <p:nvPr/>
        </p:nvSpPr>
        <p:spPr>
          <a:xfrm>
            <a:off x="6080759" y="2551176"/>
            <a:ext cx="384048" cy="384048"/>
          </a:xfrm>
          <a:prstGeom prst="ellipse">
            <a:avLst/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9AA0A6"/>
                </a:solidFill>
                <a:latin typeface="Calibri"/>
              </a:rP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19" y="3081528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Otimização</a:t>
            </a:r>
          </a:p>
        </p:txBody>
      </p:sp>
      <p:sp>
        <p:nvSpPr>
          <p:cNvPr id="20" name="Oval 19"/>
          <p:cNvSpPr/>
          <p:nvPr/>
        </p:nvSpPr>
        <p:spPr>
          <a:xfrm>
            <a:off x="6976872" y="2551176"/>
            <a:ext cx="384048" cy="384048"/>
          </a:xfrm>
          <a:prstGeom prst="ellipse">
            <a:avLst/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9AA0A6"/>
                </a:solidFill>
                <a:latin typeface="Calibri"/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1" y="3081528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MLOps</a:t>
            </a:r>
          </a:p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e deploy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88336" y="2167128"/>
            <a:ext cx="0" cy="283464"/>
          </a:xfrm>
          <a:prstGeom prst="line">
            <a:avLst/>
          </a:prstGeom>
          <a:ln w="2540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819656" y="1837943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ED145B"/>
                </a:solidFill>
                <a:latin typeface="Calibri"/>
              </a:rPr>
              <a:t>você está aqui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703320"/>
            <a:ext cx="6547104" cy="694944"/>
          </a:xfrm>
          <a:prstGeom prst="roundRect">
            <a:avLst>
              <a:gd name="adj" fmla="val 11842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AULAS 1–2 ✓   perceptron · MLP + backpropagation — a rede densa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507992"/>
            <a:ext cx="6547104" cy="694944"/>
          </a:xfrm>
          <a:prstGeom prst="roundRect">
            <a:avLst>
              <a:gd name="adj" fmla="val 11842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AULA 3 ← aqui   convolução, pooling e as arquiteturas clássicas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312664"/>
            <a:ext cx="6547104" cy="694944"/>
          </a:xfrm>
          <a:prstGeom prst="roundRect">
            <a:avLst>
              <a:gd name="adj" fmla="val 11842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9AA0A6"/>
                </a:solidFill>
                <a:latin typeface="Calibri"/>
              </a:rPr>
              <a:t>AULAS 4–8   ResNet · RNN · Attention · Otimização · MLOps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108192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a rede densa continua lá dentro — muda a forma de conectar os neurônios à imagem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Por que o MLP falha:</a:t>
            </a:r>
            <a:r>
              <a:rPr sz="2700" b="1">
                <a:solidFill>
                  <a:srgbClr val="ED145B"/>
                </a:solidFill>
                <a:latin typeface="Calibri"/>
              </a:rPr>
              <a:t> imagens não são vetores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Imagem 224×224×3 = 150.528 pixels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Primeira camada densa com 1024 neurônios = 154 milhões de parâmetros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Perde localidade espacial (pixel vizinho ≠ pixel distante)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Não é invariante a translação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1408176" cy="777240"/>
          </a:xfrm>
          <a:prstGeom prst="roundRect">
            <a:avLst>
              <a:gd name="adj" fmla="val 10588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imagem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224 × 224 × 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93975" y="1961388"/>
            <a:ext cx="256033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77440" y="1572768"/>
            <a:ext cx="1408176" cy="777240"/>
          </a:xfrm>
          <a:prstGeom prst="roundRect">
            <a:avLst>
              <a:gd name="adj" fmla="val 10588"/>
            </a:avLst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flatten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150.528 valores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13048" y="1961388"/>
            <a:ext cx="256032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096512" y="1572768"/>
            <a:ext cx="1408176" cy="777240"/>
          </a:xfrm>
          <a:prstGeom prst="roundRect">
            <a:avLst>
              <a:gd name="adj" fmla="val 10588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0B0B0F"/>
                </a:solidFill>
                <a:latin typeface="Calibri"/>
              </a:rPr>
              <a:t>camada densa</a:t>
            </a:r>
          </a:p>
          <a:p>
            <a:pPr algn="ctr"/>
            <a:r>
              <a:rPr sz="1100" b="0">
                <a:solidFill>
                  <a:srgbClr val="0B0B0F"/>
                </a:solidFill>
                <a:latin typeface="Calibri"/>
              </a:rPr>
              <a:t>1024 neurônios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32120" y="1961388"/>
            <a:ext cx="256032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815584" y="1572768"/>
            <a:ext cx="1408176" cy="777240"/>
          </a:xfrm>
          <a:prstGeom prst="roundRect">
            <a:avLst>
              <a:gd name="adj" fmla="val 10588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154 milhões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de parâmetros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87168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2994A"/>
                </a:solidFill>
                <a:latin typeface="Calibri"/>
              </a:rPr>
              <a:t>E O FLATTEN AINDA DESTRÓI A VIZINHANÇA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798064"/>
            <a:ext cx="274320" cy="27432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1188720" y="2798064"/>
            <a:ext cx="274320" cy="27432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2798064"/>
            <a:ext cx="274320" cy="27432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2798064"/>
            <a:ext cx="274320" cy="27432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072384"/>
            <a:ext cx="274320" cy="27432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1188720" y="3072384"/>
            <a:ext cx="274320" cy="274320"/>
          </a:xfrm>
          <a:prstGeom prst="rect">
            <a:avLst/>
          </a:prstGeom>
          <a:solidFill>
            <a:srgbClr val="ED145B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3072384"/>
            <a:ext cx="274320" cy="27432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3072384"/>
            <a:ext cx="274320" cy="27432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346704"/>
            <a:ext cx="274320" cy="27432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1188720" y="3346704"/>
            <a:ext cx="274320" cy="274320"/>
          </a:xfrm>
          <a:prstGeom prst="rect">
            <a:avLst/>
          </a:prstGeom>
          <a:solidFill>
            <a:srgbClr val="ED145B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1463040" y="3346704"/>
            <a:ext cx="274320" cy="27432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1737360" y="3346704"/>
            <a:ext cx="274320" cy="27432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3621024"/>
            <a:ext cx="274320" cy="27432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1188720" y="3621024"/>
            <a:ext cx="274320" cy="27432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1463040" y="3621024"/>
            <a:ext cx="274320" cy="27432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1737360" y="3621024"/>
            <a:ext cx="274320" cy="27432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57984" y="3346704"/>
            <a:ext cx="548640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066543" y="3054096"/>
            <a:ext cx="731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flatten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0" y="3236976"/>
            <a:ext cx="219456" cy="219456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3054096" y="3236976"/>
            <a:ext cx="219456" cy="219456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3273552" y="3236976"/>
            <a:ext cx="219456" cy="219456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3493008" y="3236976"/>
            <a:ext cx="219456" cy="219456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3712464" y="3236976"/>
            <a:ext cx="219456" cy="219456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3931920" y="3236976"/>
            <a:ext cx="219456" cy="219456"/>
          </a:xfrm>
          <a:prstGeom prst="rect">
            <a:avLst/>
          </a:prstGeom>
          <a:solidFill>
            <a:srgbClr val="ED145B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4151376" y="3236976"/>
            <a:ext cx="219456" cy="219456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4370832" y="3236976"/>
            <a:ext cx="219456" cy="219456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4590288" y="3236976"/>
            <a:ext cx="219456" cy="219456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4809744" y="3236976"/>
            <a:ext cx="219456" cy="219456"/>
          </a:xfrm>
          <a:prstGeom prst="rect">
            <a:avLst/>
          </a:prstGeom>
          <a:solidFill>
            <a:srgbClr val="ED145B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0" y="3236976"/>
            <a:ext cx="219456" cy="219456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5248656" y="3236976"/>
            <a:ext cx="219456" cy="219456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5468112" y="3236976"/>
            <a:ext cx="219456" cy="219456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5687568" y="3236976"/>
            <a:ext cx="219456" cy="219456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5907024" y="3236976"/>
            <a:ext cx="219456" cy="219456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6" name="Rectangle 45"/>
          <p:cNvSpPr/>
          <p:nvPr/>
        </p:nvSpPr>
        <p:spPr>
          <a:xfrm>
            <a:off x="6126479" y="3236976"/>
            <a:ext cx="219456" cy="219456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13048" y="3474720"/>
            <a:ext cx="457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ED145B"/>
                </a:solidFill>
                <a:latin typeface="Calibri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90872" y="3474720"/>
            <a:ext cx="457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ED145B"/>
                </a:solidFill>
                <a:latin typeface="Calibri"/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34640" y="3712463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0A6"/>
                </a:solidFill>
                <a:latin typeface="Calibri"/>
              </a:rPr>
              <a:t>os dois vizinhos viram as posições 5 e 9 — a camada densa não tem como saber que elas se tocam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5800" y="4187952"/>
            <a:ext cx="2011679" cy="914400"/>
          </a:xfrm>
          <a:prstGeom prst="roundRect">
            <a:avLst>
              <a:gd name="adj" fmla="val 9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ED145B"/>
                </a:solidFill>
                <a:latin typeface="Calibri"/>
              </a:rPr>
              <a:t>parâmetros demais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150.528 × 1024 pesos só na 1ª camada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953511" y="4187952"/>
            <a:ext cx="2011679" cy="914400"/>
          </a:xfrm>
          <a:prstGeom prst="roundRect">
            <a:avLst>
              <a:gd name="adj" fmla="val 9000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F2994A"/>
                </a:solidFill>
                <a:latin typeface="Calibri"/>
              </a:rPr>
              <a:t>localidade perdida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a estrutura 2D some no flatten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221223" y="4187952"/>
            <a:ext cx="2011679" cy="914400"/>
          </a:xfrm>
          <a:prstGeom prst="roundRect">
            <a:avLst>
              <a:gd name="adj" fmla="val 9000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9B51E0"/>
                </a:solidFill>
                <a:latin typeface="Calibri"/>
              </a:rPr>
              <a:t>sem invariância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deslocar 1 pixel muda toda a entrada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85800" y="5230368"/>
            <a:ext cx="6547104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uma conv 3×3 de 3 → 32 canais faz o mesmo trabalho com 896 pesos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6016752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a convolução ataca os três problemas de uma vez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ounded Rectangle 5"/>
          <p:cNvSpPr/>
          <p:nvPr/>
        </p:nvSpPr>
        <p:spPr>
          <a:xfrm>
            <a:off x="1622229" y="1444752"/>
            <a:ext cx="4683390" cy="967601"/>
          </a:xfrm>
          <a:prstGeom prst="roundRect">
            <a:avLst/>
          </a:prstGeom>
          <a:solidFill>
            <a:srgbClr val="17171F"/>
          </a:solidFill>
          <a:ln w="1524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A operação de convolução:</a:t>
            </a:r>
            <a:r>
              <a:rPr sz="2700" b="1">
                <a:solidFill>
                  <a:srgbClr val="ED145B"/>
                </a:solidFill>
                <a:latin typeface="Calibri"/>
              </a:rPr>
              <a:t> a definição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I — a imagem de entrada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K — o kernel (filtro) aprendível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Cada posição do mapa é uma soma de produtos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O mesmo K percorre a imagem inteira: pesos compartilhados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Kernel 3×3 = 9 pesos, independente do tamanho da imagem</a:t>
            </a:r>
          </a:p>
        </p:txBody>
      </p:sp>
      <p:pic>
        <p:nvPicPr>
          <p:cNvPr id="5" name="Picture 4" descr="32ab9a61d6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397" y="1645920"/>
            <a:ext cx="4281054" cy="5652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5840" y="2633472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D9CDB"/>
                </a:solidFill>
                <a:latin typeface="Calibri"/>
              </a:rPr>
              <a:t>I  ·  entrada 5×5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18688" y="263347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ED145B"/>
                </a:solidFill>
                <a:latin typeface="Calibri"/>
              </a:rPr>
              <a:t>K  ·  kernel 3×3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73168" y="2633472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feature map 3×3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2926080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9AA0A6"/>
                </a:solidFill>
                <a:latin typeface="Calibri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99031" y="2926080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9AA0A6"/>
                </a:solidFill>
                <a:latin typeface="Calibri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46504" y="2926080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93976" y="2926080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41448" y="2926080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3273552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9AA0A6"/>
                </a:solidFill>
                <a:latin typeface="Calibri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99031" y="3273552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9AA0A6"/>
                </a:solidFill>
                <a:latin typeface="Calibri"/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46504" y="3273552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93976" y="3273552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41448" y="3273552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3621024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9AA0A6"/>
                </a:solidFill>
                <a:latin typeface="Calibri"/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99031" y="3621024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9AA0A6"/>
                </a:solidFill>
                <a:latin typeface="Calibri"/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46504" y="3621024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93976" y="3621024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41448" y="3621024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1560" y="3968496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9AA0A6"/>
                </a:solidFill>
                <a:latin typeface="Calibri"/>
              </a:rP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99031" y="3968496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9AA0A6"/>
                </a:solidFill>
                <a:latin typeface="Calibri"/>
              </a:rP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46504" y="3968496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93976" y="3968496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41448" y="3968496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1560" y="4315968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9AA0A6"/>
                </a:solidFill>
                <a:latin typeface="Calibri"/>
              </a:rP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99031" y="4315968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9AA0A6"/>
                </a:solidFill>
                <a:latin typeface="Calibri"/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46504" y="4315968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93976" y="4315968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41448" y="4315968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51560" y="2926080"/>
            <a:ext cx="1042415" cy="1042415"/>
          </a:xfrm>
          <a:prstGeom prst="rect">
            <a:avLst/>
          </a:prstGeom>
          <a:noFill/>
          <a:ln w="2794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3429000" y="3273552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27AE60"/>
                </a:solidFill>
                <a:latin typeface="Calibri"/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76472" y="3273552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9AA0A6"/>
                </a:solidFill>
                <a:latin typeface="Calibri"/>
              </a:rPr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23944" y="3273552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ED145B"/>
                </a:solidFill>
                <a:latin typeface="Calibri"/>
              </a:rPr>
              <a:t>-1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29000" y="3621024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27AE60"/>
                </a:solidFill>
                <a:latin typeface="Calibri"/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76472" y="3621024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9AA0A6"/>
                </a:solidFill>
                <a:latin typeface="Calibri"/>
              </a:rPr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23944" y="3621024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ED145B"/>
                </a:solidFill>
                <a:latin typeface="Calibri"/>
              </a:rPr>
              <a:t>-1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29000" y="3968496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27AE60"/>
                </a:solidFill>
                <a:latin typeface="Calibri"/>
              </a:rP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76472" y="3968496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9AA0A6"/>
                </a:solidFill>
                <a:latin typeface="Calibri"/>
              </a:rPr>
              <a:t>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23944" y="3968496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ED145B"/>
                </a:solidFill>
                <a:latin typeface="Calibri"/>
              </a:rPr>
              <a:t>-1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120640" y="3273552"/>
            <a:ext cx="347472" cy="347472"/>
          </a:xfrm>
          <a:prstGeom prst="rect">
            <a:avLst/>
          </a:prstGeom>
          <a:solidFill>
            <a:srgbClr val="ED145B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-3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68112" y="3273552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-3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15583" y="3273552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20640" y="3621024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-3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68112" y="3621024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-3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15583" y="3621024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20640" y="3968496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-3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68112" y="3968496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-3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15583" y="3968496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62072" y="362102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9AA0A6"/>
                </a:solidFill>
                <a:latin typeface="Calibri"/>
              </a:rPr>
              <a:t>∗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572000" y="3785615"/>
            <a:ext cx="438912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443984" y="3474720"/>
            <a:ext cx="69494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desliza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" y="4754880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F2994A"/>
                </a:solidFill>
                <a:latin typeface="Calibri"/>
              </a:rPr>
              <a:t>janela laranja = posição (0,0)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85800" y="5138928"/>
            <a:ext cx="6547104" cy="713232"/>
          </a:xfrm>
          <a:prstGeom prst="roundRect">
            <a:avLst>
              <a:gd name="adj" fmla="val 11538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(0·1 + 0·0 + 1·(−1)) × 3 linhas  =  −3     →     a borda vertical vira um valor forte no mapa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5998464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o mesmo K percorre a imagem inteira: é isto que chamamos de pesos compartilhados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Intuição:</a:t>
            </a:r>
            <a:r>
              <a:rPr sz="2700" b="1">
                <a:solidFill>
                  <a:srgbClr val="ED145B"/>
                </a:solidFill>
                <a:latin typeface="Calibri"/>
              </a:rPr>
              <a:t> filtros como detectores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Kernels clássicos (Sobel, Prewitt) eram manuais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Em CNNs, eles são aprendidos via backprop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17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ANTES · KERNELS PROJETADOS À MÃO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10512"/>
            <a:ext cx="2069591" cy="1847088"/>
          </a:xfrm>
          <a:prstGeom prst="roundRect">
            <a:avLst>
              <a:gd name="adj" fmla="val 4455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901952"/>
            <a:ext cx="185013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D9CDB"/>
                </a:solidFill>
                <a:latin typeface="Calibri"/>
              </a:rPr>
              <a:t>SOBEL X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4523" y="2176272"/>
            <a:ext cx="365760" cy="36576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ED145B"/>
                </a:solidFill>
                <a:latin typeface="Calibri"/>
              </a:rPr>
              <a:t>-1</a:t>
            </a:r>
          </a:p>
        </p:txBody>
      </p:sp>
      <p:sp>
        <p:nvSpPr>
          <p:cNvPr id="9" name="Rectangle 8"/>
          <p:cNvSpPr/>
          <p:nvPr/>
        </p:nvSpPr>
        <p:spPr>
          <a:xfrm>
            <a:off x="1510283" y="2176272"/>
            <a:ext cx="365760" cy="36576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9AA0A6"/>
                </a:solidFill>
                <a:latin typeface="Calibri"/>
              </a:rPr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6044" y="2176272"/>
            <a:ext cx="365760" cy="36576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27AE60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4523" y="2542032"/>
            <a:ext cx="365760" cy="36576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ED145B"/>
                </a:solidFill>
                <a:latin typeface="Calibri"/>
              </a:rPr>
              <a:t>-2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10283" y="2542032"/>
            <a:ext cx="365760" cy="36576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9AA0A6"/>
                </a:solidFill>
                <a:latin typeface="Calibri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6044" y="2542032"/>
            <a:ext cx="365760" cy="36576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27AE60"/>
                </a:solidFill>
                <a:latin typeface="Calibr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4523" y="2907791"/>
            <a:ext cx="365760" cy="36576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ED145B"/>
                </a:solidFill>
                <a:latin typeface="Calibri"/>
              </a:rPr>
              <a:t>-1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10283" y="2907791"/>
            <a:ext cx="365760" cy="36576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9AA0A6"/>
                </a:solidFill>
                <a:latin typeface="Calibri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76044" y="2907791"/>
            <a:ext cx="365760" cy="36576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27AE60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310128"/>
            <a:ext cx="1886711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bordas verticais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74847" y="1810512"/>
            <a:ext cx="2069591" cy="1847088"/>
          </a:xfrm>
          <a:prstGeom prst="roundRect">
            <a:avLst>
              <a:gd name="adj" fmla="val 4455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84575" y="1901952"/>
            <a:ext cx="185013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9B51E0"/>
                </a:solidFill>
                <a:latin typeface="Calibri"/>
              </a:rPr>
              <a:t>SOBEL 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61003" y="2176272"/>
            <a:ext cx="365760" cy="36576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ED145B"/>
                </a:solidFill>
                <a:latin typeface="Calibri"/>
              </a:rPr>
              <a:t>-1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26763" y="2176272"/>
            <a:ext cx="365760" cy="36576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ED145B"/>
                </a:solidFill>
                <a:latin typeface="Calibri"/>
              </a:rPr>
              <a:t>-2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2524" y="2176272"/>
            <a:ext cx="365760" cy="36576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ED145B"/>
                </a:solidFill>
                <a:latin typeface="Calibri"/>
              </a:rPr>
              <a:t>-1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61003" y="2542032"/>
            <a:ext cx="365760" cy="36576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9AA0A6"/>
                </a:solidFill>
                <a:latin typeface="Calibri"/>
              </a:rP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26763" y="2542032"/>
            <a:ext cx="365760" cy="36576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9AA0A6"/>
                </a:solidFill>
                <a:latin typeface="Calibri"/>
              </a:rP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92524" y="2542032"/>
            <a:ext cx="365760" cy="36576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9AA0A6"/>
                </a:solidFill>
                <a:latin typeface="Calibri"/>
              </a:rP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61003" y="2907791"/>
            <a:ext cx="365760" cy="36576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27AE60"/>
                </a:solidFill>
                <a:latin typeface="Calibri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26763" y="2907791"/>
            <a:ext cx="365760" cy="36576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27AE60"/>
                </a:solidFill>
                <a:latin typeface="Calibri"/>
              </a:rP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92524" y="2907791"/>
            <a:ext cx="365760" cy="36576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27AE60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6287" y="3310128"/>
            <a:ext cx="1886711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bordas horizontais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91328" y="1810512"/>
            <a:ext cx="2069591" cy="1847088"/>
          </a:xfrm>
          <a:prstGeom prst="roundRect">
            <a:avLst>
              <a:gd name="adj" fmla="val 4455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1901952"/>
            <a:ext cx="185013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  <a:latin typeface="Calibri"/>
              </a:rPr>
              <a:t>MÉDIA 3×3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77483" y="2176272"/>
            <a:ext cx="365760" cy="36576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27AE60"/>
                </a:solidFill>
                <a:latin typeface="Calibri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43244" y="2176272"/>
            <a:ext cx="365760" cy="36576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27AE60"/>
                </a:solidFill>
                <a:latin typeface="Calibri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09003" y="2176272"/>
            <a:ext cx="365760" cy="36576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27AE60"/>
                </a:solidFill>
                <a:latin typeface="Calibri"/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77483" y="2542032"/>
            <a:ext cx="365760" cy="36576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27AE60"/>
                </a:solidFill>
                <a:latin typeface="Calibri"/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43244" y="2542032"/>
            <a:ext cx="365760" cy="36576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27AE60"/>
                </a:solidFill>
                <a:latin typeface="Calibri"/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09003" y="2542032"/>
            <a:ext cx="365760" cy="36576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27AE60"/>
                </a:solidFill>
                <a:latin typeface="Calibri"/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77483" y="2907791"/>
            <a:ext cx="365760" cy="36576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27AE60"/>
                </a:solidFill>
                <a:latin typeface="Calibri"/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43244" y="2907791"/>
            <a:ext cx="365760" cy="36576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27AE60"/>
                </a:solidFill>
                <a:latin typeface="Calibri"/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09003" y="2907791"/>
            <a:ext cx="365760" cy="365760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27AE60"/>
                </a:solidFill>
                <a:latin typeface="Calibri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82767" y="3310128"/>
            <a:ext cx="1886711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suaviza (× 1/9)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3858768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D145B"/>
                </a:solidFill>
                <a:latin typeface="Calibri"/>
              </a:rPr>
              <a:t>AGORA · KERNELS APRENDIDOS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151376"/>
            <a:ext cx="1421892" cy="804672"/>
          </a:xfrm>
          <a:prstGeom prst="roundRect">
            <a:avLst>
              <a:gd name="adj" fmla="val 10227"/>
            </a:avLst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kernel iniciado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ao acaso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107691" y="4553712"/>
            <a:ext cx="237745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2372868" y="4151376"/>
            <a:ext cx="1421892" cy="804672"/>
          </a:xfrm>
          <a:prstGeom prst="roundRect">
            <a:avLst>
              <a:gd name="adj" fmla="val 10227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erro na saída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(loss)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822191" y="4553712"/>
            <a:ext cx="23774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4087368" y="4151376"/>
            <a:ext cx="1421892" cy="804672"/>
          </a:xfrm>
          <a:prstGeom prst="roundRect">
            <a:avLst>
              <a:gd name="adj" fmla="val 10227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backprop ajusta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cada peso de K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536692" y="4553712"/>
            <a:ext cx="23774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5801868" y="4151376"/>
            <a:ext cx="1421892" cy="804672"/>
          </a:xfrm>
          <a:prstGeom prst="roundRect">
            <a:avLst>
              <a:gd name="adj" fmla="val 10227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detector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especializado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5800" y="5230368"/>
            <a:ext cx="6547104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a operação é a mesma — o que muda é a origem dos nove números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6016752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a rede descobre sozinha quais detectores valem a pena para a tarefa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6596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D145B"/>
                </a:solidFill>
                <a:latin typeface="Calibri"/>
              </a:rPr>
              <a:t>PARTE 2  · 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395728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Fundamentos: hiperparâmetros, pooling e viés indutivo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3840480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Stride, padding e dilation: o tamanho da saída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4261104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15384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Pooling e a conta de parâmetros em PyTorch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681728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6360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Receptive field e o que a convolução assume sobre imagens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ounded Rectangle 5"/>
          <p:cNvSpPr/>
          <p:nvPr/>
        </p:nvSpPr>
        <p:spPr>
          <a:xfrm>
            <a:off x="2156322" y="1389888"/>
            <a:ext cx="3615205" cy="809659"/>
          </a:xfrm>
          <a:prstGeom prst="roundRect">
            <a:avLst/>
          </a:prstGeom>
          <a:solidFill>
            <a:srgbClr val="17171F"/>
          </a:solidFill>
          <a:ln w="1524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Stride, padding, dilation:</a:t>
            </a:r>
            <a:r>
              <a:rPr sz="2700" b="1">
                <a:solidFill>
                  <a:srgbClr val="ED145B"/>
                </a:solidFill>
                <a:latin typeface="Calibri"/>
              </a:rPr>
              <a:t> o tamanho da saída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Stride s — passo do kernel; s = 2 reduz o mapa pela metade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Padding p — zeros na borda; p = 1 com K = 3 preserva o tamanho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Dilation d — espaça o kernel e amplia o receptive field sem parâmetros extras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 fórmula fecha a conta do tamanho de saída</a:t>
            </a:r>
          </a:p>
        </p:txBody>
      </p:sp>
      <p:pic>
        <p:nvPicPr>
          <p:cNvPr id="5" name="Picture 4" descr="bc15ef3bc9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490" y="1591056"/>
            <a:ext cx="3212869" cy="40732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" y="2432304"/>
            <a:ext cx="2069591" cy="2286000"/>
          </a:xfrm>
          <a:prstGeom prst="roundRect">
            <a:avLst>
              <a:gd name="adj" fmla="val 3976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523744"/>
            <a:ext cx="185013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2994A"/>
                </a:solidFill>
                <a:latin typeface="Calibri"/>
              </a:rPr>
              <a:t>STRIDE  s = 2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8804" y="2889504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1336548" y="2889504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1574292" y="2889504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1812036" y="2889504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2049780" y="2889504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1098804" y="3127248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1336548" y="3127248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1574292" y="3127248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1812036" y="3127248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2049780" y="3127248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1098804" y="3364992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1336548" y="3364992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1574292" y="3364992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1812036" y="3364992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2049780" y="3364992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1098804" y="3602736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1336548" y="3602736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1574292" y="3602736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1812036" y="3602736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2049780" y="3602736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1098804" y="3840480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1336548" y="3840480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1574292" y="3840480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1812036" y="3840480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2049780" y="3840480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1098804" y="2889504"/>
            <a:ext cx="713232" cy="713232"/>
          </a:xfrm>
          <a:prstGeom prst="rect">
            <a:avLst/>
          </a:prstGeom>
          <a:noFill/>
          <a:ln w="2286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1574292" y="3364992"/>
            <a:ext cx="713232" cy="713232"/>
          </a:xfrm>
          <a:prstGeom prst="rect">
            <a:avLst/>
          </a:prstGeom>
          <a:noFill/>
          <a:ln w="2286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4297680"/>
            <a:ext cx="18867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a janela pula de 2 em 2</a:t>
            </a:r>
          </a:p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5×5 → saída 2×2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974848" y="2432304"/>
            <a:ext cx="2069591" cy="2286000"/>
          </a:xfrm>
          <a:prstGeom prst="roundRect">
            <a:avLst>
              <a:gd name="adj" fmla="val 3976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84576" y="2523744"/>
            <a:ext cx="185013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D9CDB"/>
                </a:solidFill>
                <a:latin typeface="Calibri"/>
              </a:rPr>
              <a:t>PADDING  p = 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05556" y="2816352"/>
            <a:ext cx="201168" cy="201168"/>
          </a:xfrm>
          <a:prstGeom prst="rect">
            <a:avLst/>
          </a:prstGeom>
          <a:solidFill>
            <a:srgbClr val="141C26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2D9CDB"/>
                </a:solidFill>
                <a:latin typeface="Calibri"/>
              </a:rPr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06724" y="2816352"/>
            <a:ext cx="201168" cy="201168"/>
          </a:xfrm>
          <a:prstGeom prst="rect">
            <a:avLst/>
          </a:prstGeom>
          <a:solidFill>
            <a:srgbClr val="141C26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2D9CDB"/>
                </a:solidFill>
                <a:latin typeface="Calibri"/>
              </a:rPr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07892" y="2816352"/>
            <a:ext cx="201168" cy="201168"/>
          </a:xfrm>
          <a:prstGeom prst="rect">
            <a:avLst/>
          </a:prstGeom>
          <a:solidFill>
            <a:srgbClr val="141C26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2D9CDB"/>
                </a:solidFill>
                <a:latin typeface="Calibri"/>
              </a:rPr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09060" y="2816352"/>
            <a:ext cx="201168" cy="201168"/>
          </a:xfrm>
          <a:prstGeom prst="rect">
            <a:avLst/>
          </a:prstGeom>
          <a:solidFill>
            <a:srgbClr val="141C26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2D9CDB"/>
                </a:solidFill>
                <a:latin typeface="Calibri"/>
              </a:rP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0228" y="2816352"/>
            <a:ext cx="201168" cy="201168"/>
          </a:xfrm>
          <a:prstGeom prst="rect">
            <a:avLst/>
          </a:prstGeom>
          <a:solidFill>
            <a:srgbClr val="141C26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2D9CDB"/>
                </a:solidFill>
                <a:latin typeface="Calibri"/>
              </a:rPr>
              <a:t>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11396" y="2816352"/>
            <a:ext cx="201168" cy="201168"/>
          </a:xfrm>
          <a:prstGeom prst="rect">
            <a:avLst/>
          </a:prstGeom>
          <a:solidFill>
            <a:srgbClr val="141C26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2D9CDB"/>
                </a:solidFill>
                <a:latin typeface="Calibri"/>
              </a:rP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12564" y="2816352"/>
            <a:ext cx="201168" cy="201168"/>
          </a:xfrm>
          <a:prstGeom prst="rect">
            <a:avLst/>
          </a:prstGeom>
          <a:solidFill>
            <a:srgbClr val="141C26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2D9CDB"/>
                </a:solidFill>
                <a:latin typeface="Calibri"/>
              </a:rPr>
              <a:t>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05556" y="3017520"/>
            <a:ext cx="201168" cy="201168"/>
          </a:xfrm>
          <a:prstGeom prst="rect">
            <a:avLst/>
          </a:prstGeom>
          <a:solidFill>
            <a:srgbClr val="141C26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2D9CDB"/>
                </a:solidFill>
                <a:latin typeface="Calibri"/>
              </a:rPr>
              <a:t>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06724" y="3017520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8" name="Rectangle 47"/>
          <p:cNvSpPr/>
          <p:nvPr/>
        </p:nvSpPr>
        <p:spPr>
          <a:xfrm>
            <a:off x="3707892" y="3017520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9" name="Rectangle 48"/>
          <p:cNvSpPr/>
          <p:nvPr/>
        </p:nvSpPr>
        <p:spPr>
          <a:xfrm>
            <a:off x="3909060" y="3017520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4110228" y="3017520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1" name="Rectangle 50"/>
          <p:cNvSpPr/>
          <p:nvPr/>
        </p:nvSpPr>
        <p:spPr>
          <a:xfrm>
            <a:off x="4311396" y="3017520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2" name="Rectangle 51"/>
          <p:cNvSpPr/>
          <p:nvPr/>
        </p:nvSpPr>
        <p:spPr>
          <a:xfrm>
            <a:off x="4512564" y="3017520"/>
            <a:ext cx="201168" cy="201168"/>
          </a:xfrm>
          <a:prstGeom prst="rect">
            <a:avLst/>
          </a:prstGeom>
          <a:solidFill>
            <a:srgbClr val="141C26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2D9CDB"/>
                </a:solidFill>
                <a:latin typeface="Calibri"/>
              </a:rPr>
              <a:t>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05556" y="3218688"/>
            <a:ext cx="201168" cy="201168"/>
          </a:xfrm>
          <a:prstGeom prst="rect">
            <a:avLst/>
          </a:prstGeom>
          <a:solidFill>
            <a:srgbClr val="141C26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2D9CDB"/>
                </a:solidFill>
                <a:latin typeface="Calibri"/>
              </a:rPr>
              <a:t>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06724" y="3218688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3707892" y="3218688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6" name="Rectangle 55"/>
          <p:cNvSpPr/>
          <p:nvPr/>
        </p:nvSpPr>
        <p:spPr>
          <a:xfrm>
            <a:off x="3909060" y="3218688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4110228" y="3218688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8" name="Rectangle 57"/>
          <p:cNvSpPr/>
          <p:nvPr/>
        </p:nvSpPr>
        <p:spPr>
          <a:xfrm>
            <a:off x="4311396" y="3218688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9" name="Rectangle 58"/>
          <p:cNvSpPr/>
          <p:nvPr/>
        </p:nvSpPr>
        <p:spPr>
          <a:xfrm>
            <a:off x="4512564" y="3218688"/>
            <a:ext cx="201168" cy="201168"/>
          </a:xfrm>
          <a:prstGeom prst="rect">
            <a:avLst/>
          </a:prstGeom>
          <a:solidFill>
            <a:srgbClr val="141C26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2D9CDB"/>
                </a:solidFill>
                <a:latin typeface="Calibri"/>
              </a:rPr>
              <a:t>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305556" y="3419856"/>
            <a:ext cx="201168" cy="201168"/>
          </a:xfrm>
          <a:prstGeom prst="rect">
            <a:avLst/>
          </a:prstGeom>
          <a:solidFill>
            <a:srgbClr val="141C26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2D9CDB"/>
                </a:solidFill>
                <a:latin typeface="Calibri"/>
              </a:rPr>
              <a:t>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506724" y="3419856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3707892" y="3419856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3909060" y="3419856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4110228" y="3419856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5" name="Rectangle 64"/>
          <p:cNvSpPr/>
          <p:nvPr/>
        </p:nvSpPr>
        <p:spPr>
          <a:xfrm>
            <a:off x="4311396" y="3419856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6" name="Rectangle 65"/>
          <p:cNvSpPr/>
          <p:nvPr/>
        </p:nvSpPr>
        <p:spPr>
          <a:xfrm>
            <a:off x="4512564" y="3419856"/>
            <a:ext cx="201168" cy="201168"/>
          </a:xfrm>
          <a:prstGeom prst="rect">
            <a:avLst/>
          </a:prstGeom>
          <a:solidFill>
            <a:srgbClr val="141C26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2D9CDB"/>
                </a:solidFill>
                <a:latin typeface="Calibri"/>
              </a:rPr>
              <a:t>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305556" y="3621024"/>
            <a:ext cx="201168" cy="201168"/>
          </a:xfrm>
          <a:prstGeom prst="rect">
            <a:avLst/>
          </a:prstGeom>
          <a:solidFill>
            <a:srgbClr val="141C26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2D9CDB"/>
                </a:solidFill>
                <a:latin typeface="Calibri"/>
              </a:rPr>
              <a:t>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506724" y="3621024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9" name="Rectangle 68"/>
          <p:cNvSpPr/>
          <p:nvPr/>
        </p:nvSpPr>
        <p:spPr>
          <a:xfrm>
            <a:off x="3707892" y="3621024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0" name="Rectangle 69"/>
          <p:cNvSpPr/>
          <p:nvPr/>
        </p:nvSpPr>
        <p:spPr>
          <a:xfrm>
            <a:off x="3909060" y="3621024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4110228" y="3621024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2" name="Rectangle 71"/>
          <p:cNvSpPr/>
          <p:nvPr/>
        </p:nvSpPr>
        <p:spPr>
          <a:xfrm>
            <a:off x="4311396" y="3621024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3" name="Rectangle 72"/>
          <p:cNvSpPr/>
          <p:nvPr/>
        </p:nvSpPr>
        <p:spPr>
          <a:xfrm>
            <a:off x="4512564" y="3621024"/>
            <a:ext cx="201168" cy="201168"/>
          </a:xfrm>
          <a:prstGeom prst="rect">
            <a:avLst/>
          </a:prstGeom>
          <a:solidFill>
            <a:srgbClr val="141C26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2D9CDB"/>
                </a:solidFill>
                <a:latin typeface="Calibri"/>
              </a:rPr>
              <a:t>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305556" y="3822191"/>
            <a:ext cx="201168" cy="201168"/>
          </a:xfrm>
          <a:prstGeom prst="rect">
            <a:avLst/>
          </a:prstGeom>
          <a:solidFill>
            <a:srgbClr val="141C26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2D9CDB"/>
                </a:solidFill>
                <a:latin typeface="Calibri"/>
              </a:rPr>
              <a:t>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506724" y="3822191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6" name="Rectangle 75"/>
          <p:cNvSpPr/>
          <p:nvPr/>
        </p:nvSpPr>
        <p:spPr>
          <a:xfrm>
            <a:off x="3707892" y="3822191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7" name="Rectangle 76"/>
          <p:cNvSpPr/>
          <p:nvPr/>
        </p:nvSpPr>
        <p:spPr>
          <a:xfrm>
            <a:off x="3909060" y="3822191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8" name="Rectangle 77"/>
          <p:cNvSpPr/>
          <p:nvPr/>
        </p:nvSpPr>
        <p:spPr>
          <a:xfrm>
            <a:off x="4110228" y="3822191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9" name="Rectangle 78"/>
          <p:cNvSpPr/>
          <p:nvPr/>
        </p:nvSpPr>
        <p:spPr>
          <a:xfrm>
            <a:off x="4311396" y="3822191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0" name="Rectangle 79"/>
          <p:cNvSpPr/>
          <p:nvPr/>
        </p:nvSpPr>
        <p:spPr>
          <a:xfrm>
            <a:off x="4512564" y="3822191"/>
            <a:ext cx="201168" cy="201168"/>
          </a:xfrm>
          <a:prstGeom prst="rect">
            <a:avLst/>
          </a:prstGeom>
          <a:solidFill>
            <a:srgbClr val="141C26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2D9CDB"/>
                </a:solidFill>
                <a:latin typeface="Calibri"/>
              </a:rPr>
              <a:t>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305556" y="4023360"/>
            <a:ext cx="201168" cy="201168"/>
          </a:xfrm>
          <a:prstGeom prst="rect">
            <a:avLst/>
          </a:prstGeom>
          <a:solidFill>
            <a:srgbClr val="141C26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2D9CDB"/>
                </a:solidFill>
                <a:latin typeface="Calibri"/>
              </a:rPr>
              <a:t>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506724" y="4023360"/>
            <a:ext cx="201168" cy="201168"/>
          </a:xfrm>
          <a:prstGeom prst="rect">
            <a:avLst/>
          </a:prstGeom>
          <a:solidFill>
            <a:srgbClr val="141C26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2D9CDB"/>
                </a:solidFill>
                <a:latin typeface="Calibri"/>
              </a:rPr>
              <a:t>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707892" y="4023360"/>
            <a:ext cx="201168" cy="201168"/>
          </a:xfrm>
          <a:prstGeom prst="rect">
            <a:avLst/>
          </a:prstGeom>
          <a:solidFill>
            <a:srgbClr val="141C26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2D9CDB"/>
                </a:solidFill>
                <a:latin typeface="Calibri"/>
              </a:rPr>
              <a:t>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909060" y="4023360"/>
            <a:ext cx="201168" cy="201168"/>
          </a:xfrm>
          <a:prstGeom prst="rect">
            <a:avLst/>
          </a:prstGeom>
          <a:solidFill>
            <a:srgbClr val="141C26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2D9CDB"/>
                </a:solidFill>
                <a:latin typeface="Calibri"/>
              </a:rPr>
              <a:t>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110228" y="4023360"/>
            <a:ext cx="201168" cy="201168"/>
          </a:xfrm>
          <a:prstGeom prst="rect">
            <a:avLst/>
          </a:prstGeom>
          <a:solidFill>
            <a:srgbClr val="141C26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2D9CDB"/>
                </a:solidFill>
                <a:latin typeface="Calibri"/>
              </a:rPr>
              <a:t>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311396" y="4023360"/>
            <a:ext cx="201168" cy="201168"/>
          </a:xfrm>
          <a:prstGeom prst="rect">
            <a:avLst/>
          </a:prstGeom>
          <a:solidFill>
            <a:srgbClr val="141C26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2D9CDB"/>
                </a:solidFill>
                <a:latin typeface="Calibri"/>
              </a:rPr>
              <a:t>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12564" y="4023360"/>
            <a:ext cx="201168" cy="201168"/>
          </a:xfrm>
          <a:prstGeom prst="rect">
            <a:avLst/>
          </a:prstGeom>
          <a:solidFill>
            <a:srgbClr val="141C26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700" b="0">
                <a:solidFill>
                  <a:srgbClr val="2D9CDB"/>
                </a:solidFill>
                <a:latin typeface="Calibri"/>
              </a:rP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66288" y="4297680"/>
            <a:ext cx="18867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zeros na borda</a:t>
            </a:r>
          </a:p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5×5 → saída 5×5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291328" y="2432304"/>
            <a:ext cx="2069591" cy="2286000"/>
          </a:xfrm>
          <a:prstGeom prst="roundRect">
            <a:avLst>
              <a:gd name="adj" fmla="val 3976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01056" y="2523744"/>
            <a:ext cx="185013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9B51E0"/>
                </a:solidFill>
                <a:latin typeface="Calibri"/>
              </a:rPr>
              <a:t>DILATION  d = 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731763" y="2889504"/>
            <a:ext cx="237744" cy="237744"/>
          </a:xfrm>
          <a:prstGeom prst="rect">
            <a:avLst/>
          </a:prstGeom>
          <a:solidFill>
            <a:srgbClr val="9B51E0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2" name="Rectangle 91"/>
          <p:cNvSpPr/>
          <p:nvPr/>
        </p:nvSpPr>
        <p:spPr>
          <a:xfrm>
            <a:off x="5969507" y="2889504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3" name="Rectangle 92"/>
          <p:cNvSpPr/>
          <p:nvPr/>
        </p:nvSpPr>
        <p:spPr>
          <a:xfrm>
            <a:off x="6207251" y="2889504"/>
            <a:ext cx="237744" cy="237744"/>
          </a:xfrm>
          <a:prstGeom prst="rect">
            <a:avLst/>
          </a:prstGeom>
          <a:solidFill>
            <a:srgbClr val="9B51E0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4" name="Rectangle 93"/>
          <p:cNvSpPr/>
          <p:nvPr/>
        </p:nvSpPr>
        <p:spPr>
          <a:xfrm>
            <a:off x="6444996" y="2889504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5" name="Rectangle 94"/>
          <p:cNvSpPr/>
          <p:nvPr/>
        </p:nvSpPr>
        <p:spPr>
          <a:xfrm>
            <a:off x="6682739" y="2889504"/>
            <a:ext cx="237744" cy="237744"/>
          </a:xfrm>
          <a:prstGeom prst="rect">
            <a:avLst/>
          </a:prstGeom>
          <a:solidFill>
            <a:srgbClr val="9B51E0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6" name="Rectangle 95"/>
          <p:cNvSpPr/>
          <p:nvPr/>
        </p:nvSpPr>
        <p:spPr>
          <a:xfrm>
            <a:off x="5731763" y="3127248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7" name="Rectangle 96"/>
          <p:cNvSpPr/>
          <p:nvPr/>
        </p:nvSpPr>
        <p:spPr>
          <a:xfrm>
            <a:off x="5969507" y="3127248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8" name="Rectangle 97"/>
          <p:cNvSpPr/>
          <p:nvPr/>
        </p:nvSpPr>
        <p:spPr>
          <a:xfrm>
            <a:off x="6207251" y="3127248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9" name="Rectangle 98"/>
          <p:cNvSpPr/>
          <p:nvPr/>
        </p:nvSpPr>
        <p:spPr>
          <a:xfrm>
            <a:off x="6444996" y="3127248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0" name="Rectangle 99"/>
          <p:cNvSpPr/>
          <p:nvPr/>
        </p:nvSpPr>
        <p:spPr>
          <a:xfrm>
            <a:off x="6682739" y="3127248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1" name="Rectangle 100"/>
          <p:cNvSpPr/>
          <p:nvPr/>
        </p:nvSpPr>
        <p:spPr>
          <a:xfrm>
            <a:off x="5731763" y="3364992"/>
            <a:ext cx="237744" cy="237744"/>
          </a:xfrm>
          <a:prstGeom prst="rect">
            <a:avLst/>
          </a:prstGeom>
          <a:solidFill>
            <a:srgbClr val="9B51E0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2" name="Rectangle 101"/>
          <p:cNvSpPr/>
          <p:nvPr/>
        </p:nvSpPr>
        <p:spPr>
          <a:xfrm>
            <a:off x="5969507" y="3364992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3" name="Rectangle 102"/>
          <p:cNvSpPr/>
          <p:nvPr/>
        </p:nvSpPr>
        <p:spPr>
          <a:xfrm>
            <a:off x="6207251" y="3364992"/>
            <a:ext cx="237744" cy="237744"/>
          </a:xfrm>
          <a:prstGeom prst="rect">
            <a:avLst/>
          </a:prstGeom>
          <a:solidFill>
            <a:srgbClr val="9B51E0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4" name="Rectangle 103"/>
          <p:cNvSpPr/>
          <p:nvPr/>
        </p:nvSpPr>
        <p:spPr>
          <a:xfrm>
            <a:off x="6444996" y="3364992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5" name="Rectangle 104"/>
          <p:cNvSpPr/>
          <p:nvPr/>
        </p:nvSpPr>
        <p:spPr>
          <a:xfrm>
            <a:off x="6682739" y="3364992"/>
            <a:ext cx="237744" cy="237744"/>
          </a:xfrm>
          <a:prstGeom prst="rect">
            <a:avLst/>
          </a:prstGeom>
          <a:solidFill>
            <a:srgbClr val="9B51E0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6" name="Rectangle 105"/>
          <p:cNvSpPr/>
          <p:nvPr/>
        </p:nvSpPr>
        <p:spPr>
          <a:xfrm>
            <a:off x="5731763" y="3602736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7" name="Rectangle 106"/>
          <p:cNvSpPr/>
          <p:nvPr/>
        </p:nvSpPr>
        <p:spPr>
          <a:xfrm>
            <a:off x="5969507" y="3602736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8" name="Rectangle 107"/>
          <p:cNvSpPr/>
          <p:nvPr/>
        </p:nvSpPr>
        <p:spPr>
          <a:xfrm>
            <a:off x="6207251" y="3602736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9" name="Rectangle 108"/>
          <p:cNvSpPr/>
          <p:nvPr/>
        </p:nvSpPr>
        <p:spPr>
          <a:xfrm>
            <a:off x="6444996" y="3602736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0" name="Rectangle 109"/>
          <p:cNvSpPr/>
          <p:nvPr/>
        </p:nvSpPr>
        <p:spPr>
          <a:xfrm>
            <a:off x="6682739" y="3602736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1" name="Rectangle 110"/>
          <p:cNvSpPr/>
          <p:nvPr/>
        </p:nvSpPr>
        <p:spPr>
          <a:xfrm>
            <a:off x="5731763" y="3840480"/>
            <a:ext cx="237744" cy="237744"/>
          </a:xfrm>
          <a:prstGeom prst="rect">
            <a:avLst/>
          </a:prstGeom>
          <a:solidFill>
            <a:srgbClr val="9B51E0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2" name="Rectangle 111"/>
          <p:cNvSpPr/>
          <p:nvPr/>
        </p:nvSpPr>
        <p:spPr>
          <a:xfrm>
            <a:off x="5969507" y="3840480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3" name="Rectangle 112"/>
          <p:cNvSpPr/>
          <p:nvPr/>
        </p:nvSpPr>
        <p:spPr>
          <a:xfrm>
            <a:off x="6207251" y="3840480"/>
            <a:ext cx="237744" cy="237744"/>
          </a:xfrm>
          <a:prstGeom prst="rect">
            <a:avLst/>
          </a:prstGeom>
          <a:solidFill>
            <a:srgbClr val="9B51E0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4" name="Rectangle 113"/>
          <p:cNvSpPr/>
          <p:nvPr/>
        </p:nvSpPr>
        <p:spPr>
          <a:xfrm>
            <a:off x="6444996" y="3840480"/>
            <a:ext cx="237744" cy="23774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5" name="Rectangle 114"/>
          <p:cNvSpPr/>
          <p:nvPr/>
        </p:nvSpPr>
        <p:spPr>
          <a:xfrm>
            <a:off x="6682739" y="3840480"/>
            <a:ext cx="237744" cy="237744"/>
          </a:xfrm>
          <a:prstGeom prst="rect">
            <a:avLst/>
          </a:prstGeom>
          <a:solidFill>
            <a:srgbClr val="9B51E0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382767" y="4297680"/>
            <a:ext cx="18867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9 pesos espalhados</a:t>
            </a:r>
          </a:p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RF 5×5 sem custo extra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685800" y="5047488"/>
            <a:ext cx="6547104" cy="731520"/>
          </a:xfrm>
          <a:prstGeom prst="roundRect">
            <a:avLst>
              <a:gd name="adj" fmla="val 11249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H = 32, K = 3   ·   p=1, s=1 → 32   ·   p=1, s=2 → 16   ·   p=2, d=2, s=1 → 32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85800" y="5907024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confira o tamanho da saída antes de empilhar a próxima camada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Pooling:</a:t>
            </a:r>
            <a:r>
              <a:rPr sz="2700" b="1">
                <a:solidFill>
                  <a:srgbClr val="ED145B"/>
                </a:solidFill>
                <a:latin typeface="Calibri"/>
              </a:rPr>
              <a:t> reduzir dimensionalidade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MaxPooling 2×2: pega o máximo de cada janela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AvgPooling 2×2: média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Reduz H × W pela metade sem parâmetros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Introduz invariância local à translação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A JANELA 2×2 DESLIZA SEM SOBREPOSIÇÃO (stride =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93392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mapa 4×4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304288"/>
            <a:ext cx="457200" cy="457200"/>
          </a:xfrm>
          <a:prstGeom prst="rect">
            <a:avLst/>
          </a:prstGeom>
          <a:solidFill>
            <a:srgbClr val="1E1E28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304288"/>
            <a:ext cx="457200" cy="457200"/>
          </a:xfrm>
          <a:prstGeom prst="rect">
            <a:avLst/>
          </a:prstGeom>
          <a:solidFill>
            <a:srgbClr val="1E1E28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304288"/>
            <a:ext cx="457200" cy="457200"/>
          </a:xfrm>
          <a:prstGeom prst="rect">
            <a:avLst/>
          </a:prstGeom>
          <a:solidFill>
            <a:srgbClr val="1E1E28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304288"/>
            <a:ext cx="457200" cy="457200"/>
          </a:xfrm>
          <a:prstGeom prst="rect">
            <a:avLst/>
          </a:prstGeom>
          <a:solidFill>
            <a:srgbClr val="1E1E28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61488"/>
            <a:ext cx="457200" cy="457200"/>
          </a:xfrm>
          <a:prstGeom prst="rect">
            <a:avLst/>
          </a:prstGeom>
          <a:solidFill>
            <a:srgbClr val="1E1E28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761488"/>
            <a:ext cx="457200" cy="457200"/>
          </a:xfrm>
          <a:prstGeom prst="rect">
            <a:avLst/>
          </a:prstGeom>
          <a:solidFill>
            <a:srgbClr val="1E1E28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2761488"/>
            <a:ext cx="457200" cy="457200"/>
          </a:xfrm>
          <a:prstGeom prst="rect">
            <a:avLst/>
          </a:prstGeom>
          <a:solidFill>
            <a:srgbClr val="1E1E28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761488"/>
            <a:ext cx="457200" cy="457200"/>
          </a:xfrm>
          <a:prstGeom prst="rect">
            <a:avLst/>
          </a:prstGeom>
          <a:solidFill>
            <a:srgbClr val="1E1E28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218688"/>
            <a:ext cx="457200" cy="457200"/>
          </a:xfrm>
          <a:prstGeom prst="rect">
            <a:avLst/>
          </a:prstGeom>
          <a:solidFill>
            <a:srgbClr val="1E1E28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218688"/>
            <a:ext cx="457200" cy="457200"/>
          </a:xfrm>
          <a:prstGeom prst="rect">
            <a:avLst/>
          </a:prstGeom>
          <a:solidFill>
            <a:srgbClr val="1E1E28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3218688"/>
            <a:ext cx="457200" cy="457200"/>
          </a:xfrm>
          <a:prstGeom prst="rect">
            <a:avLst/>
          </a:prstGeom>
          <a:solidFill>
            <a:srgbClr val="1E1E28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3218688"/>
            <a:ext cx="457200" cy="457200"/>
          </a:xfrm>
          <a:prstGeom prst="rect">
            <a:avLst/>
          </a:prstGeom>
          <a:solidFill>
            <a:srgbClr val="1E1E28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675887"/>
            <a:ext cx="457200" cy="457200"/>
          </a:xfrm>
          <a:prstGeom prst="rect">
            <a:avLst/>
          </a:prstGeom>
          <a:solidFill>
            <a:srgbClr val="1E1E28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3675887"/>
            <a:ext cx="457200" cy="457200"/>
          </a:xfrm>
          <a:prstGeom prst="rect">
            <a:avLst/>
          </a:prstGeom>
          <a:solidFill>
            <a:srgbClr val="1E1E28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3675887"/>
            <a:ext cx="457200" cy="457200"/>
          </a:xfrm>
          <a:prstGeom prst="rect">
            <a:avLst/>
          </a:prstGeom>
          <a:solidFill>
            <a:srgbClr val="1E1E28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3675887"/>
            <a:ext cx="457200" cy="457200"/>
          </a:xfrm>
          <a:prstGeom prst="rect">
            <a:avLst/>
          </a:prstGeom>
          <a:solidFill>
            <a:srgbClr val="1E1E28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871216" y="2834640"/>
            <a:ext cx="1499616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71216" y="4041648"/>
            <a:ext cx="1499616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434840" y="2011680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D145B"/>
                </a:solidFill>
                <a:latin typeface="Calibri"/>
              </a:rPr>
              <a:t>MaxPooling 2×2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2331720"/>
            <a:ext cx="457200" cy="457200"/>
          </a:xfrm>
          <a:prstGeom prst="rect">
            <a:avLst/>
          </a:prstGeom>
          <a:solidFill>
            <a:srgbClr val="1E1E28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2331720"/>
            <a:ext cx="457200" cy="457200"/>
          </a:xfrm>
          <a:prstGeom prst="rect">
            <a:avLst/>
          </a:prstGeom>
          <a:solidFill>
            <a:srgbClr val="1E1E28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2788920"/>
            <a:ext cx="457200" cy="457200"/>
          </a:xfrm>
          <a:prstGeom prst="rect">
            <a:avLst/>
          </a:prstGeom>
          <a:solidFill>
            <a:srgbClr val="1E1E28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37760" y="2788920"/>
            <a:ext cx="457200" cy="457200"/>
          </a:xfrm>
          <a:prstGeom prst="rect">
            <a:avLst/>
          </a:prstGeom>
          <a:solidFill>
            <a:srgbClr val="1E1E28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3310128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0A6"/>
                </a:solidFill>
                <a:latin typeface="Calibri"/>
              </a:rPr>
              <a:t>o maior de cada cor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3639312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D9CDB"/>
                </a:solidFill>
                <a:latin typeface="Calibri"/>
              </a:rPr>
              <a:t>AvgPooling 2×2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0560" y="3959352"/>
            <a:ext cx="457200" cy="457200"/>
          </a:xfrm>
          <a:prstGeom prst="rect">
            <a:avLst/>
          </a:prstGeom>
          <a:solidFill>
            <a:srgbClr val="1E1E28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3.8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7760" y="3959352"/>
            <a:ext cx="457200" cy="457200"/>
          </a:xfrm>
          <a:prstGeom prst="rect">
            <a:avLst/>
          </a:prstGeom>
          <a:solidFill>
            <a:srgbClr val="1E1E28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2.2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60" y="4416552"/>
            <a:ext cx="457200" cy="457200"/>
          </a:xfrm>
          <a:prstGeom prst="rect">
            <a:avLst/>
          </a:prstGeom>
          <a:solidFill>
            <a:srgbClr val="1E1E28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4.0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4416552"/>
            <a:ext cx="457200" cy="457200"/>
          </a:xfrm>
          <a:prstGeom prst="rect">
            <a:avLst/>
          </a:prstGeom>
          <a:solidFill>
            <a:srgbClr val="1E1E28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5.0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4937760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0A6"/>
                </a:solidFill>
                <a:latin typeface="Calibri"/>
              </a:rPr>
              <a:t>a média de cada cor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4315968"/>
            <a:ext cx="1828800" cy="786384"/>
          </a:xfrm>
          <a:prstGeom prst="roundRect">
            <a:avLst>
              <a:gd name="adj" fmla="val 10465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zero parâmetros aprendíveis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H × W caem pela metade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230368"/>
            <a:ext cx="1944623" cy="658368"/>
          </a:xfrm>
          <a:prstGeom prst="roundRect">
            <a:avLst>
              <a:gd name="adj" fmla="val 12500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mapa 32×32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630424" y="5559552"/>
            <a:ext cx="310896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2968751" y="5230368"/>
            <a:ext cx="1944623" cy="658368"/>
          </a:xfrm>
          <a:prstGeom prst="roundRect">
            <a:avLst>
              <a:gd name="adj" fmla="val 12500"/>
            </a:avLst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pool 2×2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→ 16×16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940808" y="5559552"/>
            <a:ext cx="310896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5279135" y="5230368"/>
            <a:ext cx="1944623" cy="658368"/>
          </a:xfrm>
          <a:prstGeom prst="roundRect">
            <a:avLst>
              <a:gd name="adj" fmla="val 12500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pool 2×2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→ 8×8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016752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menos resolução, mais contexto: um pixel do mapa final resume uma região inteira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Convolução em PyTorch:</a:t>
            </a:r>
            <a:r>
              <a:rPr sz="2700" b="1">
                <a:solidFill>
                  <a:srgbClr val="ED145B"/>
                </a:solidFill>
                <a:latin typeface="Calibri"/>
              </a:rPr>
              <a:t> a conta de parâmetros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Parâmetros = (C_in · K · K + 1) · C_out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Para C_in = 3, K = 3, C_out = 32: 896 parâmetros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Não dependem da resolução da imagem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padding=1 com kernel 3 mantém H × 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91056"/>
            <a:ext cx="4224528" cy="1524716"/>
          </a:xfrm>
          <a:prstGeom prst="roundRect">
            <a:avLst>
              <a:gd name="adj" fmla="val 4008"/>
            </a:avLst>
          </a:prstGeom>
          <a:solidFill>
            <a:srgbClr val="121218"/>
          </a:solidFill>
          <a:ln w="12700">
            <a:solidFill>
              <a:srgbClr val="3333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rIns="73152" tIns="109728" bIns="91440"/>
          <a:lstStyle/>
          <a:p>
            <a:pPr algn="l"/>
            <a:r>
              <a:rPr sz="1000" b="1">
                <a:solidFill>
                  <a:srgbClr val="ED145B"/>
                </a:solidFill>
                <a:latin typeface="Calibri"/>
              </a:rPr>
              <a:t>camada convolucional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conv = nn.Conv2d(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   in_channels=3,     # RGB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   out_channels=32,   # 32 filtros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   kernel_size=3,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   stride=1,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   padding=1,         # mantém H × W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4064" y="1682496"/>
            <a:ext cx="2139696" cy="1481328"/>
          </a:xfrm>
          <a:prstGeom prst="roundRect">
            <a:avLst>
              <a:gd name="adj" fmla="val 5555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38928" y="1773936"/>
            <a:ext cx="20299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ED145B"/>
                </a:solidFill>
                <a:latin typeface="Calibri"/>
              </a:rPr>
              <a:t>PARÂMETROS</a:t>
            </a:r>
          </a:p>
        </p:txBody>
      </p:sp>
      <p:pic>
        <p:nvPicPr>
          <p:cNvPr id="8" name="Picture 7" descr="6330ba68dcc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32" y="2084831"/>
            <a:ext cx="1280160" cy="30341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38928" y="2670048"/>
            <a:ext cx="20299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  <a:latin typeface="Calibri"/>
              </a:rPr>
              <a:t>(3·9 + 1) · 32 = 896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19856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MESMA ENTRADA 224×224×3 — QUANTOS PESOS?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785615"/>
            <a:ext cx="868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D145B"/>
                </a:solidFill>
                <a:latin typeface="Calibri"/>
              </a:rPr>
              <a:t>MLP</a:t>
            </a:r>
          </a:p>
          <a:p>
            <a:pPr algn="l"/>
            <a:r>
              <a:rPr sz="1000" b="1" i="0">
                <a:solidFill>
                  <a:srgbClr val="ED145B"/>
                </a:solidFill>
                <a:latin typeface="Calibri"/>
              </a:rPr>
              <a:t>denso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3749039"/>
            <a:ext cx="5486400" cy="512064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154.140.672 parâmetros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517136"/>
            <a:ext cx="868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Conv2d</a:t>
            </a:r>
          </a:p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3 → 32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4480560"/>
            <a:ext cx="128016" cy="5120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572000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Calibri"/>
              </a:rPr>
              <a:t>896 parâmetros  ·  0,0006 % do MLP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193792"/>
            <a:ext cx="1944623" cy="603504"/>
          </a:xfrm>
          <a:prstGeom prst="roundRect">
            <a:avLst>
              <a:gd name="adj" fmla="val 13636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(N, 3, H, W)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30424" y="5495544"/>
            <a:ext cx="310896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968751" y="5193792"/>
            <a:ext cx="1944623" cy="603504"/>
          </a:xfrm>
          <a:prstGeom prst="roundRect">
            <a:avLst>
              <a:gd name="adj" fmla="val 13636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Conv2d(3, 32, 3, p=1)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40808" y="5495544"/>
            <a:ext cx="310896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279135" y="5193792"/>
            <a:ext cx="1944623" cy="603504"/>
          </a:xfrm>
          <a:prstGeom prst="roundRect">
            <a:avLst>
              <a:gd name="adj" fmla="val 13636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(N, 32, H, W)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961888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o custo depende do kernel e dos canais — nunca do tamanho da imagem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Receptive field:</a:t>
            </a:r>
            <a:r>
              <a:rPr sz="2700" b="1">
                <a:solidFill>
                  <a:srgbClr val="ED145B"/>
                </a:solidFill>
                <a:latin typeface="Calibri"/>
              </a:rPr>
              <a:t> o quanto cada neurônio enxerga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Receptive field = região da entrada que afeta um neurônio de saída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Empilhar convoluções → RF cresce linearmente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Dilation → RF cresce exponencialmente sem custo de parâmetros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17904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D9CDB"/>
                </a:solidFill>
                <a:latin typeface="Calibri"/>
              </a:rPr>
              <a:t>EMPILHANDO CONVS 3×3</a:t>
            </a:r>
          </a:p>
        </p:txBody>
      </p:sp>
      <p:sp>
        <p:nvSpPr>
          <p:cNvPr id="6" name="Rectangle 5"/>
          <p:cNvSpPr/>
          <p:nvPr/>
        </p:nvSpPr>
        <p:spPr>
          <a:xfrm>
            <a:off x="2221992" y="1883664"/>
            <a:ext cx="329184" cy="329184"/>
          </a:xfrm>
          <a:prstGeom prst="rect">
            <a:avLst/>
          </a:prstGeom>
          <a:solidFill>
            <a:srgbClr val="ED145B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1892807" y="2523744"/>
            <a:ext cx="329184" cy="32918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2221991" y="2523744"/>
            <a:ext cx="329184" cy="32918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2551176" y="2523744"/>
            <a:ext cx="329184" cy="32918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1563624" y="3163824"/>
            <a:ext cx="329184" cy="32918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1892807" y="3163824"/>
            <a:ext cx="329184" cy="32918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2221991" y="3163824"/>
            <a:ext cx="329184" cy="32918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2551176" y="3163824"/>
            <a:ext cx="329184" cy="32918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2880360" y="3163824"/>
            <a:ext cx="329184" cy="32918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1234440" y="3803904"/>
            <a:ext cx="329184" cy="32918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1563624" y="3803904"/>
            <a:ext cx="329184" cy="32918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1892808" y="3803904"/>
            <a:ext cx="329184" cy="32918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2221992" y="3803904"/>
            <a:ext cx="329184" cy="32918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2551176" y="3803904"/>
            <a:ext cx="329184" cy="32918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2880360" y="3803904"/>
            <a:ext cx="329184" cy="32918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3209544" y="3803904"/>
            <a:ext cx="329184" cy="329184"/>
          </a:xfrm>
          <a:prstGeom prst="rect">
            <a:avLst/>
          </a:prstGeom>
          <a:solidFill>
            <a:srgbClr val="1E1E28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2057400" y="2212848"/>
            <a:ext cx="329184" cy="310896"/>
          </a:xfrm>
          <a:prstGeom prst="line">
            <a:avLst/>
          </a:prstGeom>
          <a:ln w="952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86584" y="2212848"/>
            <a:ext cx="0" cy="310896"/>
          </a:xfrm>
          <a:prstGeom prst="line">
            <a:avLst/>
          </a:prstGeom>
          <a:ln w="952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86584" y="2212848"/>
            <a:ext cx="329184" cy="310896"/>
          </a:xfrm>
          <a:prstGeom prst="line">
            <a:avLst/>
          </a:prstGeom>
          <a:ln w="952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728216" y="2852927"/>
            <a:ext cx="329184" cy="310897"/>
          </a:xfrm>
          <a:prstGeom prst="line">
            <a:avLst/>
          </a:prstGeom>
          <a:ln w="952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057400" y="2852927"/>
            <a:ext cx="0" cy="310897"/>
          </a:xfrm>
          <a:prstGeom prst="line">
            <a:avLst/>
          </a:prstGeom>
          <a:ln w="952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057400" y="2852927"/>
            <a:ext cx="329184" cy="310897"/>
          </a:xfrm>
          <a:prstGeom prst="line">
            <a:avLst/>
          </a:prstGeom>
          <a:ln w="952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2057400" y="2852927"/>
            <a:ext cx="329184" cy="310897"/>
          </a:xfrm>
          <a:prstGeom prst="line">
            <a:avLst/>
          </a:prstGeom>
          <a:ln w="952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386584" y="2852927"/>
            <a:ext cx="0" cy="310897"/>
          </a:xfrm>
          <a:prstGeom prst="line">
            <a:avLst/>
          </a:prstGeom>
          <a:ln w="952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386584" y="2852927"/>
            <a:ext cx="329184" cy="310897"/>
          </a:xfrm>
          <a:prstGeom prst="line">
            <a:avLst/>
          </a:prstGeom>
          <a:ln w="952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2386584" y="2852927"/>
            <a:ext cx="329184" cy="310897"/>
          </a:xfrm>
          <a:prstGeom prst="line">
            <a:avLst/>
          </a:prstGeom>
          <a:ln w="952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715768" y="2852927"/>
            <a:ext cx="0" cy="310897"/>
          </a:xfrm>
          <a:prstGeom prst="line">
            <a:avLst/>
          </a:prstGeom>
          <a:ln w="952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715768" y="2852927"/>
            <a:ext cx="329184" cy="310897"/>
          </a:xfrm>
          <a:prstGeom prst="line">
            <a:avLst/>
          </a:prstGeom>
          <a:ln w="952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1399032" y="3493008"/>
            <a:ext cx="329184" cy="310896"/>
          </a:xfrm>
          <a:prstGeom prst="line">
            <a:avLst/>
          </a:prstGeom>
          <a:ln w="952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728216" y="3493008"/>
            <a:ext cx="0" cy="310896"/>
          </a:xfrm>
          <a:prstGeom prst="line">
            <a:avLst/>
          </a:prstGeom>
          <a:ln w="952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728216" y="3493008"/>
            <a:ext cx="329184" cy="310896"/>
          </a:xfrm>
          <a:prstGeom prst="line">
            <a:avLst/>
          </a:prstGeom>
          <a:ln w="952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1728216" y="3493008"/>
            <a:ext cx="329184" cy="310896"/>
          </a:xfrm>
          <a:prstGeom prst="line">
            <a:avLst/>
          </a:prstGeom>
          <a:ln w="952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057400" y="3493008"/>
            <a:ext cx="0" cy="310896"/>
          </a:xfrm>
          <a:prstGeom prst="line">
            <a:avLst/>
          </a:prstGeom>
          <a:ln w="952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057400" y="3493008"/>
            <a:ext cx="329184" cy="310896"/>
          </a:xfrm>
          <a:prstGeom prst="line">
            <a:avLst/>
          </a:prstGeom>
          <a:ln w="952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2057400" y="3493008"/>
            <a:ext cx="329184" cy="310896"/>
          </a:xfrm>
          <a:prstGeom prst="line">
            <a:avLst/>
          </a:prstGeom>
          <a:ln w="952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386584" y="3493008"/>
            <a:ext cx="0" cy="310896"/>
          </a:xfrm>
          <a:prstGeom prst="line">
            <a:avLst/>
          </a:prstGeom>
          <a:ln w="952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386584" y="3493008"/>
            <a:ext cx="329184" cy="310896"/>
          </a:xfrm>
          <a:prstGeom prst="line">
            <a:avLst/>
          </a:prstGeom>
          <a:ln w="952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2386584" y="3493008"/>
            <a:ext cx="329184" cy="310896"/>
          </a:xfrm>
          <a:prstGeom prst="line">
            <a:avLst/>
          </a:prstGeom>
          <a:ln w="952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715768" y="3493008"/>
            <a:ext cx="0" cy="310896"/>
          </a:xfrm>
          <a:prstGeom prst="line">
            <a:avLst/>
          </a:prstGeom>
          <a:ln w="952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715768" y="3493008"/>
            <a:ext cx="329184" cy="310896"/>
          </a:xfrm>
          <a:prstGeom prst="line">
            <a:avLst/>
          </a:prstGeom>
          <a:ln w="952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2715768" y="3493008"/>
            <a:ext cx="329184" cy="310896"/>
          </a:xfrm>
          <a:prstGeom prst="line">
            <a:avLst/>
          </a:prstGeom>
          <a:ln w="952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044952" y="3493008"/>
            <a:ext cx="0" cy="310896"/>
          </a:xfrm>
          <a:prstGeom prst="line">
            <a:avLst/>
          </a:prstGeom>
          <a:ln w="952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044952" y="3493008"/>
            <a:ext cx="329184" cy="310896"/>
          </a:xfrm>
          <a:prstGeom prst="line">
            <a:avLst/>
          </a:prstGeom>
          <a:ln w="952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21792" y="1920240"/>
            <a:ext cx="5669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0A6"/>
                </a:solidFill>
                <a:latin typeface="Calibri"/>
              </a:rPr>
              <a:t>saída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" y="2560320"/>
            <a:ext cx="5669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0A6"/>
                </a:solidFill>
                <a:latin typeface="Calibri"/>
              </a:rPr>
              <a:t>conv 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" y="3200400"/>
            <a:ext cx="5669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0A6"/>
                </a:solidFill>
                <a:latin typeface="Calibri"/>
              </a:rPr>
              <a:t>conv 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" y="3840480"/>
            <a:ext cx="5669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0A6"/>
                </a:solidFill>
                <a:latin typeface="Calibri"/>
              </a:rPr>
              <a:t>entrada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34440" y="4224528"/>
            <a:ext cx="230428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ED145B"/>
                </a:solidFill>
                <a:latin typeface="Calibri"/>
              </a:rPr>
              <a:t>RF = 7 pixels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459028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0A6"/>
                </a:solidFill>
                <a:latin typeface="Calibri"/>
              </a:rPr>
              <a:t>cada camada soma K − 1 ao alcance:</a:t>
            </a:r>
          </a:p>
          <a:p>
            <a:pPr algn="l"/>
            <a:r>
              <a:rPr sz="950" b="0" i="0">
                <a:solidFill>
                  <a:srgbClr val="9AA0A6"/>
                </a:solidFill>
                <a:latin typeface="Calibri"/>
              </a:rPr>
              <a:t>3 → 5 → 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41648" y="1517904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B51E0"/>
                </a:solidFill>
                <a:latin typeface="Calibri"/>
              </a:rPr>
              <a:t>DUAS FORMAS DE CRESCER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41648" y="1847088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D9CDB"/>
                </a:solidFill>
                <a:latin typeface="Calibri"/>
              </a:rPr>
              <a:t>profundidade · 3 × 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41648" y="2139696"/>
            <a:ext cx="502920" cy="347472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54296" y="2185415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RF 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41648" y="2578608"/>
            <a:ext cx="841248" cy="347472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92624" y="2624327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RF 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41648" y="3017520"/>
            <a:ext cx="1170432" cy="347472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21808" y="3063239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RF 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41648" y="3566160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B51E0"/>
                </a:solidFill>
                <a:latin typeface="Calibri"/>
              </a:rPr>
              <a:t>dilation · d = 1, 2, 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041648" y="3858768"/>
            <a:ext cx="502920" cy="347472"/>
          </a:xfrm>
          <a:prstGeom prst="rect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54296" y="3904487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RF 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41648" y="4297679"/>
            <a:ext cx="1170432" cy="347472"/>
          </a:xfrm>
          <a:prstGeom prst="rect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21808" y="4343399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RF 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041648" y="4736592"/>
            <a:ext cx="2514600" cy="347472"/>
          </a:xfrm>
          <a:prstGeom prst="rect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65976" y="4782312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RF 15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41648" y="5138928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0A6"/>
                </a:solidFill>
                <a:latin typeface="Calibri"/>
              </a:rPr>
              <a:t>mesma quantidade de pesos, alcance muito maior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58368" y="5596128"/>
            <a:ext cx="6565392" cy="603504"/>
          </a:xfrm>
          <a:prstGeom prst="roundRect">
            <a:avLst>
              <a:gd name="adj" fmla="val 13636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RF pequeno enxerga textura · RF grande enxerga o objeto inteiro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O viés indutivo:</a:t>
            </a:r>
            <a:r>
              <a:rPr sz="2700" b="1">
                <a:solidFill>
                  <a:srgbClr val="ED145B"/>
                </a:solidFill>
                <a:latin typeface="Calibri"/>
              </a:rPr>
              <a:t> o que a convolução assume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CNNs assumem localidade, compartilhamento de pesos e estacionariedade aproximada na imagem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Convolução é equivariante a translação; invariância só aparece depois com pooling, profundidade e agregação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Downsampling melhora robustez e custo, mas perde precisão espacial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Quando a semântica depende de posição absoluta ou contexto global precoce, o ganho convolucional diminui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029968" cy="932688"/>
          </a:xfrm>
          <a:prstGeom prst="roundRect">
            <a:avLst>
              <a:gd name="adj" fmla="val 8823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2D9CDB"/>
                </a:solidFill>
                <a:latin typeface="Calibri"/>
              </a:rPr>
              <a:t>localidade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o que importa está perto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554480"/>
            <a:ext cx="2029968" cy="932688"/>
          </a:xfrm>
          <a:prstGeom prst="roundRect">
            <a:avLst>
              <a:gd name="adj" fmla="val 8823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9B51E0"/>
                </a:solidFill>
                <a:latin typeface="Calibri"/>
              </a:rPr>
              <a:t>pesos compartilhados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o mesmo detector em toda a imagem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93792" y="1554480"/>
            <a:ext cx="2029968" cy="932688"/>
          </a:xfrm>
          <a:prstGeom prst="roundRect">
            <a:avLst>
              <a:gd name="adj" fmla="val 8823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F2994A"/>
                </a:solidFill>
                <a:latin typeface="Calibri"/>
              </a:rPr>
              <a:t>estacionariedade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estatística parecida em qualquer região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43200"/>
            <a:ext cx="1932432" cy="749808"/>
          </a:xfrm>
          <a:prstGeom prst="roundRect">
            <a:avLst>
              <a:gd name="adj" fmla="val 10975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convolução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EQUIVARIANTE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18231" y="3118104"/>
            <a:ext cx="329185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74847" y="2743200"/>
            <a:ext cx="1932432" cy="749808"/>
          </a:xfrm>
          <a:prstGeom prst="roundRect">
            <a:avLst>
              <a:gd name="adj" fmla="val 10975"/>
            </a:avLst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pooling · profundidade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agregação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34712" y="3118104"/>
            <a:ext cx="329183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291328" y="2743200"/>
            <a:ext cx="1932432" cy="749808"/>
          </a:xfrm>
          <a:prstGeom prst="roundRect">
            <a:avLst>
              <a:gd name="adj" fmla="val 10975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invariância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APROXIMADA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584448"/>
            <a:ext cx="65653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mover o objeto move o mapa de ativação — a invariância só aparece depois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968496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7AE60"/>
                </a:solidFill>
                <a:latin typeface="Calibri"/>
              </a:rPr>
              <a:t>O QUE O VIÉS ENTREGA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242816"/>
            <a:ext cx="3200400" cy="1517904"/>
          </a:xfrm>
          <a:prstGeom prst="roundRect">
            <a:avLst>
              <a:gd name="adj" fmla="val 5421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·  muito menos parâmetros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·  robustez a pequenos deslocamentos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·  reuso de detectores entre regiões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1648" y="3968496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2994A"/>
                </a:solidFill>
                <a:latin typeface="Calibri"/>
              </a:rPr>
              <a:t>ONDE O GANHO CAI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41648" y="4242816"/>
            <a:ext cx="3182112" cy="1517904"/>
          </a:xfrm>
          <a:prstGeom prst="roundRect">
            <a:avLst>
              <a:gd name="adj" fmla="val 5421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·  quando a posição absoluta é a semântica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·  quando o contexto global é necessário cedo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·  downsampling perde precisão espacial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88736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CNN não é mágica: é uma hipótese estrutural sobre o domínio visual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6596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D145B"/>
                </a:solidFill>
                <a:latin typeface="Calibri"/>
              </a:rPr>
              <a:t>PARTE 3  · 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395728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Arquiteturas clássicas e o desenho do experimento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3840480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LeNet-5, AlexNet, VGG e Inception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4261104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15384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A convolução 1×1 como bloco de projeto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681728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6360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Notebook-first: a pergunta que o hands-on responde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LeNet-5 (1998):</a:t>
            </a:r>
            <a:r>
              <a:rPr sz="2700" b="1">
                <a:solidFill>
                  <a:srgbClr val="ED145B"/>
                </a:solidFill>
                <a:latin typeface="Calibri"/>
              </a:rPr>
              <a:t> o primeiro sucesso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LeCun et al. (1998) — leitura de CEPs manuscritos em cheques bancários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~60 mil parâmetros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179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LeNet-5 · LeCun et al. (1998) · dígitos manuscritos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49424"/>
            <a:ext cx="457200" cy="1609344"/>
          </a:xfrm>
          <a:prstGeom prst="rect">
            <a:avLst/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3968496"/>
            <a:ext cx="96926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32×32×1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4206240"/>
            <a:ext cx="96926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D9CDB"/>
                </a:solidFill>
                <a:latin typeface="Calibri"/>
              </a:rPr>
              <a:t>entrada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2350008"/>
            <a:ext cx="457200" cy="1408176"/>
          </a:xfrm>
          <a:prstGeom prst="rect">
            <a:avLst/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3968496"/>
            <a:ext cx="96926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28×28×6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4206240"/>
            <a:ext cx="96926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ED145B"/>
                </a:solidFill>
                <a:latin typeface="Calibri"/>
              </a:rPr>
              <a:t>C1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3160" y="2702052"/>
            <a:ext cx="457200" cy="704088"/>
          </a:xfrm>
          <a:prstGeom prst="rect">
            <a:avLst/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7128" y="3968496"/>
            <a:ext cx="96926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14×14×6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7128" y="4206240"/>
            <a:ext cx="96926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9B51E0"/>
                </a:solidFill>
                <a:latin typeface="Calibri"/>
              </a:rPr>
              <a:t>S2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2802636"/>
            <a:ext cx="457200" cy="502920"/>
          </a:xfrm>
          <a:prstGeom prst="rect">
            <a:avLst/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0087" y="3968496"/>
            <a:ext cx="96926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10×10×16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7" y="4206240"/>
            <a:ext cx="96926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ED145B"/>
                </a:solidFill>
                <a:latin typeface="Calibri"/>
              </a:rPr>
              <a:t>C3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69080" y="2926079"/>
            <a:ext cx="457200" cy="256032"/>
          </a:xfrm>
          <a:prstGeom prst="rect">
            <a:avLst/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3048" y="3968496"/>
            <a:ext cx="96926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5×5×16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3048" y="4206240"/>
            <a:ext cx="96926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9B51E0"/>
                </a:solidFill>
                <a:latin typeface="Calibri"/>
              </a:rPr>
              <a:t>S4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96896"/>
            <a:ext cx="219456" cy="914400"/>
          </a:xfrm>
          <a:prstGeom prst="rect">
            <a:avLst/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7448" y="3968496"/>
            <a:ext cx="731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120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7448" y="4206240"/>
            <a:ext cx="731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D9CDB"/>
                </a:solidFill>
                <a:latin typeface="Calibri"/>
              </a:rPr>
              <a:t>C5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0" y="2706624"/>
            <a:ext cx="219456" cy="694944"/>
          </a:xfrm>
          <a:prstGeom prst="rect">
            <a:avLst/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58968" y="3968496"/>
            <a:ext cx="731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84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58968" y="4206240"/>
            <a:ext cx="731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D9CDB"/>
                </a:solidFill>
                <a:latin typeface="Calibri"/>
              </a:rPr>
              <a:t>F6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2843784"/>
            <a:ext cx="219456" cy="420624"/>
          </a:xfrm>
          <a:prstGeom prst="rect">
            <a:avLst/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3968496"/>
            <a:ext cx="731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0488" y="4206240"/>
            <a:ext cx="731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7AE60"/>
                </a:solidFill>
                <a:latin typeface="Calibri"/>
              </a:rPr>
              <a:t>saída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143000" y="3054096"/>
            <a:ext cx="338328" cy="0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68680" y="1883664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conv 5×5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965960" y="3054096"/>
            <a:ext cx="338328" cy="0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691640" y="1883664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pool 2×2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788920" y="3054096"/>
            <a:ext cx="338328" cy="0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514600" y="1883664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conv 5×5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611880" y="3054096"/>
            <a:ext cx="338328" cy="0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337560" y="1883664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pool 2×2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526280" y="3054096"/>
            <a:ext cx="338328" cy="0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251960" y="1883664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flatten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367528" y="3054096"/>
            <a:ext cx="274320" cy="0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099048" y="3054096"/>
            <a:ext cx="274320" cy="0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85800" y="4663440"/>
            <a:ext cx="2011679" cy="932688"/>
          </a:xfrm>
          <a:prstGeom prst="roundRect">
            <a:avLst>
              <a:gd name="adj" fmla="val 8823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27AE60"/>
                </a:solidFill>
                <a:latin typeface="Calibri"/>
              </a:rPr>
              <a:t>~60 mil pesos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contra 154 M de um MLP denso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953511" y="4663440"/>
            <a:ext cx="2011679" cy="932688"/>
          </a:xfrm>
          <a:prstGeom prst="roundRect">
            <a:avLst>
              <a:gd name="adj" fmla="val 8823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ED145B"/>
                </a:solidFill>
                <a:latin typeface="Calibri"/>
              </a:rPr>
              <a:t>conv → pool → FC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o esqueleto usado até hoje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221223" y="4663440"/>
            <a:ext cx="2011679" cy="932688"/>
          </a:xfrm>
          <a:prstGeom prst="roundRect">
            <a:avLst>
              <a:gd name="adj" fmla="val 8823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2D9CDB"/>
                </a:solidFill>
                <a:latin typeface="Calibri"/>
              </a:rPr>
              <a:t>cheques bancários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CNN em produção em 1998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5797296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toda a receita moderna já está aqui — faltavam dados e GPU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AlexNet (2012):</a:t>
            </a:r>
            <a:r>
              <a:rPr sz="2700" b="1">
                <a:solidFill>
                  <a:srgbClr val="ED145B"/>
                </a:solidFill>
                <a:latin typeface="Calibri"/>
              </a:rPr>
              <a:t> a virada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Krizhevsky, Sutskever, Hinton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Venceu ImageNet com margem enorme (Top-5 error 15% vs. 26% do 2º lugar)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Inovações: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ReLU em vez de Tanh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Dropout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GPU (duas NVIDIA GTX 580)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Data augmentation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37360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IMAGENET · TOP-5 ERROR (2012)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359152"/>
            <a:ext cx="960120" cy="2139696"/>
          </a:xfrm>
          <a:prstGeom prst="rect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48256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9AA0A6"/>
                </a:solidFill>
                <a:latin typeface="Calibri"/>
              </a:rPr>
              <a:t>26 %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90288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2º lugar</a:t>
            </a:r>
          </a:p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features manuais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3264408"/>
            <a:ext cx="960120" cy="123444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79" y="2953512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ED145B"/>
                </a:solidFill>
                <a:latin typeface="Calibri"/>
              </a:rPr>
              <a:t>15 %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79" y="4590288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AlexNet</a:t>
            </a:r>
          </a:p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CNN profunda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4498848"/>
            <a:ext cx="2926080" cy="0"/>
          </a:xfrm>
          <a:prstGeom prst="line">
            <a:avLst/>
          </a:prstGeom>
          <a:ln w="152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874519" y="2359152"/>
            <a:ext cx="1508761" cy="0"/>
          </a:xfrm>
          <a:prstGeom prst="line">
            <a:avLst/>
          </a:prstGeom>
          <a:ln w="12700">
            <a:solidFill>
              <a:srgbClr val="9AA0A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73552" y="2395728"/>
            <a:ext cx="0" cy="832104"/>
          </a:xfrm>
          <a:prstGeom prst="line">
            <a:avLst/>
          </a:prstGeom>
          <a:ln w="22860">
            <a:solidFill>
              <a:srgbClr val="ED145B"/>
            </a:solidFill>
            <a:tailEnd type="arrow" w="med" len="med"/>
            <a:head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401568" y="2615184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ED145B"/>
                </a:solidFill>
                <a:latin typeface="Calibri"/>
              </a:rPr>
              <a:t>−11</a:t>
            </a:r>
          </a:p>
          <a:p>
            <a:pPr algn="l"/>
            <a:r>
              <a:rPr sz="950" b="1" i="0">
                <a:solidFill>
                  <a:srgbClr val="ED145B"/>
                </a:solidFill>
                <a:latin typeface="Calibri"/>
              </a:rPr>
              <a:t>pontos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1737360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D145B"/>
                </a:solidFill>
                <a:latin typeface="Calibri"/>
              </a:rPr>
              <a:t>AS QUATRO INOVAÇÕES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2029968"/>
            <a:ext cx="1444752" cy="1024128"/>
          </a:xfrm>
          <a:prstGeom prst="roundRect">
            <a:avLst>
              <a:gd name="adj" fmla="val 8035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27AE60"/>
                </a:solidFill>
                <a:latin typeface="Calibri"/>
              </a:rPr>
              <a:t>ReLU</a:t>
            </a:r>
          </a:p>
          <a:p>
            <a:pPr algn="ctr"/>
            <a:r>
              <a:rPr sz="900">
                <a:solidFill>
                  <a:srgbClr val="9AA0A6"/>
                </a:solidFill>
                <a:latin typeface="Calibri"/>
              </a:rPr>
              <a:t>treina bem mais rápido que tanh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70448" y="2029968"/>
            <a:ext cx="1444752" cy="1024128"/>
          </a:xfrm>
          <a:prstGeom prst="roundRect">
            <a:avLst>
              <a:gd name="adj" fmla="val 8035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9B51E0"/>
                </a:solidFill>
                <a:latin typeface="Calibri"/>
              </a:rPr>
              <a:t>Dropout</a:t>
            </a:r>
          </a:p>
          <a:p>
            <a:pPr algn="ctr"/>
            <a:r>
              <a:rPr sz="900">
                <a:solidFill>
                  <a:srgbClr val="9AA0A6"/>
                </a:solidFill>
                <a:latin typeface="Calibri"/>
              </a:rPr>
              <a:t>regulariza a parte densa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273552"/>
            <a:ext cx="1444752" cy="1024128"/>
          </a:xfrm>
          <a:prstGeom prst="roundRect">
            <a:avLst>
              <a:gd name="adj" fmla="val 8035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2D9CDB"/>
                </a:solidFill>
                <a:latin typeface="Calibri"/>
              </a:rPr>
              <a:t>2 GPUs</a:t>
            </a:r>
          </a:p>
          <a:p>
            <a:pPr algn="ctr"/>
            <a:r>
              <a:rPr sz="900">
                <a:solidFill>
                  <a:srgbClr val="9AA0A6"/>
                </a:solidFill>
                <a:latin typeface="Calibri"/>
              </a:rPr>
              <a:t>GTX 580 · rede partida ao meio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70448" y="3273552"/>
            <a:ext cx="1444752" cy="1024128"/>
          </a:xfrm>
          <a:prstGeom prst="roundRect">
            <a:avLst>
              <a:gd name="adj" fmla="val 8035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F2994A"/>
                </a:solidFill>
                <a:latin typeface="Calibri"/>
              </a:rPr>
              <a:t>Augmentation</a:t>
            </a:r>
          </a:p>
          <a:p>
            <a:pPr algn="ctr"/>
            <a:r>
              <a:rPr sz="900">
                <a:solidFill>
                  <a:srgbClr val="9AA0A6"/>
                </a:solidFill>
                <a:latin typeface="Calibri"/>
              </a:rPr>
              <a:t>crops e flips ampliam o dado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230368"/>
            <a:ext cx="6547104" cy="694944"/>
          </a:xfrm>
          <a:prstGeom prst="roundRect">
            <a:avLst>
              <a:gd name="adj" fmla="val 11842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Krizhevsky, Sutskever &amp; Hinton (2012) · 60 M de parâmetros · o paper que acendeu o deep learning moderno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053328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a arquitetura mudou pouco desde a LeNet; a escala mudou tudo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VGG e Inception:</a:t>
            </a:r>
            <a:r>
              <a:rPr sz="2700" b="1">
                <a:solidFill>
                  <a:srgbClr val="ED145B"/>
                </a:solidFill>
                <a:latin typeface="Calibri"/>
              </a:rPr>
              <a:t> uniformidade × escala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VGG-16/19 (Simonyan &amp; Zisserman): uniformidade — só convs 3×3 + pool 2×2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Inception (Szegedy et al.): múltiplas escalas em paralelo (1×1, 3×3, 5×5)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Ambos inspiraram arquiteturas modernas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17904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D9CDB"/>
                </a:solidFill>
                <a:latin typeface="Calibri"/>
              </a:rPr>
              <a:t>VGG · UMA RECEITA REPETIDA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1865376"/>
            <a:ext cx="2377440" cy="36576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conv 3×3 · 64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21408" y="2240280"/>
            <a:ext cx="0" cy="73152"/>
          </a:xfrm>
          <a:prstGeom prst="line">
            <a:avLst/>
          </a:prstGeom>
          <a:ln w="1524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932688" y="2322576"/>
            <a:ext cx="2377440" cy="36576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conv 3×3 · 64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21408" y="2697480"/>
            <a:ext cx="0" cy="73152"/>
          </a:xfrm>
          <a:prstGeom prst="line">
            <a:avLst/>
          </a:prstGeom>
          <a:ln w="1524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32688" y="2779776"/>
            <a:ext cx="2377440" cy="36576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maxpool 2×2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21408" y="3154680"/>
            <a:ext cx="0" cy="73152"/>
          </a:xfrm>
          <a:prstGeom prst="line">
            <a:avLst/>
          </a:prstGeom>
          <a:ln w="1524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32688" y="3236976"/>
            <a:ext cx="2377440" cy="36576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conv 3×3 · 128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21408" y="3611880"/>
            <a:ext cx="0" cy="73152"/>
          </a:xfrm>
          <a:prstGeom prst="line">
            <a:avLst/>
          </a:prstGeom>
          <a:ln w="1524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32688" y="3694176"/>
            <a:ext cx="2377440" cy="36576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conv 3×3 · 128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21408" y="4069080"/>
            <a:ext cx="0" cy="73152"/>
          </a:xfrm>
          <a:prstGeom prst="line">
            <a:avLst/>
          </a:prstGeom>
          <a:ln w="1524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32688" y="4151376"/>
            <a:ext cx="2377440" cy="36576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maxpool 2×2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21408" y="4526280"/>
            <a:ext cx="0" cy="73152"/>
          </a:xfrm>
          <a:prstGeom prst="line">
            <a:avLst/>
          </a:prstGeom>
          <a:ln w="1524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32688" y="4608576"/>
            <a:ext cx="2377440" cy="36576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9AA0A6"/>
                </a:solidFill>
                <a:latin typeface="Calibri"/>
              </a:rPr>
              <a:t>…  até 16 ou 19 camadas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13892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0A6"/>
                </a:solidFill>
                <a:latin typeface="Calibri"/>
              </a:rPr>
              <a:t>só 3×3 e 2×2: profundidade no lugar de kernels grandes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41648" y="1517904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B51E0"/>
                </a:solidFill>
                <a:latin typeface="Calibri"/>
              </a:rPr>
              <a:t>INCEPTION · ESCALAS EM PARALELO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64608" y="1865376"/>
            <a:ext cx="1554480" cy="42062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mapa de entrada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4400550" y="2304288"/>
            <a:ext cx="1241298" cy="493776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041648" y="2816352"/>
            <a:ext cx="717804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1×1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400550" y="3383280"/>
            <a:ext cx="1241298" cy="402335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5228082" y="2304288"/>
            <a:ext cx="413766" cy="493776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869180" y="2816352"/>
            <a:ext cx="717804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3×3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228082" y="3383280"/>
            <a:ext cx="413766" cy="402335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41848" y="2304288"/>
            <a:ext cx="413766" cy="493776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696712" y="2816352"/>
            <a:ext cx="717804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5×5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5641848" y="3383280"/>
            <a:ext cx="413766" cy="402335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641848" y="2304288"/>
            <a:ext cx="1241298" cy="493776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524244" y="2816352"/>
            <a:ext cx="717804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pool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3×3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5641848" y="3383280"/>
            <a:ext cx="1241298" cy="402335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041648" y="3803904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concatenar os canais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41648" y="4370832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0A6"/>
                </a:solidFill>
                <a:latin typeface="Calibri"/>
              </a:rPr>
              <a:t>a camada oferece várias escalas e o treino decide o peso de cada uma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41648" y="4846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7AE60"/>
                </a:solidFill>
                <a:latin typeface="Calibri"/>
              </a:rPr>
              <a:t>convs 1×1 antes do 3×3 e do 5×5 seguram o custo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559552"/>
            <a:ext cx="6565392" cy="640080"/>
          </a:xfrm>
          <a:prstGeom prst="roundRect">
            <a:avLst>
              <a:gd name="adj" fmla="val 12857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duas respostas para “como ficar mais profundo”: uniformidade × diversidade de escala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ounded Rectangle 5"/>
          <p:cNvSpPr/>
          <p:nvPr/>
        </p:nvSpPr>
        <p:spPr>
          <a:xfrm>
            <a:off x="2226980" y="1371600"/>
            <a:ext cx="3473888" cy="797190"/>
          </a:xfrm>
          <a:prstGeom prst="roundRect">
            <a:avLst/>
          </a:prstGeom>
          <a:solidFill>
            <a:srgbClr val="17171F"/>
          </a:solidFill>
          <a:ln w="1524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Convolução 1×1:</a:t>
            </a:r>
            <a:r>
              <a:rPr sz="2700" b="1">
                <a:solidFill>
                  <a:srgbClr val="ED145B"/>
                </a:solidFill>
                <a:latin typeface="Calibri"/>
              </a:rPr>
              <a:t> um truque poderoso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Mistura canais sem tocar em espaço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Reduz dimensionalidade (bottleneck)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Aumenta não-linearidade com pouco custo</a:t>
            </a:r>
          </a:p>
        </p:txBody>
      </p:sp>
      <p:pic>
        <p:nvPicPr>
          <p:cNvPr id="5" name="Picture 4" descr="18f916a4b4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148" y="1572768"/>
            <a:ext cx="3071552" cy="39485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344168" y="2724912"/>
            <a:ext cx="1188720" cy="1188720"/>
          </a:xfrm>
          <a:prstGeom prst="rect">
            <a:avLst/>
          </a:prstGeom>
          <a:solidFill>
            <a:srgbClr val="17171F"/>
          </a:solidFill>
          <a:ln w="1524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1271016" y="2798063"/>
            <a:ext cx="1188720" cy="1188720"/>
          </a:xfrm>
          <a:prstGeom prst="rect">
            <a:avLst/>
          </a:prstGeom>
          <a:solidFill>
            <a:srgbClr val="17171F"/>
          </a:solidFill>
          <a:ln w="1524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1197863" y="2871215"/>
            <a:ext cx="1188720" cy="1188720"/>
          </a:xfrm>
          <a:prstGeom prst="rect">
            <a:avLst/>
          </a:prstGeom>
          <a:solidFill>
            <a:srgbClr val="17171F"/>
          </a:solidFill>
          <a:ln w="1524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1124712" y="2944368"/>
            <a:ext cx="1188720" cy="1188720"/>
          </a:xfrm>
          <a:prstGeom prst="rect">
            <a:avLst/>
          </a:prstGeom>
          <a:solidFill>
            <a:srgbClr val="17171F"/>
          </a:solidFill>
          <a:ln w="1524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3017520"/>
            <a:ext cx="1188720" cy="1188720"/>
          </a:xfrm>
          <a:prstGeom prst="rect">
            <a:avLst/>
          </a:prstGeom>
          <a:solidFill>
            <a:srgbClr val="1E1E28"/>
          </a:solidFill>
          <a:ln w="1524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315968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D9CDB"/>
                </a:solidFill>
                <a:latin typeface="Calibri"/>
              </a:rPr>
              <a:t>entrada</a:t>
            </a:r>
          </a:p>
          <a:p>
            <a:pPr algn="ctr"/>
            <a:r>
              <a:rPr sz="1000" b="1" i="0">
                <a:solidFill>
                  <a:srgbClr val="2D9CDB"/>
                </a:solidFill>
                <a:latin typeface="Calibri"/>
              </a:rPr>
              <a:t>28 × 28 × 256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97480" y="3611880"/>
            <a:ext cx="1097280" cy="0"/>
          </a:xfrm>
          <a:prstGeom prst="line">
            <a:avLst/>
          </a:prstGeom>
          <a:ln w="2794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487168" y="3273552"/>
            <a:ext cx="15361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ED145B"/>
                </a:solidFill>
                <a:latin typeface="Calibri"/>
              </a:rPr>
              <a:t>conv 1×1 · 64 filtros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50791" y="2944368"/>
            <a:ext cx="1188720" cy="1188720"/>
          </a:xfrm>
          <a:prstGeom prst="rect">
            <a:avLst/>
          </a:prstGeom>
          <a:solidFill>
            <a:srgbClr val="17171F"/>
          </a:solidFill>
          <a:ln w="1524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3977639" y="3017520"/>
            <a:ext cx="1188720" cy="1188720"/>
          </a:xfrm>
          <a:prstGeom prst="rect">
            <a:avLst/>
          </a:prstGeom>
          <a:solidFill>
            <a:srgbClr val="1E1E28"/>
          </a:solidFill>
          <a:ln w="1524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4315968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saída</a:t>
            </a:r>
          </a:p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28 × 28 × 64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2962656"/>
            <a:ext cx="1554480" cy="1335024"/>
          </a:xfrm>
          <a:prstGeom prst="roundRect">
            <a:avLst>
              <a:gd name="adj" fmla="val 6164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1×1:  256 · 64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= 16 K pesos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3×3:  9 × isso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= 147 K pesos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46320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 e W não mudam — o que muda é a profundidade de canais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193792"/>
            <a:ext cx="2017776" cy="914400"/>
          </a:xfrm>
          <a:prstGeom prst="roundRect">
            <a:avLst>
              <a:gd name="adj" fmla="val 9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ED145B"/>
                </a:solidFill>
                <a:latin typeface="Calibri"/>
              </a:rPr>
              <a:t>bottleneck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reduz canais antes do 3×3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32175" y="5193792"/>
            <a:ext cx="2017776" cy="914400"/>
          </a:xfrm>
          <a:prstGeom prst="roundRect">
            <a:avLst>
              <a:gd name="adj" fmla="val 9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2D9CDB"/>
                </a:solidFill>
                <a:latin typeface="Calibri"/>
              </a:rPr>
              <a:t>mistura de canais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combinação linear por posição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05983" y="5193792"/>
            <a:ext cx="2017776" cy="914400"/>
          </a:xfrm>
          <a:prstGeom prst="roundRect">
            <a:avLst>
              <a:gd name="adj" fmla="val 9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27AE60"/>
                </a:solidFill>
                <a:latin typeface="Calibri"/>
              </a:rPr>
              <a:t>não-linearidade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mais uma ReLU quase de graça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Notebook-first:</a:t>
            </a:r>
            <a:r>
              <a:rPr sz="2700" b="1">
                <a:solidFill>
                  <a:srgbClr val="ED145B"/>
                </a:solidFill>
                <a:latin typeface="Calibri"/>
              </a:rPr>
              <a:t> como testamos o viés convolucional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Notebook da aula: handson/hands-on.ipynb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Pergunta: o viés convolucional ajuda em qualquer imagem ou só com padrões deslocáveis?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Hipótese: linear vence no A (8×8 alinhado); CNN vence no B (formas deslocadas)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Baseline: regressão logística sobre pixels achatados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Métricas: acurácia, macro-F1, log loss, recall por classe, nº de parâmetros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Entrega: 3 cenários — A digits, B formas ±3 px, controle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17904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D145B"/>
                </a:solidFill>
                <a:latin typeface="Calibri"/>
              </a:rPr>
              <a:t>PERGUNTA EXPERIMENTAL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92224"/>
            <a:ext cx="6565392" cy="621792"/>
          </a:xfrm>
          <a:prstGeom prst="roundRect">
            <a:avLst>
              <a:gd name="adj" fmla="val 13235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O viés indutivo da convolução ajuda em qualquer problema de imagem, ou só quando há estrutura espacial deslocável?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542032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B51E0"/>
                </a:solidFill>
                <a:latin typeface="Calibri"/>
              </a:rPr>
              <a:t>HIPÓTESE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816352"/>
            <a:ext cx="6565392" cy="621792"/>
          </a:xfrm>
          <a:prstGeom prst="roundRect">
            <a:avLst>
              <a:gd name="adj" fmla="val 13235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Linear vence nos dígitos 8×8 alinhados; CNN vence com folga (e menos parâmetros) nas formas deslocadas.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57600"/>
            <a:ext cx="3017520" cy="932688"/>
          </a:xfrm>
          <a:prstGeom prst="roundRect">
            <a:avLst>
              <a:gd name="adj" fmla="val 8823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BASELINE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regressão logística sobre pixels achatados (64 ou 784)</a:t>
            </a:r>
          </a:p>
        </p:txBody>
      </p:sp>
      <p:sp>
        <p:nvSpPr>
          <p:cNvPr id="10" name="Oval 9"/>
          <p:cNvSpPr/>
          <p:nvPr/>
        </p:nvSpPr>
        <p:spPr>
          <a:xfrm>
            <a:off x="3794760" y="3950208"/>
            <a:ext cx="347472" cy="3474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3657600"/>
            <a:ext cx="3017520" cy="932688"/>
          </a:xfrm>
          <a:prstGeom prst="roundRect">
            <a:avLst>
              <a:gd name="adj" fmla="val 8823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CNN PEQUENA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3 convs 3×3 + AdaptiveMaxPool2d(1)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700016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MÉTRICAS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956048"/>
            <a:ext cx="1196035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cross-entropy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00707" y="4956048"/>
            <a:ext cx="1196035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acurácia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43046" y="4956048"/>
            <a:ext cx="1196035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macro-F1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85385" y="4956048"/>
            <a:ext cx="1196035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recall por classe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27724" y="4956048"/>
            <a:ext cx="1196035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feature maps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669280"/>
            <a:ext cx="6565392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9AA0A6"/>
                </a:solidFill>
                <a:latin typeface="Calibri"/>
              </a:rPr>
              <a:t>3 cenários: digits 8×8 · formas 28×28 ±3 px · controle centrado — mesma partição e treino · hands-on.ipynb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6596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D145B"/>
                </a:solidFill>
                <a:latin typeface="Calibri"/>
              </a:rPr>
              <a:t>PARTE 4  · 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395728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Execução e discussão: código, feature maps e negócio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3840480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A CNN pequena em PyTorch, linha a linha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4261104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15384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Inspeção de feature maps como ferramenta de debug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681728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6360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Caso de negócio e o que vem na Aula 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Hands-on:</a:t>
            </a:r>
            <a:r>
              <a:rPr sz="2700" b="1">
                <a:solidFill>
                  <a:srgbClr val="ED145B"/>
                </a:solidFill>
                <a:latin typeface="Calibri"/>
              </a:rPr>
              <a:t> a SmallCNN dos três cenários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Três convs 3×3 + ReLU; as duas primeiras seguidas de MaxPool2d(2)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padding=1 preserva o tamanho; o pooling é quem reduz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AdaptiveMaxPool2d(1): 1 número por canal — a densa recebe 16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 última camada devolve logits — a loss aplica o softmax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Mesma rede nos 3 cenários: 4.442 parâmetros (10 classes) ou 4.310 (6)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91056"/>
            <a:ext cx="6565392" cy="2387498"/>
          </a:xfrm>
          <a:prstGeom prst="roundRect">
            <a:avLst>
              <a:gd name="adj" fmla="val 2462"/>
            </a:avLst>
          </a:prstGeom>
          <a:solidFill>
            <a:srgbClr val="121218"/>
          </a:solidFill>
          <a:ln w="12700">
            <a:solidFill>
              <a:srgbClr val="3333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rIns="73152" tIns="109728" bIns="91440"/>
          <a:lstStyle/>
          <a:p>
            <a:pPr algn="l"/>
            <a:r>
              <a:rPr sz="1000" b="1">
                <a:solidFill>
                  <a:srgbClr val="ED145B"/>
                </a:solidFill>
                <a:latin typeface="Calibri"/>
              </a:rPr>
              <a:t>hands-on.ipynb</a:t>
            </a:r>
          </a:p>
          <a:p>
            <a:pPr algn="l"/>
            <a:r>
              <a:rPr sz="1000" b="0">
                <a:solidFill>
                  <a:srgbClr val="ED145B"/>
                </a:solidFill>
                <a:latin typeface="Consolas"/>
              </a:rPr>
              <a:t>class</a:t>
            </a:r>
            <a:r>
              <a:rPr sz="1000" b="0">
                <a:solidFill>
                  <a:srgbClr val="E4E4EA"/>
                </a:solidFill>
                <a:latin typeface="Consolas"/>
              </a:rPr>
              <a:t> SmallCNN(nn.Module):</a:t>
            </a:r>
          </a:p>
          <a:p>
            <a:pPr algn="l"/>
            <a:r>
              <a:rPr sz="1000" b="0">
                <a:solidFill>
                  <a:srgbClr val="E4E4EA"/>
                </a:solidFill>
                <a:latin typeface="Consolas"/>
              </a:rPr>
              <a:t>    </a:t>
            </a:r>
            <a:r>
              <a:rPr sz="1000" b="0">
                <a:solidFill>
                  <a:srgbClr val="ED145B"/>
                </a:solidFill>
                <a:latin typeface="Consolas"/>
              </a:rPr>
              <a:t>def</a:t>
            </a:r>
            <a:r>
              <a:rPr sz="1000" b="0">
                <a:solidFill>
                  <a:srgbClr val="E4E4EA"/>
                </a:solidFill>
                <a:latin typeface="Consolas"/>
              </a:rPr>
              <a:t> __init__(</a:t>
            </a:r>
            <a:r>
              <a:rPr sz="1000" b="0">
                <a:solidFill>
                  <a:srgbClr val="ED145B"/>
                </a:solidFill>
                <a:latin typeface="Consolas"/>
              </a:rPr>
              <a:t>self</a:t>
            </a:r>
            <a:r>
              <a:rPr sz="1000" b="0">
                <a:solidFill>
                  <a:srgbClr val="E4E4EA"/>
                </a:solidFill>
                <a:latin typeface="Consolas"/>
              </a:rPr>
              <a:t>, num_classes=10):</a:t>
            </a:r>
          </a:p>
          <a:p>
            <a:pPr algn="l"/>
            <a:r>
              <a:rPr sz="1000" b="0">
                <a:solidFill>
                  <a:srgbClr val="E4E4EA"/>
                </a:solidFill>
                <a:latin typeface="Consolas"/>
              </a:rPr>
              <a:t>        </a:t>
            </a:r>
            <a:r>
              <a:rPr sz="1000" b="0">
                <a:solidFill>
                  <a:srgbClr val="ED145B"/>
                </a:solidFill>
                <a:latin typeface="Consolas"/>
              </a:rPr>
              <a:t>super</a:t>
            </a:r>
            <a:r>
              <a:rPr sz="1000" b="0">
                <a:solidFill>
                  <a:srgbClr val="E4E4EA"/>
                </a:solidFill>
                <a:latin typeface="Consolas"/>
              </a:rPr>
              <a:t>().__init__()</a:t>
            </a:r>
          </a:p>
          <a:p>
            <a:pPr algn="l"/>
            <a:r>
              <a:rPr sz="1000" b="0">
                <a:solidFill>
                  <a:srgbClr val="E4E4EA"/>
                </a:solidFill>
                <a:latin typeface="Consolas"/>
              </a:rPr>
              <a:t>        </a:t>
            </a:r>
            <a:r>
              <a:rPr sz="1000" b="0">
                <a:solidFill>
                  <a:srgbClr val="ED145B"/>
                </a:solidFill>
                <a:latin typeface="Consolas"/>
              </a:rPr>
              <a:t>self</a:t>
            </a:r>
            <a:r>
              <a:rPr sz="1000" b="0">
                <a:solidFill>
                  <a:srgbClr val="E4E4EA"/>
                </a:solidFill>
                <a:latin typeface="Consolas"/>
              </a:rPr>
              <a:t>.features = nn.Sequential(</a:t>
            </a:r>
          </a:p>
          <a:p>
            <a:pPr algn="l"/>
            <a:r>
              <a:rPr sz="1000" b="0">
                <a:solidFill>
                  <a:srgbClr val="E4E4EA"/>
                </a:solidFill>
                <a:latin typeface="Consolas"/>
              </a:rPr>
              <a:t>            nn.Conv2d(1, 8, 3, padding=1), nn.ReLU(), nn.MaxPool2d(2),</a:t>
            </a:r>
          </a:p>
          <a:p>
            <a:pPr algn="l"/>
            <a:r>
              <a:rPr sz="1000" b="0">
                <a:solidFill>
                  <a:srgbClr val="E4E4EA"/>
                </a:solidFill>
                <a:latin typeface="Consolas"/>
              </a:rPr>
              <a:t>            nn.Conv2d(8, 16, 3, padding=1), nn.ReLU(), nn.MaxPool2d(2),</a:t>
            </a:r>
          </a:p>
          <a:p>
            <a:pPr algn="l"/>
            <a:r>
              <a:rPr sz="1000" b="0">
                <a:solidFill>
                  <a:srgbClr val="E4E4EA"/>
                </a:solidFill>
                <a:latin typeface="Consolas"/>
              </a:rPr>
              <a:t>            nn.Conv2d(16, 16, 3, padding=1), nn.ReLU(),</a:t>
            </a:r>
          </a:p>
          <a:p>
            <a:pPr algn="l"/>
            <a:r>
              <a:rPr sz="1000" b="0">
                <a:solidFill>
                  <a:srgbClr val="E4E4EA"/>
                </a:solidFill>
                <a:latin typeface="Consolas"/>
              </a:rPr>
              <a:t>            nn.AdaptiveMaxPool2d(1),   </a:t>
            </a:r>
            <a:r>
              <a:rPr sz="1000" b="0">
                <a:solidFill>
                  <a:srgbClr val="6B7280"/>
                </a:solidFill>
                <a:latin typeface="Consolas"/>
              </a:rPr>
              <a:t># 1 valor por canal</a:t>
            </a:r>
          </a:p>
          <a:p>
            <a:pPr algn="l"/>
            <a:r>
              <a:rPr sz="1000" b="0">
                <a:solidFill>
                  <a:srgbClr val="E4E4EA"/>
                </a:solidFill>
                <a:latin typeface="Consolas"/>
              </a:rPr>
              <a:t>        )</a:t>
            </a:r>
          </a:p>
          <a:p>
            <a:pPr algn="l"/>
            <a:r>
              <a:rPr sz="1000" b="0">
                <a:solidFill>
                  <a:srgbClr val="E4E4EA"/>
                </a:solidFill>
                <a:latin typeface="Consolas"/>
              </a:rPr>
              <a:t>        </a:t>
            </a:r>
            <a:r>
              <a:rPr sz="1000" b="0">
                <a:solidFill>
                  <a:srgbClr val="ED145B"/>
                </a:solidFill>
                <a:latin typeface="Consolas"/>
              </a:rPr>
              <a:t>self</a:t>
            </a:r>
            <a:r>
              <a:rPr sz="1000" b="0">
                <a:solidFill>
                  <a:srgbClr val="E4E4EA"/>
                </a:solidFill>
                <a:latin typeface="Consolas"/>
              </a:rPr>
              <a:t>.classifier = nn.Sequential(nn.Flatten(),</a:t>
            </a:r>
          </a:p>
          <a:p>
            <a:pPr algn="l"/>
            <a:r>
              <a:rPr sz="1000" b="0">
                <a:solidFill>
                  <a:srgbClr val="E4E4EA"/>
                </a:solidFill>
                <a:latin typeface="Consolas"/>
              </a:rPr>
              <a:t>            nn.Linear(16, 32), nn.ReLU(), nn.Linear(32, num_classes))</a:t>
            </a:r>
          </a:p>
          <a:p>
            <a:pPr algn="l"/>
            <a:r>
              <a:rPr sz="1000" b="0">
                <a:solidFill>
                  <a:srgbClr val="E4E4EA"/>
                </a:solidFill>
                <a:latin typeface="Consolas"/>
              </a:rPr>
              <a:t>    </a:t>
            </a:r>
            <a:r>
              <a:rPr sz="1000" b="0">
                <a:solidFill>
                  <a:srgbClr val="ED145B"/>
                </a:solidFill>
                <a:latin typeface="Consolas"/>
              </a:rPr>
              <a:t>def</a:t>
            </a:r>
            <a:r>
              <a:rPr sz="1000" b="0">
                <a:solidFill>
                  <a:srgbClr val="E4E4EA"/>
                </a:solidFill>
                <a:latin typeface="Consolas"/>
              </a:rPr>
              <a:t> forward(</a:t>
            </a:r>
            <a:r>
              <a:rPr sz="1000" b="0">
                <a:solidFill>
                  <a:srgbClr val="ED145B"/>
                </a:solidFill>
                <a:latin typeface="Consolas"/>
              </a:rPr>
              <a:t>self</a:t>
            </a:r>
            <a:r>
              <a:rPr sz="1000" b="0">
                <a:solidFill>
                  <a:srgbClr val="E4E4EA"/>
                </a:solidFill>
                <a:latin typeface="Consolas"/>
              </a:rPr>
              <a:t>, x):</a:t>
            </a:r>
          </a:p>
          <a:p>
            <a:pPr algn="l"/>
            <a:r>
              <a:rPr sz="1000" b="0">
                <a:solidFill>
                  <a:srgbClr val="E4E4EA"/>
                </a:solidFill>
                <a:latin typeface="Consolas"/>
              </a:rPr>
              <a:t>        </a:t>
            </a:r>
            <a:r>
              <a:rPr sz="1000" b="0">
                <a:solidFill>
                  <a:srgbClr val="ED145B"/>
                </a:solidFill>
                <a:latin typeface="Consolas"/>
              </a:rPr>
              <a:t>return</a:t>
            </a:r>
            <a:r>
              <a:rPr sz="1000" b="0">
                <a:solidFill>
                  <a:srgbClr val="E4E4EA"/>
                </a:solidFill>
                <a:latin typeface="Consolas"/>
              </a:rPr>
              <a:t> </a:t>
            </a:r>
            <a:r>
              <a:rPr sz="1000" b="0">
                <a:solidFill>
                  <a:srgbClr val="ED145B"/>
                </a:solidFill>
                <a:latin typeface="Consolas"/>
              </a:rPr>
              <a:t>self</a:t>
            </a:r>
            <a:r>
              <a:rPr sz="1000" b="0">
                <a:solidFill>
                  <a:srgbClr val="E4E4EA"/>
                </a:solidFill>
                <a:latin typeface="Consolas"/>
              </a:rPr>
              <a:t>.classifier(</a:t>
            </a:r>
            <a:r>
              <a:rPr sz="1000" b="0">
                <a:solidFill>
                  <a:srgbClr val="ED145B"/>
                </a:solidFill>
                <a:latin typeface="Consolas"/>
              </a:rPr>
              <a:t>self</a:t>
            </a:r>
            <a:r>
              <a:rPr sz="1000" b="0">
                <a:solidFill>
                  <a:srgbClr val="E4E4EA"/>
                </a:solidFill>
                <a:latin typeface="Consolas"/>
              </a:rPr>
              <a:t>.features(x))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041648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O RASTRO DE SHAPES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79392"/>
            <a:ext cx="828185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1×28×28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95697" y="4553712"/>
            <a:ext cx="109728" cy="0"/>
          </a:xfrm>
          <a:prstGeom prst="line">
            <a:avLst/>
          </a:prstGeom>
          <a:ln w="1524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614569" y="4279392"/>
            <a:ext cx="828185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8×28×28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51898" y="4553712"/>
            <a:ext cx="109728" cy="0"/>
          </a:xfrm>
          <a:prstGeom prst="line">
            <a:avLst/>
          </a:prstGeom>
          <a:ln w="1524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70770" y="4279392"/>
            <a:ext cx="828185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8×14×14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08099" y="4553712"/>
            <a:ext cx="109728" cy="0"/>
          </a:xfrm>
          <a:prstGeom prst="line">
            <a:avLst/>
          </a:prstGeom>
          <a:ln w="1524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6971" y="4279392"/>
            <a:ext cx="828185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16×14×14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64300" y="4553712"/>
            <a:ext cx="109728" cy="0"/>
          </a:xfrm>
          <a:prstGeom prst="line">
            <a:avLst/>
          </a:prstGeom>
          <a:ln w="1524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83172" y="4279392"/>
            <a:ext cx="828185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16×7×7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20501" y="4553712"/>
            <a:ext cx="109728" cy="0"/>
          </a:xfrm>
          <a:prstGeom prst="line">
            <a:avLst/>
          </a:prstGeom>
          <a:ln w="1524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439373" y="4279392"/>
            <a:ext cx="828185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16×1×1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276702" y="4553712"/>
            <a:ext cx="109728" cy="0"/>
          </a:xfrm>
          <a:prstGeom prst="line">
            <a:avLst/>
          </a:prstGeom>
          <a:ln w="1524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95574" y="4279392"/>
            <a:ext cx="828185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6 / 10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010912"/>
            <a:ext cx="2017776" cy="896112"/>
          </a:xfrm>
          <a:prstGeom prst="roundRect">
            <a:avLst>
              <a:gd name="adj" fmla="val 9183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2D9CDB"/>
                </a:solidFill>
                <a:latin typeface="Calibri"/>
              </a:rPr>
              <a:t>padding=1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a conv mantém 28×28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32175" y="5010912"/>
            <a:ext cx="2017776" cy="896112"/>
          </a:xfrm>
          <a:prstGeom prst="roundRect">
            <a:avLst>
              <a:gd name="adj" fmla="val 9183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9B51E0"/>
                </a:solidFill>
                <a:latin typeface="Calibri"/>
              </a:rPr>
              <a:t>MaxPool2d(2)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28 → 14 → 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05983" y="5010912"/>
            <a:ext cx="2017776" cy="896112"/>
          </a:xfrm>
          <a:prstGeom prst="roundRect">
            <a:avLst>
              <a:gd name="adj" fmla="val 9183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ED145B"/>
                </a:solidFill>
                <a:latin typeface="Calibri"/>
              </a:rPr>
              <a:t>AdaptiveMaxPool2d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7×7 → 1×1: 16 valores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998464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conte os shapes à mão antes de rodar: é o erro mais comum em CNN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Feature maps:</a:t>
            </a:r>
            <a:r>
              <a:rPr sz="2700" b="1">
                <a:solidFill>
                  <a:srgbClr val="ED145B"/>
                </a:solidFill>
                <a:latin typeface="Calibri"/>
              </a:rPr>
              <a:t> o que a rede aprendeu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Primeiras camadas: arestas e cores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Camadas intermediárias: texturas e formas simples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Camadas profundas: partes de objetos e objetos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Olhar feature maps é a forma de debugar visualmente uma CNN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Zeiler &amp; Fergus (2014) popularizaram a técnica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99616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AA0A6"/>
                </a:solidFill>
                <a:latin typeface="Calibri"/>
              </a:rPr>
              <a:t>PROFUNDIDADE DA REDE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847088"/>
            <a:ext cx="6355080" cy="0"/>
          </a:xfrm>
          <a:prstGeom prst="line">
            <a:avLst/>
          </a:prstGeom>
          <a:ln w="2032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" y="2084831"/>
            <a:ext cx="2069591" cy="1572768"/>
          </a:xfrm>
          <a:prstGeom prst="roundRect">
            <a:avLst>
              <a:gd name="adj" fmla="val 5232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157984"/>
            <a:ext cx="1886711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D9CDB"/>
                </a:solidFill>
                <a:latin typeface="Calibri"/>
              </a:rPr>
              <a:t>CAMADA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377440"/>
            <a:ext cx="1886711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arestas e cores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4795" y="2651760"/>
            <a:ext cx="118872" cy="118872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3668" y="2651760"/>
            <a:ext cx="118872" cy="118872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72540" y="2651760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91411" y="2651760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4795" y="2770632"/>
            <a:ext cx="118872" cy="118872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53668" y="2770632"/>
            <a:ext cx="118872" cy="118872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72540" y="2770632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91411" y="2770632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34795" y="2889504"/>
            <a:ext cx="118872" cy="118872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53668" y="2889504"/>
            <a:ext cx="118872" cy="118872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72540" y="2889504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91411" y="2889504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34795" y="3008376"/>
            <a:ext cx="118872" cy="118872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53668" y="3008376"/>
            <a:ext cx="118872" cy="118872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72540" y="3008376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91411" y="3008376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6779" y="3163824"/>
            <a:ext cx="731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vertical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76044" y="2651760"/>
            <a:ext cx="118872" cy="118872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994916" y="2651760"/>
            <a:ext cx="118872" cy="118872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13788" y="2651760"/>
            <a:ext cx="118872" cy="118872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32660" y="2651760"/>
            <a:ext cx="118872" cy="118872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76044" y="2770632"/>
            <a:ext cx="118872" cy="118872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94916" y="2770632"/>
            <a:ext cx="118872" cy="118872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113788" y="2770632"/>
            <a:ext cx="118872" cy="118872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32660" y="2770632"/>
            <a:ext cx="118872" cy="118872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876044" y="2889504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994916" y="2889504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113788" y="2889504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32660" y="2889504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876044" y="3008376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994916" y="3008376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13788" y="3008376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32660" y="3008376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748028" y="3163824"/>
            <a:ext cx="731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horizontal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764536" y="2871216"/>
            <a:ext cx="173736" cy="0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2974847" y="2084831"/>
            <a:ext cx="2069591" cy="1572768"/>
          </a:xfrm>
          <a:prstGeom prst="roundRect">
            <a:avLst>
              <a:gd name="adj" fmla="val 5232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66287" y="2157984"/>
            <a:ext cx="1886711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9B51E0"/>
                </a:solidFill>
                <a:latin typeface="Calibri"/>
              </a:rPr>
              <a:t>CAMADAS DO MEIO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66287" y="2377440"/>
            <a:ext cx="1886711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texturas e formas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51275" y="2651760"/>
            <a:ext cx="118872" cy="118872"/>
          </a:xfrm>
          <a:prstGeom prst="rect">
            <a:avLst/>
          </a:prstGeom>
          <a:solidFill>
            <a:srgbClr val="9B51E0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470147" y="2651760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589020" y="2651760"/>
            <a:ext cx="118872" cy="118872"/>
          </a:xfrm>
          <a:prstGeom prst="rect">
            <a:avLst/>
          </a:prstGeom>
          <a:solidFill>
            <a:srgbClr val="9B51E0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707891" y="2651760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351275" y="2770632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470147" y="2770632"/>
            <a:ext cx="118872" cy="118872"/>
          </a:xfrm>
          <a:prstGeom prst="rect">
            <a:avLst/>
          </a:prstGeom>
          <a:solidFill>
            <a:srgbClr val="9B51E0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589020" y="2770632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707891" y="2770632"/>
            <a:ext cx="118872" cy="118872"/>
          </a:xfrm>
          <a:prstGeom prst="rect">
            <a:avLst/>
          </a:prstGeom>
          <a:solidFill>
            <a:srgbClr val="9B51E0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351275" y="2889504"/>
            <a:ext cx="118872" cy="118872"/>
          </a:xfrm>
          <a:prstGeom prst="rect">
            <a:avLst/>
          </a:prstGeom>
          <a:solidFill>
            <a:srgbClr val="9B51E0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470147" y="2889504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589020" y="2889504"/>
            <a:ext cx="118872" cy="118872"/>
          </a:xfrm>
          <a:prstGeom prst="rect">
            <a:avLst/>
          </a:prstGeom>
          <a:solidFill>
            <a:srgbClr val="9B51E0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707891" y="2889504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351275" y="3008376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470147" y="3008376"/>
            <a:ext cx="118872" cy="118872"/>
          </a:xfrm>
          <a:prstGeom prst="rect">
            <a:avLst/>
          </a:prstGeom>
          <a:solidFill>
            <a:srgbClr val="9B51E0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589020" y="3008376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707891" y="3008376"/>
            <a:ext cx="118872" cy="118872"/>
          </a:xfrm>
          <a:prstGeom prst="rect">
            <a:avLst/>
          </a:prstGeom>
          <a:solidFill>
            <a:srgbClr val="9B51E0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23259" y="3163824"/>
            <a:ext cx="731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textura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92524" y="2651760"/>
            <a:ext cx="118872" cy="118872"/>
          </a:xfrm>
          <a:prstGeom prst="rect">
            <a:avLst/>
          </a:prstGeom>
          <a:solidFill>
            <a:srgbClr val="9B51E0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311396" y="2651760"/>
            <a:ext cx="118872" cy="118872"/>
          </a:xfrm>
          <a:prstGeom prst="rect">
            <a:avLst/>
          </a:prstGeom>
          <a:solidFill>
            <a:srgbClr val="9B51E0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430268" y="2651760"/>
            <a:ext cx="118872" cy="118872"/>
          </a:xfrm>
          <a:prstGeom prst="rect">
            <a:avLst/>
          </a:prstGeom>
          <a:solidFill>
            <a:srgbClr val="9B51E0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549140" y="2651760"/>
            <a:ext cx="118872" cy="118872"/>
          </a:xfrm>
          <a:prstGeom prst="rect">
            <a:avLst/>
          </a:prstGeom>
          <a:solidFill>
            <a:srgbClr val="9B51E0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92524" y="2770632"/>
            <a:ext cx="118872" cy="118872"/>
          </a:xfrm>
          <a:prstGeom prst="rect">
            <a:avLst/>
          </a:prstGeom>
          <a:solidFill>
            <a:srgbClr val="9B51E0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311396" y="2770632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430268" y="2770632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549140" y="2770632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192524" y="2889504"/>
            <a:ext cx="118872" cy="118872"/>
          </a:xfrm>
          <a:prstGeom prst="rect">
            <a:avLst/>
          </a:prstGeom>
          <a:solidFill>
            <a:srgbClr val="9B51E0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311396" y="2889504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430268" y="2889504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549140" y="2889504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192524" y="3008376"/>
            <a:ext cx="118872" cy="118872"/>
          </a:xfrm>
          <a:prstGeom prst="rect">
            <a:avLst/>
          </a:prstGeom>
          <a:solidFill>
            <a:srgbClr val="9B51E0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311396" y="3008376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430268" y="3008376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549140" y="3008376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064508" y="3163824"/>
            <a:ext cx="731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canto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5081015" y="2871216"/>
            <a:ext cx="173736" cy="0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82"/>
          <p:cNvSpPr/>
          <p:nvPr/>
        </p:nvSpPr>
        <p:spPr>
          <a:xfrm>
            <a:off x="5291328" y="2084831"/>
            <a:ext cx="2069591" cy="1572768"/>
          </a:xfrm>
          <a:prstGeom prst="roundRect">
            <a:avLst>
              <a:gd name="adj" fmla="val 5232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82767" y="2157984"/>
            <a:ext cx="1886711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ED145B"/>
                </a:solidFill>
                <a:latin typeface="Calibri"/>
              </a:rPr>
              <a:t>CAMADAS PROFUNDAS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82767" y="2377440"/>
            <a:ext cx="1886711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partes e objetos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667755" y="2651760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786627" y="2651760"/>
            <a:ext cx="118872" cy="118872"/>
          </a:xfrm>
          <a:prstGeom prst="rect">
            <a:avLst/>
          </a:prstGeom>
          <a:solidFill>
            <a:srgbClr val="ED145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905499" y="2651760"/>
            <a:ext cx="118872" cy="118872"/>
          </a:xfrm>
          <a:prstGeom prst="rect">
            <a:avLst/>
          </a:prstGeom>
          <a:solidFill>
            <a:srgbClr val="ED145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024371" y="2651760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667755" y="2770632"/>
            <a:ext cx="118872" cy="118872"/>
          </a:xfrm>
          <a:prstGeom prst="rect">
            <a:avLst/>
          </a:prstGeom>
          <a:solidFill>
            <a:srgbClr val="ED145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786627" y="2770632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905499" y="2770632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024371" y="2770632"/>
            <a:ext cx="118872" cy="118872"/>
          </a:xfrm>
          <a:prstGeom prst="rect">
            <a:avLst/>
          </a:prstGeom>
          <a:solidFill>
            <a:srgbClr val="ED145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667755" y="2889504"/>
            <a:ext cx="118872" cy="118872"/>
          </a:xfrm>
          <a:prstGeom prst="rect">
            <a:avLst/>
          </a:prstGeom>
          <a:solidFill>
            <a:srgbClr val="ED145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786627" y="2889504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905499" y="2889504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024371" y="2889504"/>
            <a:ext cx="118872" cy="118872"/>
          </a:xfrm>
          <a:prstGeom prst="rect">
            <a:avLst/>
          </a:prstGeom>
          <a:solidFill>
            <a:srgbClr val="ED145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667755" y="3008376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786627" y="3008376"/>
            <a:ext cx="118872" cy="118872"/>
          </a:xfrm>
          <a:prstGeom prst="rect">
            <a:avLst/>
          </a:prstGeom>
          <a:solidFill>
            <a:srgbClr val="ED145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905499" y="3008376"/>
            <a:ext cx="118872" cy="118872"/>
          </a:xfrm>
          <a:prstGeom prst="rect">
            <a:avLst/>
          </a:prstGeom>
          <a:solidFill>
            <a:srgbClr val="ED145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024371" y="3008376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539739" y="3163824"/>
            <a:ext cx="731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laço fechado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509003" y="2651760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627875" y="2651760"/>
            <a:ext cx="118872" cy="118872"/>
          </a:xfrm>
          <a:prstGeom prst="rect">
            <a:avLst/>
          </a:prstGeom>
          <a:solidFill>
            <a:srgbClr val="ED145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746747" y="2651760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865619" y="2651760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509003" y="2770632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627875" y="2770632"/>
            <a:ext cx="118872" cy="118872"/>
          </a:xfrm>
          <a:prstGeom prst="rect">
            <a:avLst/>
          </a:prstGeom>
          <a:solidFill>
            <a:srgbClr val="ED145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746747" y="2770632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865619" y="2770632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509003" y="2889504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627875" y="2889504"/>
            <a:ext cx="118872" cy="118872"/>
          </a:xfrm>
          <a:prstGeom prst="rect">
            <a:avLst/>
          </a:prstGeom>
          <a:solidFill>
            <a:srgbClr val="ED145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746747" y="2889504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865619" y="2889504"/>
            <a:ext cx="118872" cy="11887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509003" y="3008376"/>
            <a:ext cx="118872" cy="118872"/>
          </a:xfrm>
          <a:prstGeom prst="rect">
            <a:avLst/>
          </a:prstGeom>
          <a:solidFill>
            <a:srgbClr val="ED145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627875" y="3008376"/>
            <a:ext cx="118872" cy="118872"/>
          </a:xfrm>
          <a:prstGeom prst="rect">
            <a:avLst/>
          </a:prstGeom>
          <a:solidFill>
            <a:srgbClr val="ED145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746747" y="3008376"/>
            <a:ext cx="118872" cy="118872"/>
          </a:xfrm>
          <a:prstGeom prst="rect">
            <a:avLst/>
          </a:prstGeom>
          <a:solidFill>
            <a:srgbClr val="ED145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865619" y="3008376"/>
            <a:ext cx="118872" cy="118872"/>
          </a:xfrm>
          <a:prstGeom prst="rect">
            <a:avLst/>
          </a:prstGeom>
          <a:solidFill>
            <a:srgbClr val="ED145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380987" y="3163824"/>
            <a:ext cx="731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dígito inteiro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49808" y="3749039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as primeiras camadas são quase iguais em qualquer CNN — as profundas são específicas da tarefa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58368" y="4096512"/>
            <a:ext cx="6565392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“olhar feature maps é a forma de debugar visualmente uma CNN”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58368" y="480974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O QUE PROCURAR NOS MAPAS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658368" y="5084064"/>
            <a:ext cx="2017776" cy="877824"/>
          </a:xfrm>
          <a:prstGeom prst="roundRect">
            <a:avLst>
              <a:gd name="adj" fmla="val 9375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150" b="1">
                <a:solidFill>
                  <a:srgbClr val="F2994A"/>
                </a:solidFill>
                <a:latin typeface="Calibri"/>
              </a:rPr>
              <a:t>mapa todo preto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filtro morto — ReLU sempre em zero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2932175" y="5084064"/>
            <a:ext cx="2017776" cy="877824"/>
          </a:xfrm>
          <a:prstGeom prst="roundRect">
            <a:avLst>
              <a:gd name="adj" fmla="val 9375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150" b="1">
                <a:solidFill>
                  <a:srgbClr val="9B51E0"/>
                </a:solidFill>
                <a:latin typeface="Calibri"/>
              </a:rPr>
              <a:t>mapa saturado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learning rate ou escala da entrada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5205983" y="5084064"/>
            <a:ext cx="2017776" cy="877824"/>
          </a:xfrm>
          <a:prstGeom prst="roundRect">
            <a:avLst>
              <a:gd name="adj" fmla="val 9375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150" b="1">
                <a:solidFill>
                  <a:srgbClr val="2D9CDB"/>
                </a:solidFill>
                <a:latin typeface="Calibri"/>
              </a:rPr>
              <a:t>mapa com ruído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ainda não convergiu ou dado sujo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85800" y="6053328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Zeiler &amp; Fergus (2014)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Caso de negócio:</a:t>
            </a:r>
            <a:r>
              <a:rPr sz="2700" b="1">
                <a:solidFill>
                  <a:srgbClr val="ED145B"/>
                </a:solidFill>
                <a:latin typeface="Calibri"/>
              </a:rPr>
              <a:t> inspeção visual na Embraer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Inspeção visual automatizada de peças aeronáuticas na linha de montagem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Problema: detectar micro-defeitos invisíveis a olho humano em &lt; 2 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Abordagem: CNN treinada em imagens de microscopia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Porque não MLP? Localidade + invariância a translação são cruciais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179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INSPEÇÃO VISUAL AUTOMATIZADA NA LINHA DE MONTAGEM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47088"/>
            <a:ext cx="1435607" cy="841248"/>
          </a:xfrm>
          <a:prstGeom prst="roundRect">
            <a:avLst>
              <a:gd name="adj" fmla="val 9782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peça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aeronáutica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21408" y="2267712"/>
            <a:ext cx="219456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68296" y="1847088"/>
            <a:ext cx="1435607" cy="841248"/>
          </a:xfrm>
          <a:prstGeom prst="roundRect">
            <a:avLst>
              <a:gd name="adj" fmla="val 9782"/>
            </a:avLst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microscopia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imagem 2D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31336" y="2267712"/>
            <a:ext cx="219455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078224" y="1847088"/>
            <a:ext cx="1435607" cy="841248"/>
          </a:xfrm>
          <a:prstGeom prst="roundRect">
            <a:avLst>
              <a:gd name="adj" fmla="val 9782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CNN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classificadora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541264" y="2267712"/>
            <a:ext cx="219455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788151" y="1847088"/>
            <a:ext cx="1435607" cy="841248"/>
          </a:xfrm>
          <a:prstGeom prst="roundRect">
            <a:avLst>
              <a:gd name="adj" fmla="val 9782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aprovado / retrabalho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&lt; 2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944368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2994A"/>
                </a:solidFill>
                <a:latin typeface="Calibri"/>
              </a:rPr>
              <a:t>SE FOSSE UM MLP DENSO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218688"/>
            <a:ext cx="3200400" cy="1426464"/>
          </a:xfrm>
          <a:prstGeom prst="roundRect">
            <a:avLst>
              <a:gd name="adj" fmla="val 5769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·  o defeito muda de lugar a cada peça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·  cada posição vira um padrão novo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·  exigiria um dataset gigante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2944368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7AE60"/>
                </a:solidFill>
                <a:latin typeface="Calibri"/>
              </a:rPr>
              <a:t>COM CONVOLUÇÃO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41648" y="3218688"/>
            <a:ext cx="3182112" cy="1426464"/>
          </a:xfrm>
          <a:prstGeom prst="roundRect">
            <a:avLst>
              <a:gd name="adj" fmla="val 5769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·  o mesmo filtro varre a peça inteira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·  micro-defeito é padrão local — é o que a conv vê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·  poucos exemplos por tipo de falha bastam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28032"/>
            <a:ext cx="2017776" cy="914400"/>
          </a:xfrm>
          <a:prstGeom prst="roundRect">
            <a:avLst>
              <a:gd name="adj" fmla="val 9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27AE60"/>
                </a:solidFill>
                <a:latin typeface="Calibri"/>
              </a:rPr>
              <a:t>&lt; 2 s por peça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cabe no tempo de ciclo da linha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32175" y="4828032"/>
            <a:ext cx="2017776" cy="914400"/>
          </a:xfrm>
          <a:prstGeom prst="roundRect">
            <a:avLst>
              <a:gd name="adj" fmla="val 9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ED145B"/>
                </a:solidFill>
                <a:latin typeface="Calibri"/>
              </a:rPr>
              <a:t>micro-defeitos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abaixo do limiar do olho humano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05983" y="4828032"/>
            <a:ext cx="2017776" cy="914400"/>
          </a:xfrm>
          <a:prstGeom prst="roundRect">
            <a:avLst>
              <a:gd name="adj" fmla="val 9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2D9CDB"/>
                </a:solidFill>
                <a:latin typeface="Calibri"/>
              </a:rPr>
              <a:t>100 % das peças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de amostragem para censo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52160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o requisito de negócio (tempo de ciclo) escolhe a arquitetura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O que vem aí:</a:t>
            </a:r>
            <a:r>
              <a:rPr sz="2700" b="1">
                <a:solidFill>
                  <a:srgbClr val="ED145B"/>
                </a:solidFill>
                <a:latin typeface="Calibri"/>
              </a:rPr>
              <a:t> Aula 4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CNNs profundas começam a quebrar (treinamento diverge)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ResNet (2015) — conexões residuais resolvem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Transfer learning — reusar redes pré-treinadas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Grad-CAM — explicar visualmente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00784"/>
            <a:ext cx="2834640" cy="804672"/>
          </a:xfrm>
          <a:prstGeom prst="roundRect">
            <a:avLst>
              <a:gd name="adj" fmla="val 10227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rede muito profunda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degrada e diverge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566160" y="2103120"/>
            <a:ext cx="402336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041648" y="1700784"/>
            <a:ext cx="3182112" cy="804672"/>
          </a:xfrm>
          <a:prstGeom prst="roundRect">
            <a:avLst>
              <a:gd name="adj" fmla="val 10227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ResNet (2015)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conexões residuais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670048"/>
            <a:ext cx="2834640" cy="804672"/>
          </a:xfrm>
          <a:prstGeom prst="roundRect">
            <a:avLst>
              <a:gd name="adj" fmla="val 10227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pouco dado rotulado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para treinar do zero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66160" y="3072384"/>
            <a:ext cx="402336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041648" y="2670048"/>
            <a:ext cx="3182112" cy="804672"/>
          </a:xfrm>
          <a:prstGeom prst="roundRect">
            <a:avLst>
              <a:gd name="adj" fmla="val 10227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transfer learning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reusar redes pré-treinadas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639312"/>
            <a:ext cx="2834640" cy="804672"/>
          </a:xfrm>
          <a:prstGeom prst="roundRect">
            <a:avLst>
              <a:gd name="adj" fmla="val 10227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decisão sem explicação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para o negócio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66160" y="4041648"/>
            <a:ext cx="402336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041648" y="3639312"/>
            <a:ext cx="3182112" cy="804672"/>
          </a:xfrm>
          <a:prstGeom prst="roundRect">
            <a:avLst>
              <a:gd name="adj" fmla="val 10227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Grad-CAM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mapa de calor da evidência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754880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D145B"/>
                </a:solidFill>
                <a:latin typeface="Calibri"/>
              </a:rPr>
              <a:t>PRÉVIA · O BLOCO RESIDUAL</a:t>
            </a:r>
          </a:p>
        </p:txBody>
      </p:sp>
      <p:sp>
        <p:nvSpPr>
          <p:cNvPr id="15" name="Oval 14"/>
          <p:cNvSpPr/>
          <p:nvPr/>
        </p:nvSpPr>
        <p:spPr>
          <a:xfrm>
            <a:off x="1207008" y="5550408"/>
            <a:ext cx="384048" cy="384048"/>
          </a:xfrm>
          <a:prstGeom prst="ellipse">
            <a:avLst/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2D9CDB"/>
                </a:solidFill>
                <a:latin typeface="Calibri"/>
              </a:rPr>
              <a:t>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03120" y="5513832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conv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5513832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conv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5550408"/>
            <a:ext cx="384048" cy="384048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0680" y="5513832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27AE60"/>
                </a:solidFill>
                <a:latin typeface="Calibri"/>
              </a:rPr>
              <a:t>F(x) + x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609344" y="5742432"/>
            <a:ext cx="475487" cy="0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127248" y="5742432"/>
            <a:ext cx="237744" cy="0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5742432"/>
            <a:ext cx="237744" cy="0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65776" y="5742432"/>
            <a:ext cx="356616" cy="0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399032" y="5230368"/>
            <a:ext cx="0" cy="301752"/>
          </a:xfrm>
          <a:prstGeom prst="line">
            <a:avLst/>
          </a:prstGeom>
          <a:ln w="2286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399032" y="5230368"/>
            <a:ext cx="3456432" cy="0"/>
          </a:xfrm>
          <a:prstGeom prst="line">
            <a:avLst/>
          </a:prstGeom>
          <a:ln w="2286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855464" y="5230368"/>
            <a:ext cx="0" cy="301752"/>
          </a:xfrm>
          <a:prstGeom prst="line">
            <a:avLst/>
          </a:prstGeom>
          <a:ln w="22860">
            <a:solidFill>
              <a:srgbClr val="27AE6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920240" y="4992624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27AE60"/>
                </a:solidFill>
                <a:latin typeface="Calibri"/>
              </a:rPr>
              <a:t>atalho: a identidade passa direto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Referências:</a:t>
            </a:r>
            <a:r>
              <a:rPr sz="2700" b="1">
                <a:solidFill>
                  <a:srgbClr val="ED145B"/>
                </a:solidFill>
                <a:latin typeface="Calibri"/>
              </a:rPr>
              <a:t> o caminho até aqui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LeCun et al. Gradient-based learning applied to document recognition. Proc. IEEE, 1998.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Krizhevsky, Sutskever, Hinton. ImageNet classification with deep CNNs. NeurIPS, 2012.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Simonyan, Zisserman. Very deep CNNs. ICLR, 2015.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Szegedy et al. Going deeper with convolutions. CVPR, 2015.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Zeiler, Fergus. Visualizing and understanding CNNs. ECCV, 2014.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Goodfellow et al. (2016), cap. 9.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3017520"/>
            <a:ext cx="6400800" cy="0"/>
          </a:xfrm>
          <a:prstGeom prst="line">
            <a:avLst/>
          </a:prstGeom>
          <a:ln w="1778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932688" y="2898648"/>
            <a:ext cx="237744" cy="237744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051560" y="2724912"/>
            <a:ext cx="0" cy="146303"/>
          </a:xfrm>
          <a:prstGeom prst="line">
            <a:avLst/>
          </a:prstGeom>
          <a:ln w="127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8327" y="2157984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ED145B"/>
                </a:solidFill>
                <a:latin typeface="Calibri"/>
              </a:rPr>
              <a:t>1998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7" y="2359152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LeNet-5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19" y="2560320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LeCun et al.</a:t>
            </a:r>
          </a:p>
        </p:txBody>
      </p:sp>
      <p:sp>
        <p:nvSpPr>
          <p:cNvPr id="11" name="Oval 10"/>
          <p:cNvSpPr/>
          <p:nvPr/>
        </p:nvSpPr>
        <p:spPr>
          <a:xfrm>
            <a:off x="2395728" y="2898648"/>
            <a:ext cx="237744" cy="237744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14600" y="3163824"/>
            <a:ext cx="0" cy="91440"/>
          </a:xfrm>
          <a:prstGeom prst="line">
            <a:avLst/>
          </a:prstGeom>
          <a:ln w="127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01368" y="3255264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ED145B"/>
                </a:solidFill>
                <a:latin typeface="Calibri"/>
              </a:rPr>
              <a:t>2012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1368" y="3456432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AlexNet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657600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Krizhevsky et al.</a:t>
            </a:r>
          </a:p>
        </p:txBody>
      </p:sp>
      <p:sp>
        <p:nvSpPr>
          <p:cNvPr id="16" name="Oval 15"/>
          <p:cNvSpPr/>
          <p:nvPr/>
        </p:nvSpPr>
        <p:spPr>
          <a:xfrm>
            <a:off x="3813048" y="2898648"/>
            <a:ext cx="237744" cy="237744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3931920" y="2724912"/>
            <a:ext cx="0" cy="146303"/>
          </a:xfrm>
          <a:prstGeom prst="line">
            <a:avLst/>
          </a:prstGeom>
          <a:ln w="127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218687" y="2157984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D9CDB"/>
                </a:solidFill>
                <a:latin typeface="Calibri"/>
              </a:rPr>
              <a:t>2014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18687" y="2359152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VGG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79" y="2560320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Simonyan &amp; Zisserman</a:t>
            </a:r>
          </a:p>
        </p:txBody>
      </p:sp>
      <p:sp>
        <p:nvSpPr>
          <p:cNvPr id="21" name="Oval 20"/>
          <p:cNvSpPr/>
          <p:nvPr/>
        </p:nvSpPr>
        <p:spPr>
          <a:xfrm>
            <a:off x="5184648" y="2898648"/>
            <a:ext cx="237744" cy="237744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03520" y="3163824"/>
            <a:ext cx="0" cy="91440"/>
          </a:xfrm>
          <a:prstGeom prst="line">
            <a:avLst/>
          </a:prstGeom>
          <a:ln w="127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90288" y="3255264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D9CDB"/>
                </a:solidFill>
                <a:latin typeface="Calibri"/>
              </a:rPr>
              <a:t>2014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456432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Inception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657600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Szegedy et al.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2898648"/>
            <a:ext cx="237744" cy="237744"/>
          </a:xfrm>
          <a:prstGeom prst="ellipse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6601968" y="2724912"/>
            <a:ext cx="0" cy="146303"/>
          </a:xfrm>
          <a:prstGeom prst="line">
            <a:avLst/>
          </a:prstGeom>
          <a:ln w="127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888736" y="2157984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9B51E0"/>
                </a:solidFill>
                <a:latin typeface="Calibri"/>
              </a:rPr>
              <a:t>2014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88736" y="2359152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Visualizing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24728" y="2560320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Zeiler &amp; Fergus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261104"/>
            <a:ext cx="2017776" cy="1051560"/>
          </a:xfrm>
          <a:prstGeom prst="roundRect">
            <a:avLst>
              <a:gd name="adj" fmla="val 7826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ED145B"/>
                </a:solidFill>
                <a:latin typeface="Calibri"/>
              </a:rPr>
              <a:t>arquiteturas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LeNet · AlexNet · VGG · Inception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32175" y="4261104"/>
            <a:ext cx="2017776" cy="1051560"/>
          </a:xfrm>
          <a:prstGeom prst="roundRect">
            <a:avLst>
              <a:gd name="adj" fmla="val 7826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9B51E0"/>
                </a:solidFill>
                <a:latin typeface="Calibri"/>
              </a:rPr>
              <a:t>interpretabilidade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Zeiler &amp; Fergus (2014)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05983" y="4261104"/>
            <a:ext cx="2017776" cy="1051560"/>
          </a:xfrm>
          <a:prstGeom prst="roundRect">
            <a:avLst>
              <a:gd name="adj" fmla="val 7826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2D9CDB"/>
                </a:solidFill>
                <a:latin typeface="Calibri"/>
              </a:rPr>
              <a:t>teoria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Goodfellow et al. (2016), cap. 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541264"/>
            <a:ext cx="6565392" cy="621792"/>
          </a:xfrm>
          <a:prstGeom prst="roundRect">
            <a:avLst>
              <a:gd name="adj" fmla="val 13235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leitura mínima para a Aula 4: LeCun (1998) + Goodfellow cap.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